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charts/colors1.xml" ContentType="application/vnd.ms-office.chartcolorstyle+xml"/>
  <Override PartName="/ppt/charts/chart1.xml" ContentType="application/vnd.openxmlformats-officedocument.drawingml.chart+xml"/>
  <Override PartName="/ppt/charts/style1.xml" ContentType="application/vnd.ms-office.chartstyle+xml"/>
  <Override PartName="/ppt/theme/themeOverride1.xml" ContentType="application/vnd.openxmlformats-officedocument.themeOverrid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79" r:id="rId9"/>
    <p:sldId id="264" r:id="rId10"/>
    <p:sldId id="265" r:id="rId11"/>
    <p:sldId id="266" r:id="rId12"/>
    <p:sldId id="281" r:id="rId13"/>
    <p:sldId id="280" r:id="rId14"/>
    <p:sldId id="267" r:id="rId15"/>
    <p:sldId id="268" r:id="rId16"/>
    <p:sldId id="282" r:id="rId17"/>
    <p:sldId id="289" r:id="rId18"/>
    <p:sldId id="283" r:id="rId19"/>
    <p:sldId id="290" r:id="rId20"/>
    <p:sldId id="284" r:id="rId21"/>
    <p:sldId id="285" r:id="rId22"/>
    <p:sldId id="304" r:id="rId23"/>
    <p:sldId id="286" r:id="rId24"/>
    <p:sldId id="287" r:id="rId25"/>
    <p:sldId id="299" r:id="rId26"/>
    <p:sldId id="288" r:id="rId27"/>
    <p:sldId id="291" r:id="rId28"/>
    <p:sldId id="305" r:id="rId29"/>
    <p:sldId id="292" r:id="rId30"/>
    <p:sldId id="293" r:id="rId31"/>
    <p:sldId id="306" r:id="rId32"/>
    <p:sldId id="294" r:id="rId33"/>
    <p:sldId id="295" r:id="rId34"/>
    <p:sldId id="296" r:id="rId35"/>
    <p:sldId id="300" r:id="rId36"/>
    <p:sldId id="297" r:id="rId37"/>
    <p:sldId id="298" r:id="rId38"/>
    <p:sldId id="307" r:id="rId39"/>
    <p:sldId id="301" r:id="rId40"/>
    <p:sldId id="302" r:id="rId41"/>
    <p:sldId id="303" r:id="rId4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usuario\Desktop\FINANZAS%20CORPORATIVAS\CLASES\Riesgo%20y%20tasas%20de%20rendimient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CAPM!$D$153:$D$157</c:f>
              <c:numCache>
                <c:formatCode>General</c:formatCode>
                <c:ptCount val="5"/>
                <c:pt idx="0">
                  <c:v>0</c:v>
                </c:pt>
                <c:pt idx="1">
                  <c:v>0.5</c:v>
                </c:pt>
                <c:pt idx="2">
                  <c:v>1</c:v>
                </c:pt>
                <c:pt idx="3">
                  <c:v>1.5</c:v>
                </c:pt>
                <c:pt idx="4">
                  <c:v>2</c:v>
                </c:pt>
              </c:numCache>
            </c:numRef>
          </c:xVal>
          <c:yVal>
            <c:numRef>
              <c:f>CAPM!$E$153:$E$157</c:f>
              <c:numCache>
                <c:formatCode>0.0%</c:formatCode>
                <c:ptCount val="5"/>
                <c:pt idx="0">
                  <c:v>0.03</c:v>
                </c:pt>
                <c:pt idx="1">
                  <c:v>5.2499999999999998E-2</c:v>
                </c:pt>
                <c:pt idx="2">
                  <c:v>7.4999999999999997E-2</c:v>
                </c:pt>
                <c:pt idx="3">
                  <c:v>9.7500000000000003E-2</c:v>
                </c:pt>
                <c:pt idx="4">
                  <c:v>0.12</c:v>
                </c:pt>
              </c:numCache>
            </c:numRef>
          </c:yVal>
          <c:smooth val="0"/>
          <c:extLst>
            <c:ext xmlns:c16="http://schemas.microsoft.com/office/drawing/2014/chart" uri="{C3380CC4-5D6E-409C-BE32-E72D297353CC}">
              <c16:uniqueId val="{00000000-8E6D-49BA-B502-AB183391E56F}"/>
            </c:ext>
          </c:extLst>
        </c:ser>
        <c:ser>
          <c:idx val="2"/>
          <c:order val="1"/>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CAPM!$D$153:$D$157</c:f>
              <c:numCache>
                <c:formatCode>General</c:formatCode>
                <c:ptCount val="5"/>
                <c:pt idx="0">
                  <c:v>0</c:v>
                </c:pt>
                <c:pt idx="1">
                  <c:v>0.5</c:v>
                </c:pt>
                <c:pt idx="2">
                  <c:v>1</c:v>
                </c:pt>
                <c:pt idx="3">
                  <c:v>1.5</c:v>
                </c:pt>
                <c:pt idx="4">
                  <c:v>2</c:v>
                </c:pt>
              </c:numCache>
            </c:numRef>
          </c:xVal>
          <c:yVal>
            <c:numRef>
              <c:f>CAPM!$F$153:$F$157</c:f>
              <c:numCache>
                <c:formatCode>0.0%</c:formatCode>
                <c:ptCount val="5"/>
                <c:pt idx="0">
                  <c:v>0.11</c:v>
                </c:pt>
                <c:pt idx="1">
                  <c:v>0.11</c:v>
                </c:pt>
                <c:pt idx="2">
                  <c:v>0.11</c:v>
                </c:pt>
                <c:pt idx="3">
                  <c:v>0.11</c:v>
                </c:pt>
                <c:pt idx="4">
                  <c:v>0.11</c:v>
                </c:pt>
              </c:numCache>
            </c:numRef>
          </c:yVal>
          <c:smooth val="0"/>
          <c:extLst>
            <c:ext xmlns:c16="http://schemas.microsoft.com/office/drawing/2014/chart" uri="{C3380CC4-5D6E-409C-BE32-E72D297353CC}">
              <c16:uniqueId val="{00000001-8E6D-49BA-B502-AB183391E56F}"/>
            </c:ext>
          </c:extLst>
        </c:ser>
        <c:ser>
          <c:idx val="1"/>
          <c:order val="2"/>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CAPM!$D$153:$D$157</c:f>
              <c:numCache>
                <c:formatCode>General</c:formatCode>
                <c:ptCount val="5"/>
                <c:pt idx="0">
                  <c:v>0</c:v>
                </c:pt>
                <c:pt idx="1">
                  <c:v>0.5</c:v>
                </c:pt>
                <c:pt idx="2">
                  <c:v>1</c:v>
                </c:pt>
                <c:pt idx="3">
                  <c:v>1.5</c:v>
                </c:pt>
                <c:pt idx="4">
                  <c:v>2</c:v>
                </c:pt>
              </c:numCache>
            </c:numRef>
          </c:xVal>
          <c:yVal>
            <c:numRef>
              <c:f>CAPM!$G$153:$G$157</c:f>
              <c:numCache>
                <c:formatCode>0.0%</c:formatCode>
                <c:ptCount val="5"/>
                <c:pt idx="0">
                  <c:v>0.12</c:v>
                </c:pt>
                <c:pt idx="1">
                  <c:v>0.12</c:v>
                </c:pt>
                <c:pt idx="2">
                  <c:v>0.12</c:v>
                </c:pt>
                <c:pt idx="3">
                  <c:v>0.12</c:v>
                </c:pt>
                <c:pt idx="4">
                  <c:v>0.12</c:v>
                </c:pt>
              </c:numCache>
            </c:numRef>
          </c:yVal>
          <c:smooth val="0"/>
          <c:extLst>
            <c:ext xmlns:c16="http://schemas.microsoft.com/office/drawing/2014/chart" uri="{C3380CC4-5D6E-409C-BE32-E72D297353CC}">
              <c16:uniqueId val="{00000002-8E6D-49BA-B502-AB183391E56F}"/>
            </c:ext>
          </c:extLst>
        </c:ser>
        <c:ser>
          <c:idx val="3"/>
          <c:order val="3"/>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CAPM!$D$153:$D$157</c:f>
              <c:numCache>
                <c:formatCode>General</c:formatCode>
                <c:ptCount val="5"/>
                <c:pt idx="0">
                  <c:v>0</c:v>
                </c:pt>
                <c:pt idx="1">
                  <c:v>0.5</c:v>
                </c:pt>
                <c:pt idx="2">
                  <c:v>1</c:v>
                </c:pt>
                <c:pt idx="3">
                  <c:v>1.5</c:v>
                </c:pt>
                <c:pt idx="4">
                  <c:v>2</c:v>
                </c:pt>
              </c:numCache>
            </c:numRef>
          </c:xVal>
          <c:yVal>
            <c:numRef>
              <c:f>CAPM!$H$153:$H$157</c:f>
              <c:numCache>
                <c:formatCode>0.0%</c:formatCode>
                <c:ptCount val="5"/>
                <c:pt idx="0">
                  <c:v>0.13</c:v>
                </c:pt>
                <c:pt idx="1">
                  <c:v>0.13</c:v>
                </c:pt>
                <c:pt idx="2">
                  <c:v>0.13</c:v>
                </c:pt>
                <c:pt idx="3">
                  <c:v>0.13</c:v>
                </c:pt>
                <c:pt idx="4">
                  <c:v>0.13</c:v>
                </c:pt>
              </c:numCache>
            </c:numRef>
          </c:yVal>
          <c:smooth val="0"/>
          <c:extLst>
            <c:ext xmlns:c16="http://schemas.microsoft.com/office/drawing/2014/chart" uri="{C3380CC4-5D6E-409C-BE32-E72D297353CC}">
              <c16:uniqueId val="{00000003-8E6D-49BA-B502-AB183391E56F}"/>
            </c:ext>
          </c:extLst>
        </c:ser>
        <c:dLbls>
          <c:showLegendKey val="0"/>
          <c:showVal val="0"/>
          <c:showCatName val="0"/>
          <c:showSerName val="0"/>
          <c:showPercent val="0"/>
          <c:showBubbleSize val="0"/>
        </c:dLbls>
        <c:axId val="872699583"/>
        <c:axId val="872043935"/>
      </c:scatterChart>
      <c:valAx>
        <c:axId val="8726995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043935"/>
        <c:crosses val="autoZero"/>
        <c:crossBetween val="midCat"/>
      </c:valAx>
      <c:valAx>
        <c:axId val="872043935"/>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69958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24/04/2024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chart" Target="../charts/chart1.xml"/><Relationship Id="rId4" Type="http://schemas.openxmlformats.org/officeDocument/2006/relationships/image" Target="../media/image170.png"/></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A largo plazo las acciones suelen ser una inversión con alto rendimiento (12% en EEUU)</a:t>
            </a:r>
          </a:p>
          <a:p>
            <a:r>
              <a:rPr lang="es-AR" dirty="0"/>
              <a:t>Grandes oscilaciones mirando las acciones en forma individual</a:t>
            </a:r>
          </a:p>
          <a:p>
            <a:r>
              <a:rPr lang="es-AR" dirty="0"/>
              <a:t>Elegir una buena compañía y comprar acciones de la misma no es suficiente: Debemos poder estimar si su precio es razonable o no en base a su valor intrínseco</a:t>
            </a:r>
          </a:p>
          <a:p>
            <a:r>
              <a:rPr lang="es-AR" dirty="0"/>
              <a:t>Veremos los modelos que usan los analistas para determinarlos</a:t>
            </a:r>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r>
              <a:rPr lang="es-AR" dirty="0"/>
              <a:t>Derechos legales y privilegios de los accionistas comunes</a:t>
            </a:r>
          </a:p>
          <a:p>
            <a:pPr marL="0" indent="0">
              <a:buNone/>
            </a:pPr>
            <a:r>
              <a:rPr lang="es-AR" u="sng" dirty="0"/>
              <a:t>Control de la Empresa</a:t>
            </a:r>
          </a:p>
          <a:p>
            <a:r>
              <a:rPr lang="es-AR" dirty="0"/>
              <a:t>Los accionistas comunes son quienes eligen a los miembros del Consejo de Administración, que son a su vez quienes eligen a los ejecutivos que administrarán la compañía</a:t>
            </a:r>
          </a:p>
          <a:p>
            <a:r>
              <a:rPr lang="es-AR" dirty="0"/>
              <a:t>Empresas chicas, el principal accionista preside el Consejo</a:t>
            </a:r>
          </a:p>
          <a:p>
            <a:r>
              <a:rPr lang="es-AR" dirty="0"/>
              <a:t>Empresas grandes, los gerentes tienen acciones, pero no controlan los votos y pueden ser removidos si las cosas no marchan bien</a:t>
            </a:r>
          </a:p>
          <a:p>
            <a:r>
              <a:rPr lang="es-AR" dirty="0"/>
              <a:t>En general, una vez al año se celebran elecciones de consejeros, normalmente cada acción tiene derecho a un voto para cada consejero</a:t>
            </a:r>
          </a:p>
        </p:txBody>
      </p:sp>
    </p:spTree>
    <p:extLst>
      <p:ext uri="{BB962C8B-B14F-4D97-AF65-F5344CB8AC3E}">
        <p14:creationId xmlns:p14="http://schemas.microsoft.com/office/powerpoint/2010/main" val="2474736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Conceptos a tener presentes</a:t>
            </a:r>
          </a:p>
          <a:p>
            <a:r>
              <a:rPr lang="es-AR" dirty="0"/>
              <a:t>Carta poder, otorgando el poder de voto de las acciones comunes a una persona</a:t>
            </a:r>
          </a:p>
          <a:p>
            <a:r>
              <a:rPr lang="es-AR" dirty="0"/>
              <a:t>Batalla de representatividad, intento de una persona o grupo de obtener el control de una empresa logrando que sus accionistas le otorguen los derechos a voto para reemplazar a la gerencia en ejercicio</a:t>
            </a:r>
          </a:p>
          <a:p>
            <a:r>
              <a:rPr lang="es-AR" dirty="0"/>
              <a:t>Adquisición, de la mayoría de las acciones circulantes para tomar el control de una empresa</a:t>
            </a:r>
          </a:p>
          <a:p>
            <a:endParaRPr lang="es-AR" dirty="0"/>
          </a:p>
        </p:txBody>
      </p:sp>
    </p:spTree>
    <p:extLst>
      <p:ext uri="{BB962C8B-B14F-4D97-AF65-F5344CB8AC3E}">
        <p14:creationId xmlns:p14="http://schemas.microsoft.com/office/powerpoint/2010/main" val="196876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r>
              <a:rPr lang="es-AR" dirty="0"/>
              <a:t>Los gerentes buscan a través de modificar las actas constitutivas evitar batallas de representatividad y adquisiciones para conservar sus puestos de trabajo</a:t>
            </a:r>
          </a:p>
          <a:p>
            <a:r>
              <a:rPr lang="es-AR" dirty="0"/>
              <a:t>Los accionistas institucionales buscan por diversos medios poder influir en las decisiones, poder remover a la gerencia llegada la necesidad, influir sobre sus paquetes de retribuciones</a:t>
            </a:r>
          </a:p>
          <a:p>
            <a:r>
              <a:rPr lang="es-AR" dirty="0"/>
              <a:t>Inversionista Activista, se involucra fuertemente en la compañía y propone y presiona para obtener determinados cambios, destituir </a:t>
            </a:r>
            <a:r>
              <a:rPr lang="es-AR" dirty="0" err="1"/>
              <a:t>CEOs</a:t>
            </a:r>
            <a:r>
              <a:rPr lang="es-AR" dirty="0"/>
              <a:t>, evitar perjuicios</a:t>
            </a:r>
          </a:p>
          <a:p>
            <a:r>
              <a:rPr lang="es-AR" dirty="0"/>
              <a:t>La SEC (</a:t>
            </a:r>
            <a:r>
              <a:rPr lang="es-AR" dirty="0" err="1"/>
              <a:t>Securities</a:t>
            </a:r>
            <a:r>
              <a:rPr lang="es-AR" dirty="0"/>
              <a:t> and Exchange </a:t>
            </a:r>
            <a:r>
              <a:rPr lang="es-AR" dirty="0" err="1"/>
              <a:t>Commission</a:t>
            </a:r>
            <a:r>
              <a:rPr lang="es-AR" dirty="0"/>
              <a:t>) fija reglas para evitar alianzas que puedan ser perjudiciales para accionistas minoritarios, para evitar conductas indebidas de la gerencia</a:t>
            </a:r>
          </a:p>
          <a:p>
            <a:r>
              <a:rPr lang="es-AR" dirty="0"/>
              <a:t>Derechos de prioridad, cláusula que otorga a los accionistas comunes el derecho a adquirir por prorrateo nuevas emisiones de acciones comunes o de valores convertibles</a:t>
            </a:r>
          </a:p>
          <a:p>
            <a:pPr lvl="1"/>
            <a:r>
              <a:rPr lang="es-AR" dirty="0"/>
              <a:t>Evitar perder el poder de la compañía en manos de los gerentes</a:t>
            </a:r>
          </a:p>
          <a:p>
            <a:pPr lvl="1"/>
            <a:r>
              <a:rPr lang="es-AR" dirty="0"/>
              <a:t>Evitar una dilución de valor por venta de nuevas emisiones a precios inferiores a los de mercado</a:t>
            </a:r>
          </a:p>
        </p:txBody>
      </p:sp>
    </p:spTree>
    <p:extLst>
      <p:ext uri="{BB962C8B-B14F-4D97-AF65-F5344CB8AC3E}">
        <p14:creationId xmlns:p14="http://schemas.microsoft.com/office/powerpoint/2010/main" val="1417985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dirty="0"/>
              <a:t>Tipos de acciones comunes</a:t>
            </a:r>
          </a:p>
          <a:p>
            <a:r>
              <a:rPr lang="es-AR" dirty="0"/>
              <a:t>La mayoría de las empresas tiene un solo tipo de acciones comunes</a:t>
            </a:r>
          </a:p>
          <a:p>
            <a:r>
              <a:rPr lang="es-AR" dirty="0"/>
              <a:t>Se pueden emitir diferentes tipos de acciones, para satisfacer necesidades especiales de la compañía (Acciones Clasificadas)</a:t>
            </a:r>
          </a:p>
          <a:p>
            <a:pPr lvl="1"/>
            <a:r>
              <a:rPr lang="es-AR" dirty="0"/>
              <a:t>Distinto número de votos por acción</a:t>
            </a:r>
          </a:p>
          <a:p>
            <a:pPr lvl="1"/>
            <a:r>
              <a:rPr lang="es-AR" dirty="0"/>
              <a:t>Nuevas emisiones sin derecho a voto</a:t>
            </a:r>
          </a:p>
          <a:p>
            <a:pPr lvl="1"/>
            <a:r>
              <a:rPr lang="es-AR" dirty="0"/>
              <a:t>Acciones de los Fundadores (conservar el control sin mayoría accionaria)</a:t>
            </a:r>
          </a:p>
          <a:p>
            <a:pPr lvl="1"/>
            <a:r>
              <a:rPr lang="es-AR" dirty="0"/>
              <a:t>Otros objetivos</a:t>
            </a:r>
          </a:p>
          <a:p>
            <a:r>
              <a:rPr lang="es-AR" dirty="0"/>
              <a:t>Riesgos de las emisiones duales para los pequeños accionistas. Exclusión de compañías con emisiones duales de ciertos índices (S&amp;P Dow Jones Índices)</a:t>
            </a:r>
          </a:p>
        </p:txBody>
      </p:sp>
    </p:spTree>
    <p:extLst>
      <p:ext uri="{BB962C8B-B14F-4D97-AF65-F5344CB8AC3E}">
        <p14:creationId xmlns:p14="http://schemas.microsoft.com/office/powerpoint/2010/main" val="3097087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dirty="0"/>
              <a:t>Precio de las acciones versus valor intrínseco</a:t>
            </a:r>
          </a:p>
          <a:p>
            <a:r>
              <a:rPr lang="es-AR" dirty="0"/>
              <a:t>El precio es fácil de obtener, mientras que el valor intrínseco no</a:t>
            </a:r>
          </a:p>
          <a:p>
            <a:r>
              <a:rPr lang="es-AR" dirty="0"/>
              <a:t>El mercado estará en equilibrio cuando se igualen, pero puede pasar bastante tiempo con una acción con un precio muy por encima o por debajo de su valor intrínseco</a:t>
            </a:r>
          </a:p>
          <a:p>
            <a:r>
              <a:rPr lang="es-AR" dirty="0"/>
              <a:t>Teoría conductual para entender la irracionalidad de ciertos comportamientos</a:t>
            </a:r>
          </a:p>
          <a:p>
            <a:r>
              <a:rPr lang="es-AR" dirty="0"/>
              <a:t>Crisis 2007/8 de las hipotecas. Valores de las acciones de sociedades financieras sobrevaluados. Como caso extremo podemos recordar Bear </a:t>
            </a:r>
            <a:r>
              <a:rPr lang="es-AR" dirty="0" err="1"/>
              <a:t>Stearns</a:t>
            </a:r>
            <a:r>
              <a:rPr lang="es-AR" dirty="0"/>
              <a:t>, en ese entonces quinto banco de inversión más grande, vio caer el precio de sus acciones desde USD 171 en 2007, a USD 2 justo antes de su colapso en marzo de 2008 ¡Es obvio que a veces tiene sentido cuestionar los precios del mercado!</a:t>
            </a:r>
          </a:p>
        </p:txBody>
      </p:sp>
    </p:spTree>
    <p:extLst>
      <p:ext uri="{BB962C8B-B14F-4D97-AF65-F5344CB8AC3E}">
        <p14:creationId xmlns:p14="http://schemas.microsoft.com/office/powerpoint/2010/main" val="3777558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DETERMINANTES DE VALOR</a:t>
            </a:r>
          </a:p>
          <a:p>
            <a:pPr marL="0" indent="0">
              <a:buNone/>
            </a:pPr>
            <a:endParaRPr lang="es-AR" sz="1800" dirty="0">
              <a:latin typeface="Calibri" panose="020F0502020204030204" pitchFamily="34" charset="0"/>
              <a:cs typeface="Times New Roman" panose="02020603050405020304" pitchFamily="18" charset="0"/>
            </a:endParaRPr>
          </a:p>
          <a:p>
            <a:pPr marL="0" indent="0">
              <a:buNone/>
            </a:pPr>
            <a:endParaRPr lang="es-AR" dirty="0"/>
          </a:p>
        </p:txBody>
      </p:sp>
      <p:sp>
        <p:nvSpPr>
          <p:cNvPr id="4" name="Cuadro de texto 19">
            <a:extLst>
              <a:ext uri="{FF2B5EF4-FFF2-40B4-BE49-F238E27FC236}">
                <a16:creationId xmlns:a16="http://schemas.microsoft.com/office/drawing/2014/main" id="{275A079E-09D6-F5ED-0652-433164F3E092}"/>
              </a:ext>
            </a:extLst>
          </p:cNvPr>
          <p:cNvSpPr txBox="1">
            <a:spLocks noChangeArrowheads="1"/>
          </p:cNvSpPr>
          <p:nvPr/>
        </p:nvSpPr>
        <p:spPr bwMode="auto">
          <a:xfrm>
            <a:off x="4462830" y="2264441"/>
            <a:ext cx="2619375" cy="4953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Actos gerenciales, entorno económico, impuestos y ambiente político</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5" name="Cuadro de texto 20">
            <a:extLst>
              <a:ext uri="{FF2B5EF4-FFF2-40B4-BE49-F238E27FC236}">
                <a16:creationId xmlns:a16="http://schemas.microsoft.com/office/drawing/2014/main" id="{A0FB8D88-B818-871F-AC50-D52732053473}"/>
              </a:ext>
            </a:extLst>
          </p:cNvPr>
          <p:cNvSpPr txBox="1">
            <a:spLocks noChangeArrowheads="1"/>
          </p:cNvSpPr>
          <p:nvPr/>
        </p:nvSpPr>
        <p:spPr bwMode="auto">
          <a:xfrm>
            <a:off x="1806942" y="3334416"/>
            <a:ext cx="1809750"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Flujos de efectivo “reales” para los inversores</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6" name="Cuadro de texto 21">
            <a:extLst>
              <a:ext uri="{FF2B5EF4-FFF2-40B4-BE49-F238E27FC236}">
                <a16:creationId xmlns:a16="http://schemas.microsoft.com/office/drawing/2014/main" id="{3B962B18-98E0-8218-9DDA-74BDCC78BB85}"/>
              </a:ext>
            </a:extLst>
          </p:cNvPr>
          <p:cNvSpPr txBox="1">
            <a:spLocks noChangeArrowheads="1"/>
          </p:cNvSpPr>
          <p:nvPr/>
        </p:nvSpPr>
        <p:spPr bwMode="auto">
          <a:xfrm>
            <a:off x="4016742" y="3401091"/>
            <a:ext cx="990601" cy="2857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Riesgo “real” </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7" name="Cuadro de texto 22">
            <a:extLst>
              <a:ext uri="{FF2B5EF4-FFF2-40B4-BE49-F238E27FC236}">
                <a16:creationId xmlns:a16="http://schemas.microsoft.com/office/drawing/2014/main" id="{95252CA2-82EB-26D3-F1F1-60F10F5A6147}"/>
              </a:ext>
            </a:extLst>
          </p:cNvPr>
          <p:cNvSpPr txBox="1">
            <a:spLocks noChangeArrowheads="1"/>
          </p:cNvSpPr>
          <p:nvPr/>
        </p:nvSpPr>
        <p:spPr bwMode="auto">
          <a:xfrm>
            <a:off x="6698224" y="3401091"/>
            <a:ext cx="1343025" cy="6953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Flujos de Efectivo “percibidos” para los inversores </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8" name="Cuadro de texto 23">
            <a:extLst>
              <a:ext uri="{FF2B5EF4-FFF2-40B4-BE49-F238E27FC236}">
                <a16:creationId xmlns:a16="http://schemas.microsoft.com/office/drawing/2014/main" id="{948EAD4B-D840-19F8-74E4-747F48E76073}"/>
              </a:ext>
            </a:extLst>
          </p:cNvPr>
          <p:cNvSpPr txBox="1">
            <a:spLocks noChangeArrowheads="1"/>
          </p:cNvSpPr>
          <p:nvPr/>
        </p:nvSpPr>
        <p:spPr bwMode="auto">
          <a:xfrm>
            <a:off x="8357162" y="3401091"/>
            <a:ext cx="1343025" cy="3143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Riesgo “percibido”  </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9" name="Cuadro de texto 24">
            <a:extLst>
              <a:ext uri="{FF2B5EF4-FFF2-40B4-BE49-F238E27FC236}">
                <a16:creationId xmlns:a16="http://schemas.microsoft.com/office/drawing/2014/main" id="{F0896EA9-5B09-4280-248A-A57CA7E388A6}"/>
              </a:ext>
            </a:extLst>
          </p:cNvPr>
          <p:cNvSpPr txBox="1">
            <a:spLocks noChangeArrowheads="1"/>
          </p:cNvSpPr>
          <p:nvPr/>
        </p:nvSpPr>
        <p:spPr bwMode="auto">
          <a:xfrm>
            <a:off x="2410192" y="4290091"/>
            <a:ext cx="1809750"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Valor intrínseco de las Acciones</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0" name="Cuadro de texto 25">
            <a:extLst>
              <a:ext uri="{FF2B5EF4-FFF2-40B4-BE49-F238E27FC236}">
                <a16:creationId xmlns:a16="http://schemas.microsoft.com/office/drawing/2014/main" id="{BB25152B-405E-07C3-F4FC-430D1B69F905}"/>
              </a:ext>
            </a:extLst>
          </p:cNvPr>
          <p:cNvSpPr txBox="1">
            <a:spLocks noChangeArrowheads="1"/>
          </p:cNvSpPr>
          <p:nvPr/>
        </p:nvSpPr>
        <p:spPr bwMode="auto">
          <a:xfrm>
            <a:off x="7538439" y="4423441"/>
            <a:ext cx="1809750" cy="4857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Precio de mercado de las Acciones</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11" name="Cuadro de texto 26">
            <a:extLst>
              <a:ext uri="{FF2B5EF4-FFF2-40B4-BE49-F238E27FC236}">
                <a16:creationId xmlns:a16="http://schemas.microsoft.com/office/drawing/2014/main" id="{5FC4F6A6-E523-BAEE-B501-9C1B9084AC43}"/>
              </a:ext>
            </a:extLst>
          </p:cNvPr>
          <p:cNvSpPr txBox="1">
            <a:spLocks noChangeArrowheads="1"/>
          </p:cNvSpPr>
          <p:nvPr/>
        </p:nvSpPr>
        <p:spPr bwMode="auto">
          <a:xfrm>
            <a:off x="4312017" y="5339429"/>
            <a:ext cx="2533651" cy="6096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Equilibrio del mercado: </a:t>
            </a: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Valor intrínseco = Precio de las Acciones</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FDDD1A6E-660B-EB25-C38F-3C741667072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3" name="Rectangle 18">
            <a:extLst>
              <a:ext uri="{FF2B5EF4-FFF2-40B4-BE49-F238E27FC236}">
                <a16:creationId xmlns:a16="http://schemas.microsoft.com/office/drawing/2014/main" id="{C0D53309-5D52-B08B-5756-D02551393074}"/>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6" name="Título 1">
            <a:extLst>
              <a:ext uri="{FF2B5EF4-FFF2-40B4-BE49-F238E27FC236}">
                <a16:creationId xmlns:a16="http://schemas.microsoft.com/office/drawing/2014/main" id="{B210CED6-CC66-9DFA-7CFC-5DD7B8DD5BE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4000"/>
              <a:t>Las Acciones y su valuación</a:t>
            </a:r>
            <a:endParaRPr lang="es-AR" sz="4000" dirty="0"/>
          </a:p>
        </p:txBody>
      </p:sp>
      <p:cxnSp>
        <p:nvCxnSpPr>
          <p:cNvPr id="14" name="Conector recto de flecha 13">
            <a:extLst>
              <a:ext uri="{FF2B5EF4-FFF2-40B4-BE49-F238E27FC236}">
                <a16:creationId xmlns:a16="http://schemas.microsoft.com/office/drawing/2014/main" id="{4804F930-6E69-8E40-315C-3CC5CEBA4B23}"/>
              </a:ext>
            </a:extLst>
          </p:cNvPr>
          <p:cNvCxnSpPr/>
          <p:nvPr/>
        </p:nvCxnSpPr>
        <p:spPr>
          <a:xfrm flipH="1">
            <a:off x="2923306" y="2801306"/>
            <a:ext cx="1793088" cy="45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A4A84A0E-74DE-97A1-71C3-E22C10AF08FD}"/>
              </a:ext>
            </a:extLst>
          </p:cNvPr>
          <p:cNvCxnSpPr>
            <a:cxnSpLocks/>
          </p:cNvCxnSpPr>
          <p:nvPr/>
        </p:nvCxnSpPr>
        <p:spPr>
          <a:xfrm flipH="1">
            <a:off x="4268850" y="2875700"/>
            <a:ext cx="1509728" cy="371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EE0AC06B-0328-FE04-EA0F-15590151D2A5}"/>
              </a:ext>
            </a:extLst>
          </p:cNvPr>
          <p:cNvCxnSpPr/>
          <p:nvPr/>
        </p:nvCxnSpPr>
        <p:spPr>
          <a:xfrm>
            <a:off x="6539345" y="2894750"/>
            <a:ext cx="542860" cy="361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BFC6B5B2-FCC7-E7EE-9BFF-BA0FAF940EC6}"/>
              </a:ext>
            </a:extLst>
          </p:cNvPr>
          <p:cNvCxnSpPr/>
          <p:nvPr/>
        </p:nvCxnSpPr>
        <p:spPr>
          <a:xfrm>
            <a:off x="6982691" y="2875700"/>
            <a:ext cx="2045983" cy="38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64B23541-FAC6-F162-07EA-B0D792159B96}"/>
              </a:ext>
            </a:extLst>
          </p:cNvPr>
          <p:cNvCxnSpPr/>
          <p:nvPr/>
        </p:nvCxnSpPr>
        <p:spPr>
          <a:xfrm>
            <a:off x="2711817" y="4001294"/>
            <a:ext cx="405456" cy="259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DAD3E8B0-ACD9-5B84-BF1F-6CAF805C4A54}"/>
              </a:ext>
            </a:extLst>
          </p:cNvPr>
          <p:cNvCxnSpPr/>
          <p:nvPr/>
        </p:nvCxnSpPr>
        <p:spPr>
          <a:xfrm flipH="1">
            <a:off x="4016742" y="3748753"/>
            <a:ext cx="699652" cy="465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92011DC0-CB2D-D77D-CFCD-ED098CEEAAE1}"/>
              </a:ext>
            </a:extLst>
          </p:cNvPr>
          <p:cNvCxnSpPr/>
          <p:nvPr/>
        </p:nvCxnSpPr>
        <p:spPr>
          <a:xfrm>
            <a:off x="7369736" y="4167045"/>
            <a:ext cx="635946" cy="123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95CE3A63-2509-3D6D-44CA-8FE49F80C2CB}"/>
              </a:ext>
            </a:extLst>
          </p:cNvPr>
          <p:cNvCxnSpPr/>
          <p:nvPr/>
        </p:nvCxnSpPr>
        <p:spPr>
          <a:xfrm flipH="1">
            <a:off x="8756073" y="3828170"/>
            <a:ext cx="592116" cy="460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31015D09-E08C-9EAF-4073-725B174A02CB}"/>
              </a:ext>
            </a:extLst>
          </p:cNvPr>
          <p:cNvCxnSpPr/>
          <p:nvPr/>
        </p:nvCxnSpPr>
        <p:spPr>
          <a:xfrm>
            <a:off x="3616692" y="4909216"/>
            <a:ext cx="1499752" cy="327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FBEF4848-14F4-7A23-E327-7639727E432B}"/>
              </a:ext>
            </a:extLst>
          </p:cNvPr>
          <p:cNvCxnSpPr/>
          <p:nvPr/>
        </p:nvCxnSpPr>
        <p:spPr>
          <a:xfrm flipH="1">
            <a:off x="6345382" y="4974157"/>
            <a:ext cx="1660300" cy="271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66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dirty="0"/>
              <a:t>¿Por qué a inversionistas y compañías les importa el valor intrínseco?</a:t>
            </a:r>
          </a:p>
          <a:p>
            <a:r>
              <a:rPr lang="es-AR" dirty="0"/>
              <a:t>Comprar acciones subvaluadas y vender las que estén sobrevaluadas según su valor intrínseco</a:t>
            </a:r>
          </a:p>
          <a:p>
            <a:r>
              <a:rPr lang="es-AR" dirty="0"/>
              <a:t>Para los gerentes saber calcularlo les permitirá conocer el efecto de diferentes actos en el precio de las acciones, entender la relación entre decisiones gerenciales y valor de la empresa</a:t>
            </a:r>
          </a:p>
          <a:p>
            <a:r>
              <a:rPr lang="es-AR" dirty="0"/>
              <a:t>Además, conocer si sus acciones están subvaluadas o no les permitirá tomar decisiones adecuadas en relación con la emisión de nuevas acciones</a:t>
            </a:r>
          </a:p>
          <a:p>
            <a:r>
              <a:rPr lang="es-AR" dirty="0"/>
              <a:t>Veremos dos modelos</a:t>
            </a:r>
          </a:p>
          <a:p>
            <a:pPr lvl="1"/>
            <a:r>
              <a:rPr lang="es-AR" dirty="0"/>
              <a:t>Modelo de dividendos descontados, basado en los dividendos</a:t>
            </a:r>
          </a:p>
          <a:p>
            <a:pPr lvl="1"/>
            <a:r>
              <a:rPr lang="es-AR" dirty="0"/>
              <a:t>Modelo de valuación corporativa, se centra en las ventas, costos y flujos de efectivo disponibles</a:t>
            </a:r>
          </a:p>
        </p:txBody>
      </p:sp>
    </p:spTree>
    <p:extLst>
      <p:ext uri="{BB962C8B-B14F-4D97-AF65-F5344CB8AC3E}">
        <p14:creationId xmlns:p14="http://schemas.microsoft.com/office/powerpoint/2010/main" val="78608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dirty="0"/>
              <a:t>El modelo de dividendos descontados</a:t>
            </a:r>
          </a:p>
          <a:p>
            <a:r>
              <a:rPr lang="es-AR" dirty="0"/>
              <a:t>El valor de una acción común depende de los flujos de efectivo que se espera que proporcione</a:t>
            </a:r>
          </a:p>
          <a:p>
            <a:r>
              <a:rPr lang="es-AR" dirty="0"/>
              <a:t>¿Por qué?</a:t>
            </a:r>
          </a:p>
          <a:p>
            <a:r>
              <a:rPr lang="es-AR" dirty="0"/>
              <a:t>Los flujos se componen de</a:t>
            </a:r>
          </a:p>
          <a:p>
            <a:pPr lvl="1"/>
            <a:r>
              <a:rPr lang="es-AR" dirty="0"/>
              <a:t>Los dividendos que se reciben</a:t>
            </a:r>
          </a:p>
          <a:p>
            <a:pPr lvl="1"/>
            <a:r>
              <a:rPr lang="es-AR" dirty="0"/>
              <a:t>El precio recibido al momento de la venta</a:t>
            </a:r>
          </a:p>
          <a:p>
            <a:pPr lvl="2"/>
            <a:r>
              <a:rPr lang="es-AR" dirty="0"/>
              <a:t>Precio de compra</a:t>
            </a:r>
          </a:p>
          <a:p>
            <a:pPr lvl="2"/>
            <a:r>
              <a:rPr lang="es-AR" dirty="0"/>
              <a:t>Ganancia de capital, determinada por las expectativas del inversionista marginal</a:t>
            </a:r>
          </a:p>
          <a:p>
            <a:r>
              <a:rPr lang="es-AR" dirty="0"/>
              <a:t>Cada inversionista, marginal o no, ejecuta implícitamente el mismo análisis</a:t>
            </a:r>
          </a:p>
        </p:txBody>
      </p:sp>
    </p:spTree>
    <p:extLst>
      <p:ext uri="{BB962C8B-B14F-4D97-AF65-F5344CB8AC3E}">
        <p14:creationId xmlns:p14="http://schemas.microsoft.com/office/powerpoint/2010/main" val="2794240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r>
                  <a:rPr lang="es-AR" dirty="0">
                    <a:highlight>
                      <a:srgbClr val="C0C0C0"/>
                    </a:highlight>
                  </a:rPr>
                  <a:t>Términos que utilizaremos</a:t>
                </a:r>
              </a:p>
              <a:p>
                <a14:m>
                  <m:oMath xmlns:m="http://schemas.openxmlformats.org/officeDocument/2006/math">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𝐷</m:t>
                        </m:r>
                      </m:e>
                      <m:sub>
                        <m:r>
                          <a:rPr lang="es-AR" b="0" i="1" smtClean="0">
                            <a:highlight>
                              <a:srgbClr val="C0C0C0"/>
                            </a:highlight>
                            <a:latin typeface="Cambria Math" panose="02040503050406030204" pitchFamily="18" charset="0"/>
                          </a:rPr>
                          <m:t>𝑡</m:t>
                        </m:r>
                      </m:sub>
                    </m:sSub>
                  </m:oMath>
                </a14:m>
                <a:r>
                  <a:rPr lang="es-AR" dirty="0">
                    <a:highlight>
                      <a:srgbClr val="C0C0C0"/>
                    </a:highlight>
                  </a:rPr>
                  <a:t> es el dividendo que el accionista </a:t>
                </a:r>
                <a:r>
                  <a:rPr lang="es-AR" b="1" dirty="0">
                    <a:highlight>
                      <a:srgbClr val="C0C0C0"/>
                    </a:highlight>
                  </a:rPr>
                  <a:t>espera recibir </a:t>
                </a:r>
                <a:r>
                  <a:rPr lang="es-AR" dirty="0">
                    <a:highlight>
                      <a:srgbClr val="C0C0C0"/>
                    </a:highlight>
                  </a:rPr>
                  <a:t>al final del año “t”.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𝐷</m:t>
                        </m:r>
                      </m:e>
                      <m:sub>
                        <m:r>
                          <a:rPr lang="es-AR" b="0" i="1" smtClean="0">
                            <a:highlight>
                              <a:srgbClr val="C0C0C0"/>
                            </a:highlight>
                            <a:latin typeface="Cambria Math" panose="02040503050406030204" pitchFamily="18" charset="0"/>
                          </a:rPr>
                          <m:t>0</m:t>
                        </m:r>
                      </m:sub>
                    </m:sSub>
                  </m:oMath>
                </a14:m>
                <a:r>
                  <a:rPr lang="es-AR" dirty="0">
                    <a:highlight>
                      <a:srgbClr val="C0C0C0"/>
                    </a:highlight>
                  </a:rPr>
                  <a:t> es el último </a:t>
                </a:r>
                <a:r>
                  <a:rPr lang="es-AR" b="1" dirty="0">
                    <a:highlight>
                      <a:srgbClr val="C0C0C0"/>
                    </a:highlight>
                  </a:rPr>
                  <a:t>dividendo pagado </a:t>
                </a:r>
                <a:r>
                  <a:rPr lang="es-AR" dirty="0">
                    <a:highlight>
                      <a:srgbClr val="C0C0C0"/>
                    </a:highlight>
                  </a:rPr>
                  <a:t>y el comprador no lo recibirá. ¿Cuáles son ciertos y cuáles estimados?</a:t>
                </a:r>
              </a:p>
              <a:p>
                <a14:m>
                  <m:oMath xmlns:m="http://schemas.openxmlformats.org/officeDocument/2006/math">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0</m:t>
                        </m:r>
                      </m:sub>
                    </m:sSub>
                  </m:oMath>
                </a14:m>
                <a:r>
                  <a:rPr lang="es-AR" dirty="0">
                    <a:highlight>
                      <a:srgbClr val="C0C0C0"/>
                    </a:highlight>
                  </a:rPr>
                  <a:t> es el </a:t>
                </a:r>
                <a:r>
                  <a:rPr lang="es-AR" b="1" dirty="0">
                    <a:highlight>
                      <a:srgbClr val="C0C0C0"/>
                    </a:highlight>
                  </a:rPr>
                  <a:t>precio de mercado</a:t>
                </a:r>
                <a:r>
                  <a:rPr lang="es-AR" dirty="0">
                    <a:highlight>
                      <a:srgbClr val="C0C0C0"/>
                    </a:highlight>
                  </a:rPr>
                  <a:t> real hoy </a:t>
                </a:r>
              </a:p>
              <a:p>
                <a14:m>
                  <m:oMath xmlns:m="http://schemas.openxmlformats.org/officeDocument/2006/math">
                    <m:acc>
                      <m:accPr>
                        <m:chr m:val="̂"/>
                        <m:ctrlPr>
                          <a:rPr lang="es-AR" i="1" smtClean="0">
                            <a:highlight>
                              <a:srgbClr val="C0C0C0"/>
                            </a:highlight>
                            <a:latin typeface="Cambria Math" panose="02040503050406030204" pitchFamily="18" charset="0"/>
                          </a:rPr>
                        </m:ctrlPr>
                      </m:accPr>
                      <m:e>
                        <m:sSub>
                          <m:sSubPr>
                            <m:ctrlPr>
                              <a:rPr lang="es-AR" i="1">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𝑡</m:t>
                            </m:r>
                          </m:sub>
                        </m:sSub>
                      </m:e>
                    </m:acc>
                  </m:oMath>
                </a14:m>
                <a:r>
                  <a:rPr lang="es-AR" dirty="0">
                    <a:highlight>
                      <a:srgbClr val="C0C0C0"/>
                    </a:highlight>
                  </a:rPr>
                  <a:t> es el precio esperado a futuro, y el valor intrínseco al final de cada año “t”. Se basa en las estimaciones de la serie de dividendos y el riesgo de esa serie ¿Cómo se define el riesgo de esa serie? Muchos inversionistas, muchas estimaciones. Sin embargo, para el inversionista marginal </a:t>
                </a:r>
                <a14:m>
                  <m:oMath xmlns:m="http://schemas.openxmlformats.org/officeDocument/2006/math">
                    <m:acc>
                      <m:accPr>
                        <m:chr m:val="̂"/>
                        <m:ctrlPr>
                          <a:rPr lang="es-AR" i="1">
                            <a:highlight>
                              <a:srgbClr val="C0C0C0"/>
                            </a:highlight>
                            <a:latin typeface="Cambria Math" panose="02040503050406030204" pitchFamily="18" charset="0"/>
                          </a:rPr>
                        </m:ctrlPr>
                      </m:accPr>
                      <m:e>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0</m:t>
                            </m:r>
                          </m:sub>
                        </m:sSub>
                      </m:e>
                    </m:acc>
                    <m:r>
                      <a:rPr lang="es-AR" b="0" i="1" smtClean="0">
                        <a:highlight>
                          <a:srgbClr val="C0C0C0"/>
                        </a:highlight>
                        <a:latin typeface="Cambria Math" panose="02040503050406030204" pitchFamily="18" charset="0"/>
                      </a:rPr>
                      <m:t>=</m:t>
                    </m:r>
                  </m:oMath>
                </a14:m>
                <a:r>
                  <a:rPr lang="es-AR" dirty="0">
                    <a:highlight>
                      <a:srgbClr val="C0C0C0"/>
                    </a:highlight>
                  </a:rPr>
                  <a: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0</m:t>
                        </m:r>
                      </m:sub>
                    </m:sSub>
                  </m:oMath>
                </a14:m>
                <a:r>
                  <a:rPr lang="es-AR" dirty="0">
                    <a:highlight>
                      <a:srgbClr val="C0C0C0"/>
                    </a:highlight>
                  </a:rPr>
                  <a:t>, si no la compraventa lo llevaría a equilibrio</a:t>
                </a:r>
              </a:p>
              <a:p>
                <a:r>
                  <a:rPr lang="es-AR" dirty="0">
                    <a:highlight>
                      <a:srgbClr val="C0C0C0"/>
                    </a:highlight>
                  </a:rPr>
                  <a:t>g es la tasa de crecimiento de los dividendos predicha por un inversionista. </a:t>
                </a:r>
                <a:r>
                  <a:rPr lang="es-AR" dirty="0">
                    <a:solidFill>
                      <a:srgbClr val="FF0000"/>
                    </a:solidFill>
                    <a:highlight>
                      <a:srgbClr val="C0C0C0"/>
                    </a:highlight>
                  </a:rPr>
                  <a:t>Será la tasa esperada de crecimiento de las ganancias y del precio de la acción. </a:t>
                </a:r>
                <a14:m>
                  <m:oMath xmlns:m="http://schemas.openxmlformats.org/officeDocument/2006/math">
                    <m:sSub>
                      <m:sSubPr>
                        <m:ctrlPr>
                          <a:rPr lang="es-AR" i="1" smtClean="0">
                            <a:solidFill>
                              <a:srgbClr val="FF0000"/>
                            </a:solidFill>
                            <a:highlight>
                              <a:srgbClr val="C0C0C0"/>
                            </a:highlight>
                            <a:latin typeface="Cambria Math" panose="02040503050406030204" pitchFamily="18" charset="0"/>
                          </a:rPr>
                        </m:ctrlPr>
                      </m:sSubPr>
                      <m:e>
                        <m:r>
                          <a:rPr lang="es-AR" b="0" i="1" smtClean="0">
                            <a:solidFill>
                              <a:srgbClr val="FF0000"/>
                            </a:solidFill>
                            <a:highlight>
                              <a:srgbClr val="C0C0C0"/>
                            </a:highlight>
                            <a:latin typeface="Cambria Math" panose="02040503050406030204" pitchFamily="18" charset="0"/>
                          </a:rPr>
                          <m:t>𝑃</m:t>
                        </m:r>
                      </m:e>
                      <m:sub>
                        <m:r>
                          <a:rPr lang="es-AR" b="0" i="1" smtClean="0">
                            <a:solidFill>
                              <a:srgbClr val="FF0000"/>
                            </a:solidFill>
                            <a:highlight>
                              <a:srgbClr val="C0C0C0"/>
                            </a:highlight>
                            <a:latin typeface="Cambria Math" panose="02040503050406030204" pitchFamily="18" charset="0"/>
                          </a:rPr>
                          <m:t>0</m:t>
                        </m:r>
                      </m:sub>
                    </m:sSub>
                  </m:oMath>
                </a14:m>
                <a:r>
                  <a:rPr lang="es-AR" dirty="0">
                    <a:solidFill>
                      <a:srgbClr val="FF0000"/>
                    </a:solidFill>
                    <a:highlight>
                      <a:srgbClr val="C0C0C0"/>
                    </a:highlight>
                  </a:rPr>
                  <a:t> según visión del inversionista marginal con respecto a g</a:t>
                </a:r>
                <a:endParaRPr lang="es-AR" dirty="0">
                  <a:highlight>
                    <a:srgbClr val="C0C0C0"/>
                  </a:highlight>
                </a:endParaRPr>
              </a:p>
              <a:p>
                <a14:m>
                  <m:oMath xmlns:m="http://schemas.openxmlformats.org/officeDocument/2006/math">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𝑟</m:t>
                        </m:r>
                      </m:e>
                      <m:sub>
                        <m:r>
                          <a:rPr lang="es-AR" b="0" i="1" smtClean="0">
                            <a:highlight>
                              <a:srgbClr val="C0C0C0"/>
                            </a:highlight>
                            <a:latin typeface="Cambria Math" panose="02040503050406030204" pitchFamily="18" charset="0"/>
                          </a:rPr>
                          <m:t>𝑠</m:t>
                        </m:r>
                      </m:sub>
                    </m:sSub>
                  </m:oMath>
                </a14:m>
                <a:r>
                  <a:rPr lang="es-AR" dirty="0">
                    <a:highlight>
                      <a:srgbClr val="C0C0C0"/>
                    </a:highlight>
                  </a:rPr>
                  <a:t> es la </a:t>
                </a:r>
                <a:r>
                  <a:rPr lang="es-AR" b="1" dirty="0">
                    <a:highlight>
                      <a:srgbClr val="C0C0C0"/>
                    </a:highlight>
                  </a:rPr>
                  <a:t>tasa requerida de rendimiento</a:t>
                </a:r>
                <a:r>
                  <a:rPr lang="es-AR" dirty="0">
                    <a:highlight>
                      <a:srgbClr val="C0C0C0"/>
                    </a:highlight>
                  </a:rPr>
                  <a:t>, o mínima aceptable para el inversionista marginal de la acción considerando su riesgo y los rendimientos disponibles de otras inversiones</a:t>
                </a:r>
              </a:p>
              <a:p>
                <a:endParaRPr lang="es-AR" dirty="0"/>
              </a:p>
              <a:p>
                <a:endParaRPr lang="es-AR" dirty="0"/>
              </a:p>
              <a:p>
                <a:endParaRPr lang="es-AR" dirty="0"/>
              </a:p>
              <a:p>
                <a:endParaRPr lang="es-AR"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96" t="-2801" r="-116"/>
                </a:stretch>
              </a:blipFill>
            </p:spPr>
            <p:txBody>
              <a:bodyPr/>
              <a:lstStyle/>
              <a:p>
                <a:r>
                  <a:rPr lang="es-ES">
                    <a:noFill/>
                  </a:rPr>
                  <a:t> </a:t>
                </a:r>
              </a:p>
            </p:txBody>
          </p:sp>
        </mc:Fallback>
      </mc:AlternateContent>
    </p:spTree>
    <p:extLst>
      <p:ext uri="{BB962C8B-B14F-4D97-AF65-F5344CB8AC3E}">
        <p14:creationId xmlns:p14="http://schemas.microsoft.com/office/powerpoint/2010/main" val="1618049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r>
                  <a:rPr lang="es-AR" dirty="0">
                    <a:highlight>
                      <a:srgbClr val="C0C0C0"/>
                    </a:highlight>
                  </a:rPr>
                  <a:t>Términos que utilizaremos</a:t>
                </a:r>
              </a:p>
              <a:p>
                <a14:m>
                  <m:oMath xmlns:m="http://schemas.openxmlformats.org/officeDocument/2006/math">
                    <m:acc>
                      <m:accPr>
                        <m:chr m:val="̂"/>
                        <m:ctrlPr>
                          <a:rPr lang="es-AR" i="1" smtClean="0">
                            <a:highlight>
                              <a:srgbClr val="C0C0C0"/>
                            </a:highlight>
                            <a:latin typeface="Cambria Math" panose="02040503050406030204" pitchFamily="18" charset="0"/>
                          </a:rPr>
                        </m:ctrlPr>
                      </m:accPr>
                      <m:e>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𝑟</m:t>
                            </m:r>
                          </m:e>
                          <m:sub>
                            <m:r>
                              <a:rPr lang="es-AR" b="0" i="1" smtClean="0">
                                <a:highlight>
                                  <a:srgbClr val="C0C0C0"/>
                                </a:highlight>
                                <a:latin typeface="Cambria Math" panose="02040503050406030204" pitchFamily="18" charset="0"/>
                              </a:rPr>
                              <m:t>𝑠</m:t>
                            </m:r>
                          </m:sub>
                        </m:sSub>
                      </m:e>
                    </m:acc>
                  </m:oMath>
                </a14:m>
                <a:r>
                  <a:rPr lang="es-AR" dirty="0">
                    <a:highlight>
                      <a:srgbClr val="C0C0C0"/>
                    </a:highlight>
                  </a:rPr>
                  <a:t> es la </a:t>
                </a:r>
                <a:r>
                  <a:rPr lang="es-AR" b="1" dirty="0">
                    <a:highlight>
                      <a:srgbClr val="C0C0C0"/>
                    </a:highlight>
                  </a:rPr>
                  <a:t>tasa esperada de rendimiento</a:t>
                </a:r>
                <a:r>
                  <a:rPr lang="es-AR" dirty="0">
                    <a:highlight>
                      <a:srgbClr val="C0C0C0"/>
                    </a:highlight>
                  </a:rPr>
                  <a:t>, según el inversionista marginal que si excede a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𝑟</m:t>
                        </m:r>
                      </m:e>
                      <m:sub>
                        <m:r>
                          <a:rPr lang="es-AR" i="1">
                            <a:highlight>
                              <a:srgbClr val="C0C0C0"/>
                            </a:highlight>
                            <a:latin typeface="Cambria Math" panose="02040503050406030204" pitchFamily="18" charset="0"/>
                          </a:rPr>
                          <m:t>𝑠</m:t>
                        </m:r>
                      </m:sub>
                    </m:sSub>
                  </m:oMath>
                </a14:m>
                <a:r>
                  <a:rPr lang="es-AR" dirty="0">
                    <a:highlight>
                      <a:srgbClr val="C0C0C0"/>
                    </a:highlight>
                  </a:rPr>
                  <a:t> hará que compre acciones y si es inferior a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𝑟</m:t>
                        </m:r>
                      </m:e>
                      <m:sub>
                        <m:r>
                          <a:rPr lang="es-AR" i="1">
                            <a:highlight>
                              <a:srgbClr val="C0C0C0"/>
                            </a:highlight>
                            <a:latin typeface="Cambria Math" panose="02040503050406030204" pitchFamily="18" charset="0"/>
                          </a:rPr>
                          <m:t>𝑠</m:t>
                        </m:r>
                      </m:sub>
                    </m:sSub>
                  </m:oMath>
                </a14:m>
                <a:r>
                  <a:rPr lang="es-AR" dirty="0">
                    <a:highlight>
                      <a:srgbClr val="C0C0C0"/>
                    </a:highlight>
                  </a:rPr>
                  <a:t> hará que venda su posición</a:t>
                </a:r>
              </a:p>
              <a:p>
                <a14:m>
                  <m:oMath xmlns:m="http://schemas.openxmlformats.org/officeDocument/2006/math">
                    <m:acc>
                      <m:accPr>
                        <m:chr m:val="̅"/>
                        <m:ctrlPr>
                          <a:rPr lang="es-AR" i="1" smtClean="0">
                            <a:highlight>
                              <a:srgbClr val="C0C0C0"/>
                            </a:highlight>
                            <a:latin typeface="Cambria Math" panose="02040503050406030204" pitchFamily="18" charset="0"/>
                          </a:rPr>
                        </m:ctrlPr>
                      </m:accPr>
                      <m:e>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𝑟</m:t>
                            </m:r>
                          </m:e>
                          <m:sub>
                            <m:r>
                              <a:rPr lang="es-AR" b="0" i="1" smtClean="0">
                                <a:highlight>
                                  <a:srgbClr val="C0C0C0"/>
                                </a:highlight>
                                <a:latin typeface="Cambria Math" panose="02040503050406030204" pitchFamily="18" charset="0"/>
                              </a:rPr>
                              <m:t>𝑠</m:t>
                            </m:r>
                          </m:sub>
                        </m:sSub>
                      </m:e>
                    </m:acc>
                  </m:oMath>
                </a14:m>
                <a:r>
                  <a:rPr lang="es-AR" dirty="0">
                    <a:highlight>
                      <a:srgbClr val="C0C0C0"/>
                    </a:highlight>
                  </a:rPr>
                  <a:t> es la tasa real de rendimiento, o realizada, a posteriori, que podrá superar o quedar por debajo de la </a:t>
                </a:r>
                <a14:m>
                  <m:oMath xmlns:m="http://schemas.openxmlformats.org/officeDocument/2006/math">
                    <m:acc>
                      <m:accPr>
                        <m:chr m:val="̂"/>
                        <m:ctrlPr>
                          <a:rPr lang="es-AR" i="1">
                            <a:highlight>
                              <a:srgbClr val="C0C0C0"/>
                            </a:highlight>
                            <a:latin typeface="Cambria Math" panose="02040503050406030204" pitchFamily="18" charset="0"/>
                          </a:rPr>
                        </m:ctrlPr>
                      </m:accPr>
                      <m:e>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𝑟</m:t>
                            </m:r>
                          </m:e>
                          <m:sub>
                            <m:r>
                              <a:rPr lang="es-AR" i="1">
                                <a:highlight>
                                  <a:srgbClr val="C0C0C0"/>
                                </a:highlight>
                                <a:latin typeface="Cambria Math" panose="02040503050406030204" pitchFamily="18" charset="0"/>
                              </a:rPr>
                              <m:t>𝑠</m:t>
                            </m:r>
                          </m:sub>
                        </m:sSub>
                      </m:e>
                    </m:acc>
                  </m:oMath>
                </a14:m>
                <a:r>
                  <a:rPr lang="es-AR" dirty="0">
                    <a:highlight>
                      <a:srgbClr val="C0C0C0"/>
                    </a:highlight>
                  </a:rPr>
                  <a:t> esperada al comprar una acción</a:t>
                </a:r>
              </a:p>
              <a:p>
                <a:r>
                  <a:rPr lang="es-AR" dirty="0">
                    <a:highlight>
                      <a:srgbClr val="C0C0C0"/>
                    </a:highlight>
                  </a:rPr>
                  <a:t> </a:t>
                </a:r>
                <a14:m>
                  <m:oMath xmlns:m="http://schemas.openxmlformats.org/officeDocument/2006/math">
                    <m:f>
                      <m:fPr>
                        <m:type m:val="skw"/>
                        <m:ctrlPr>
                          <a:rPr lang="es-AR" i="1" smtClean="0">
                            <a:highlight>
                              <a:srgbClr val="C0C0C0"/>
                            </a:highlight>
                            <a:latin typeface="Cambria Math" panose="02040503050406030204" pitchFamily="18" charset="0"/>
                          </a:rPr>
                        </m:ctrlPr>
                      </m:fPr>
                      <m:num>
                        <m:sSub>
                          <m:sSubPr>
                            <m:ctrlPr>
                              <a:rPr lang="es-AR" i="1">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𝐷</m:t>
                            </m:r>
                          </m:e>
                          <m:sub>
                            <m:r>
                              <a:rPr lang="es-AR" b="0" i="1" smtClean="0">
                                <a:highlight>
                                  <a:srgbClr val="C0C0C0"/>
                                </a:highlight>
                                <a:latin typeface="Cambria Math" panose="02040503050406030204" pitchFamily="18" charset="0"/>
                              </a:rPr>
                              <m:t>1</m:t>
                            </m:r>
                          </m:sub>
                        </m:sSub>
                      </m:num>
                      <m:den>
                        <m:sSub>
                          <m:sSubPr>
                            <m:ctrlPr>
                              <a:rPr lang="es-AR" i="1">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0</m:t>
                            </m:r>
                          </m:sub>
                        </m:sSub>
                      </m:den>
                    </m:f>
                  </m:oMath>
                </a14:m>
                <a:r>
                  <a:rPr lang="es-AR" dirty="0">
                    <a:highlight>
                      <a:srgbClr val="C0C0C0"/>
                    </a:highlight>
                  </a:rPr>
                  <a:t> es el rendimiento de los dividendos esperados durante el año próximo. Distintas expectativas sobre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𝐷</m:t>
                        </m:r>
                      </m:e>
                      <m:sub>
                        <m:r>
                          <a:rPr lang="es-AR" i="1">
                            <a:highlight>
                              <a:srgbClr val="C0C0C0"/>
                            </a:highlight>
                            <a:latin typeface="Cambria Math" panose="02040503050406030204" pitchFamily="18" charset="0"/>
                          </a:rPr>
                          <m:t>1</m:t>
                        </m:r>
                      </m:sub>
                    </m:sSub>
                  </m:oMath>
                </a14:m>
                <a:r>
                  <a:rPr lang="es-AR" dirty="0">
                    <a:highlight>
                      <a:srgbClr val="C0C0C0"/>
                    </a:highlight>
                  </a:rPr>
                  <a:t>, pero la que determina el precio es la del inversionista marginal</a:t>
                </a:r>
              </a:p>
              <a:p>
                <a:r>
                  <a:rPr lang="es-AR" dirty="0">
                    <a:highlight>
                      <a:srgbClr val="C0C0C0"/>
                    </a:highlight>
                  </a:rPr>
                  <a:t>(</a:t>
                </a:r>
                <a14:m>
                  <m:oMath xmlns:m="http://schemas.openxmlformats.org/officeDocument/2006/math">
                    <m:acc>
                      <m:accPr>
                        <m:chr m:val="̂"/>
                        <m:ctrlPr>
                          <a:rPr lang="es-AR" i="1" smtClean="0">
                            <a:highlight>
                              <a:srgbClr val="C0C0C0"/>
                            </a:highlight>
                            <a:latin typeface="Cambria Math" panose="02040503050406030204" pitchFamily="18" charset="0"/>
                          </a:rPr>
                        </m:ctrlPr>
                      </m:accPr>
                      <m:e>
                        <m:sSub>
                          <m:sSubPr>
                            <m:ctrlPr>
                              <a:rPr lang="es-AR" i="1" smtClean="0">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1</m:t>
                            </m:r>
                          </m:sub>
                        </m:sSub>
                      </m:e>
                    </m:acc>
                    <m:r>
                      <a:rPr lang="es-AR" b="0" i="1" smtClean="0">
                        <a:highlight>
                          <a:srgbClr val="C0C0C0"/>
                        </a:highlight>
                        <a:latin typeface="Cambria Math" panose="02040503050406030204" pitchFamily="18" charset="0"/>
                      </a:rPr>
                      <m:t>−</m:t>
                    </m:r>
                  </m:oMath>
                </a14:m>
                <a:r>
                  <a:rPr lang="es-AR" dirty="0">
                    <a:highlight>
                      <a:srgbClr val="C0C0C0"/>
                    </a:highlight>
                  </a:rPr>
                  <a: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0</m:t>
                        </m:r>
                      </m:sub>
                    </m:sSub>
                  </m:oMath>
                </a14:m>
                <a:r>
                  <a:rPr lang="es-AR" dirty="0">
                    <a:highlight>
                      <a:srgbClr val="C0C0C0"/>
                    </a:highlight>
                  </a:rPr>
                  <a: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0</m:t>
                        </m:r>
                      </m:sub>
                    </m:sSub>
                  </m:oMath>
                </a14:m>
                <a:r>
                  <a:rPr lang="es-AR" dirty="0">
                    <a:highlight>
                      <a:srgbClr val="C0C0C0"/>
                    </a:highlight>
                  </a:rPr>
                  <a:t> </a:t>
                </a:r>
                <a:r>
                  <a:rPr lang="es-AR" b="1" dirty="0">
                    <a:highlight>
                      <a:srgbClr val="C0C0C0"/>
                    </a:highlight>
                  </a:rPr>
                  <a:t>rendimiento de las ganancias de capital esperado</a:t>
                </a:r>
                <a:r>
                  <a:rPr lang="es-AR" dirty="0">
                    <a:highlight>
                      <a:srgbClr val="C0C0C0"/>
                    </a:highlight>
                  </a:rPr>
                  <a:t> durante el próximo año por el inversionista marginal</a:t>
                </a:r>
              </a:p>
              <a:p>
                <a:r>
                  <a:rPr lang="es-AR" dirty="0">
                    <a:highlight>
                      <a:srgbClr val="C0C0C0"/>
                    </a:highlight>
                  </a:rPr>
                  <a:t>Rendimiento esperado total en el año, es la suma del rendimiento de los dividendos esperados más rendimiento de las ganancias de capital esperado, es decir </a:t>
                </a:r>
                <a14:m>
                  <m:oMath xmlns:m="http://schemas.openxmlformats.org/officeDocument/2006/math">
                    <m:f>
                      <m:fPr>
                        <m:type m:val="skw"/>
                        <m:ctrlPr>
                          <a:rPr lang="es-AR" i="1" smtClean="0">
                            <a:highlight>
                              <a:srgbClr val="C0C0C0"/>
                            </a:highlight>
                            <a:latin typeface="Cambria Math" panose="02040503050406030204" pitchFamily="18" charset="0"/>
                          </a:rPr>
                        </m:ctrlPr>
                      </m:fPr>
                      <m:num>
                        <m:sSub>
                          <m:sSubPr>
                            <m:ctrlPr>
                              <a:rPr lang="es-AR" i="1">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𝐷</m:t>
                            </m:r>
                          </m:e>
                          <m:sub>
                            <m:r>
                              <a:rPr lang="es-AR" b="0" i="1" smtClean="0">
                                <a:highlight>
                                  <a:srgbClr val="C0C0C0"/>
                                </a:highlight>
                                <a:latin typeface="Cambria Math" panose="02040503050406030204" pitchFamily="18" charset="0"/>
                              </a:rPr>
                              <m:t>1</m:t>
                            </m:r>
                          </m:sub>
                        </m:sSub>
                      </m:num>
                      <m:den>
                        <m:sSub>
                          <m:sSubPr>
                            <m:ctrlPr>
                              <a:rPr lang="es-AR" i="1">
                                <a:highlight>
                                  <a:srgbClr val="C0C0C0"/>
                                </a:highlight>
                                <a:latin typeface="Cambria Math" panose="02040503050406030204" pitchFamily="18" charset="0"/>
                              </a:rPr>
                            </m:ctrlPr>
                          </m:sSubPr>
                          <m:e>
                            <m:r>
                              <a:rPr lang="es-AR" b="0" i="1" smtClean="0">
                                <a:highlight>
                                  <a:srgbClr val="C0C0C0"/>
                                </a:highlight>
                                <a:latin typeface="Cambria Math" panose="02040503050406030204" pitchFamily="18" charset="0"/>
                              </a:rPr>
                              <m:t>𝑃</m:t>
                            </m:r>
                          </m:e>
                          <m:sub>
                            <m:r>
                              <a:rPr lang="es-AR" b="0" i="1" smtClean="0">
                                <a:highlight>
                                  <a:srgbClr val="C0C0C0"/>
                                </a:highlight>
                                <a:latin typeface="Cambria Math" panose="02040503050406030204" pitchFamily="18" charset="0"/>
                              </a:rPr>
                              <m:t>0</m:t>
                            </m:r>
                          </m:sub>
                        </m:sSub>
                      </m:den>
                    </m:f>
                  </m:oMath>
                </a14:m>
                <a:r>
                  <a:rPr lang="es-AR" dirty="0">
                    <a:highlight>
                      <a:srgbClr val="C0C0C0"/>
                    </a:highlight>
                  </a:rPr>
                  <a:t> + (</a:t>
                </a:r>
                <a14:m>
                  <m:oMath xmlns:m="http://schemas.openxmlformats.org/officeDocument/2006/math">
                    <m:acc>
                      <m:accPr>
                        <m:chr m:val="̂"/>
                        <m:ctrlPr>
                          <a:rPr lang="es-AR" i="1">
                            <a:highlight>
                              <a:srgbClr val="C0C0C0"/>
                            </a:highlight>
                            <a:latin typeface="Cambria Math" panose="02040503050406030204" pitchFamily="18" charset="0"/>
                          </a:rPr>
                        </m:ctrlPr>
                      </m:accPr>
                      <m:e>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1</m:t>
                            </m:r>
                          </m:sub>
                        </m:sSub>
                      </m:e>
                    </m:acc>
                    <m:r>
                      <a:rPr lang="es-AR" i="1">
                        <a:highlight>
                          <a:srgbClr val="C0C0C0"/>
                        </a:highlight>
                        <a:latin typeface="Cambria Math" panose="02040503050406030204" pitchFamily="18" charset="0"/>
                      </a:rPr>
                      <m:t>−</m:t>
                    </m:r>
                  </m:oMath>
                </a14:m>
                <a:r>
                  <a:rPr lang="es-AR" dirty="0">
                    <a:highlight>
                      <a:srgbClr val="C0C0C0"/>
                    </a:highlight>
                  </a:rPr>
                  <a: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0</m:t>
                        </m:r>
                      </m:sub>
                    </m:sSub>
                  </m:oMath>
                </a14:m>
                <a:r>
                  <a:rPr lang="es-AR" dirty="0">
                    <a:highlight>
                      <a:srgbClr val="C0C0C0"/>
                    </a:highlight>
                  </a:rPr>
                  <a:t>)/ </a:t>
                </a:r>
                <a14:m>
                  <m:oMath xmlns:m="http://schemas.openxmlformats.org/officeDocument/2006/math">
                    <m:sSub>
                      <m:sSubPr>
                        <m:ctrlPr>
                          <a:rPr lang="es-AR" i="1">
                            <a:highlight>
                              <a:srgbClr val="C0C0C0"/>
                            </a:highlight>
                            <a:latin typeface="Cambria Math" panose="02040503050406030204" pitchFamily="18" charset="0"/>
                          </a:rPr>
                        </m:ctrlPr>
                      </m:sSubPr>
                      <m:e>
                        <m:r>
                          <a:rPr lang="es-AR" i="1">
                            <a:highlight>
                              <a:srgbClr val="C0C0C0"/>
                            </a:highlight>
                            <a:latin typeface="Cambria Math" panose="02040503050406030204" pitchFamily="18" charset="0"/>
                          </a:rPr>
                          <m:t>𝑃</m:t>
                        </m:r>
                      </m:e>
                      <m:sub>
                        <m:r>
                          <a:rPr lang="es-AR" i="1">
                            <a:highlight>
                              <a:srgbClr val="C0C0C0"/>
                            </a:highlight>
                            <a:latin typeface="Cambria Math" panose="02040503050406030204" pitchFamily="18" charset="0"/>
                          </a:rPr>
                          <m:t>0</m:t>
                        </m:r>
                      </m:sub>
                    </m:sSub>
                  </m:oMath>
                </a14:m>
                <a:endParaRPr lang="es-AR" dirty="0">
                  <a:highlight>
                    <a:srgbClr val="C0C0C0"/>
                  </a:highlight>
                </a:endParaRPr>
              </a:p>
              <a:p>
                <a:endParaRPr lang="es-AR" dirty="0"/>
              </a:p>
              <a:p>
                <a:endParaRPr lang="es-AR" dirty="0"/>
              </a:p>
              <a:p>
                <a:endParaRPr lang="es-AR" dirty="0"/>
              </a:p>
              <a:p>
                <a:endParaRPr lang="es-AR"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96" t="-2801" r="-2667" b="-2941"/>
                </a:stretch>
              </a:blipFill>
            </p:spPr>
            <p:txBody>
              <a:bodyPr/>
              <a:lstStyle/>
              <a:p>
                <a:r>
                  <a:rPr lang="es-ES">
                    <a:noFill/>
                  </a:rPr>
                  <a:t> </a:t>
                </a:r>
              </a:p>
            </p:txBody>
          </p:sp>
        </mc:Fallback>
      </mc:AlternateContent>
    </p:spTree>
    <p:extLst>
      <p:ext uri="{BB962C8B-B14F-4D97-AF65-F5344CB8AC3E}">
        <p14:creationId xmlns:p14="http://schemas.microsoft.com/office/powerpoint/2010/main" val="280000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Podemos decir que todos los inversionistas esperan obtener rendimientos superiores al promedio, identificar acciones cuyos valores intrínsecos excedan a sus precios actuales y sus rendimientos esperados (por ellos) excedan a su tasa requerida dado el nivel de riesgo.</a:t>
            </a:r>
          </a:p>
          <a:p>
            <a:r>
              <a:rPr lang="es-AR" dirty="0"/>
              <a:t>Lo más probable es que la mitad de los inversionistas sufran una decepción. Tratemos de no estar entre ellos </a:t>
            </a:r>
          </a:p>
          <a:p>
            <a:endParaRPr lang="es-AR" dirty="0"/>
          </a:p>
          <a:p>
            <a:endParaRPr lang="es-AR" dirty="0"/>
          </a:p>
          <a:p>
            <a:endParaRPr lang="es-AR" dirty="0"/>
          </a:p>
        </p:txBody>
      </p:sp>
    </p:spTree>
    <p:extLst>
      <p:ext uri="{BB962C8B-B14F-4D97-AF65-F5344CB8AC3E}">
        <p14:creationId xmlns:p14="http://schemas.microsoft.com/office/powerpoint/2010/main" val="2605255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Dividendos esperados como base de los valores de las acciones</a:t>
                </a:r>
              </a:p>
              <a:p>
                <a:r>
                  <a:rPr lang="es-AR" dirty="0"/>
                  <a:t>Su valuación es similar a la de un bono.</a:t>
                </a:r>
              </a:p>
              <a:p>
                <a:r>
                  <a:rPr lang="es-AR" dirty="0"/>
                  <a:t>Si compramos una acción de una empresa que esperamos opere indefinidamente y mantendremos la acción en nuestra familia diremos que</a:t>
                </a:r>
              </a:p>
              <a:p>
                <a14:m>
                  <m:oMath xmlns:m="http://schemas.openxmlformats.org/officeDocument/2006/math">
                    <m:acc>
                      <m:accPr>
                        <m:chr m:val="̂"/>
                        <m:ctrlPr>
                          <a:rPr lang="es-AR" i="1" smtClean="0">
                            <a:latin typeface="Cambria Math" panose="02040503050406030204" pitchFamily="18" charset="0"/>
                          </a:rPr>
                        </m:ctrlPr>
                      </m:accPr>
                      <m:e>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e>
                    </m:acc>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(1+</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r>
                              <a:rPr lang="es-AR" b="0" i="1" smtClean="0">
                                <a:latin typeface="Cambria Math" panose="02040503050406030204" pitchFamily="18" charset="0"/>
                              </a:rPr>
                              <m:t>)</m:t>
                            </m:r>
                          </m:e>
                          <m:sup>
                            <m:r>
                              <a:rPr lang="es-AR" b="0" i="1" smtClean="0">
                                <a:latin typeface="Cambria Math" panose="02040503050406030204" pitchFamily="18" charset="0"/>
                              </a:rPr>
                              <m:t>1</m:t>
                            </m:r>
                          </m:sup>
                        </m:sSup>
                      </m:den>
                    </m:f>
                    <m:r>
                      <a:rPr lang="es-AR" b="0" i="1" smtClean="0">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2</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i="1">
                                <a:latin typeface="Cambria Math" panose="02040503050406030204" pitchFamily="18" charset="0"/>
                              </a:rPr>
                              <m:t>)</m:t>
                            </m:r>
                          </m:e>
                          <m:sup>
                            <m:r>
                              <a:rPr lang="es-AR" b="0" i="1" smtClean="0">
                                <a:latin typeface="Cambria Math" panose="02040503050406030204" pitchFamily="18" charset="0"/>
                              </a:rPr>
                              <m:t>2</m:t>
                            </m:r>
                          </m:sup>
                        </m:sSup>
                      </m:den>
                    </m:f>
                    <m:r>
                      <a:rPr lang="es-AR" i="1">
                        <a:latin typeface="Cambria Math" panose="02040503050406030204" pitchFamily="18" charset="0"/>
                      </a:rPr>
                      <m:t>+</m:t>
                    </m:r>
                    <m:r>
                      <a:rPr lang="es-AR" b="0" i="1" smtClean="0">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i="1">
                                <a:latin typeface="Cambria Math" panose="02040503050406030204" pitchFamily="18" charset="0"/>
                                <a:ea typeface="Cambria Math" panose="02040503050406030204" pitchFamily="18" charset="0"/>
                              </a:rPr>
                              <m:t>∞</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i="1">
                                <a:latin typeface="Cambria Math" panose="02040503050406030204" pitchFamily="18" charset="0"/>
                              </a:rPr>
                              <m:t>)</m:t>
                            </m:r>
                          </m:e>
                          <m:sup>
                            <m:r>
                              <a:rPr lang="es-AR" i="1">
                                <a:latin typeface="Cambria Math" panose="02040503050406030204" pitchFamily="18" charset="0"/>
                                <a:ea typeface="Cambria Math" panose="02040503050406030204" pitchFamily="18" charset="0"/>
                              </a:rPr>
                              <m:t>∞</m:t>
                            </m:r>
                          </m:sup>
                        </m:sSup>
                      </m:den>
                    </m:f>
                    <m:r>
                      <a:rPr lang="es-AR" b="0" i="1" smtClean="0">
                        <a:latin typeface="Cambria Math" panose="02040503050406030204" pitchFamily="18" charset="0"/>
                      </a:rPr>
                      <m:t>=</m:t>
                    </m:r>
                    <m:nary>
                      <m:naryPr>
                        <m:chr m:val="∑"/>
                        <m:ctrlPr>
                          <a:rPr lang="es-AR" b="0" i="1" smtClean="0">
                            <a:latin typeface="Cambria Math" panose="02040503050406030204" pitchFamily="18" charset="0"/>
                          </a:rPr>
                        </m:ctrlPr>
                      </m:naryPr>
                      <m:sub>
                        <m:r>
                          <m:rPr>
                            <m:brk m:alnAt="23"/>
                          </m:rPr>
                          <a:rPr lang="es-AR" b="0" i="1" smtClean="0">
                            <a:latin typeface="Cambria Math" panose="02040503050406030204" pitchFamily="18" charset="0"/>
                          </a:rPr>
                          <m:t>𝑡</m:t>
                        </m:r>
                        <m:r>
                          <a:rPr lang="es-AR" b="0" i="1" smtClean="0">
                            <a:latin typeface="Cambria Math" panose="02040503050406030204" pitchFamily="18" charset="0"/>
                          </a:rPr>
                          <m:t>=</m:t>
                        </m:r>
                        <m:r>
                          <m:rPr>
                            <m:brk m:alnAt="23"/>
                          </m:rPr>
                          <a:rPr lang="es-AR" b="0" i="1" smtClean="0">
                            <a:latin typeface="Cambria Math" panose="02040503050406030204" pitchFamily="18" charset="0"/>
                          </a:rPr>
                          <m:t>1</m:t>
                        </m:r>
                      </m:sub>
                      <m:sup>
                        <m:r>
                          <a:rPr lang="es-AR" b="0" i="1" smtClean="0">
                            <a:latin typeface="Cambria Math" panose="02040503050406030204" pitchFamily="18" charset="0"/>
                            <a:ea typeface="Cambria Math" panose="02040503050406030204" pitchFamily="18" charset="0"/>
                          </a:rPr>
                          <m:t>∞</m:t>
                        </m:r>
                      </m:sup>
                      <m:e>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𝑡</m:t>
                                </m:r>
                              </m:sub>
                            </m:sSub>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b="0" i="1" smtClean="0">
                                    <a:latin typeface="Cambria Math" panose="02040503050406030204" pitchFamily="18" charset="0"/>
                                  </a:rPr>
                                  <m:t>)</m:t>
                                </m:r>
                              </m:e>
                              <m:sup>
                                <m:r>
                                  <a:rPr lang="es-AR" b="0" i="1" smtClean="0">
                                    <a:latin typeface="Cambria Math" panose="02040503050406030204" pitchFamily="18" charset="0"/>
                                  </a:rPr>
                                  <m:t>𝑡</m:t>
                                </m:r>
                              </m:sup>
                            </m:sSup>
                          </m:den>
                        </m:f>
                      </m:e>
                    </m:nary>
                  </m:oMath>
                </a14:m>
                <a:endParaRPr lang="es-AR" dirty="0"/>
              </a:p>
              <a:p>
                <a:endParaRPr lang="es-AR" dirty="0"/>
              </a:p>
              <a:p>
                <a:r>
                  <a:rPr lang="es-AR" dirty="0"/>
                  <a:t>¿Pero qué pasa si no piensas conservar la acción indefinidamente? </a:t>
                </a:r>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Tree>
    <p:extLst>
      <p:ext uri="{BB962C8B-B14F-4D97-AF65-F5344CB8AC3E}">
        <p14:creationId xmlns:p14="http://schemas.microsoft.com/office/powerpoint/2010/main" val="3164629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Preguntas</a:t>
                </a:r>
              </a:p>
              <a:p>
                <a:r>
                  <a:rPr lang="es-AR" dirty="0"/>
                  <a:t>¿cuáles son las dos partes del rendimiento esperado total de la mayoría de las acciones?</a:t>
                </a:r>
              </a:p>
              <a:p>
                <a:r>
                  <a:rPr lang="es-AR" dirty="0"/>
                  <a:t>Si </a:t>
                </a: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oMath>
                </a14:m>
                <a:r>
                  <a:rPr lang="es-AR" dirty="0"/>
                  <a:t>=$2,00; g=6% y </a:t>
                </a:r>
                <a14:m>
                  <m:oMath xmlns:m="http://schemas.openxmlformats.org/officeDocument/2006/math">
                    <m:sSub>
                      <m:sSubPr>
                        <m:ctrlPr>
                          <a:rPr lang="es-AR" i="1">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oMath>
                </a14:m>
                <a:r>
                  <a:rPr lang="es-AR" dirty="0"/>
                  <a:t>=$40,00 ¿cuáles son los rendimientos esperados del dividendo, de la ganancia de capital y total de la acción?  </a:t>
                </a:r>
              </a:p>
              <a:p>
                <a:r>
                  <a:rPr lang="es-AR" dirty="0"/>
                  <a:t> ¿Qué pasaría si el inversionista marginal cree que el valor intrínseco de una acción es mayor que su precio de mercado?</a:t>
                </a:r>
              </a:p>
              <a:p>
                <a:endParaRPr lang="es-AR"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Tree>
    <p:extLst>
      <p:ext uri="{BB962C8B-B14F-4D97-AF65-F5344CB8AC3E}">
        <p14:creationId xmlns:p14="http://schemas.microsoft.com/office/powerpoint/2010/main" val="4145094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797916"/>
                <a:ext cx="10515600" cy="4351338"/>
              </a:xfrm>
            </p:spPr>
            <p:txBody>
              <a:bodyPr>
                <a:normAutofit fontScale="92500" lnSpcReduction="10000"/>
              </a:bodyPr>
              <a:lstStyle/>
              <a:p>
                <a:r>
                  <a:rPr lang="es-AR" sz="2400" dirty="0"/>
                  <a:t>Acciones de crecimiento constante</a:t>
                </a:r>
              </a:p>
              <a:p>
                <a:r>
                  <a:rPr lang="es-AR" sz="2400" dirty="0"/>
                  <a:t>La ecuación de precio que hemos visto aplica a todas las situaciones ya que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𝑡</m:t>
                        </m:r>
                      </m:sub>
                    </m:sSub>
                  </m:oMath>
                </a14:m>
                <a:r>
                  <a:rPr lang="es-AR" sz="2400" dirty="0"/>
                  <a:t> puede adoptar cualquier valor y no estar siguiendo un patrón (creciente, decreciente, fijo, otro). Con un Excel siempre podremos resolver el valor intrínseco de la acción en la medida que seamos capaces de estimar los dividendos futuros. Tarea nada fácil</a:t>
                </a:r>
              </a:p>
              <a:p>
                <a:r>
                  <a:rPr lang="es-AR" sz="2400" dirty="0"/>
                  <a:t>Aun así, para muchas compañías es razonable pronosticar que los dividendos crecerán a una tasa constante y entonces podríamos reescribir nuestra ecuación como </a:t>
                </a:r>
              </a:p>
              <a:p>
                <a:endParaRPr lang="es-AR" sz="2400" dirty="0"/>
              </a:p>
              <a:p>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0</m:t>
                            </m:r>
                          </m:sub>
                        </m:sSub>
                        <m:sSup>
                          <m:sSupPr>
                            <m:ctrlPr>
                              <a:rPr lang="es-AR" sz="2400" i="1">
                                <a:latin typeface="Cambria Math" panose="02040503050406030204" pitchFamily="18" charset="0"/>
                              </a:rPr>
                            </m:ctrlPr>
                          </m:sSupPr>
                          <m:e>
                            <m:r>
                              <a:rPr lang="es-AR" sz="2400" i="1">
                                <a:latin typeface="Cambria Math" panose="02040503050406030204" pitchFamily="18" charset="0"/>
                              </a:rPr>
                              <m:t>(1+</m:t>
                            </m:r>
                            <m:r>
                              <a:rPr lang="es-AR" sz="2400" b="0" i="1" smtClean="0">
                                <a:latin typeface="Cambria Math" panose="02040503050406030204" pitchFamily="18" charset="0"/>
                              </a:rPr>
                              <m:t>𝑔</m:t>
                            </m:r>
                            <m:r>
                              <a:rPr lang="es-AR" sz="2400" i="1">
                                <a:latin typeface="Cambria Math" panose="02040503050406030204" pitchFamily="18" charset="0"/>
                              </a:rPr>
                              <m:t>)</m:t>
                            </m:r>
                          </m:e>
                          <m:sup>
                            <m:r>
                              <a:rPr lang="es-AR" sz="2400" i="1">
                                <a:latin typeface="Cambria Math" panose="02040503050406030204" pitchFamily="18" charset="0"/>
                              </a:rPr>
                              <m:t>1</m:t>
                            </m:r>
                          </m:sup>
                        </m:sSup>
                      </m:num>
                      <m:den>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(1+</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r>
                              <a:rPr lang="es-AR" sz="2400" b="0" i="1" smtClean="0">
                                <a:latin typeface="Cambria Math" panose="02040503050406030204" pitchFamily="18" charset="0"/>
                              </a:rPr>
                              <m:t>)</m:t>
                            </m:r>
                          </m:e>
                          <m:sup>
                            <m:r>
                              <a:rPr lang="es-AR" sz="2400" b="0" i="1" smtClean="0">
                                <a:latin typeface="Cambria Math" panose="02040503050406030204" pitchFamily="18" charset="0"/>
                              </a:rPr>
                              <m:t>1</m:t>
                            </m:r>
                          </m:sup>
                        </m:sSup>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0</m:t>
                            </m:r>
                          </m:sub>
                        </m:sSub>
                        <m:sSup>
                          <m:sSupPr>
                            <m:ctrlPr>
                              <a:rPr lang="es-AR" sz="2400" i="1">
                                <a:latin typeface="Cambria Math" panose="02040503050406030204" pitchFamily="18" charset="0"/>
                              </a:rPr>
                            </m:ctrlPr>
                          </m:sSupPr>
                          <m:e>
                            <m:r>
                              <a:rPr lang="es-AR" sz="2400" i="1">
                                <a:latin typeface="Cambria Math" panose="02040503050406030204" pitchFamily="18" charset="0"/>
                              </a:rPr>
                              <m:t>(1+</m:t>
                            </m:r>
                            <m:r>
                              <a:rPr lang="es-AR" sz="2400" i="1">
                                <a:latin typeface="Cambria Math" panose="02040503050406030204" pitchFamily="18" charset="0"/>
                              </a:rPr>
                              <m:t>𝑔</m:t>
                            </m:r>
                            <m:r>
                              <a:rPr lang="es-AR" sz="2400" i="1">
                                <a:latin typeface="Cambria Math" panose="02040503050406030204" pitchFamily="18" charset="0"/>
                              </a:rPr>
                              <m:t>)</m:t>
                            </m:r>
                          </m:e>
                          <m:sup>
                            <m:r>
                              <a:rPr lang="es-AR" sz="2400" b="0" i="1" smtClean="0">
                                <a:latin typeface="Cambria Math" panose="02040503050406030204" pitchFamily="18" charset="0"/>
                              </a:rPr>
                              <m:t>2</m:t>
                            </m:r>
                          </m:sup>
                        </m:sSup>
                      </m:num>
                      <m:den>
                        <m:sSup>
                          <m:sSupPr>
                            <m:ctrlPr>
                              <a:rPr lang="es-AR" sz="2400" i="1">
                                <a:latin typeface="Cambria Math" panose="02040503050406030204" pitchFamily="18" charset="0"/>
                              </a:rPr>
                            </m:ctrlPr>
                          </m:sSup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i="1">
                                <a:latin typeface="Cambria Math" panose="02040503050406030204" pitchFamily="18" charset="0"/>
                              </a:rPr>
                              <m:t>)</m:t>
                            </m:r>
                          </m:e>
                          <m:sup>
                            <m:r>
                              <a:rPr lang="es-AR" sz="2400" b="0" i="1" smtClean="0">
                                <a:latin typeface="Cambria Math" panose="02040503050406030204" pitchFamily="18" charset="0"/>
                              </a:rPr>
                              <m:t>2</m:t>
                            </m:r>
                          </m:sup>
                        </m:sSup>
                      </m:den>
                    </m:f>
                    <m:r>
                      <a:rPr lang="es-AR" sz="2400" i="1">
                        <a:latin typeface="Cambria Math" panose="02040503050406030204" pitchFamily="18" charset="0"/>
                      </a:rPr>
                      <m:t>+</m:t>
                    </m:r>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0</m:t>
                            </m:r>
                          </m:sub>
                        </m:sSub>
                        <m:sSup>
                          <m:sSupPr>
                            <m:ctrlPr>
                              <a:rPr lang="es-AR" sz="2400" i="1">
                                <a:latin typeface="Cambria Math" panose="02040503050406030204" pitchFamily="18" charset="0"/>
                              </a:rPr>
                            </m:ctrlPr>
                          </m:sSupPr>
                          <m:e>
                            <m:r>
                              <a:rPr lang="es-AR" sz="2400" i="1">
                                <a:latin typeface="Cambria Math" panose="02040503050406030204" pitchFamily="18" charset="0"/>
                              </a:rPr>
                              <m:t>(1+</m:t>
                            </m:r>
                            <m:r>
                              <a:rPr lang="es-AR" sz="2400" i="1">
                                <a:latin typeface="Cambria Math" panose="02040503050406030204" pitchFamily="18" charset="0"/>
                              </a:rPr>
                              <m:t>𝑔</m:t>
                            </m:r>
                            <m:r>
                              <a:rPr lang="es-AR" sz="2400" i="1">
                                <a:latin typeface="Cambria Math" panose="02040503050406030204" pitchFamily="18" charset="0"/>
                              </a:rPr>
                              <m:t>)</m:t>
                            </m:r>
                          </m:e>
                          <m:sup>
                            <m:r>
                              <a:rPr lang="es-AR" sz="2400" i="1">
                                <a:latin typeface="Cambria Math" panose="02040503050406030204" pitchFamily="18" charset="0"/>
                                <a:ea typeface="Cambria Math" panose="02040503050406030204" pitchFamily="18" charset="0"/>
                              </a:rPr>
                              <m:t>∞</m:t>
                            </m:r>
                          </m:sup>
                        </m:sSup>
                      </m:num>
                      <m:den>
                        <m:sSup>
                          <m:sSupPr>
                            <m:ctrlPr>
                              <a:rPr lang="es-AR" sz="2400" i="1">
                                <a:latin typeface="Cambria Math" panose="02040503050406030204" pitchFamily="18" charset="0"/>
                              </a:rPr>
                            </m:ctrlPr>
                          </m:sSup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i="1">
                                <a:latin typeface="Cambria Math" panose="02040503050406030204" pitchFamily="18" charset="0"/>
                              </a:rPr>
                              <m:t>)</m:t>
                            </m:r>
                          </m:e>
                          <m:sup>
                            <m:r>
                              <a:rPr lang="es-AR" sz="2400" i="1">
                                <a:latin typeface="Cambria Math" panose="02040503050406030204" pitchFamily="18" charset="0"/>
                                <a:ea typeface="Cambria Math" panose="02040503050406030204" pitchFamily="18" charset="0"/>
                              </a:rPr>
                              <m:t>∞</m:t>
                            </m:r>
                          </m:sup>
                        </m:sSup>
                      </m:den>
                    </m:f>
                    <m:r>
                      <a:rPr lang="es-AR" sz="2400" b="0" i="1" smtClean="0">
                        <a:latin typeface="Cambria Math" panose="02040503050406030204" pitchFamily="18" charset="0"/>
                      </a:rPr>
                      <m:t>=</m:t>
                    </m:r>
                  </m:oMath>
                </a14:m>
                <a:r>
                  <a:rPr lang="es-AR" sz="2400" dirty="0"/>
                  <a:t> </a:t>
                </a:r>
                <a14:m>
                  <m:oMath xmlns:m="http://schemas.openxmlformats.org/officeDocument/2006/math">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0</m:t>
                            </m:r>
                          </m:sub>
                        </m:sSub>
                        <m:r>
                          <a:rPr lang="es-AR" sz="2400" b="0" i="1" smtClean="0">
                            <a:latin typeface="Cambria Math" panose="02040503050406030204" pitchFamily="18" charset="0"/>
                          </a:rPr>
                          <m:t>(1+</m:t>
                        </m:r>
                        <m:r>
                          <a:rPr lang="es-AR" sz="2400" b="0" i="1" smtClean="0">
                            <a:latin typeface="Cambria Math" panose="02040503050406030204" pitchFamily="18" charset="0"/>
                          </a:rPr>
                          <m:t>𝑔</m:t>
                        </m:r>
                        <m:r>
                          <a:rPr lang="es-AR" sz="2400" b="0" i="1" smtClean="0">
                            <a:latin typeface="Cambria Math" panose="02040503050406030204" pitchFamily="18" charset="0"/>
                          </a:rPr>
                          <m:t>)</m:t>
                        </m:r>
                      </m:num>
                      <m:den>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b="0" i="1" smtClean="0">
                            <a:latin typeface="Cambria Math" panose="02040503050406030204" pitchFamily="18" charset="0"/>
                          </a:rPr>
                          <m:t>−</m:t>
                        </m:r>
                        <m:r>
                          <a:rPr lang="es-AR" sz="2400" b="0" i="1" smtClean="0">
                            <a:latin typeface="Cambria Math" panose="02040503050406030204" pitchFamily="18" charset="0"/>
                          </a:rPr>
                          <m:t>𝑔</m:t>
                        </m:r>
                      </m:den>
                    </m:f>
                  </m:oMath>
                </a14:m>
                <a:r>
                  <a:rPr lang="es-AR" sz="2400" dirty="0"/>
                  <a:t>= </a:t>
                </a:r>
                <a14:m>
                  <m:oMath xmlns:m="http://schemas.openxmlformats.org/officeDocument/2006/math">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b="0" i="1" smtClean="0">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i="1">
                            <a:latin typeface="Cambria Math" panose="02040503050406030204" pitchFamily="18" charset="0"/>
                          </a:rPr>
                          <m:t>−</m:t>
                        </m:r>
                        <m:r>
                          <a:rPr lang="es-AR" sz="2400" i="1">
                            <a:latin typeface="Cambria Math" panose="02040503050406030204" pitchFamily="18" charset="0"/>
                          </a:rPr>
                          <m:t>𝑔</m:t>
                        </m:r>
                      </m:den>
                    </m:f>
                  </m:oMath>
                </a14:m>
                <a:r>
                  <a:rPr lang="es-AR" sz="2400" dirty="0"/>
                  <a:t> </a:t>
                </a:r>
              </a:p>
              <a:p>
                <a:endParaRPr lang="es-AR" sz="2400" dirty="0"/>
              </a:p>
              <a:p>
                <a:r>
                  <a:rPr lang="es-AR" sz="2400" dirty="0"/>
                  <a:t>Conocido como el modelo de crecimiento constante de Gordon</a:t>
                </a:r>
              </a:p>
              <a:p>
                <a:endParaRPr lang="es-AR" sz="24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797916"/>
                <a:ext cx="10515600" cy="4351338"/>
              </a:xfrm>
              <a:blipFill>
                <a:blip r:embed="rId2"/>
                <a:stretch>
                  <a:fillRect l="-696" t="-2381" r="-1275"/>
                </a:stretch>
              </a:blipFill>
            </p:spPr>
            <p:txBody>
              <a:bodyPr/>
              <a:lstStyle/>
              <a:p>
                <a:r>
                  <a:rPr lang="es-ES">
                    <a:noFill/>
                  </a:rPr>
                  <a:t> </a:t>
                </a:r>
              </a:p>
            </p:txBody>
          </p:sp>
        </mc:Fallback>
      </mc:AlternateContent>
    </p:spTree>
    <p:extLst>
      <p:ext uri="{BB962C8B-B14F-4D97-AF65-F5344CB8AC3E}">
        <p14:creationId xmlns:p14="http://schemas.microsoft.com/office/powerpoint/2010/main" val="4026357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797916"/>
                <a:ext cx="10515600" cy="4351338"/>
              </a:xfrm>
            </p:spPr>
            <p:txBody>
              <a:bodyPr>
                <a:normAutofit/>
              </a:bodyPr>
              <a:lstStyle/>
              <a:p>
                <a:pPr marL="0" indent="0">
                  <a:buNone/>
                </a:pPr>
                <a:r>
                  <a:rPr lang="es-AR" dirty="0"/>
                  <a:t>Acciones de crecimiento constante</a:t>
                </a:r>
              </a:p>
              <a:p>
                <a14:m>
                  <m:oMath xmlns:m="http://schemas.openxmlformats.org/officeDocument/2006/math">
                    <m:sSub>
                      <m:sSubPr>
                        <m:ctrlPr>
                          <a:rPr lang="es-AR" b="0"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oMath>
                </a14:m>
                <a:r>
                  <a:rPr lang="es-AR" dirty="0"/>
                  <a:t> sabemos que es la tasa requerida de rendimiento, tasa libre de riesgo + la prima de riesgo. En equilibrio, la tasa requerida deberá igualarse con la esperada, o sea que </a:t>
                </a:r>
                <a14:m>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oMath>
                </a14:m>
                <a:r>
                  <a:rPr lang="es-AR" dirty="0"/>
                  <a:t>= </a:t>
                </a:r>
                <a14:m>
                  <m:oMath xmlns:m="http://schemas.openxmlformats.org/officeDocument/2006/math">
                    <m:acc>
                      <m:accPr>
                        <m:chr m:val="̂"/>
                        <m:ctrlPr>
                          <a:rPr lang="es-AR" i="1">
                            <a:latin typeface="Cambria Math" panose="02040503050406030204" pitchFamily="18" charset="0"/>
                          </a:rPr>
                        </m:ctrlPr>
                      </m:accPr>
                      <m:e>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acc>
                  </m:oMath>
                </a14:m>
                <a:r>
                  <a:rPr lang="es-AR" dirty="0"/>
                  <a:t> con lo que podemos despejarla y obtener que </a:t>
                </a:r>
              </a:p>
              <a:p>
                <a:pPr marL="0" indent="0" algn="ctr">
                  <a:buNone/>
                </a:pPr>
                <a14:m>
                  <m:oMath xmlns:m="http://schemas.openxmlformats.org/officeDocument/2006/math">
                    <m:acc>
                      <m:accPr>
                        <m:chr m:val="̂"/>
                        <m:ctrlPr>
                          <a:rPr lang="es-AR" i="1" smtClean="0">
                            <a:latin typeface="Cambria Math" panose="02040503050406030204" pitchFamily="18" charset="0"/>
                          </a:rPr>
                        </m:ctrlPr>
                      </m:accPr>
                      <m:e>
                        <m:sSub>
                          <m:sSubPr>
                            <m:ctrlPr>
                              <a:rPr lang="es-AR"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e>
                    </m:acc>
                  </m:oMath>
                </a14:m>
                <a:r>
                  <a:rPr lang="es-AR" dirty="0"/>
                  <a:t> = </a:t>
                </a:r>
                <a14:m>
                  <m:oMath xmlns:m="http://schemas.openxmlformats.org/officeDocument/2006/math">
                    <m:f>
                      <m:fPr>
                        <m:ctrlPr>
                          <a:rPr lang="es-AR" i="1" smtClean="0">
                            <a:latin typeface="Cambria Math" panose="02040503050406030204" pitchFamily="18" charset="0"/>
                          </a:rPr>
                        </m:ctrlPr>
                      </m:fPr>
                      <m:num>
                        <m:sSub>
                          <m:sSubPr>
                            <m:ctrlPr>
                              <a:rPr lang="es-AR"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1</m:t>
                            </m:r>
                          </m:sub>
                        </m:sSub>
                      </m:num>
                      <m:den>
                        <m:sSub>
                          <m:sSubPr>
                            <m:ctrlPr>
                              <a:rPr lang="es-AR" i="1" smtClean="0">
                                <a:latin typeface="Cambria Math" panose="02040503050406030204" pitchFamily="18" charset="0"/>
                              </a:rPr>
                            </m:ctrlPr>
                          </m:sSubPr>
                          <m:e>
                            <m:r>
                              <a:rPr lang="es-AR" b="0" i="1" smtClean="0">
                                <a:latin typeface="Cambria Math" panose="02040503050406030204" pitchFamily="18" charset="0"/>
                              </a:rPr>
                              <m:t>𝑃</m:t>
                            </m:r>
                          </m:e>
                          <m:sub>
                            <m:r>
                              <a:rPr lang="es-AR" b="0" i="1" smtClean="0">
                                <a:latin typeface="Cambria Math" panose="02040503050406030204" pitchFamily="18" charset="0"/>
                              </a:rPr>
                              <m:t>0</m:t>
                            </m:r>
                          </m:sub>
                        </m:sSub>
                      </m:den>
                    </m:f>
                  </m:oMath>
                </a14:m>
                <a:r>
                  <a:rPr lang="es-AR" dirty="0"/>
                  <a:t> + g</a:t>
                </a:r>
              </a:p>
              <a:p>
                <a:pPr marL="0" indent="0">
                  <a:buNone/>
                </a:pPr>
                <a:r>
                  <a:rPr lang="es-AR" dirty="0"/>
                  <a:t>Es decir, la tasa de rendimiento esperada es la suma del rendimiento esperado de los dividendos + la tasa esperada de crecimiento ( o rendimiento de las ganancias de capital)</a:t>
                </a:r>
              </a:p>
              <a:p>
                <a:endParaRPr lang="es-AR" dirty="0"/>
              </a:p>
              <a:p>
                <a:pPr marL="0" indent="0">
                  <a:buNone/>
                </a:pPr>
                <a:endParaRPr lang="es-AR" dirty="0"/>
              </a:p>
              <a:p>
                <a:endParaRPr lang="es-AR"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797916"/>
                <a:ext cx="10515600" cy="4351338"/>
              </a:xfrm>
              <a:blipFill>
                <a:blip r:embed="rId2"/>
                <a:stretch>
                  <a:fillRect l="-1217" t="-2381"/>
                </a:stretch>
              </a:blipFill>
            </p:spPr>
            <p:txBody>
              <a:bodyPr/>
              <a:lstStyle/>
              <a:p>
                <a:r>
                  <a:rPr lang="es-ES">
                    <a:noFill/>
                  </a:rPr>
                  <a:t> </a:t>
                </a:r>
              </a:p>
            </p:txBody>
          </p:sp>
        </mc:Fallback>
      </mc:AlternateContent>
    </p:spTree>
    <p:extLst>
      <p:ext uri="{BB962C8B-B14F-4D97-AF65-F5344CB8AC3E}">
        <p14:creationId xmlns:p14="http://schemas.microsoft.com/office/powerpoint/2010/main" val="1170589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Veamos un ejemplo</a:t>
            </a:r>
          </a:p>
          <a:p>
            <a:r>
              <a:rPr lang="es-AR" dirty="0"/>
              <a:t>El analista especializado en la compañía que vamos a tomar para nuestro ejemplo se reunió con el CFO y recabó estos datos</a:t>
            </a:r>
          </a:p>
          <a:p>
            <a:pPr lvl="1"/>
            <a:r>
              <a:rPr lang="es-AR" dirty="0"/>
              <a:t>Último dividendo pagado: $1,00</a:t>
            </a:r>
          </a:p>
          <a:p>
            <a:pPr lvl="1"/>
            <a:r>
              <a:rPr lang="es-AR" dirty="0"/>
              <a:t>Último precio negociado y de cierre: $20,80</a:t>
            </a:r>
          </a:p>
          <a:p>
            <a:pPr lvl="1"/>
            <a:r>
              <a:rPr lang="es-AR" dirty="0"/>
              <a:t>Estima que el crecimiento esperado adecuado es del 4% y que el rendimiento requerido adecuado por el nivel de riesgo de la empresa es del 9%</a:t>
            </a:r>
          </a:p>
          <a:p>
            <a:pPr lvl="1"/>
            <a:r>
              <a:rPr lang="es-AR" dirty="0"/>
              <a:t>Por tratarse de un analista especializado en esta empresa, su opinión es considerada como la del inversionista marginal</a:t>
            </a:r>
          </a:p>
          <a:p>
            <a:pPr marL="0" indent="0" algn="ctr">
              <a:buNone/>
            </a:pPr>
            <a:r>
              <a:rPr lang="es-AR" dirty="0"/>
              <a:t>Veamos las proyecciones en un Excel </a:t>
            </a:r>
          </a:p>
        </p:txBody>
      </p:sp>
    </p:spTree>
    <p:extLst>
      <p:ext uri="{BB962C8B-B14F-4D97-AF65-F5344CB8AC3E}">
        <p14:creationId xmlns:p14="http://schemas.microsoft.com/office/powerpoint/2010/main" val="394187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dirty="0"/>
              <a:t>Veamos un ejemplo (cont.)</a:t>
            </a:r>
          </a:p>
          <a:p>
            <a:r>
              <a:rPr lang="es-AR" dirty="0"/>
              <a:t>Veamos las proyecciones en un Excel </a:t>
            </a:r>
          </a:p>
          <a:p>
            <a:pPr lvl="1"/>
            <a:r>
              <a:rPr lang="es-AR" dirty="0"/>
              <a:t>Todos los años proyecta igual rendimiento total, lo que indica que el mercado está en equilibrio</a:t>
            </a:r>
          </a:p>
          <a:p>
            <a:pPr lvl="1"/>
            <a:r>
              <a:rPr lang="es-AR" dirty="0"/>
              <a:t>Los dividendos y el precio crecen a la tasa de crecimiento esperada</a:t>
            </a:r>
          </a:p>
          <a:p>
            <a:pPr lvl="1"/>
            <a:r>
              <a:rPr lang="es-AR" dirty="0"/>
              <a:t>El rendimiento total (de los dividendos + la ganancia de capital) es constante e igual al rendimiento requerido</a:t>
            </a:r>
          </a:p>
          <a:p>
            <a:pPr lvl="1"/>
            <a:r>
              <a:rPr lang="es-AR" dirty="0"/>
              <a:t>La suma de los valores actuales de los dividendos nos da el precio (obtenido además por fórmula)  </a:t>
            </a:r>
          </a:p>
          <a:p>
            <a:r>
              <a:rPr lang="es-AR" dirty="0"/>
              <a:t>Volvamos al Excel y veamos cuáles debieran ser los precios para el analista si esperara tasas de crecimiento diferentes, o entendiera que la prima de riesgo fuera distinta ¿Qué recomendaría en cada caso el especialista?</a:t>
            </a:r>
          </a:p>
        </p:txBody>
      </p:sp>
    </p:spTree>
    <p:extLst>
      <p:ext uri="{BB962C8B-B14F-4D97-AF65-F5344CB8AC3E}">
        <p14:creationId xmlns:p14="http://schemas.microsoft.com/office/powerpoint/2010/main" val="3611414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Dividendos versus crecimiento</a:t>
            </a:r>
          </a:p>
          <a:p>
            <a:r>
              <a:rPr lang="es-AR" dirty="0"/>
              <a:t>¿El pago de dividendos atenta contra el crecimiento, qué debe privilegiarse?</a:t>
            </a:r>
          </a:p>
          <a:p>
            <a:pPr lvl="1"/>
            <a:r>
              <a:rPr lang="es-AR" dirty="0"/>
              <a:t>Los dividendos se pagan a partir de generar ganancias</a:t>
            </a:r>
          </a:p>
          <a:p>
            <a:pPr lvl="1"/>
            <a:r>
              <a:rPr lang="es-AR" dirty="0"/>
              <a:t>Para que los dividendos crezcan, también deberán crecer las ganancias</a:t>
            </a:r>
          </a:p>
          <a:p>
            <a:pPr lvl="1"/>
            <a:r>
              <a:rPr lang="es-AR" dirty="0"/>
              <a:t>El crecimiento de las ganancias a largo plazo se genera principalmente por nuevas inversiones, o sea, deuda o reinversiones de ganancias retenidas</a:t>
            </a:r>
          </a:p>
          <a:p>
            <a:pPr lvl="1"/>
            <a:r>
              <a:rPr lang="es-AR" dirty="0"/>
              <a:t>¿Qué pasa si crezco a partir de tomar deuda y qué pasa si crezco a partir de reinvertir ganancias retenidas, que pudieron retenerse al pagar menos dividendos?</a:t>
            </a:r>
          </a:p>
          <a:p>
            <a:pPr lvl="1"/>
            <a:r>
              <a:rPr lang="es-AR" dirty="0"/>
              <a:t>Cuanto más alta sea la tasa de ganancias retenidas, mayor será la tasa de crecimiento</a:t>
            </a:r>
          </a:p>
        </p:txBody>
      </p:sp>
    </p:spTree>
    <p:extLst>
      <p:ext uri="{BB962C8B-B14F-4D97-AF65-F5344CB8AC3E}">
        <p14:creationId xmlns:p14="http://schemas.microsoft.com/office/powerpoint/2010/main" val="117314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690688"/>
            <a:ext cx="10515600" cy="4351338"/>
          </a:xfrm>
        </p:spPr>
        <p:txBody>
          <a:bodyPr>
            <a:normAutofit fontScale="92500" lnSpcReduction="10000"/>
          </a:bodyPr>
          <a:lstStyle/>
          <a:p>
            <a:pPr marL="0" indent="0">
              <a:buNone/>
            </a:pPr>
            <a:r>
              <a:rPr lang="es-AR" sz="2400" dirty="0"/>
              <a:t>Ejemplo</a:t>
            </a:r>
          </a:p>
          <a:p>
            <a:r>
              <a:rPr lang="es-AR" sz="2400" dirty="0"/>
              <a:t>Tengo un capital inicial de 1.000.000 y un ROE proyectado de 10%</a:t>
            </a:r>
          </a:p>
          <a:p>
            <a:r>
              <a:rPr lang="es-AR" sz="2400" dirty="0"/>
              <a:t>Espero ganar 100.000 en el próximo año. Si lo distribuyo totalmente sigo con el mismo capital y ganancia esperada de 100.000</a:t>
            </a:r>
          </a:p>
          <a:p>
            <a:r>
              <a:rPr lang="es-AR" sz="2400" dirty="0"/>
              <a:t>Si pago sólo el 50% de las ganancias como dividendo, 50.000, mi capital de inicio para el siguiente año es de 1.050.000 y las ganancias esperadas a igual ROE serán de 105.000 y el dividendo de 52.500. Al siguiente año, los dividendos esperados serían de 55.125</a:t>
            </a:r>
          </a:p>
          <a:p>
            <a:r>
              <a:rPr lang="es-AR" sz="2400" dirty="0"/>
              <a:t>La tasa de crecimiento de los dividendos es </a:t>
            </a:r>
          </a:p>
          <a:p>
            <a:pPr marL="0" indent="0" algn="ctr">
              <a:buNone/>
            </a:pPr>
            <a:r>
              <a:rPr lang="es-AR" sz="2400" dirty="0"/>
              <a:t>(1 – razón de pago de los dividendos) * ROE</a:t>
            </a:r>
          </a:p>
          <a:p>
            <a:pPr marL="0" indent="0" algn="ctr">
              <a:buNone/>
            </a:pPr>
            <a:endParaRPr lang="es-AR" sz="2400" dirty="0"/>
          </a:p>
          <a:p>
            <a:pPr marL="0" indent="0" algn="ctr">
              <a:buNone/>
            </a:pPr>
            <a:r>
              <a:rPr lang="es-AR" sz="2400" b="1" dirty="0"/>
              <a:t>A largo plazo la tasa de crecimiento depende de la razón de pagos de dividendos y el ROE</a:t>
            </a:r>
          </a:p>
          <a:p>
            <a:pPr marL="0" indent="0" algn="ctr">
              <a:buNone/>
            </a:pPr>
            <a:r>
              <a:rPr lang="es-AR" sz="2400" b="1" dirty="0"/>
              <a:t>Pero … veamos</a:t>
            </a:r>
          </a:p>
          <a:p>
            <a:pPr marL="0" indent="0" algn="ctr">
              <a:buNone/>
            </a:pPr>
            <a:endParaRPr lang="es-AR" sz="2400" b="1" dirty="0"/>
          </a:p>
          <a:p>
            <a:endParaRPr lang="es-AR" sz="2400" dirty="0"/>
          </a:p>
          <a:p>
            <a:pPr marL="0" indent="0">
              <a:buNone/>
            </a:pPr>
            <a:endParaRPr lang="es-AR" sz="2400" dirty="0"/>
          </a:p>
        </p:txBody>
      </p:sp>
    </p:spTree>
    <p:extLst>
      <p:ext uri="{BB962C8B-B14F-4D97-AF65-F5344CB8AC3E}">
        <p14:creationId xmlns:p14="http://schemas.microsoft.com/office/powerpoint/2010/main" val="2166202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690688"/>
            <a:ext cx="10515600" cy="4351338"/>
          </a:xfrm>
        </p:spPr>
        <p:txBody>
          <a:bodyPr>
            <a:normAutofit/>
          </a:bodyPr>
          <a:lstStyle/>
          <a:p>
            <a:pPr marL="0" indent="0">
              <a:buNone/>
            </a:pPr>
            <a:r>
              <a:rPr lang="es-AR" sz="2400" dirty="0"/>
              <a:t>Ejemplo</a:t>
            </a:r>
          </a:p>
          <a:p>
            <a:pPr marL="0" indent="0">
              <a:buNone/>
            </a:pPr>
            <a:endParaRPr lang="es-AR" sz="2400" dirty="0"/>
          </a:p>
          <a:p>
            <a:r>
              <a:rPr lang="es-AR" sz="2400" dirty="0"/>
              <a:t>Esta no es la realidad permanente en empresas maduras ni en empresas en crecimiento </a:t>
            </a:r>
          </a:p>
          <a:p>
            <a:pPr lvl="1"/>
            <a:r>
              <a:rPr lang="es-AR" sz="2000" dirty="0"/>
              <a:t>Nosotros hemos supuesto que todo lo demás permanecía constante</a:t>
            </a:r>
          </a:p>
          <a:p>
            <a:pPr lvl="1"/>
            <a:r>
              <a:rPr lang="es-AR" sz="2000" dirty="0"/>
              <a:t>¿Y si desarrollamos un nuevo producto que resulta muy exitoso?</a:t>
            </a:r>
          </a:p>
          <a:p>
            <a:pPr lvl="1"/>
            <a:r>
              <a:rPr lang="es-AR" sz="2000" dirty="0"/>
              <a:t>¿Y si un nuevo CEO realiza cambios positivos que elevan el ROE?</a:t>
            </a:r>
          </a:p>
          <a:p>
            <a:pPr lvl="1"/>
            <a:r>
              <a:rPr lang="es-AR" sz="2000" dirty="0"/>
              <a:t>¿Qué sería esperable en empresas nuevas en relación con las ganancias, dividendos y crecimiento actuales, de mediano y largo plazo? </a:t>
            </a:r>
          </a:p>
          <a:p>
            <a:pPr lvl="1"/>
            <a:r>
              <a:rPr lang="es-AR" sz="2000" dirty="0"/>
              <a:t>¿Qué sería esperable en empresas en crecimiento, hasta cuándo?</a:t>
            </a:r>
          </a:p>
          <a:p>
            <a:pPr lvl="1"/>
            <a:r>
              <a:rPr lang="es-AR" sz="2000" dirty="0"/>
              <a:t>¿Siempre habrá oportunidades de reinversión que mantengan el ROE a los niveles actuales?</a:t>
            </a:r>
          </a:p>
          <a:p>
            <a:pPr marL="0" indent="0">
              <a:buNone/>
            </a:pPr>
            <a:endParaRPr lang="es-AR" sz="2400" dirty="0"/>
          </a:p>
        </p:txBody>
      </p:sp>
    </p:spTree>
    <p:extLst>
      <p:ext uri="{BB962C8B-B14F-4D97-AF65-F5344CB8AC3E}">
        <p14:creationId xmlns:p14="http://schemas.microsoft.com/office/powerpoint/2010/main" val="120679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dirty="0"/>
              <a:t>¿Dividendos corrientes o crecimiento?</a:t>
            </a:r>
          </a:p>
          <a:p>
            <a:r>
              <a:rPr lang="es-AR" dirty="0"/>
              <a:t>Habrá accionistas que prefieran dividendos corrientes más elevados, y habrá quienes prefieran el crecimiento</a:t>
            </a:r>
          </a:p>
          <a:p>
            <a:r>
              <a:rPr lang="es-AR" dirty="0"/>
              <a:t>No hay evidencia empírica de cuál es la estrategia óptima para maximizar el valor de las acciones</a:t>
            </a:r>
          </a:p>
          <a:p>
            <a:r>
              <a:rPr lang="es-AR" dirty="0"/>
              <a:t>Los impuestos son diferentes en dividendos y ganancias de capital</a:t>
            </a:r>
          </a:p>
          <a:p>
            <a:r>
              <a:rPr lang="es-AR" dirty="0"/>
              <a:t>Siempre habrá Accionistas con distintas necesidades</a:t>
            </a:r>
          </a:p>
          <a:p>
            <a:r>
              <a:rPr lang="es-AR" dirty="0"/>
              <a:t>Todos estarán de acuerdo en tener presente las oportunidades de reinversión, los niveles de competencia, si los mercados son maduros o en expansión. Y no retener ganancias si no hay oportunidades</a:t>
            </a:r>
          </a:p>
          <a:p>
            <a:r>
              <a:rPr lang="es-AR" dirty="0"/>
              <a:t>Como veremos, las gerencias fijan políticas de pagos de dividendos. Este aspecto sí es importante. Que haya una política conocida y se respete</a:t>
            </a:r>
          </a:p>
        </p:txBody>
      </p:sp>
    </p:spTree>
    <p:extLst>
      <p:ext uri="{BB962C8B-B14F-4D97-AF65-F5344CB8AC3E}">
        <p14:creationId xmlns:p14="http://schemas.microsoft.com/office/powerpoint/2010/main" val="2668709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Condiciones requeridas para el modelo de crecimiento constante</a:t>
                </a:r>
              </a:p>
              <a:p>
                <a:r>
                  <a:rPr lang="es-AR" sz="2400" dirty="0"/>
                  <a:t>La tasa de rendimiento requerida debe ser superior a la de crecimiento esperado,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oMath>
                </a14:m>
                <a:r>
                  <a:rPr lang="es-AR" sz="2400" dirty="0"/>
                  <a:t> </a:t>
                </a:r>
                <a:r>
                  <a:rPr lang="en-CA" sz="2400" dirty="0"/>
                  <a:t>&gt; g</a:t>
                </a:r>
                <a:endParaRPr lang="es-AR" sz="2400" dirty="0"/>
              </a:p>
              <a:p>
                <a:r>
                  <a:rPr lang="es-AR" sz="2400" dirty="0"/>
                  <a:t>¿Qué ocurriría si esto no se cumpliera, qué estaría pronosticando como ganancias año a año y como precio de la acción?</a:t>
                </a:r>
              </a:p>
              <a:p>
                <a:r>
                  <a:rPr lang="es-AR" sz="2400" dirty="0"/>
                  <a:t>Las empresas en desarrollo, aún inmaduras, no tienen ganancias ni dividendos crecientes a una tasa constante</a:t>
                </a:r>
              </a:p>
              <a:p>
                <a:r>
                  <a:rPr lang="es-AR" sz="2400" dirty="0"/>
                  <a:t>Las empresas maduras, pueden tener una tasa de crecimiento medianamente constante cercana al PBI real + Inflación. En épocas normales en los EEUU rondarían valores entre el 3% y 6%</a:t>
                </a:r>
              </a:p>
              <a:p>
                <a:pPr marL="0" indent="0">
                  <a:buNone/>
                </a:pPr>
                <a:endParaRPr lang="es-AR" sz="24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1961" r="-1217"/>
                </a:stretch>
              </a:blipFill>
            </p:spPr>
            <p:txBody>
              <a:bodyPr/>
              <a:lstStyle/>
              <a:p>
                <a:r>
                  <a:rPr lang="es-ES">
                    <a:noFill/>
                  </a:rPr>
                  <a:t> </a:t>
                </a:r>
              </a:p>
            </p:txBody>
          </p:sp>
        </mc:Fallback>
      </mc:AlternateContent>
    </p:spTree>
    <p:extLst>
      <p:ext uri="{BB962C8B-B14F-4D97-AF65-F5344CB8AC3E}">
        <p14:creationId xmlns:p14="http://schemas.microsoft.com/office/powerpoint/2010/main" val="1512580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u="sng" dirty="0"/>
                  <a:t>Condiciones requeridas para el modelo de crecimiento constante</a:t>
                </a:r>
              </a:p>
              <a:p>
                <a:endParaRPr lang="es-AR" sz="2400" dirty="0"/>
              </a:p>
              <a:p>
                <a:r>
                  <a:rPr lang="es-AR" sz="2400" dirty="0"/>
                  <a:t>La ecuación del precio de una acción de crecimiento constante es válida también si planteamos un crecimiento nulo</a:t>
                </a:r>
              </a:p>
              <a:p>
                <a:pPr marL="0" indent="0" algn="ctr">
                  <a:buNone/>
                </a:pP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e>
                    </m:acc>
                    <m:r>
                      <a:rPr lang="es-AR" sz="2400" b="0" i="1" smtClean="0">
                        <a:latin typeface="Cambria Math" panose="02040503050406030204" pitchFamily="18" charset="0"/>
                      </a:rPr>
                      <m:t>=</m:t>
                    </m:r>
                  </m:oMath>
                </a14:m>
                <a:r>
                  <a:rPr lang="es-AR" sz="2400" dirty="0"/>
                  <a:t> </a:t>
                </a:r>
                <a14:m>
                  <m:oMath xmlns:m="http://schemas.openxmlformats.org/officeDocument/2006/math">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b="0" i="1" smtClean="0">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i="1">
                            <a:latin typeface="Cambria Math" panose="02040503050406030204" pitchFamily="18" charset="0"/>
                          </a:rPr>
                          <m:t>−</m:t>
                        </m:r>
                        <m:r>
                          <a:rPr lang="es-AR" sz="2400" i="1">
                            <a:latin typeface="Cambria Math" panose="02040503050406030204" pitchFamily="18" charset="0"/>
                          </a:rPr>
                          <m:t>𝑔</m:t>
                        </m:r>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r>
                          <a:rPr lang="es-AR" sz="2400" i="1">
                            <a:latin typeface="Cambria Math" panose="02040503050406030204" pitchFamily="18" charset="0"/>
                          </a:rPr>
                          <m:t>−</m:t>
                        </m:r>
                        <m:r>
                          <a:rPr lang="es-AR" sz="2400" b="0" i="1" smtClean="0">
                            <a:latin typeface="Cambria Math" panose="02040503050406030204" pitchFamily="18" charset="0"/>
                          </a:rPr>
                          <m:t>0</m:t>
                        </m:r>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r>
                          <a:rPr lang="es-AR" sz="2400" b="0" i="1" smtClean="0">
                            <a:latin typeface="Cambria Math" panose="02040503050406030204" pitchFamily="18" charset="0"/>
                          </a:rPr>
                          <m:t>𝐷</m:t>
                        </m:r>
                      </m:num>
                      <m:den>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𝑠</m:t>
                            </m:r>
                          </m:sub>
                        </m:sSub>
                      </m:den>
                    </m:f>
                  </m:oMath>
                </a14:m>
                <a:r>
                  <a:rPr lang="es-AR" sz="2400" dirty="0"/>
                  <a:t> </a:t>
                </a:r>
              </a:p>
              <a:p>
                <a:r>
                  <a:rPr lang="es-AR" sz="2400" dirty="0"/>
                  <a:t>Replica a la expresión del valor de una perpetuidad y donde el dividendo pierde su subíndice ya que al no crecer se vuelve una constante. La tasa de rendimiento requerida reemplaza a la del interés</a:t>
                </a:r>
              </a:p>
              <a:p>
                <a:r>
                  <a:rPr lang="es-AR" sz="2400" dirty="0"/>
                  <a:t>Lo que hemos visto nos servirá para calcular el valor de acciones donde tendremos períodos pronosticados de diferente índole, sin dividendos, con dividendos, crecientes a tasa constante, no constante, </a:t>
                </a:r>
                <a:r>
                  <a:rPr lang="es-AR" sz="2400" dirty="0" err="1"/>
                  <a:t>etc</a:t>
                </a:r>
                <a:endParaRPr lang="es-AR" sz="2400" dirty="0"/>
              </a:p>
              <a:p>
                <a:r>
                  <a:rPr lang="es-AR" sz="2400" dirty="0"/>
                  <a:t>Normalmente para el largo plazo, plantear una tasa de crecimiento constante sea lo más realista</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754" t="-2801" r="-174"/>
                </a:stretch>
              </a:blipFill>
            </p:spPr>
            <p:txBody>
              <a:bodyPr/>
              <a:lstStyle/>
              <a:p>
                <a:r>
                  <a:rPr lang="es-ES">
                    <a:noFill/>
                  </a:rPr>
                  <a:t> </a:t>
                </a:r>
              </a:p>
            </p:txBody>
          </p:sp>
        </mc:Fallback>
      </mc:AlternateContent>
    </p:spTree>
    <p:extLst>
      <p:ext uri="{BB962C8B-B14F-4D97-AF65-F5344CB8AC3E}">
        <p14:creationId xmlns:p14="http://schemas.microsoft.com/office/powerpoint/2010/main" val="3845295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Preguntas</a:t>
            </a:r>
          </a:p>
          <a:p>
            <a:r>
              <a:rPr lang="es-AR" dirty="0"/>
              <a:t>Si el dividendo esperado para el próximo año es de USD 1, la tasa de rendimiento requerida es 11% y la tasa esperada de crecimiento es 5% ¿Cuánto vale la acción? ¿cuánto si no se espera crecimiento?</a:t>
            </a:r>
          </a:p>
          <a:p>
            <a:r>
              <a:rPr lang="es-AR" dirty="0"/>
              <a:t>Una empresa con ROE del 12% paga el 25% de sus ganancias como dividendos ¿Cuál es su tasa de crecimiento esperada, cuánto si paga el 75% de sus ganancias?</a:t>
            </a:r>
          </a:p>
          <a:p>
            <a:r>
              <a:rPr lang="es-AR" dirty="0"/>
              <a:t>  Una empresa tiene una razón de pago de dividendos del 75% y con intenciones de crecer la reduce al 25%, causando que su tasa de crecimiento pase del 3% al 9% ¿Ese acto incrementa necesariamente el precio de las acciones? ¿Qué cosas podrían ocurrir frente a tan marcado cambio de política de dividendos? </a:t>
            </a:r>
          </a:p>
        </p:txBody>
      </p:sp>
    </p:spTree>
    <p:extLst>
      <p:ext uri="{BB962C8B-B14F-4D97-AF65-F5344CB8AC3E}">
        <p14:creationId xmlns:p14="http://schemas.microsoft.com/office/powerpoint/2010/main" val="3320309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Valuación de acciones de crecimiento no constante</a:t>
                </a:r>
              </a:p>
              <a:p>
                <a:r>
                  <a:rPr lang="es-AR" dirty="0"/>
                  <a:t>No es apropiado para muchas compañías suponer que los dividendos crecerán a una tasa constante</a:t>
                </a:r>
              </a:p>
              <a:p>
                <a:r>
                  <a:rPr lang="es-AR" dirty="0"/>
                  <a:t>Ciclos de vida de la empresa, alto crecimiento muy por encima del mercado (crecimiento supra normal o no constante), crecimiento como el promedio de la economía, crecimientos por debajo de la economía ¿Qué puede esperarse con el precio de sus acciones? Volvamos al Excel</a:t>
                </a:r>
              </a:p>
              <a:p>
                <a:r>
                  <a:rPr lang="es-AR" dirty="0"/>
                  <a:t>El crecimiento supra normal es por un período (fecha horizonte) para luego entrar en un período de tasas acordes al crecimiento de la economía. Entonces tendremos (como mínimo) dos valores de “g” y la fórmula simplificada de Gordon no aplica, pero podemos combinar fórmulas</a:t>
                </a:r>
              </a:p>
              <a:p>
                <a:endParaRPr lang="es-AR" dirty="0"/>
              </a:p>
              <a:p>
                <a14:m>
                  <m:oMath xmlns:m="http://schemas.openxmlformats.org/officeDocument/2006/math">
                    <m:acc>
                      <m:accPr>
                        <m:chr m:val="̂"/>
                        <m:ctrlPr>
                          <a:rPr lang="es-AR" sz="2800" i="1" smtClean="0">
                            <a:latin typeface="Cambria Math" panose="02040503050406030204" pitchFamily="18" charset="0"/>
                          </a:rPr>
                        </m:ctrlPr>
                      </m:accPr>
                      <m:e>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𝑃</m:t>
                            </m:r>
                          </m:e>
                          <m:sub>
                            <m:r>
                              <a:rPr lang="es-AR" sz="2800" b="0" i="1" smtClean="0">
                                <a:latin typeface="Cambria Math" panose="02040503050406030204" pitchFamily="18" charset="0"/>
                              </a:rPr>
                              <m:t>0</m:t>
                            </m:r>
                          </m:sub>
                        </m:sSub>
                      </m:e>
                    </m:acc>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𝐷</m:t>
                            </m:r>
                          </m:e>
                          <m:sub>
                            <m:r>
                              <a:rPr lang="es-AR" sz="2800" b="0" i="1" smtClean="0">
                                <a:latin typeface="Cambria Math" panose="02040503050406030204" pitchFamily="18" charset="0"/>
                              </a:rPr>
                              <m:t>1</m:t>
                            </m:r>
                          </m:sub>
                        </m:sSub>
                      </m:num>
                      <m:den>
                        <m:sSup>
                          <m:sSupPr>
                            <m:ctrlPr>
                              <a:rPr lang="es-AR" sz="2800" b="0" i="1" smtClean="0">
                                <a:latin typeface="Cambria Math" panose="02040503050406030204" pitchFamily="18" charset="0"/>
                              </a:rPr>
                            </m:ctrlPr>
                          </m:sSupPr>
                          <m:e>
                            <m:r>
                              <a:rPr lang="es-AR" sz="2800" b="0" i="1" smtClean="0">
                                <a:latin typeface="Cambria Math" panose="02040503050406030204" pitchFamily="18" charset="0"/>
                              </a:rPr>
                              <m:t>(1+</m:t>
                            </m:r>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r>
                              <a:rPr lang="es-AR" sz="2800" b="0" i="1" smtClean="0">
                                <a:latin typeface="Cambria Math" panose="02040503050406030204" pitchFamily="18" charset="0"/>
                              </a:rPr>
                              <m:t>)</m:t>
                            </m:r>
                          </m:e>
                          <m:sup>
                            <m:r>
                              <a:rPr lang="es-AR" sz="2800" b="0" i="1" smtClean="0">
                                <a:latin typeface="Cambria Math" panose="02040503050406030204" pitchFamily="18" charset="0"/>
                              </a:rPr>
                              <m:t>1</m:t>
                            </m:r>
                          </m:sup>
                        </m:sSup>
                      </m:den>
                    </m:f>
                    <m:r>
                      <a:rPr lang="es-AR" sz="2800" b="0" i="1" smtClean="0">
                        <a:latin typeface="Cambria Math" panose="02040503050406030204" pitchFamily="18" charset="0"/>
                      </a:rPr>
                      <m:t>+</m:t>
                    </m:r>
                    <m:f>
                      <m:fPr>
                        <m:ctrlPr>
                          <a:rPr lang="es-AR" sz="2800" i="1">
                            <a:latin typeface="Cambria Math" panose="02040503050406030204" pitchFamily="18" charset="0"/>
                          </a:rPr>
                        </m:ctrlPr>
                      </m:fPr>
                      <m:num>
                        <m:sSub>
                          <m:sSubPr>
                            <m:ctrlPr>
                              <a:rPr lang="es-AR" sz="2800" i="1">
                                <a:latin typeface="Cambria Math" panose="02040503050406030204" pitchFamily="18" charset="0"/>
                              </a:rPr>
                            </m:ctrlPr>
                          </m:sSubPr>
                          <m:e>
                            <m:r>
                              <a:rPr lang="es-AR" sz="2800" i="1">
                                <a:latin typeface="Cambria Math" panose="02040503050406030204" pitchFamily="18" charset="0"/>
                              </a:rPr>
                              <m:t>𝐷</m:t>
                            </m:r>
                          </m:e>
                          <m:sub>
                            <m:r>
                              <a:rPr lang="es-AR" sz="2800" b="0" i="1" smtClean="0">
                                <a:latin typeface="Cambria Math" panose="02040503050406030204" pitchFamily="18" charset="0"/>
                              </a:rPr>
                              <m:t>2</m:t>
                            </m:r>
                          </m:sub>
                        </m:sSub>
                      </m:num>
                      <m:den>
                        <m:sSup>
                          <m:sSupPr>
                            <m:ctrlPr>
                              <a:rPr lang="es-AR" sz="2800" i="1">
                                <a:latin typeface="Cambria Math" panose="02040503050406030204" pitchFamily="18" charset="0"/>
                              </a:rPr>
                            </m:ctrlPr>
                          </m:sSupPr>
                          <m:e>
                            <m:r>
                              <a:rPr lang="es-AR" sz="2800" i="1">
                                <a:latin typeface="Cambria Math" panose="02040503050406030204" pitchFamily="18" charset="0"/>
                              </a:rPr>
                              <m:t>(1+</m:t>
                            </m:r>
                            <m:sSub>
                              <m:sSubPr>
                                <m:ctrlPr>
                                  <a:rPr lang="es-AR" sz="2800" i="1">
                                    <a:latin typeface="Cambria Math" panose="02040503050406030204" pitchFamily="18" charset="0"/>
                                  </a:rPr>
                                </m:ctrlPr>
                              </m:sSubPr>
                              <m:e>
                                <m:r>
                                  <a:rPr lang="es-AR" sz="2800" i="1">
                                    <a:latin typeface="Cambria Math" panose="02040503050406030204" pitchFamily="18" charset="0"/>
                                  </a:rPr>
                                  <m:t>𝑟</m:t>
                                </m:r>
                              </m:e>
                              <m:sub>
                                <m:r>
                                  <a:rPr lang="es-AR" sz="2800" i="1">
                                    <a:latin typeface="Cambria Math" panose="02040503050406030204" pitchFamily="18" charset="0"/>
                                  </a:rPr>
                                  <m:t>𝑠</m:t>
                                </m:r>
                              </m:sub>
                            </m:sSub>
                            <m:r>
                              <a:rPr lang="es-AR" sz="2800" i="1">
                                <a:latin typeface="Cambria Math" panose="02040503050406030204" pitchFamily="18" charset="0"/>
                              </a:rPr>
                              <m:t>)</m:t>
                            </m:r>
                          </m:e>
                          <m:sup>
                            <m:r>
                              <a:rPr lang="es-AR" sz="2800" b="0" i="1" smtClean="0">
                                <a:latin typeface="Cambria Math" panose="02040503050406030204" pitchFamily="18" charset="0"/>
                              </a:rPr>
                              <m:t>2</m:t>
                            </m:r>
                          </m:sup>
                        </m:sSup>
                      </m:den>
                    </m:f>
                    <m:r>
                      <a:rPr lang="es-AR" sz="2800" i="1">
                        <a:latin typeface="Cambria Math" panose="02040503050406030204" pitchFamily="18" charset="0"/>
                      </a:rPr>
                      <m:t>+</m:t>
                    </m:r>
                    <m:r>
                      <a:rPr lang="es-AR" sz="2800" b="0" i="1" smtClean="0">
                        <a:latin typeface="Cambria Math" panose="02040503050406030204" pitchFamily="18" charset="0"/>
                      </a:rPr>
                      <m:t>…</m:t>
                    </m:r>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𝑁</m:t>
                            </m:r>
                          </m:sub>
                        </m:sSub>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sup>
                        </m:sSup>
                      </m:den>
                    </m:f>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𝑁</m:t>
                            </m:r>
                            <m:r>
                              <a:rPr lang="es-AR" b="0" i="1" smtClean="0">
                                <a:latin typeface="Cambria Math" panose="02040503050406030204" pitchFamily="18" charset="0"/>
                              </a:rPr>
                              <m:t>+1</m:t>
                            </m:r>
                          </m:sub>
                        </m:sSub>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r>
                              <a:rPr lang="es-AR" b="0" i="1" smtClean="0">
                                <a:latin typeface="Cambria Math" panose="02040503050406030204" pitchFamily="18" charset="0"/>
                              </a:rPr>
                              <m:t>+1</m:t>
                            </m:r>
                          </m:sup>
                        </m:sSup>
                      </m:den>
                    </m:f>
                    <m:r>
                      <a:rPr lang="es-AR" b="0" i="1" smtClean="0">
                        <a:latin typeface="Cambria Math" panose="02040503050406030204" pitchFamily="18" charset="0"/>
                      </a:rPr>
                      <m:t>+…</m:t>
                    </m:r>
                    <m:r>
                      <a:rPr lang="es-AR" sz="2800" b="0" i="1" smtClean="0">
                        <a:latin typeface="Cambria Math" panose="02040503050406030204" pitchFamily="18" charset="0"/>
                      </a:rPr>
                      <m:t>+</m:t>
                    </m:r>
                    <m:f>
                      <m:fPr>
                        <m:ctrlPr>
                          <a:rPr lang="es-AR" sz="2800" i="1">
                            <a:latin typeface="Cambria Math" panose="02040503050406030204" pitchFamily="18" charset="0"/>
                          </a:rPr>
                        </m:ctrlPr>
                      </m:fPr>
                      <m:num>
                        <m:sSub>
                          <m:sSubPr>
                            <m:ctrlPr>
                              <a:rPr lang="es-AR" sz="2800" i="1">
                                <a:latin typeface="Cambria Math" panose="02040503050406030204" pitchFamily="18" charset="0"/>
                              </a:rPr>
                            </m:ctrlPr>
                          </m:sSubPr>
                          <m:e>
                            <m:r>
                              <a:rPr lang="es-AR" sz="2800" i="1">
                                <a:latin typeface="Cambria Math" panose="02040503050406030204" pitchFamily="18" charset="0"/>
                              </a:rPr>
                              <m:t>𝐷</m:t>
                            </m:r>
                          </m:e>
                          <m:sub>
                            <m:r>
                              <a:rPr lang="es-AR" i="1">
                                <a:latin typeface="Cambria Math" panose="02040503050406030204" pitchFamily="18" charset="0"/>
                                <a:ea typeface="Cambria Math" panose="02040503050406030204" pitchFamily="18" charset="0"/>
                              </a:rPr>
                              <m:t>∞</m:t>
                            </m:r>
                          </m:sub>
                        </m:sSub>
                      </m:num>
                      <m:den>
                        <m:sSup>
                          <m:sSupPr>
                            <m:ctrlPr>
                              <a:rPr lang="es-AR" sz="2800" i="1">
                                <a:latin typeface="Cambria Math" panose="02040503050406030204" pitchFamily="18" charset="0"/>
                              </a:rPr>
                            </m:ctrlPr>
                          </m:sSupPr>
                          <m:e>
                            <m:r>
                              <a:rPr lang="es-AR" sz="2800" i="1">
                                <a:latin typeface="Cambria Math" panose="02040503050406030204" pitchFamily="18" charset="0"/>
                              </a:rPr>
                              <m:t>(1+</m:t>
                            </m:r>
                            <m:sSub>
                              <m:sSubPr>
                                <m:ctrlPr>
                                  <a:rPr lang="es-AR" sz="2800" i="1">
                                    <a:latin typeface="Cambria Math" panose="02040503050406030204" pitchFamily="18" charset="0"/>
                                  </a:rPr>
                                </m:ctrlPr>
                              </m:sSubPr>
                              <m:e>
                                <m:r>
                                  <a:rPr lang="es-AR" sz="2800" i="1">
                                    <a:latin typeface="Cambria Math" panose="02040503050406030204" pitchFamily="18" charset="0"/>
                                  </a:rPr>
                                  <m:t>𝑟</m:t>
                                </m:r>
                              </m:e>
                              <m:sub>
                                <m:r>
                                  <a:rPr lang="es-AR" sz="2800" i="1">
                                    <a:latin typeface="Cambria Math" panose="02040503050406030204" pitchFamily="18" charset="0"/>
                                  </a:rPr>
                                  <m:t>𝑠</m:t>
                                </m:r>
                              </m:sub>
                            </m:sSub>
                            <m:r>
                              <a:rPr lang="es-AR" sz="2800" i="1">
                                <a:latin typeface="Cambria Math" panose="02040503050406030204" pitchFamily="18" charset="0"/>
                              </a:rPr>
                              <m:t>)</m:t>
                            </m:r>
                          </m:e>
                          <m:sup>
                            <m:r>
                              <a:rPr lang="es-AR" sz="2800" i="1">
                                <a:latin typeface="Cambria Math" panose="02040503050406030204" pitchFamily="18" charset="0"/>
                                <a:ea typeface="Cambria Math" panose="02040503050406030204" pitchFamily="18" charset="0"/>
                              </a:rPr>
                              <m:t>∞</m:t>
                            </m:r>
                          </m:sup>
                        </m:sSup>
                      </m:den>
                    </m:f>
                  </m:oMath>
                </a14:m>
                <a:endParaRPr lang="es-AR" sz="28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221" r="-1507"/>
                </a:stretch>
              </a:blipFill>
            </p:spPr>
            <p:txBody>
              <a:bodyPr/>
              <a:lstStyle/>
              <a:p>
                <a:r>
                  <a:rPr lang="es-ES">
                    <a:noFill/>
                  </a:rPr>
                  <a:t> </a:t>
                </a:r>
              </a:p>
            </p:txBody>
          </p:sp>
        </mc:Fallback>
      </mc:AlternateContent>
    </p:spTree>
    <p:extLst>
      <p:ext uri="{BB962C8B-B14F-4D97-AF65-F5344CB8AC3E}">
        <p14:creationId xmlns:p14="http://schemas.microsoft.com/office/powerpoint/2010/main" val="2168641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Valuación de acciones de crecimiento no constante</a:t>
                </a:r>
              </a:p>
              <a:p>
                <a:endParaRPr lang="es-AR" dirty="0"/>
              </a:p>
              <a:p>
                <a14:m>
                  <m:oMath xmlns:m="http://schemas.openxmlformats.org/officeDocument/2006/math">
                    <m:acc>
                      <m:accPr>
                        <m:chr m:val="̂"/>
                        <m:ctrlPr>
                          <a:rPr lang="es-AR" sz="2800" i="1" smtClean="0">
                            <a:latin typeface="Cambria Math" panose="02040503050406030204" pitchFamily="18" charset="0"/>
                          </a:rPr>
                        </m:ctrlPr>
                      </m:accPr>
                      <m:e>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𝑃</m:t>
                            </m:r>
                          </m:e>
                          <m:sub>
                            <m:r>
                              <a:rPr lang="es-AR" sz="2800" b="0" i="1" smtClean="0">
                                <a:latin typeface="Cambria Math" panose="02040503050406030204" pitchFamily="18" charset="0"/>
                              </a:rPr>
                              <m:t>0</m:t>
                            </m:r>
                          </m:sub>
                        </m:sSub>
                      </m:e>
                    </m:acc>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𝐷</m:t>
                            </m:r>
                          </m:e>
                          <m:sub>
                            <m:r>
                              <a:rPr lang="es-AR" sz="2800" b="0" i="1" smtClean="0">
                                <a:latin typeface="Cambria Math" panose="02040503050406030204" pitchFamily="18" charset="0"/>
                              </a:rPr>
                              <m:t>1</m:t>
                            </m:r>
                          </m:sub>
                        </m:sSub>
                      </m:num>
                      <m:den>
                        <m:sSup>
                          <m:sSupPr>
                            <m:ctrlPr>
                              <a:rPr lang="es-AR" sz="2800" b="0" i="1" smtClean="0">
                                <a:latin typeface="Cambria Math" panose="02040503050406030204" pitchFamily="18" charset="0"/>
                              </a:rPr>
                            </m:ctrlPr>
                          </m:sSupPr>
                          <m:e>
                            <m:r>
                              <a:rPr lang="es-AR" sz="2800" b="0" i="1" smtClean="0">
                                <a:latin typeface="Cambria Math" panose="02040503050406030204" pitchFamily="18" charset="0"/>
                              </a:rPr>
                              <m:t>(1+</m:t>
                            </m:r>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r>
                              <a:rPr lang="es-AR" sz="2800" b="0" i="1" smtClean="0">
                                <a:latin typeface="Cambria Math" panose="02040503050406030204" pitchFamily="18" charset="0"/>
                              </a:rPr>
                              <m:t>)</m:t>
                            </m:r>
                          </m:e>
                          <m:sup>
                            <m:r>
                              <a:rPr lang="es-AR" sz="2800" b="0" i="1" smtClean="0">
                                <a:latin typeface="Cambria Math" panose="02040503050406030204" pitchFamily="18" charset="0"/>
                              </a:rPr>
                              <m:t>1</m:t>
                            </m:r>
                          </m:sup>
                        </m:sSup>
                      </m:den>
                    </m:f>
                    <m:r>
                      <a:rPr lang="es-AR" sz="2800" b="0" i="1" smtClean="0">
                        <a:latin typeface="Cambria Math" panose="02040503050406030204" pitchFamily="18" charset="0"/>
                      </a:rPr>
                      <m:t>+</m:t>
                    </m:r>
                    <m:f>
                      <m:fPr>
                        <m:ctrlPr>
                          <a:rPr lang="es-AR" sz="2800" i="1">
                            <a:latin typeface="Cambria Math" panose="02040503050406030204" pitchFamily="18" charset="0"/>
                          </a:rPr>
                        </m:ctrlPr>
                      </m:fPr>
                      <m:num>
                        <m:sSub>
                          <m:sSubPr>
                            <m:ctrlPr>
                              <a:rPr lang="es-AR" sz="2800" i="1">
                                <a:latin typeface="Cambria Math" panose="02040503050406030204" pitchFamily="18" charset="0"/>
                              </a:rPr>
                            </m:ctrlPr>
                          </m:sSubPr>
                          <m:e>
                            <m:r>
                              <a:rPr lang="es-AR" sz="2800" i="1">
                                <a:latin typeface="Cambria Math" panose="02040503050406030204" pitchFamily="18" charset="0"/>
                              </a:rPr>
                              <m:t>𝐷</m:t>
                            </m:r>
                          </m:e>
                          <m:sub>
                            <m:r>
                              <a:rPr lang="es-AR" sz="2800" b="0" i="1" smtClean="0">
                                <a:latin typeface="Cambria Math" panose="02040503050406030204" pitchFamily="18" charset="0"/>
                              </a:rPr>
                              <m:t>2</m:t>
                            </m:r>
                          </m:sub>
                        </m:sSub>
                      </m:num>
                      <m:den>
                        <m:sSup>
                          <m:sSupPr>
                            <m:ctrlPr>
                              <a:rPr lang="es-AR" sz="2800" i="1">
                                <a:latin typeface="Cambria Math" panose="02040503050406030204" pitchFamily="18" charset="0"/>
                              </a:rPr>
                            </m:ctrlPr>
                          </m:sSupPr>
                          <m:e>
                            <m:r>
                              <a:rPr lang="es-AR" sz="2800" i="1">
                                <a:latin typeface="Cambria Math" panose="02040503050406030204" pitchFamily="18" charset="0"/>
                              </a:rPr>
                              <m:t>(1+</m:t>
                            </m:r>
                            <m:sSub>
                              <m:sSubPr>
                                <m:ctrlPr>
                                  <a:rPr lang="es-AR" sz="2800" i="1">
                                    <a:latin typeface="Cambria Math" panose="02040503050406030204" pitchFamily="18" charset="0"/>
                                  </a:rPr>
                                </m:ctrlPr>
                              </m:sSubPr>
                              <m:e>
                                <m:r>
                                  <a:rPr lang="es-AR" sz="2800" i="1">
                                    <a:latin typeface="Cambria Math" panose="02040503050406030204" pitchFamily="18" charset="0"/>
                                  </a:rPr>
                                  <m:t>𝑟</m:t>
                                </m:r>
                              </m:e>
                              <m:sub>
                                <m:r>
                                  <a:rPr lang="es-AR" sz="2800" i="1">
                                    <a:latin typeface="Cambria Math" panose="02040503050406030204" pitchFamily="18" charset="0"/>
                                  </a:rPr>
                                  <m:t>𝑠</m:t>
                                </m:r>
                              </m:sub>
                            </m:sSub>
                            <m:r>
                              <a:rPr lang="es-AR" sz="2800" i="1">
                                <a:latin typeface="Cambria Math" panose="02040503050406030204" pitchFamily="18" charset="0"/>
                              </a:rPr>
                              <m:t>)</m:t>
                            </m:r>
                          </m:e>
                          <m:sup>
                            <m:r>
                              <a:rPr lang="es-AR" sz="2800" b="0" i="1" smtClean="0">
                                <a:latin typeface="Cambria Math" panose="02040503050406030204" pitchFamily="18" charset="0"/>
                              </a:rPr>
                              <m:t>2</m:t>
                            </m:r>
                          </m:sup>
                        </m:sSup>
                      </m:den>
                    </m:f>
                    <m:r>
                      <a:rPr lang="es-AR" sz="2800" i="1">
                        <a:latin typeface="Cambria Math" panose="02040503050406030204" pitchFamily="18" charset="0"/>
                      </a:rPr>
                      <m:t>+</m:t>
                    </m:r>
                    <m:r>
                      <a:rPr lang="es-AR" sz="2800" b="0" i="1" smtClean="0">
                        <a:latin typeface="Cambria Math" panose="02040503050406030204" pitchFamily="18" charset="0"/>
                      </a:rPr>
                      <m:t>…</m:t>
                    </m:r>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𝑁</m:t>
                            </m:r>
                          </m:sub>
                        </m:sSub>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sup>
                        </m:sSup>
                      </m:den>
                    </m:f>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𝑁</m:t>
                            </m:r>
                            <m:r>
                              <a:rPr lang="es-AR" b="0" i="1" smtClean="0">
                                <a:latin typeface="Cambria Math" panose="02040503050406030204" pitchFamily="18" charset="0"/>
                              </a:rPr>
                              <m:t>+1</m:t>
                            </m:r>
                          </m:sub>
                        </m:sSub>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r>
                              <a:rPr lang="es-AR" b="0" i="1" smtClean="0">
                                <a:latin typeface="Cambria Math" panose="02040503050406030204" pitchFamily="18" charset="0"/>
                              </a:rPr>
                              <m:t>+1</m:t>
                            </m:r>
                          </m:sup>
                        </m:sSup>
                      </m:den>
                    </m:f>
                    <m:r>
                      <a:rPr lang="es-AR" b="0" i="1" smtClean="0">
                        <a:latin typeface="Cambria Math" panose="02040503050406030204" pitchFamily="18" charset="0"/>
                      </a:rPr>
                      <m:t>+…</m:t>
                    </m:r>
                    <m:r>
                      <a:rPr lang="es-AR" sz="2800" b="0" i="1" smtClean="0">
                        <a:latin typeface="Cambria Math" panose="02040503050406030204" pitchFamily="18" charset="0"/>
                      </a:rPr>
                      <m:t>+</m:t>
                    </m:r>
                    <m:f>
                      <m:fPr>
                        <m:ctrlPr>
                          <a:rPr lang="es-AR" sz="2800" i="1">
                            <a:latin typeface="Cambria Math" panose="02040503050406030204" pitchFamily="18" charset="0"/>
                          </a:rPr>
                        </m:ctrlPr>
                      </m:fPr>
                      <m:num>
                        <m:sSub>
                          <m:sSubPr>
                            <m:ctrlPr>
                              <a:rPr lang="es-AR" sz="2800" i="1">
                                <a:latin typeface="Cambria Math" panose="02040503050406030204" pitchFamily="18" charset="0"/>
                              </a:rPr>
                            </m:ctrlPr>
                          </m:sSubPr>
                          <m:e>
                            <m:r>
                              <a:rPr lang="es-AR" sz="2800" i="1">
                                <a:latin typeface="Cambria Math" panose="02040503050406030204" pitchFamily="18" charset="0"/>
                              </a:rPr>
                              <m:t>𝐷</m:t>
                            </m:r>
                          </m:e>
                          <m:sub>
                            <m:r>
                              <a:rPr lang="es-AR" i="1">
                                <a:latin typeface="Cambria Math" panose="02040503050406030204" pitchFamily="18" charset="0"/>
                                <a:ea typeface="Cambria Math" panose="02040503050406030204" pitchFamily="18" charset="0"/>
                              </a:rPr>
                              <m:t>∞</m:t>
                            </m:r>
                          </m:sub>
                        </m:sSub>
                      </m:num>
                      <m:den>
                        <m:sSup>
                          <m:sSupPr>
                            <m:ctrlPr>
                              <a:rPr lang="es-AR" sz="2800" i="1">
                                <a:latin typeface="Cambria Math" panose="02040503050406030204" pitchFamily="18" charset="0"/>
                              </a:rPr>
                            </m:ctrlPr>
                          </m:sSupPr>
                          <m:e>
                            <m:r>
                              <a:rPr lang="es-AR" sz="2800" i="1">
                                <a:latin typeface="Cambria Math" panose="02040503050406030204" pitchFamily="18" charset="0"/>
                              </a:rPr>
                              <m:t>(1+</m:t>
                            </m:r>
                            <m:sSub>
                              <m:sSubPr>
                                <m:ctrlPr>
                                  <a:rPr lang="es-AR" sz="2800" i="1">
                                    <a:latin typeface="Cambria Math" panose="02040503050406030204" pitchFamily="18" charset="0"/>
                                  </a:rPr>
                                </m:ctrlPr>
                              </m:sSubPr>
                              <m:e>
                                <m:r>
                                  <a:rPr lang="es-AR" sz="2800" i="1">
                                    <a:latin typeface="Cambria Math" panose="02040503050406030204" pitchFamily="18" charset="0"/>
                                  </a:rPr>
                                  <m:t>𝑟</m:t>
                                </m:r>
                              </m:e>
                              <m:sub>
                                <m:r>
                                  <a:rPr lang="es-AR" sz="2800" i="1">
                                    <a:latin typeface="Cambria Math" panose="02040503050406030204" pitchFamily="18" charset="0"/>
                                  </a:rPr>
                                  <m:t>𝑠</m:t>
                                </m:r>
                              </m:sub>
                            </m:sSub>
                            <m:r>
                              <a:rPr lang="es-AR" sz="2800" i="1">
                                <a:latin typeface="Cambria Math" panose="02040503050406030204" pitchFamily="18" charset="0"/>
                              </a:rPr>
                              <m:t>)</m:t>
                            </m:r>
                          </m:e>
                          <m:sup>
                            <m:r>
                              <a:rPr lang="es-AR" sz="2800" i="1">
                                <a:latin typeface="Cambria Math" panose="02040503050406030204" pitchFamily="18" charset="0"/>
                                <a:ea typeface="Cambria Math" panose="02040503050406030204" pitchFamily="18" charset="0"/>
                              </a:rPr>
                              <m:t>∞</m:t>
                            </m:r>
                          </m:sup>
                        </m:sSup>
                      </m:den>
                    </m:f>
                  </m:oMath>
                </a14:m>
                <a:endParaRPr lang="es-AR" sz="2800" dirty="0"/>
              </a:p>
              <a:p>
                <a14:m>
                  <m:oMath xmlns:m="http://schemas.openxmlformats.org/officeDocument/2006/math">
                    <m:acc>
                      <m:accPr>
                        <m:chr m:val="̂"/>
                        <m:ctrlPr>
                          <a:rPr lang="es-AR" sz="2800" i="1" smtClean="0">
                            <a:latin typeface="Cambria Math" panose="02040503050406030204" pitchFamily="18" charset="0"/>
                          </a:rPr>
                        </m:ctrlPr>
                      </m:accPr>
                      <m:e>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𝑃</m:t>
                            </m:r>
                          </m:e>
                          <m:sub>
                            <m:r>
                              <a:rPr lang="es-AR" sz="2800" b="0" i="1" smtClean="0">
                                <a:latin typeface="Cambria Math" panose="02040503050406030204" pitchFamily="18" charset="0"/>
                              </a:rPr>
                              <m:t>0</m:t>
                            </m:r>
                          </m:sub>
                        </m:sSub>
                      </m:e>
                    </m:acc>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𝐷</m:t>
                            </m:r>
                          </m:e>
                          <m:sub>
                            <m:r>
                              <a:rPr lang="es-AR" sz="2800" b="0" i="1" smtClean="0">
                                <a:latin typeface="Cambria Math" panose="02040503050406030204" pitchFamily="18" charset="0"/>
                              </a:rPr>
                              <m:t>1</m:t>
                            </m:r>
                          </m:sub>
                        </m:sSub>
                      </m:num>
                      <m:den>
                        <m:sSup>
                          <m:sSupPr>
                            <m:ctrlPr>
                              <a:rPr lang="es-AR" sz="2800" b="0" i="1" smtClean="0">
                                <a:latin typeface="Cambria Math" panose="02040503050406030204" pitchFamily="18" charset="0"/>
                              </a:rPr>
                            </m:ctrlPr>
                          </m:sSupPr>
                          <m:e>
                            <m:r>
                              <a:rPr lang="es-AR" sz="2800" b="0" i="1" smtClean="0">
                                <a:latin typeface="Cambria Math" panose="02040503050406030204" pitchFamily="18" charset="0"/>
                              </a:rPr>
                              <m:t>(1+</m:t>
                            </m:r>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𝑠</m:t>
                                </m:r>
                              </m:sub>
                            </m:sSub>
                            <m:r>
                              <a:rPr lang="es-AR" sz="2800" b="0" i="1" smtClean="0">
                                <a:latin typeface="Cambria Math" panose="02040503050406030204" pitchFamily="18" charset="0"/>
                              </a:rPr>
                              <m:t>)</m:t>
                            </m:r>
                          </m:e>
                          <m:sup>
                            <m:r>
                              <a:rPr lang="es-AR" sz="2800" b="0" i="1" smtClean="0">
                                <a:latin typeface="Cambria Math" panose="02040503050406030204" pitchFamily="18" charset="0"/>
                              </a:rPr>
                              <m:t>1</m:t>
                            </m:r>
                          </m:sup>
                        </m:sSup>
                      </m:den>
                    </m:f>
                    <m:r>
                      <a:rPr lang="es-AR" sz="2800" b="0" i="1" smtClean="0">
                        <a:latin typeface="Cambria Math" panose="02040503050406030204" pitchFamily="18" charset="0"/>
                      </a:rPr>
                      <m:t>+</m:t>
                    </m:r>
                    <m:f>
                      <m:fPr>
                        <m:ctrlPr>
                          <a:rPr lang="es-AR" sz="2800" i="1">
                            <a:latin typeface="Cambria Math" panose="02040503050406030204" pitchFamily="18" charset="0"/>
                          </a:rPr>
                        </m:ctrlPr>
                      </m:fPr>
                      <m:num>
                        <m:sSub>
                          <m:sSubPr>
                            <m:ctrlPr>
                              <a:rPr lang="es-AR" sz="2800" i="1">
                                <a:latin typeface="Cambria Math" panose="02040503050406030204" pitchFamily="18" charset="0"/>
                              </a:rPr>
                            </m:ctrlPr>
                          </m:sSubPr>
                          <m:e>
                            <m:r>
                              <a:rPr lang="es-AR" sz="2800" i="1">
                                <a:latin typeface="Cambria Math" panose="02040503050406030204" pitchFamily="18" charset="0"/>
                              </a:rPr>
                              <m:t>𝐷</m:t>
                            </m:r>
                          </m:e>
                          <m:sub>
                            <m:r>
                              <a:rPr lang="es-AR" sz="2800" b="0" i="1" smtClean="0">
                                <a:latin typeface="Cambria Math" panose="02040503050406030204" pitchFamily="18" charset="0"/>
                              </a:rPr>
                              <m:t>2</m:t>
                            </m:r>
                          </m:sub>
                        </m:sSub>
                      </m:num>
                      <m:den>
                        <m:sSup>
                          <m:sSupPr>
                            <m:ctrlPr>
                              <a:rPr lang="es-AR" sz="2800" i="1">
                                <a:latin typeface="Cambria Math" panose="02040503050406030204" pitchFamily="18" charset="0"/>
                              </a:rPr>
                            </m:ctrlPr>
                          </m:sSupPr>
                          <m:e>
                            <m:r>
                              <a:rPr lang="es-AR" sz="2800" i="1">
                                <a:latin typeface="Cambria Math" panose="02040503050406030204" pitchFamily="18" charset="0"/>
                              </a:rPr>
                              <m:t>(1+</m:t>
                            </m:r>
                            <m:sSub>
                              <m:sSubPr>
                                <m:ctrlPr>
                                  <a:rPr lang="es-AR" sz="2800" i="1">
                                    <a:latin typeface="Cambria Math" panose="02040503050406030204" pitchFamily="18" charset="0"/>
                                  </a:rPr>
                                </m:ctrlPr>
                              </m:sSubPr>
                              <m:e>
                                <m:r>
                                  <a:rPr lang="es-AR" sz="2800" i="1">
                                    <a:latin typeface="Cambria Math" panose="02040503050406030204" pitchFamily="18" charset="0"/>
                                  </a:rPr>
                                  <m:t>𝑟</m:t>
                                </m:r>
                              </m:e>
                              <m:sub>
                                <m:r>
                                  <a:rPr lang="es-AR" sz="2800" i="1">
                                    <a:latin typeface="Cambria Math" panose="02040503050406030204" pitchFamily="18" charset="0"/>
                                  </a:rPr>
                                  <m:t>𝑠</m:t>
                                </m:r>
                              </m:sub>
                            </m:sSub>
                            <m:r>
                              <a:rPr lang="es-AR" sz="2800" i="1">
                                <a:latin typeface="Cambria Math" panose="02040503050406030204" pitchFamily="18" charset="0"/>
                              </a:rPr>
                              <m:t>)</m:t>
                            </m:r>
                          </m:e>
                          <m:sup>
                            <m:r>
                              <a:rPr lang="es-AR" sz="2800" b="0" i="1" smtClean="0">
                                <a:latin typeface="Cambria Math" panose="02040503050406030204" pitchFamily="18" charset="0"/>
                              </a:rPr>
                              <m:t>2</m:t>
                            </m:r>
                          </m:sup>
                        </m:sSup>
                      </m:den>
                    </m:f>
                    <m:r>
                      <a:rPr lang="es-AR" sz="2800" i="1">
                        <a:latin typeface="Cambria Math" panose="02040503050406030204" pitchFamily="18" charset="0"/>
                      </a:rPr>
                      <m:t>+</m:t>
                    </m:r>
                    <m:r>
                      <a:rPr lang="es-AR" sz="2800" b="0" i="1" smtClean="0">
                        <a:latin typeface="Cambria Math" panose="02040503050406030204" pitchFamily="18" charset="0"/>
                      </a:rPr>
                      <m:t>…</m:t>
                    </m:r>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b="0" i="1" smtClean="0">
                                <a:latin typeface="Cambria Math" panose="02040503050406030204" pitchFamily="18" charset="0"/>
                              </a:rPr>
                              <m:t>𝑁</m:t>
                            </m:r>
                          </m:sub>
                        </m:sSub>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sup>
                        </m:sSup>
                      </m:den>
                    </m:f>
                    <m:r>
                      <a:rPr lang="es-AR" i="1">
                        <a:latin typeface="Cambria Math" panose="02040503050406030204" pitchFamily="18" charset="0"/>
                      </a:rPr>
                      <m:t>+</m:t>
                    </m:r>
                    <m:f>
                      <m:fPr>
                        <m:ctrlPr>
                          <a:rPr lang="es-AR" i="1">
                            <a:latin typeface="Cambria Math" panose="02040503050406030204" pitchFamily="18" charset="0"/>
                          </a:rPr>
                        </m:ctrlPr>
                      </m:fPr>
                      <m:num>
                        <m:acc>
                          <m:accPr>
                            <m:chr m:val="̂"/>
                            <m:ctrlPr>
                              <a:rPr lang="es-AR" i="1">
                                <a:latin typeface="Cambria Math" panose="02040503050406030204" pitchFamily="18" charset="0"/>
                              </a:rPr>
                            </m:ctrlPr>
                          </m:accPr>
                          <m:e>
                            <m:sSub>
                              <m:sSubPr>
                                <m:ctrlPr>
                                  <a:rPr lang="es-AR" i="1">
                                    <a:latin typeface="Cambria Math" panose="02040503050406030204" pitchFamily="18" charset="0"/>
                                  </a:rPr>
                                </m:ctrlPr>
                              </m:sSubPr>
                              <m:e>
                                <m:r>
                                  <a:rPr lang="es-AR" i="1">
                                    <a:latin typeface="Cambria Math" panose="02040503050406030204" pitchFamily="18" charset="0"/>
                                  </a:rPr>
                                  <m:t>𝑃</m:t>
                                </m:r>
                              </m:e>
                              <m:sub>
                                <m:r>
                                  <a:rPr lang="es-AR" b="0" i="1" smtClean="0">
                                    <a:latin typeface="Cambria Math" panose="02040503050406030204" pitchFamily="18" charset="0"/>
                                  </a:rPr>
                                  <m:t>𝑁</m:t>
                                </m:r>
                              </m:sub>
                            </m:sSub>
                          </m:e>
                        </m:acc>
                      </m:num>
                      <m:den>
                        <m:sSup>
                          <m:sSupPr>
                            <m:ctrlPr>
                              <a:rPr lang="es-AR" i="1">
                                <a:latin typeface="Cambria Math" panose="02040503050406030204" pitchFamily="18" charset="0"/>
                              </a:rPr>
                            </m:ctrlPr>
                          </m:sSupPr>
                          <m:e>
                            <m:d>
                              <m:dPr>
                                <m:ctrlPr>
                                  <a:rPr lang="es-AR" i="1">
                                    <a:latin typeface="Cambria Math" panose="02040503050406030204" pitchFamily="18" charset="0"/>
                                  </a:rPr>
                                </m:ctrlPr>
                              </m:dPr>
                              <m:e>
                                <m:r>
                                  <a:rPr lang="es-AR" i="1">
                                    <a:latin typeface="Cambria Math" panose="02040503050406030204" pitchFamily="18" charset="0"/>
                                  </a:rPr>
                                  <m:t>1+</m:t>
                                </m:r>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e>
                            </m:d>
                          </m:e>
                          <m:sup>
                            <m:r>
                              <a:rPr lang="es-AR" b="0" i="1" smtClean="0">
                                <a:latin typeface="Cambria Math" panose="02040503050406030204" pitchFamily="18" charset="0"/>
                              </a:rPr>
                              <m:t>𝑁</m:t>
                            </m:r>
                          </m:sup>
                        </m:sSup>
                      </m:den>
                    </m:f>
                  </m:oMath>
                </a14:m>
                <a:endParaRPr lang="es-AR" sz="2800" dirty="0"/>
              </a:p>
              <a:p>
                <a:endParaRPr lang="es-AR" dirty="0"/>
              </a:p>
              <a:p>
                <a:r>
                  <a:rPr lang="es-AR" dirty="0"/>
                  <a:t>Donde </a:t>
                </a:r>
                <a14:m>
                  <m:oMath xmlns:m="http://schemas.openxmlformats.org/officeDocument/2006/math">
                    <m:acc>
                      <m:accPr>
                        <m:chr m:val="̂"/>
                        <m:ctrlPr>
                          <a:rPr lang="es-AR" i="1" smtClean="0">
                            <a:latin typeface="Cambria Math" panose="02040503050406030204" pitchFamily="18" charset="0"/>
                          </a:rPr>
                        </m:ctrlPr>
                      </m:accPr>
                      <m:e>
                        <m:sSub>
                          <m:sSubPr>
                            <m:ctrlPr>
                              <a:rPr lang="es-AR" i="1">
                                <a:latin typeface="Cambria Math" panose="02040503050406030204" pitchFamily="18" charset="0"/>
                              </a:rPr>
                            </m:ctrlPr>
                          </m:sSubPr>
                          <m:e>
                            <m:r>
                              <a:rPr lang="es-AR" i="1">
                                <a:latin typeface="Cambria Math" panose="02040503050406030204" pitchFamily="18" charset="0"/>
                              </a:rPr>
                              <m:t>𝑃</m:t>
                            </m:r>
                          </m:e>
                          <m:sub>
                            <m:r>
                              <a:rPr lang="es-AR" b="0" i="1" smtClean="0">
                                <a:latin typeface="Cambria Math" panose="02040503050406030204" pitchFamily="18" charset="0"/>
                              </a:rPr>
                              <m:t>𝑁</m:t>
                            </m:r>
                          </m:sub>
                        </m:sSub>
                      </m:e>
                    </m:acc>
                  </m:oMath>
                </a14:m>
                <a:r>
                  <a:rPr lang="es-AR" dirty="0"/>
                  <a:t>= </a:t>
                </a:r>
                <a14:m>
                  <m:oMath xmlns:m="http://schemas.openxmlformats.org/officeDocument/2006/math">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𝐷</m:t>
                            </m:r>
                          </m:e>
                          <m:sub>
                            <m:r>
                              <a:rPr lang="es-AR" i="1">
                                <a:latin typeface="Cambria Math" panose="02040503050406030204" pitchFamily="18" charset="0"/>
                              </a:rPr>
                              <m:t>𝑁</m:t>
                            </m:r>
                            <m:r>
                              <a:rPr lang="es-AR" i="1">
                                <a:latin typeface="Cambria Math" panose="02040503050406030204" pitchFamily="18" charset="0"/>
                              </a:rPr>
                              <m:t>+1</m:t>
                            </m:r>
                          </m:sub>
                        </m:sSub>
                      </m:num>
                      <m:den>
                        <m:d>
                          <m:dPr>
                            <m:ctrlPr>
                              <a:rPr lang="es-AR" b="0" i="1" smtClean="0">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𝑠</m:t>
                                </m:r>
                              </m:sub>
                            </m:sSub>
                            <m:r>
                              <a:rPr lang="es-AR" b="0" i="1" smtClean="0">
                                <a:latin typeface="Cambria Math" panose="02040503050406030204" pitchFamily="18" charset="0"/>
                              </a:rPr>
                              <m:t>−</m:t>
                            </m:r>
                            <m:r>
                              <a:rPr lang="es-AR" b="0" i="1" smtClean="0">
                                <a:latin typeface="Cambria Math" panose="02040503050406030204" pitchFamily="18" charset="0"/>
                              </a:rPr>
                              <m:t>𝑔</m:t>
                            </m:r>
                          </m:e>
                        </m:d>
                      </m:den>
                    </m:f>
                  </m:oMath>
                </a14:m>
                <a:r>
                  <a:rPr lang="es-AR" dirty="0"/>
                  <a:t> que surge de la fórmula simplificada</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s-ES">
                    <a:noFill/>
                  </a:rPr>
                  <a:t> </a:t>
                </a:r>
              </a:p>
            </p:txBody>
          </p:sp>
        </mc:Fallback>
      </mc:AlternateContent>
    </p:spTree>
    <p:extLst>
      <p:ext uri="{BB962C8B-B14F-4D97-AF65-F5344CB8AC3E}">
        <p14:creationId xmlns:p14="http://schemas.microsoft.com/office/powerpoint/2010/main" val="1630324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Ejemplo en Excel</a:t>
                </a:r>
              </a:p>
              <a:p>
                <a:r>
                  <a:rPr lang="es-AR" dirty="0"/>
                  <a:t>Último dividendo pagado </a:t>
                </a: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𝐷</m:t>
                        </m:r>
                      </m:e>
                      <m:sub>
                        <m:r>
                          <a:rPr lang="es-AR" b="0" i="1" smtClean="0">
                            <a:latin typeface="Cambria Math" panose="02040503050406030204" pitchFamily="18" charset="0"/>
                          </a:rPr>
                          <m:t>0</m:t>
                        </m:r>
                      </m:sub>
                    </m:sSub>
                    <m:r>
                      <a:rPr lang="es-AR" b="0" i="1" smtClean="0">
                        <a:latin typeface="Cambria Math" panose="02040503050406030204" pitchFamily="18" charset="0"/>
                      </a:rPr>
                      <m:t>=1,00</m:t>
                    </m:r>
                  </m:oMath>
                </a14:m>
                <a:endParaRPr lang="es-AR" b="0" dirty="0"/>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𝑠</m:t>
                        </m:r>
                      </m:sub>
                    </m:sSub>
                  </m:oMath>
                </a14:m>
                <a:r>
                  <a:rPr lang="es-AR" dirty="0"/>
                  <a:t> = 9%</a:t>
                </a:r>
              </a:p>
              <a:p>
                <a:r>
                  <a:rPr lang="es-AR" dirty="0"/>
                  <a:t>Tres Años de crecimiento no constante al 10% (luego usar 3 años al 10% o 3 años al 8% para un segundo cálculo)</a:t>
                </a:r>
              </a:p>
              <a:p>
                <a:r>
                  <a:rPr lang="es-AR" dirty="0"/>
                  <a:t>Crecimiento constante del 4% a partir del 4to (o 7mo) año</a:t>
                </a:r>
              </a:p>
              <a:p>
                <a:r>
                  <a:rPr lang="es-AR" dirty="0">
                    <a:solidFill>
                      <a:srgbClr val="FF0000"/>
                    </a:solidFill>
                  </a:rPr>
                  <a:t>Ver ejemplo página 335 con años sin dividendos</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s-ES">
                    <a:noFill/>
                  </a:rPr>
                  <a:t> </a:t>
                </a:r>
              </a:p>
            </p:txBody>
          </p:sp>
        </mc:Fallback>
      </mc:AlternateContent>
    </p:spTree>
    <p:extLst>
      <p:ext uri="{BB962C8B-B14F-4D97-AF65-F5344CB8AC3E}">
        <p14:creationId xmlns:p14="http://schemas.microsoft.com/office/powerpoint/2010/main" val="2567990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Método de valuación basado en la empresa</a:t>
                </a:r>
              </a:p>
              <a:p>
                <a:r>
                  <a:rPr lang="es-AR" dirty="0"/>
                  <a:t>No siempre es fácil pronosticar los dividendos para utilizar el método que recién hemos visto. Especialmente cuando no se trata de empresas maduras con una historia de dividendos sostenidamente crecientes</a:t>
                </a:r>
              </a:p>
              <a:p>
                <a:r>
                  <a:rPr lang="es-AR" dirty="0"/>
                  <a:t>No obstante, los dividendos dependen de las ganancias, así que un pronóstico confiable de dividendos debe basarse en pronósticos sólidos sobre ventas, costos y requerimientos de capital de la compañía. Esto ha llevado a un enfoque alterno, el </a:t>
                </a:r>
                <a:r>
                  <a:rPr lang="es-AR" b="1" dirty="0"/>
                  <a:t>Modelo de valuación corporativa</a:t>
                </a:r>
                <a:r>
                  <a:rPr lang="es-AR" dirty="0"/>
                  <a:t>. </a:t>
                </a:r>
              </a:p>
              <a:p>
                <a:r>
                  <a:rPr lang="es-AR" dirty="0"/>
                  <a:t>Este modelo se basa en los flujos futuros de efectivo disponibles (FCF) como los que hemos analizado</a:t>
                </a:r>
              </a:p>
              <a:p>
                <a:r>
                  <a:rPr lang="es-AR" dirty="0"/>
                  <a:t>FCF = [ EBIT(1-T) + D&amp;A] – [Erogaciones de Capital + ∆ NOWC]</a:t>
                </a:r>
              </a:p>
              <a:p>
                <a:r>
                  <a:rPr lang="es-AR" dirty="0"/>
                  <a:t>∆ NOWC = </a:t>
                </a:r>
                <a:r>
                  <a:rPr lang="en-CA" dirty="0"/>
                  <a:t>{</a:t>
                </a:r>
                <a:r>
                  <a:rPr lang="es-AR" dirty="0"/>
                  <a:t>[AC – EE] – [PC – OP]}</a:t>
                </a:r>
                <a14:m>
                  <m:oMath xmlns:m="http://schemas.openxmlformats.org/officeDocument/2006/math">
                    <m:sSub>
                      <m:sSubPr>
                        <m:ctrlPr>
                          <a:rPr lang="es-AR" i="1" smtClean="0">
                            <a:latin typeface="Cambria Math" panose="02040503050406030204" pitchFamily="18" charset="0"/>
                          </a:rPr>
                        </m:ctrlPr>
                      </m:sSubPr>
                      <m:e>
                        <m:r>
                          <a:rPr lang="en-CA" b="0" i="1" smtClean="0">
                            <a:latin typeface="Cambria Math" panose="02040503050406030204" pitchFamily="18" charset="0"/>
                          </a:rPr>
                          <m:t> </m:t>
                        </m:r>
                      </m:e>
                      <m:sub>
                        <m:r>
                          <a:rPr lang="en-CA" b="0" i="1" smtClean="0">
                            <a:latin typeface="Cambria Math" panose="02040503050406030204" pitchFamily="18" charset="0"/>
                          </a:rPr>
                          <m:t>𝑡</m:t>
                        </m:r>
                      </m:sub>
                    </m:sSub>
                  </m:oMath>
                </a14:m>
                <a:r>
                  <a:rPr lang="es-AR" dirty="0"/>
                  <a:t> - </a:t>
                </a:r>
                <a:r>
                  <a:rPr lang="en-CA" dirty="0"/>
                  <a:t>{</a:t>
                </a:r>
                <a:r>
                  <a:rPr lang="es-AR" dirty="0"/>
                  <a:t>[AC – EE] – [PC – OP]} </a:t>
                </a:r>
                <a14:m>
                  <m:oMath xmlns:m="http://schemas.openxmlformats.org/officeDocument/2006/math">
                    <m:sSub>
                      <m:sSubPr>
                        <m:ctrlPr>
                          <a:rPr lang="es-AR" i="1">
                            <a:latin typeface="Cambria Math" panose="02040503050406030204" pitchFamily="18" charset="0"/>
                          </a:rPr>
                        </m:ctrlPr>
                      </m:sSubPr>
                      <m:e>
                        <m:r>
                          <a:rPr lang="en-CA" i="1">
                            <a:latin typeface="Cambria Math" panose="02040503050406030204" pitchFamily="18" charset="0"/>
                          </a:rPr>
                          <m:t> </m:t>
                        </m:r>
                      </m:e>
                      <m:sub>
                        <m:r>
                          <a:rPr lang="en-CA" i="1">
                            <a:latin typeface="Cambria Math" panose="02040503050406030204" pitchFamily="18" charset="0"/>
                          </a:rPr>
                          <m:t>𝑡</m:t>
                        </m:r>
                        <m:r>
                          <a:rPr lang="en-CA" b="0" i="1" smtClean="0">
                            <a:latin typeface="Cambria Math" panose="02040503050406030204" pitchFamily="18" charset="0"/>
                          </a:rPr>
                          <m:t>−1</m:t>
                        </m:r>
                      </m:sub>
                    </m:sSub>
                  </m:oMath>
                </a14:m>
                <a:endParaRPr lang="es-AR" dirty="0"/>
              </a:p>
              <a:p>
                <a:r>
                  <a:rPr lang="es-AR" dirty="0"/>
                  <a:t>Erogaciones de Capital = ∆ ACTIVO FIJO + D&amp;A </a:t>
                </a:r>
              </a:p>
              <a:p>
                <a:endParaRPr lang="es-AR"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221" r="-1101"/>
                </a:stretch>
              </a:blipFill>
            </p:spPr>
            <p:txBody>
              <a:bodyPr/>
              <a:lstStyle/>
              <a:p>
                <a:r>
                  <a:rPr lang="es-ES">
                    <a:noFill/>
                  </a:rPr>
                  <a:t> </a:t>
                </a:r>
              </a:p>
            </p:txBody>
          </p:sp>
        </mc:Fallback>
      </mc:AlternateContent>
    </p:spTree>
    <p:extLst>
      <p:ext uri="{BB962C8B-B14F-4D97-AF65-F5344CB8AC3E}">
        <p14:creationId xmlns:p14="http://schemas.microsoft.com/office/powerpoint/2010/main" val="3126374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Método de valuación basado en la empresa</a:t>
            </a:r>
          </a:p>
          <a:p>
            <a:r>
              <a:rPr lang="es-AR" dirty="0">
                <a:solidFill>
                  <a:srgbClr val="FF0000"/>
                </a:solidFill>
              </a:rPr>
              <a:t>Recordemos un poco cada concepto</a:t>
            </a:r>
            <a:r>
              <a:rPr lang="es-AR" dirty="0"/>
              <a:t>, si tomamos el ejemplo de Home </a:t>
            </a:r>
            <a:r>
              <a:rPr lang="es-AR" dirty="0" err="1"/>
              <a:t>Depot</a:t>
            </a:r>
            <a:r>
              <a:rPr lang="es-AR" dirty="0"/>
              <a:t>, el primer término es el efectivo que genera a partir de las ventas en sus tiendas y el segundo es lo que debe tomar de efectivo para construir nuevas tiendas.</a:t>
            </a:r>
          </a:p>
          <a:p>
            <a:r>
              <a:rPr lang="es-AR" dirty="0"/>
              <a:t>El Flujo de efectivo de HD será positivo para sus inversionistas si y solo si el dinero de sus tiendas existentes excede al requerido para construir y equipar sus nuevas tiendas</a:t>
            </a:r>
          </a:p>
          <a:p>
            <a:endParaRPr lang="es-AR" dirty="0"/>
          </a:p>
        </p:txBody>
      </p:sp>
    </p:spTree>
    <p:extLst>
      <p:ext uri="{BB962C8B-B14F-4D97-AF65-F5344CB8AC3E}">
        <p14:creationId xmlns:p14="http://schemas.microsoft.com/office/powerpoint/2010/main" val="1930120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El Modelo de Valuación Corporativa</a:t>
                </a:r>
              </a:p>
              <a:p>
                <a:r>
                  <a:rPr lang="es-AR" dirty="0"/>
                  <a:t>Como hemos visto, el valor de una  empresa está relacionado con su capacidad de generar flujos de efectivo, ahora y en el futuro.</a:t>
                </a:r>
              </a:p>
              <a:p>
                <a:r>
                  <a:rPr lang="es-AR" dirty="0"/>
                  <a:t>Entonces el Valor de Mercado de las Operaciones de una compañía, es</a:t>
                </a:r>
              </a:p>
              <a:p>
                <a:endParaRPr lang="es-AR" dirty="0"/>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𝑉</m:t>
                        </m:r>
                      </m:e>
                      <m:sub>
                        <m:r>
                          <a:rPr lang="es-AR" b="0" i="1" smtClean="0">
                            <a:latin typeface="Cambria Math" panose="02040503050406030204" pitchFamily="18" charset="0"/>
                          </a:rPr>
                          <m:t>𝑜𝑝𝑒𝑟𝑎𝑐𝑖𝑜𝑛𝑒𝑠</m:t>
                        </m:r>
                        <m:r>
                          <a:rPr lang="es-AR" b="0" i="1" smtClean="0">
                            <a:latin typeface="Cambria Math" panose="02040503050406030204" pitchFamily="18" charset="0"/>
                          </a:rPr>
                          <m:t> </m:t>
                        </m:r>
                        <m:r>
                          <a:rPr lang="es-AR" b="0" i="1" smtClean="0">
                            <a:latin typeface="Cambria Math" panose="02040503050406030204" pitchFamily="18" charset="0"/>
                          </a:rPr>
                          <m:t>𝑐𝑖𝑎</m:t>
                        </m:r>
                      </m:sub>
                    </m:sSub>
                  </m:oMath>
                </a14:m>
                <a:r>
                  <a:rPr lang="es-AR" dirty="0"/>
                  <a:t>= VA de los FCF futuros esperados</a:t>
                </a:r>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𝑉</m:t>
                        </m:r>
                      </m:e>
                      <m:sub>
                        <m:r>
                          <a:rPr lang="es-AR" b="0" i="1" smtClean="0">
                            <a:latin typeface="Cambria Math" panose="02040503050406030204" pitchFamily="18" charset="0"/>
                          </a:rPr>
                          <m:t>𝑜𝑝𝑒𝑟𝑎𝑐𝑖𝑜𝑛𝑒𝑠</m:t>
                        </m:r>
                        <m:r>
                          <a:rPr lang="es-AR" b="0" i="1" smtClean="0">
                            <a:latin typeface="Cambria Math" panose="02040503050406030204" pitchFamily="18" charset="0"/>
                          </a:rPr>
                          <m:t> </m:t>
                        </m:r>
                        <m:r>
                          <a:rPr lang="es-AR" b="0" i="1" smtClean="0">
                            <a:latin typeface="Cambria Math" panose="02040503050406030204" pitchFamily="18" charset="0"/>
                          </a:rPr>
                          <m:t>𝑐𝑖𝑎</m:t>
                        </m:r>
                      </m:sub>
                    </m:sSub>
                  </m:oMath>
                </a14:m>
                <a:r>
                  <a:rPr lang="es-AR" dirty="0"/>
                  <a:t>= </a:t>
                </a:r>
                <a14:m>
                  <m:oMath xmlns:m="http://schemas.openxmlformats.org/officeDocument/2006/math">
                    <m:f>
                      <m:fPr>
                        <m:ctrlPr>
                          <a:rPr lang="es-AR" i="1" smtClean="0">
                            <a:latin typeface="Cambria Math" panose="02040503050406030204" pitchFamily="18" charset="0"/>
                          </a:rPr>
                        </m:ctrlPr>
                      </m:fPr>
                      <m:num>
                        <m:sSub>
                          <m:sSubPr>
                            <m:ctrlPr>
                              <a:rPr lang="es-AR" i="1" smtClean="0">
                                <a:latin typeface="Cambria Math" panose="02040503050406030204" pitchFamily="18" charset="0"/>
                              </a:rPr>
                            </m:ctrlPr>
                          </m:sSubPr>
                          <m:e>
                            <m:r>
                              <a:rPr lang="es-AR" b="0" i="1" smtClean="0">
                                <a:latin typeface="Cambria Math" panose="02040503050406030204" pitchFamily="18" charset="0"/>
                              </a:rPr>
                              <m:t>𝐹𝐶𝐹</m:t>
                            </m:r>
                          </m:e>
                          <m:sub>
                            <m:r>
                              <a:rPr lang="es-AR" b="0" i="1" smtClean="0">
                                <a:latin typeface="Cambria Math" panose="02040503050406030204" pitchFamily="18" charset="0"/>
                              </a:rPr>
                              <m:t>1</m:t>
                            </m:r>
                          </m:sub>
                        </m:sSub>
                      </m:num>
                      <m:den>
                        <m:sSup>
                          <m:sSupPr>
                            <m:ctrlPr>
                              <a:rPr lang="es-AR" i="1" smtClean="0">
                                <a:latin typeface="Cambria Math" panose="02040503050406030204" pitchFamily="18" charset="0"/>
                              </a:rPr>
                            </m:ctrlPr>
                          </m:sSupPr>
                          <m:e>
                            <m:r>
                              <a:rPr lang="es-AR" b="0" i="1" smtClean="0">
                                <a:latin typeface="Cambria Math" panose="02040503050406030204" pitchFamily="18" charset="0"/>
                              </a:rPr>
                              <m:t>(1+</m:t>
                            </m:r>
                            <m:r>
                              <a:rPr lang="es-AR" b="0" i="1" smtClean="0">
                                <a:latin typeface="Cambria Math" panose="02040503050406030204" pitchFamily="18" charset="0"/>
                              </a:rPr>
                              <m:t>𝑊𝐴𝐶𝐶</m:t>
                            </m:r>
                            <m:r>
                              <a:rPr lang="es-AR" b="0" i="1" smtClean="0">
                                <a:latin typeface="Cambria Math" panose="02040503050406030204" pitchFamily="18" charset="0"/>
                              </a:rPr>
                              <m:t>)</m:t>
                            </m:r>
                          </m:e>
                          <m:sup>
                            <m:r>
                              <a:rPr lang="es-AR" b="0" i="1" smtClean="0">
                                <a:latin typeface="Cambria Math" panose="02040503050406030204" pitchFamily="18" charset="0"/>
                              </a:rPr>
                              <m:t>1</m:t>
                            </m:r>
                          </m:sup>
                        </m:sSup>
                      </m:den>
                    </m:f>
                  </m:oMath>
                </a14:m>
                <a:r>
                  <a:rPr lang="es-AR" dirty="0"/>
                  <a:t> +</a:t>
                </a:r>
                <a14:m>
                  <m:oMath xmlns:m="http://schemas.openxmlformats.org/officeDocument/2006/math">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𝐹𝐶𝐹</m:t>
                            </m:r>
                          </m:e>
                          <m:sub>
                            <m:r>
                              <a:rPr lang="es-AR" b="0" i="1" smtClean="0">
                                <a:latin typeface="Cambria Math" panose="02040503050406030204" pitchFamily="18" charset="0"/>
                              </a:rPr>
                              <m:t>2</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r>
                              <a:rPr lang="es-AR" i="1">
                                <a:latin typeface="Cambria Math" panose="02040503050406030204" pitchFamily="18" charset="0"/>
                              </a:rPr>
                              <m:t>𝑊𝐴𝐶𝐶</m:t>
                            </m:r>
                            <m:r>
                              <a:rPr lang="es-AR" i="1">
                                <a:latin typeface="Cambria Math" panose="02040503050406030204" pitchFamily="18" charset="0"/>
                              </a:rPr>
                              <m:t>)</m:t>
                            </m:r>
                          </m:e>
                          <m:sup>
                            <m:r>
                              <a:rPr lang="es-AR" b="0" i="1" smtClean="0">
                                <a:latin typeface="Cambria Math" panose="02040503050406030204" pitchFamily="18" charset="0"/>
                              </a:rPr>
                              <m:t>2</m:t>
                            </m:r>
                          </m:sup>
                        </m:sSup>
                      </m:den>
                    </m:f>
                  </m:oMath>
                </a14:m>
                <a:r>
                  <a:rPr lang="es-AR" dirty="0"/>
                  <a:t>+ …+</a:t>
                </a:r>
                <a14:m>
                  <m:oMath xmlns:m="http://schemas.openxmlformats.org/officeDocument/2006/math">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𝐹𝐶𝐹</m:t>
                            </m:r>
                          </m:e>
                          <m:sub>
                            <m:r>
                              <a:rPr lang="es-AR" i="1">
                                <a:latin typeface="Cambria Math" panose="02040503050406030204" pitchFamily="18" charset="0"/>
                              </a:rPr>
                              <m:t>∞</m:t>
                            </m:r>
                          </m:sub>
                        </m:sSub>
                      </m:num>
                      <m:den>
                        <m:sSup>
                          <m:sSupPr>
                            <m:ctrlPr>
                              <a:rPr lang="es-AR" i="1">
                                <a:latin typeface="Cambria Math" panose="02040503050406030204" pitchFamily="18" charset="0"/>
                              </a:rPr>
                            </m:ctrlPr>
                          </m:sSupPr>
                          <m:e>
                            <m:r>
                              <a:rPr lang="es-AR" i="1">
                                <a:latin typeface="Cambria Math" panose="02040503050406030204" pitchFamily="18" charset="0"/>
                              </a:rPr>
                              <m:t>(1+</m:t>
                            </m:r>
                            <m:r>
                              <a:rPr lang="es-AR" i="1">
                                <a:latin typeface="Cambria Math" panose="02040503050406030204" pitchFamily="18" charset="0"/>
                              </a:rPr>
                              <m:t>𝑊𝐴𝐶𝐶</m:t>
                            </m:r>
                            <m:r>
                              <a:rPr lang="es-AR" i="1">
                                <a:latin typeface="Cambria Math" panose="02040503050406030204" pitchFamily="18" charset="0"/>
                              </a:rPr>
                              <m:t>)</m:t>
                            </m:r>
                          </m:e>
                          <m:sup>
                            <m:r>
                              <a:rPr lang="es-AR" i="1" smtClean="0">
                                <a:latin typeface="Cambria Math" panose="02040503050406030204" pitchFamily="18" charset="0"/>
                              </a:rPr>
                              <m:t>∞</m:t>
                            </m:r>
                          </m:sup>
                        </m:sSup>
                      </m:den>
                    </m:f>
                  </m:oMath>
                </a14:m>
                <a:endParaRPr lang="es-AR" dirty="0"/>
              </a:p>
              <a:p>
                <a:r>
                  <a:rPr lang="es-AR" dirty="0"/>
                  <a:t>Donde el WACC es el costo promedio ponderado del capital para toda la empresa, y debemos tener presente que</a:t>
                </a:r>
              </a:p>
              <a:p>
                <a:pPr marL="914400" lvl="1" indent="-457200">
                  <a:buFont typeface="+mj-lt"/>
                  <a:buAutoNum type="arabicPeriod"/>
                </a:pPr>
                <a:r>
                  <a:rPr lang="es-AR" dirty="0"/>
                  <a:t>La empresa se financia con deuda, acciones preferentes y acciones comunes</a:t>
                </a:r>
              </a:p>
              <a:p>
                <a:pPr marL="914400" lvl="1" indent="-457200">
                  <a:buFont typeface="+mj-lt"/>
                  <a:buAutoNum type="arabicPeriod"/>
                </a:pPr>
                <a:r>
                  <a:rPr lang="es-AR" dirty="0"/>
                  <a:t>El FCF es el efectivo generado antes de que se haga pago alguno a inversionistas y por ello debe usarse para los tres tipos mencionados en el punto anterior, cada uno de los cuales con una tasa requerida de rendimiento diferente</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3221" r="-1449" b="-1681"/>
                </a:stretch>
              </a:blipFill>
            </p:spPr>
            <p:txBody>
              <a:bodyPr/>
              <a:lstStyle/>
              <a:p>
                <a:r>
                  <a:rPr lang="es-ES">
                    <a:noFill/>
                  </a:rPr>
                  <a:t> </a:t>
                </a:r>
              </a:p>
            </p:txBody>
          </p:sp>
        </mc:Fallback>
      </mc:AlternateContent>
    </p:spTree>
    <p:extLst>
      <p:ext uri="{BB962C8B-B14F-4D97-AF65-F5344CB8AC3E}">
        <p14:creationId xmlns:p14="http://schemas.microsoft.com/office/powerpoint/2010/main" val="3732416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sz="2200" dirty="0"/>
                  <a:t>Los FCF se pronostican generalmente para un horizonte de 5 a 10 años, a partir del cual se asume tendrán un crecimiento constante con lo cual su valor horizonte en N será</a:t>
                </a:r>
              </a:p>
              <a:p>
                <a:r>
                  <a:rPr lang="es-AR" sz="2200" dirty="0"/>
                  <a:t>Valor Horizonte = </a:t>
                </a:r>
                <a14:m>
                  <m:oMath xmlns:m="http://schemas.openxmlformats.org/officeDocument/2006/math">
                    <m:sSub>
                      <m:sSubPr>
                        <m:ctrlPr>
                          <a:rPr lang="es-AR" sz="2200" i="1" smtClean="0">
                            <a:latin typeface="Cambria Math" panose="02040503050406030204" pitchFamily="18" charset="0"/>
                          </a:rPr>
                        </m:ctrlPr>
                      </m:sSubPr>
                      <m:e>
                        <m:r>
                          <a:rPr lang="es-AR" sz="2200" b="0" i="1" smtClean="0">
                            <a:latin typeface="Cambria Math" panose="02040503050406030204" pitchFamily="18" charset="0"/>
                          </a:rPr>
                          <m:t>𝑉</m:t>
                        </m:r>
                      </m:e>
                      <m:sub>
                        <m:r>
                          <a:rPr lang="es-AR" sz="2200" b="0" i="1" smtClean="0">
                            <a:latin typeface="Cambria Math" panose="02040503050406030204" pitchFamily="18" charset="0"/>
                          </a:rPr>
                          <m:t>𝑂𝑝𝑒𝑟𝑎𝑐𝑖𝑜𝑛𝑒𝑠</m:t>
                        </m:r>
                        <m:r>
                          <a:rPr lang="es-AR" sz="2200" b="0" i="1" smtClean="0">
                            <a:latin typeface="Cambria Math" panose="02040503050406030204" pitchFamily="18" charset="0"/>
                          </a:rPr>
                          <m:t> </m:t>
                        </m:r>
                        <m:r>
                          <a:rPr lang="es-AR" sz="2200" b="0" i="1" smtClean="0">
                            <a:latin typeface="Cambria Math" panose="02040503050406030204" pitchFamily="18" charset="0"/>
                          </a:rPr>
                          <m:t>𝑑𝑒</m:t>
                        </m:r>
                        <m:r>
                          <a:rPr lang="es-AR" sz="2200" b="0" i="1" smtClean="0">
                            <a:latin typeface="Cambria Math" panose="02040503050406030204" pitchFamily="18" charset="0"/>
                          </a:rPr>
                          <m:t> </m:t>
                        </m:r>
                        <m:r>
                          <a:rPr lang="es-AR" sz="2200" b="0" i="1" smtClean="0">
                            <a:latin typeface="Cambria Math" panose="02040503050406030204" pitchFamily="18" charset="0"/>
                          </a:rPr>
                          <m:t>𝑙𝑎</m:t>
                        </m:r>
                        <m:r>
                          <a:rPr lang="es-AR" sz="2200" b="0" i="1" smtClean="0">
                            <a:latin typeface="Cambria Math" panose="02040503050406030204" pitchFamily="18" charset="0"/>
                          </a:rPr>
                          <m:t> </m:t>
                        </m:r>
                        <m:r>
                          <a:rPr lang="es-AR" sz="2200" b="0" i="1" smtClean="0">
                            <a:latin typeface="Cambria Math" panose="02040503050406030204" pitchFamily="18" charset="0"/>
                          </a:rPr>
                          <m:t>𝑐𝑖𝑎</m:t>
                        </m:r>
                        <m:r>
                          <a:rPr lang="es-AR" sz="2200" b="0" i="1" smtClean="0">
                            <a:latin typeface="Cambria Math" panose="02040503050406030204" pitchFamily="18" charset="0"/>
                          </a:rPr>
                          <m:t> </m:t>
                        </m:r>
                        <m:r>
                          <a:rPr lang="es-AR" sz="2200" b="0" i="1" smtClean="0">
                            <a:latin typeface="Cambria Math" panose="02040503050406030204" pitchFamily="18" charset="0"/>
                          </a:rPr>
                          <m:t>𝑒𝑛</m:t>
                        </m:r>
                        <m:r>
                          <a:rPr lang="es-AR" sz="2200" b="0" i="1" smtClean="0">
                            <a:latin typeface="Cambria Math" panose="02040503050406030204" pitchFamily="18" charset="0"/>
                          </a:rPr>
                          <m:t> </m:t>
                        </m:r>
                        <m:r>
                          <a:rPr lang="es-AR" sz="2200" b="0" i="1" smtClean="0">
                            <a:latin typeface="Cambria Math" panose="02040503050406030204" pitchFamily="18" charset="0"/>
                          </a:rPr>
                          <m:t>𝑡</m:t>
                        </m:r>
                        <m:r>
                          <a:rPr lang="es-AR" sz="2200" b="0" i="1" smtClean="0">
                            <a:latin typeface="Cambria Math" panose="02040503050406030204" pitchFamily="18" charset="0"/>
                          </a:rPr>
                          <m:t>=</m:t>
                        </m:r>
                        <m:r>
                          <a:rPr lang="es-AR" sz="2200" b="0" i="1" smtClean="0">
                            <a:latin typeface="Cambria Math" panose="02040503050406030204" pitchFamily="18" charset="0"/>
                          </a:rPr>
                          <m:t>𝑁</m:t>
                        </m:r>
                      </m:sub>
                    </m:sSub>
                    <m:r>
                      <a:rPr lang="es-AR" sz="2200" b="0" i="1" smtClean="0">
                        <a:latin typeface="Cambria Math" panose="02040503050406030204" pitchFamily="18" charset="0"/>
                      </a:rPr>
                      <m:t>=</m:t>
                    </m:r>
                    <m:f>
                      <m:fPr>
                        <m:type m:val="skw"/>
                        <m:ctrlPr>
                          <a:rPr lang="es-AR" sz="2200" b="0" i="1" smtClean="0">
                            <a:latin typeface="Cambria Math" panose="02040503050406030204" pitchFamily="18" charset="0"/>
                          </a:rPr>
                        </m:ctrlPr>
                      </m:fPr>
                      <m:num>
                        <m:sSub>
                          <m:sSubPr>
                            <m:ctrlPr>
                              <a:rPr lang="es-AR" sz="2200" i="1">
                                <a:latin typeface="Cambria Math" panose="02040503050406030204" pitchFamily="18" charset="0"/>
                              </a:rPr>
                            </m:ctrlPr>
                          </m:sSubPr>
                          <m:e>
                            <m:r>
                              <a:rPr lang="es-AR" sz="2200" b="0" i="1" smtClean="0">
                                <a:latin typeface="Cambria Math" panose="02040503050406030204" pitchFamily="18" charset="0"/>
                              </a:rPr>
                              <m:t>𝐹𝐶𝐹</m:t>
                            </m:r>
                          </m:e>
                          <m:sub>
                            <m:r>
                              <a:rPr lang="es-AR" sz="2200" b="0" i="1" smtClean="0">
                                <a:latin typeface="Cambria Math" panose="02040503050406030204" pitchFamily="18" charset="0"/>
                              </a:rPr>
                              <m:t>𝑁</m:t>
                            </m:r>
                            <m:r>
                              <a:rPr lang="es-AR" sz="2200" b="0" i="1" smtClean="0">
                                <a:latin typeface="Cambria Math" panose="02040503050406030204" pitchFamily="18" charset="0"/>
                              </a:rPr>
                              <m:t>+1</m:t>
                            </m:r>
                          </m:sub>
                        </m:sSub>
                      </m:num>
                      <m:den>
                        <m:r>
                          <a:rPr lang="es-AR" sz="2200" b="0" i="1" smtClean="0">
                            <a:latin typeface="Cambria Math" panose="02040503050406030204" pitchFamily="18" charset="0"/>
                          </a:rPr>
                          <m:t>(</m:t>
                        </m:r>
                        <m:r>
                          <a:rPr lang="es-AR" sz="2200" b="0" i="1" smtClean="0">
                            <a:latin typeface="Cambria Math" panose="02040503050406030204" pitchFamily="18" charset="0"/>
                          </a:rPr>
                          <m:t>𝑊𝐴𝐶𝐶</m:t>
                        </m:r>
                        <m:r>
                          <a:rPr lang="es-AR" sz="2200" b="0" i="1" smtClean="0">
                            <a:latin typeface="Cambria Math" panose="02040503050406030204" pitchFamily="18" charset="0"/>
                          </a:rPr>
                          <m:t>−</m:t>
                        </m:r>
                        <m:sSub>
                          <m:sSubPr>
                            <m:ctrlPr>
                              <a:rPr lang="es-AR" sz="2200" b="0" i="1" smtClean="0">
                                <a:latin typeface="Cambria Math" panose="02040503050406030204" pitchFamily="18" charset="0"/>
                              </a:rPr>
                            </m:ctrlPr>
                          </m:sSubPr>
                          <m:e>
                            <m:r>
                              <a:rPr lang="es-AR" sz="2200" b="0" i="1" smtClean="0">
                                <a:latin typeface="Cambria Math" panose="02040503050406030204" pitchFamily="18" charset="0"/>
                              </a:rPr>
                              <m:t>𝑔</m:t>
                            </m:r>
                          </m:e>
                          <m:sub>
                            <m:r>
                              <a:rPr lang="es-AR" sz="2200" b="0" i="1" smtClean="0">
                                <a:latin typeface="Cambria Math" panose="02040503050406030204" pitchFamily="18" charset="0"/>
                              </a:rPr>
                              <m:t>𝐹𝐶𝐹</m:t>
                            </m:r>
                          </m:sub>
                        </m:sSub>
                        <m:r>
                          <a:rPr lang="es-AR" sz="2200" b="0" i="1" smtClean="0">
                            <a:latin typeface="Cambria Math" panose="02040503050406030204" pitchFamily="18" charset="0"/>
                          </a:rPr>
                          <m:t>)</m:t>
                        </m:r>
                      </m:den>
                    </m:f>
                  </m:oMath>
                </a14:m>
                <a:endParaRPr lang="es-AR" sz="2200" dirty="0"/>
              </a:p>
              <a:p>
                <a:r>
                  <a:rPr lang="es-AR" sz="2200" dirty="0"/>
                  <a:t>Además de sus Activos de Operación, algunas compañías también pueden tener importantes Activos No Operativos que no están reflejados en los FCF estimados y forman parte del valor corporativo total de la compañía. Entre ellos, grandes carteras de Efectivo Excedente, carteras inmobiliarias ajenas a sus operaciones centrales o una participación minoritaria en otra empresa. Con lo que el valor de mercado de la compañía puede estimarse como sigue:</a:t>
                </a:r>
              </a:p>
              <a:p>
                <a:r>
                  <a:rPr lang="es-AR" sz="1800" dirty="0">
                    <a:solidFill>
                      <a:srgbClr val="FF0000"/>
                    </a:solidFill>
                  </a:rPr>
                  <a:t>Valor Mercado Cía no es el valor de las acciones, es el valor de la Compañía</a:t>
                </a:r>
              </a:p>
              <a:p>
                <a:r>
                  <a:rPr lang="es-AR" sz="1800" dirty="0"/>
                  <a:t>Valor Mercado Cía = Valor Mercado Operaciones Cía + Valor Mercado de los Activos no Operativos Cía</a:t>
                </a:r>
              </a:p>
              <a:p>
                <a:r>
                  <a:rPr lang="es-AR" sz="1800" dirty="0"/>
                  <a:t>Valor Mercado Cía = </a:t>
                </a:r>
                <a14:m>
                  <m:oMath xmlns:m="http://schemas.openxmlformats.org/officeDocument/2006/math">
                    <m:f>
                      <m:fPr>
                        <m:ctrlPr>
                          <a:rPr lang="es-AR" sz="1800" i="1" smtClean="0">
                            <a:latin typeface="Cambria Math" panose="02040503050406030204" pitchFamily="18" charset="0"/>
                          </a:rPr>
                        </m:ctrlPr>
                      </m:fPr>
                      <m:num>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𝐹𝐶𝐹</m:t>
                            </m:r>
                          </m:e>
                          <m:sub>
                            <m:r>
                              <a:rPr lang="es-AR" sz="1800" b="0" i="1" smtClean="0">
                                <a:latin typeface="Cambria Math" panose="02040503050406030204" pitchFamily="18" charset="0"/>
                              </a:rPr>
                              <m:t>1</m:t>
                            </m:r>
                          </m:sub>
                        </m:sSub>
                      </m:num>
                      <m:den>
                        <m:sSup>
                          <m:sSupPr>
                            <m:ctrlPr>
                              <a:rPr lang="es-AR" sz="1800" i="1" smtClean="0">
                                <a:latin typeface="Cambria Math" panose="02040503050406030204" pitchFamily="18" charset="0"/>
                              </a:rPr>
                            </m:ctrlPr>
                          </m:sSupPr>
                          <m:e>
                            <m:r>
                              <a:rPr lang="es-AR" sz="1800" b="0" i="1" smtClean="0">
                                <a:latin typeface="Cambria Math" panose="02040503050406030204" pitchFamily="18" charset="0"/>
                              </a:rPr>
                              <m:t>(1+</m:t>
                            </m:r>
                            <m:r>
                              <a:rPr lang="es-AR" sz="1800" b="0" i="1" smtClean="0">
                                <a:latin typeface="Cambria Math" panose="02040503050406030204" pitchFamily="18" charset="0"/>
                              </a:rPr>
                              <m:t>𝑊𝐴𝐶𝐶</m:t>
                            </m:r>
                            <m:r>
                              <a:rPr lang="es-AR" sz="1800" b="0" i="1" smtClean="0">
                                <a:latin typeface="Cambria Math" panose="02040503050406030204" pitchFamily="18" charset="0"/>
                              </a:rPr>
                              <m:t>)</m:t>
                            </m:r>
                          </m:e>
                          <m:sup>
                            <m:r>
                              <a:rPr lang="es-AR" sz="1800" b="0" i="1" smtClean="0">
                                <a:latin typeface="Cambria Math" panose="02040503050406030204" pitchFamily="18" charset="0"/>
                              </a:rPr>
                              <m:t>1</m:t>
                            </m:r>
                          </m:sup>
                        </m:sSup>
                      </m:den>
                    </m:f>
                  </m:oMath>
                </a14:m>
                <a:r>
                  <a:rPr lang="es-AR" sz="1800" dirty="0"/>
                  <a:t> +</a:t>
                </a:r>
                <a14:m>
                  <m:oMath xmlns:m="http://schemas.openxmlformats.org/officeDocument/2006/math">
                    <m:f>
                      <m:fPr>
                        <m:ctrlPr>
                          <a:rPr lang="es-AR" sz="1800" i="1">
                            <a:latin typeface="Cambria Math" panose="02040503050406030204" pitchFamily="18" charset="0"/>
                          </a:rPr>
                        </m:ctrlPr>
                      </m:fPr>
                      <m:num>
                        <m:sSub>
                          <m:sSubPr>
                            <m:ctrlPr>
                              <a:rPr lang="es-AR" sz="1800" i="1">
                                <a:latin typeface="Cambria Math" panose="02040503050406030204" pitchFamily="18" charset="0"/>
                              </a:rPr>
                            </m:ctrlPr>
                          </m:sSubPr>
                          <m:e>
                            <m:r>
                              <a:rPr lang="es-AR" sz="1800" i="1">
                                <a:latin typeface="Cambria Math" panose="02040503050406030204" pitchFamily="18" charset="0"/>
                              </a:rPr>
                              <m:t>𝐹𝐶𝐹</m:t>
                            </m:r>
                          </m:e>
                          <m:sub>
                            <m:r>
                              <a:rPr lang="es-AR" sz="1800" b="0" i="1" smtClean="0">
                                <a:latin typeface="Cambria Math" panose="02040503050406030204" pitchFamily="18" charset="0"/>
                              </a:rPr>
                              <m:t>2</m:t>
                            </m:r>
                          </m:sub>
                        </m:sSub>
                      </m:num>
                      <m:den>
                        <m:sSup>
                          <m:sSupPr>
                            <m:ctrlPr>
                              <a:rPr lang="es-AR" sz="1800" i="1">
                                <a:latin typeface="Cambria Math" panose="02040503050406030204" pitchFamily="18" charset="0"/>
                              </a:rPr>
                            </m:ctrlPr>
                          </m:sSupPr>
                          <m:e>
                            <m:r>
                              <a:rPr lang="es-AR" sz="1800" i="1">
                                <a:latin typeface="Cambria Math" panose="02040503050406030204" pitchFamily="18" charset="0"/>
                              </a:rPr>
                              <m:t>(1+</m:t>
                            </m:r>
                            <m:r>
                              <a:rPr lang="es-AR" sz="1800" i="1">
                                <a:latin typeface="Cambria Math" panose="02040503050406030204" pitchFamily="18" charset="0"/>
                              </a:rPr>
                              <m:t>𝑊𝐴𝐶𝐶</m:t>
                            </m:r>
                            <m:r>
                              <a:rPr lang="es-AR" sz="1800" i="1">
                                <a:latin typeface="Cambria Math" panose="02040503050406030204" pitchFamily="18" charset="0"/>
                              </a:rPr>
                              <m:t>)</m:t>
                            </m:r>
                          </m:e>
                          <m:sup>
                            <m:r>
                              <a:rPr lang="es-AR" sz="1800" b="0" i="1" smtClean="0">
                                <a:latin typeface="Cambria Math" panose="02040503050406030204" pitchFamily="18" charset="0"/>
                              </a:rPr>
                              <m:t>2</m:t>
                            </m:r>
                          </m:sup>
                        </m:sSup>
                      </m:den>
                    </m:f>
                  </m:oMath>
                </a14:m>
                <a:r>
                  <a:rPr lang="es-AR" sz="1800" dirty="0"/>
                  <a:t>+ …+</a:t>
                </a:r>
                <a14:m>
                  <m:oMath xmlns:m="http://schemas.openxmlformats.org/officeDocument/2006/math">
                    <m:f>
                      <m:fPr>
                        <m:ctrlPr>
                          <a:rPr lang="es-AR" sz="1800" i="1">
                            <a:latin typeface="Cambria Math" panose="02040503050406030204" pitchFamily="18" charset="0"/>
                          </a:rPr>
                        </m:ctrlPr>
                      </m:fPr>
                      <m:num>
                        <m:sSub>
                          <m:sSubPr>
                            <m:ctrlPr>
                              <a:rPr lang="es-AR" sz="1800" i="1">
                                <a:latin typeface="Cambria Math" panose="02040503050406030204" pitchFamily="18" charset="0"/>
                              </a:rPr>
                            </m:ctrlPr>
                          </m:sSubPr>
                          <m:e>
                            <m:r>
                              <a:rPr lang="es-AR" sz="1800" i="1">
                                <a:latin typeface="Cambria Math" panose="02040503050406030204" pitchFamily="18" charset="0"/>
                              </a:rPr>
                              <m:t>𝐹𝐶𝐹</m:t>
                            </m:r>
                          </m:e>
                          <m:sub>
                            <m:r>
                              <a:rPr lang="es-AR" sz="1800" i="1">
                                <a:latin typeface="Cambria Math" panose="02040503050406030204" pitchFamily="18" charset="0"/>
                              </a:rPr>
                              <m:t>∞</m:t>
                            </m:r>
                          </m:sub>
                        </m:sSub>
                      </m:num>
                      <m:den>
                        <m:sSup>
                          <m:sSupPr>
                            <m:ctrlPr>
                              <a:rPr lang="es-AR" sz="1800" i="1">
                                <a:latin typeface="Cambria Math" panose="02040503050406030204" pitchFamily="18" charset="0"/>
                              </a:rPr>
                            </m:ctrlPr>
                          </m:sSupPr>
                          <m:e>
                            <m:r>
                              <a:rPr lang="es-AR" sz="1800" i="1">
                                <a:latin typeface="Cambria Math" panose="02040503050406030204" pitchFamily="18" charset="0"/>
                              </a:rPr>
                              <m:t>(1+</m:t>
                            </m:r>
                            <m:r>
                              <a:rPr lang="es-AR" sz="1800" i="1">
                                <a:latin typeface="Cambria Math" panose="02040503050406030204" pitchFamily="18" charset="0"/>
                              </a:rPr>
                              <m:t>𝑊𝐴𝐶𝐶</m:t>
                            </m:r>
                            <m:r>
                              <a:rPr lang="es-AR" sz="1800" i="1">
                                <a:latin typeface="Cambria Math" panose="02040503050406030204" pitchFamily="18" charset="0"/>
                              </a:rPr>
                              <m:t>)</m:t>
                            </m:r>
                          </m:e>
                          <m:sup>
                            <m:r>
                              <a:rPr lang="es-AR" sz="1800" i="1" smtClean="0">
                                <a:latin typeface="Cambria Math" panose="02040503050406030204" pitchFamily="18" charset="0"/>
                              </a:rPr>
                              <m:t>∞</m:t>
                            </m:r>
                          </m:sup>
                        </m:sSup>
                      </m:den>
                    </m:f>
                  </m:oMath>
                </a14:m>
                <a:r>
                  <a:rPr lang="es-AR" sz="1800" dirty="0"/>
                  <a:t> + Valor Mercado de los Activos no Operativos Cía</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96" t="-2241"/>
                </a:stretch>
              </a:blipFill>
            </p:spPr>
            <p:txBody>
              <a:bodyPr/>
              <a:lstStyle/>
              <a:p>
                <a:r>
                  <a:rPr lang="es-ES">
                    <a:noFill/>
                  </a:rPr>
                  <a:t> </a:t>
                </a:r>
              </a:p>
            </p:txBody>
          </p:sp>
        </mc:Fallback>
      </mc:AlternateContent>
    </p:spTree>
    <p:extLst>
      <p:ext uri="{BB962C8B-B14F-4D97-AF65-F5344CB8AC3E}">
        <p14:creationId xmlns:p14="http://schemas.microsoft.com/office/powerpoint/2010/main" val="2551427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r>
              <a:rPr lang="es-AR" dirty="0"/>
              <a:t>Por ejemplo, para valuar Apple, a nuestra estimación de FCF futuros deberemos adicionar los impresionantes montos de efectivo en exceso de la compañía (250.000 MM en 2017)</a:t>
            </a:r>
          </a:p>
          <a:p>
            <a:r>
              <a:rPr lang="es-AR" dirty="0"/>
              <a:t>El Modelo de Valuación Corporativa es aplicado tanto internamente como por los analistas externos.</a:t>
            </a:r>
          </a:p>
          <a:p>
            <a:r>
              <a:rPr lang="es-AR" dirty="0"/>
              <a:t>Veamos un ejemplo de </a:t>
            </a:r>
            <a:r>
              <a:rPr lang="es-AR" dirty="0" err="1"/>
              <a:t>Allied</a:t>
            </a:r>
            <a:r>
              <a:rPr lang="es-AR" dirty="0"/>
              <a:t> en Excel teniendo en cuenta lo siguiente</a:t>
            </a:r>
          </a:p>
          <a:p>
            <a:pPr lvl="1"/>
            <a:r>
              <a:rPr lang="es-AR" dirty="0"/>
              <a:t>Se estimó el WACC en 10%</a:t>
            </a:r>
          </a:p>
          <a:p>
            <a:pPr lvl="1"/>
            <a:r>
              <a:rPr lang="es-AR" dirty="0"/>
              <a:t>Se estimó individualmente los primeros 5 años, focalizando en las variables clave como EBIT, Erogaciones Requeridas de Capital y cambios esperados en el NOWC</a:t>
            </a:r>
          </a:p>
          <a:p>
            <a:pPr lvl="1"/>
            <a:r>
              <a:rPr lang="es-AR" dirty="0"/>
              <a:t>Se estimó el crecimiento constante a partir del 6to año, el FCF del año 6 y el Valor Horizonte</a:t>
            </a:r>
          </a:p>
          <a:p>
            <a:pPr lvl="1"/>
            <a:r>
              <a:rPr lang="es-AR" dirty="0"/>
              <a:t>Por suma de los dos anteriores obtenemos el Valor de Mercado de las Operaciones de la compañía</a:t>
            </a:r>
          </a:p>
          <a:p>
            <a:pPr lvl="1"/>
            <a:r>
              <a:rPr lang="es-AR" dirty="0"/>
              <a:t>Sumó la estimación del valor de los activos no operativos, que en este caso son irrelevantes y se estiman como $0,-</a:t>
            </a:r>
          </a:p>
        </p:txBody>
      </p:sp>
    </p:spTree>
    <p:extLst>
      <p:ext uri="{BB962C8B-B14F-4D97-AF65-F5344CB8AC3E}">
        <p14:creationId xmlns:p14="http://schemas.microsoft.com/office/powerpoint/2010/main" val="1048635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Veamos un ejemplo de Allied … (</a:t>
            </a:r>
            <a:r>
              <a:rPr lang="es-AR" dirty="0" err="1"/>
              <a:t>cont</a:t>
            </a:r>
            <a:r>
              <a:rPr lang="es-AR" dirty="0"/>
              <a:t>)</a:t>
            </a:r>
          </a:p>
          <a:p>
            <a:pPr lvl="1"/>
            <a:endParaRPr lang="es-AR" dirty="0"/>
          </a:p>
          <a:p>
            <a:pPr lvl="1"/>
            <a:r>
              <a:rPr lang="es-AR" dirty="0"/>
              <a:t>Para determinar el valor de las acciones comunes, se restó el Valor de Mercado de las Acciones Preferentes y de la Deuda</a:t>
            </a:r>
          </a:p>
          <a:p>
            <a:pPr lvl="1"/>
            <a:r>
              <a:rPr lang="es-AR" dirty="0"/>
              <a:t>Al dividir por los 50 millones de Acciones obtuvo un valor cercano al precio de mercado de éstas, concluyendo que las acciones de Allied están en equilibrio (23,38 vs 23,06)</a:t>
            </a:r>
          </a:p>
          <a:p>
            <a:pPr lvl="1"/>
            <a:r>
              <a:rPr lang="es-AR" dirty="0"/>
              <a:t>Podrían existir otros pasivos no operativos que debieran incluirse en la estimación, como deudas vinculadas a Pensiones, o Fondos de Reserva para futuros litigios</a:t>
            </a:r>
          </a:p>
          <a:p>
            <a:pPr lvl="1"/>
            <a:r>
              <a:rPr lang="es-AR" dirty="0"/>
              <a:t>Otro ejemplo son las Opciones de Acciones para los ejecutivos, ya que, si estas son valiosas, los ejecutivos recibirán una porción de las ganancias futuras de la compañía</a:t>
            </a:r>
          </a:p>
          <a:p>
            <a:pPr lvl="1"/>
            <a:r>
              <a:rPr lang="es-AR" dirty="0"/>
              <a:t>Estos dos últimos puntos son lo bastante complicados como para que los dejemos para especialistas en este tipo de valuaciones o cursos más avanzados</a:t>
            </a:r>
          </a:p>
        </p:txBody>
      </p:sp>
    </p:spTree>
    <p:extLst>
      <p:ext uri="{BB962C8B-B14F-4D97-AF65-F5344CB8AC3E}">
        <p14:creationId xmlns:p14="http://schemas.microsoft.com/office/powerpoint/2010/main" val="3293615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Comparación de los modelos</a:t>
            </a:r>
          </a:p>
          <a:p>
            <a:r>
              <a:rPr lang="es-AR" dirty="0"/>
              <a:t>Los analistas suelen utilizar ambos modelos para empresas maduras que pagan dividendos, y utilizan el de Valuación Corporativa cuando valúan Divisiones y Empresas que no pagan dividendos</a:t>
            </a:r>
          </a:p>
          <a:p>
            <a:r>
              <a:rPr lang="es-AR" dirty="0"/>
              <a:t>Lo esperable es que el valor intrínseco en ambos métodos coincida, y de no hacerlo se revisan los supuestos del Modelo Corporativo</a:t>
            </a:r>
          </a:p>
          <a:p>
            <a:r>
              <a:rPr lang="es-AR" dirty="0"/>
              <a:t>El modelo de Valuación Corporativa es más recomendable porque evalúa y muestra muchos más aspectos y hasta puede revelar mucho sobre las Operaciones y Necesidades de Financiamiento, y dar ideas de cómo aumentar el valor de la compañía </a:t>
            </a:r>
          </a:p>
        </p:txBody>
      </p:sp>
    </p:spTree>
    <p:extLst>
      <p:ext uri="{BB962C8B-B14F-4D97-AF65-F5344CB8AC3E}">
        <p14:creationId xmlns:p14="http://schemas.microsoft.com/office/powerpoint/2010/main" val="204024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667250"/>
              </a:xfrm>
            </p:spPr>
            <p:txBody>
              <a:bodyPr>
                <a:normAutofit/>
              </a:bodyPr>
              <a:lstStyle/>
              <a:p>
                <a:pPr marL="0" indent="0">
                  <a:buNone/>
                </a:pPr>
                <a:r>
                  <a:rPr lang="es-AR" sz="2400" dirty="0"/>
                  <a:t>Acciones preferentes</a:t>
                </a:r>
              </a:p>
              <a:p>
                <a:r>
                  <a:rPr lang="es-AR" sz="2400" dirty="0"/>
                  <a:t>Hemos mencionado sin profundizar a las Acciones Preferentes como una forma de reunir Capital</a:t>
                </a:r>
              </a:p>
              <a:p>
                <a:r>
                  <a:rPr lang="es-AR" sz="2400" dirty="0"/>
                  <a:t>Son un híbrido entre los Bonos y las Acciones Comunes</a:t>
                </a:r>
              </a:p>
              <a:p>
                <a:r>
                  <a:rPr lang="es-AR" sz="2400" dirty="0"/>
                  <a:t>Como los Bonos, tienen un Valor Nominal y un Dividendo fijo que debe pagarse antes que los de las Acciones Comunes, sin embargo, su falta de pago no provoca la quiebra de la compañía</a:t>
                </a:r>
              </a:p>
              <a:p>
                <a:r>
                  <a:rPr lang="es-AR" sz="2400" dirty="0"/>
                  <a:t>Da un derecho a recibir pagos fijos y regulares de dividendos, y como tal, si se piensa pagar para siempre, se trataría de una perpetuidad</a:t>
                </a:r>
              </a:p>
              <a:p>
                <a:pPr marL="0" indent="0" algn="ctr">
                  <a:buNone/>
                </a:pP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𝑉</m:t>
                        </m:r>
                      </m:e>
                      <m:sub>
                        <m:r>
                          <a:rPr lang="es-AR" sz="2400" b="0" i="1" smtClean="0">
                            <a:latin typeface="Cambria Math" panose="02040503050406030204" pitchFamily="18" charset="0"/>
                          </a:rPr>
                          <m:t>𝑝</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𝑝</m:t>
                            </m:r>
                          </m:sub>
                        </m:sSub>
                      </m:num>
                      <m:den>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𝑝</m:t>
                            </m:r>
                          </m:sub>
                        </m:sSub>
                      </m:den>
                    </m:f>
                  </m:oMath>
                </a14:m>
                <a:r>
                  <a:rPr lang="es-AR" sz="2400" dirty="0"/>
                  <a:t> y en equilibrio, como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𝑝</m:t>
                            </m:r>
                          </m:sub>
                        </m:sSub>
                      </m:e>
                    </m:acc>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oMath>
                </a14:m>
                <a:r>
                  <a:rPr lang="es-AR" sz="2400" dirty="0"/>
                  <a:t> obtenemos que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e>
                    </m:acc>
                    <m:r>
                      <a:rPr lang="es-AR" sz="2400" i="1">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𝑝</m:t>
                            </m:r>
                          </m:sub>
                        </m:sSub>
                      </m:num>
                      <m:den>
                        <m:sSub>
                          <m:sSubPr>
                            <m:ctrlPr>
                              <a:rPr lang="es-AR" sz="2400" i="1">
                                <a:latin typeface="Cambria Math" panose="02040503050406030204" pitchFamily="18" charset="0"/>
                              </a:rPr>
                            </m:ctrlPr>
                          </m:sSubPr>
                          <m:e>
                            <m:r>
                              <a:rPr lang="es-AR" sz="2400" b="0" i="1" smtClean="0">
                                <a:latin typeface="Cambria Math" panose="02040503050406030204" pitchFamily="18" charset="0"/>
                              </a:rPr>
                              <m:t>𝑉</m:t>
                            </m:r>
                          </m:e>
                          <m:sub>
                            <m:r>
                              <a:rPr lang="es-AR" sz="2400" i="1">
                                <a:latin typeface="Cambria Math" panose="02040503050406030204" pitchFamily="18" charset="0"/>
                              </a:rPr>
                              <m:t>𝑝</m:t>
                            </m:r>
                          </m:sub>
                        </m:sSub>
                      </m:den>
                    </m:f>
                  </m:oMath>
                </a14:m>
                <a:endParaRPr lang="es-AR" sz="24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928" t="-1828" r="-638"/>
                </a:stretch>
              </a:blipFill>
            </p:spPr>
            <p:txBody>
              <a:bodyPr/>
              <a:lstStyle/>
              <a:p>
                <a:r>
                  <a:rPr lang="es-ES">
                    <a:noFill/>
                  </a:rPr>
                  <a:t> </a:t>
                </a:r>
              </a:p>
            </p:txBody>
          </p:sp>
        </mc:Fallback>
      </mc:AlternateContent>
    </p:spTree>
    <p:extLst>
      <p:ext uri="{BB962C8B-B14F-4D97-AF65-F5344CB8AC3E}">
        <p14:creationId xmlns:p14="http://schemas.microsoft.com/office/powerpoint/2010/main" val="3954726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667250"/>
              </a:xfrm>
            </p:spPr>
            <p:txBody>
              <a:bodyPr>
                <a:normAutofit/>
              </a:bodyPr>
              <a:lstStyle/>
              <a:p>
                <a:pPr marL="0" indent="0">
                  <a:buNone/>
                </a:pPr>
                <a:r>
                  <a:rPr lang="es-AR" sz="2400" dirty="0"/>
                  <a:t>Acciones preferentes</a:t>
                </a:r>
              </a:p>
              <a:p>
                <a:endParaRPr lang="es-AR" sz="2400" dirty="0"/>
              </a:p>
              <a:p>
                <a:r>
                  <a:rPr lang="es-AR" sz="2400" dirty="0"/>
                  <a:t>Algunas acciones preferentes se emiten por un plazo determinado, 50 años, por ejemplo, y su valor se obtiene fácilmente con las fórmulas y funciones de Excel de VA, ingresando los demás datos (VF, D, y </a:t>
                </a:r>
                <a14:m>
                  <m:oMath xmlns:m="http://schemas.openxmlformats.org/officeDocument/2006/math">
                    <m:sSub>
                      <m:sSubPr>
                        <m:ctrlPr>
                          <a:rPr lang="es-AR" sz="2400" i="1" smtClean="0">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oMath>
                </a14:m>
                <a:r>
                  <a:rPr lang="es-AR" sz="2400" dirty="0"/>
                  <a:t>)</a:t>
                </a:r>
              </a:p>
              <a:p>
                <a:r>
                  <a:rPr lang="es-AR" sz="2400" dirty="0"/>
                  <a:t>¿Cuál sería el valor de una acción preferente emitida a 50 años que paga un dividendo de $10, tiene un VN de 100 y por el tipo de riesgo tiene una </a:t>
                </a:r>
                <a14:m>
                  <m:oMath xmlns:m="http://schemas.openxmlformats.org/officeDocument/2006/math">
                    <m:sSub>
                      <m:sSubPr>
                        <m:ctrlPr>
                          <a:rPr lang="es-AR" sz="2400" i="1" smtClean="0">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oMath>
                </a14:m>
                <a:r>
                  <a:rPr lang="es-AR" sz="2400" dirty="0"/>
                  <a:t> del 8%? ¿Cuánto si la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oMath>
                </a14:m>
                <a:r>
                  <a:rPr lang="es-AR" sz="2400" dirty="0"/>
                  <a:t> aumentara a 10%?</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928" t="-1828" r="-1217"/>
                </a:stretch>
              </a:blipFill>
            </p:spPr>
            <p:txBody>
              <a:bodyPr/>
              <a:lstStyle/>
              <a:p>
                <a:r>
                  <a:rPr lang="es-ES">
                    <a:noFill/>
                  </a:rPr>
                  <a:t> </a:t>
                </a:r>
              </a:p>
            </p:txBody>
          </p:sp>
        </mc:Fallback>
      </mc:AlternateContent>
    </p:spTree>
    <p:extLst>
      <p:ext uri="{BB962C8B-B14F-4D97-AF65-F5344CB8AC3E}">
        <p14:creationId xmlns:p14="http://schemas.microsoft.com/office/powerpoint/2010/main" val="2815283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690688"/>
                <a:ext cx="10515600" cy="4351338"/>
              </a:xfrm>
            </p:spPr>
            <p:txBody>
              <a:bodyPr>
                <a:normAutofit/>
              </a:bodyPr>
              <a:lstStyle/>
              <a:p>
                <a:pPr marL="0" indent="0">
                  <a:buNone/>
                </a:pPr>
                <a:r>
                  <a:rPr lang="es-AR" sz="2000" dirty="0"/>
                  <a:t>Equilibrio del mercado accionario</a:t>
                </a:r>
              </a:p>
              <a:p>
                <a:r>
                  <a:rPr lang="es-AR" sz="2000" dirty="0"/>
                  <a:t>Cuando estudiamos el CAPM vimos que el rendimiento de una Acción X lo podíamos determinar a partir de la línea del mercado de valores (SML)</a:t>
                </a:r>
              </a:p>
              <a:p>
                <a14:m>
                  <m:oMath xmlns:m="http://schemas.openxmlformats.org/officeDocument/2006/math">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𝑋</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𝑅𝐹</m:t>
                        </m:r>
                      </m:sub>
                    </m:sSub>
                    <m:r>
                      <a:rPr lang="es-AR" sz="2000" b="0" i="1" smtClean="0">
                        <a:latin typeface="Cambria Math" panose="02040503050406030204" pitchFamily="18" charset="0"/>
                      </a:rPr>
                      <m:t>+</m:t>
                    </m:r>
                    <m:d>
                      <m:dPr>
                        <m:ctrlPr>
                          <a:rPr lang="es-AR" sz="2000" b="0" i="1" smtClean="0">
                            <a:latin typeface="Cambria Math" panose="02040503050406030204" pitchFamily="18" charset="0"/>
                          </a:rPr>
                        </m:ctrlPr>
                      </m:dPr>
                      <m:e>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𝑀</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𝑅𝐹</m:t>
                            </m:r>
                          </m:sub>
                        </m:sSub>
                      </m:e>
                    </m:d>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𝑏</m:t>
                        </m:r>
                      </m:e>
                      <m:sub>
                        <m:r>
                          <a:rPr lang="es-AR" sz="2000" b="0" i="1" smtClean="0">
                            <a:latin typeface="Cambria Math" panose="02040503050406030204" pitchFamily="18" charset="0"/>
                          </a:rPr>
                          <m:t>𝑋</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𝑟</m:t>
                        </m:r>
                      </m:e>
                      <m:sub>
                        <m:r>
                          <a:rPr lang="es-AR" sz="2000" b="0" i="1" smtClean="0">
                            <a:latin typeface="Cambria Math" panose="02040503050406030204" pitchFamily="18" charset="0"/>
                          </a:rPr>
                          <m:t>𝑅𝐹</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𝑅𝑃</m:t>
                        </m:r>
                      </m:e>
                      <m:sub>
                        <m:r>
                          <a:rPr lang="es-AR" sz="2000" b="0" i="1" smtClean="0">
                            <a:latin typeface="Cambria Math" panose="02040503050406030204" pitchFamily="18" charset="0"/>
                          </a:rPr>
                          <m:t>𝑀</m:t>
                        </m:r>
                      </m:sub>
                    </m:sSub>
                    <m:r>
                      <a:rPr lang="es-AR" sz="2000" b="0" i="1" smtClean="0">
                        <a:latin typeface="Cambria Math" panose="02040503050406030204" pitchFamily="18" charset="0"/>
                      </a:rPr>
                      <m:t>∗</m:t>
                    </m:r>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𝑏</m:t>
                        </m:r>
                      </m:e>
                      <m:sub>
                        <m:r>
                          <a:rPr lang="es-AR" sz="2000" b="0" i="1" smtClean="0">
                            <a:latin typeface="Cambria Math" panose="02040503050406030204" pitchFamily="18" charset="0"/>
                          </a:rPr>
                          <m:t>𝑋</m:t>
                        </m:r>
                      </m:sub>
                    </m:sSub>
                  </m:oMath>
                </a14:m>
                <a:endParaRPr lang="es-AR" sz="2000" dirty="0"/>
              </a:p>
              <a:p>
                <a:r>
                  <a:rPr lang="es-AR" sz="2000" dirty="0"/>
                  <a:t>El inversionista marginal comprará acciones X si su rendimiento esperado se ubica por encima de la SML, venderá si está por debajo y en principio las conservará si están sobre la recta</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638" t="-1401" r="-98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1535960-B893-22E6-2BA0-316D645D55D2}"/>
                  </a:ext>
                </a:extLst>
              </p:cNvPr>
              <p:cNvSpPr txBox="1"/>
              <p:nvPr/>
            </p:nvSpPr>
            <p:spPr>
              <a:xfrm>
                <a:off x="6384866" y="4474093"/>
                <a:ext cx="4710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s-AR" i="1" dirty="0" smtClean="0">
                              <a:latin typeface="Cambria Math" panose="02040503050406030204" pitchFamily="18" charset="0"/>
                            </a:rPr>
                          </m:ctrlPr>
                        </m:accPr>
                        <m:e>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𝑟</m:t>
                              </m:r>
                            </m:e>
                            <m:sub>
                              <m:r>
                                <a:rPr lang="es-AR" b="0" i="1" dirty="0" smtClean="0">
                                  <a:latin typeface="Cambria Math" panose="02040503050406030204" pitchFamily="18" charset="0"/>
                                </a:rPr>
                                <m:t>𝑋</m:t>
                              </m:r>
                              <m:r>
                                <a:rPr lang="es-AR" b="0" i="1" dirty="0" smtClean="0">
                                  <a:latin typeface="Cambria Math" panose="02040503050406030204" pitchFamily="18" charset="0"/>
                                </a:rPr>
                                <m:t>1</m:t>
                              </m:r>
                            </m:sub>
                          </m:sSub>
                        </m:e>
                      </m:acc>
                    </m:oMath>
                  </m:oMathPara>
                </a14:m>
                <a:endParaRPr lang="es-ES" dirty="0"/>
              </a:p>
            </p:txBody>
          </p:sp>
        </mc:Choice>
        <mc:Fallback xmlns="">
          <p:sp>
            <p:nvSpPr>
              <p:cNvPr id="5" name="CuadroTexto 4">
                <a:extLst>
                  <a:ext uri="{FF2B5EF4-FFF2-40B4-BE49-F238E27FC236}">
                    <a16:creationId xmlns:a16="http://schemas.microsoft.com/office/drawing/2014/main" id="{51535960-B893-22E6-2BA0-316D645D55D2}"/>
                  </a:ext>
                </a:extLst>
              </p:cNvPr>
              <p:cNvSpPr txBox="1">
                <a:spLocks noRot="1" noChangeAspect="1" noMove="1" noResize="1" noEditPoints="1" noAdjustHandles="1" noChangeArrowheads="1" noChangeShapeType="1" noTextEdit="1"/>
              </p:cNvSpPr>
              <p:nvPr/>
            </p:nvSpPr>
            <p:spPr>
              <a:xfrm>
                <a:off x="6384866" y="4474093"/>
                <a:ext cx="471054" cy="369332"/>
              </a:xfrm>
              <a:prstGeom prst="rect">
                <a:avLst/>
              </a:prstGeom>
              <a:blipFill>
                <a:blip r:embed="rId3"/>
                <a:stretch>
                  <a:fillRect t="-6557" r="-769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2075775-1C76-BC9E-304D-A36026A71A76}"/>
                  </a:ext>
                </a:extLst>
              </p:cNvPr>
              <p:cNvSpPr txBox="1"/>
              <p:nvPr/>
            </p:nvSpPr>
            <p:spPr>
              <a:xfrm>
                <a:off x="6384866" y="4117171"/>
                <a:ext cx="6691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𝑟</m:t>
                          </m:r>
                        </m:e>
                        <m:sub>
                          <m:r>
                            <a:rPr lang="es-AR" i="1">
                              <a:latin typeface="Cambria Math" panose="02040503050406030204" pitchFamily="18" charset="0"/>
                            </a:rPr>
                            <m:t>𝑋</m:t>
                          </m:r>
                        </m:sub>
                      </m:sSub>
                    </m:oMath>
                  </m:oMathPara>
                </a14:m>
                <a:endParaRPr lang="es-ES" dirty="0"/>
              </a:p>
            </p:txBody>
          </p:sp>
        </mc:Choice>
        <mc:Fallback xmlns="">
          <p:sp>
            <p:nvSpPr>
              <p:cNvPr id="6" name="CuadroTexto 5">
                <a:extLst>
                  <a:ext uri="{FF2B5EF4-FFF2-40B4-BE49-F238E27FC236}">
                    <a16:creationId xmlns:a16="http://schemas.microsoft.com/office/drawing/2014/main" id="{F2075775-1C76-BC9E-304D-A36026A71A76}"/>
                  </a:ext>
                </a:extLst>
              </p:cNvPr>
              <p:cNvSpPr txBox="1">
                <a:spLocks noRot="1" noChangeAspect="1" noMove="1" noResize="1" noEditPoints="1" noAdjustHandles="1" noChangeArrowheads="1" noChangeShapeType="1" noTextEdit="1"/>
              </p:cNvSpPr>
              <p:nvPr/>
            </p:nvSpPr>
            <p:spPr>
              <a:xfrm>
                <a:off x="6384866" y="4117171"/>
                <a:ext cx="669174" cy="369332"/>
              </a:xfrm>
              <a:prstGeom prst="rect">
                <a:avLst/>
              </a:prstGeom>
              <a:blipFill>
                <a:blip r:embed="rId4"/>
                <a:stretch>
                  <a:fillRect/>
                </a:stretch>
              </a:blipFill>
            </p:spPr>
            <p:txBody>
              <a:bodyPr/>
              <a:lstStyle/>
              <a:p>
                <a:r>
                  <a:rPr lang="es-ES">
                    <a:noFill/>
                  </a:rPr>
                  <a:t> </a:t>
                </a:r>
              </a:p>
            </p:txBody>
          </p:sp>
        </mc:Fallback>
      </mc:AlternateContent>
      <p:sp>
        <p:nvSpPr>
          <p:cNvPr id="7" name="CuadroTexto 6">
            <a:extLst>
              <a:ext uri="{FF2B5EF4-FFF2-40B4-BE49-F238E27FC236}">
                <a16:creationId xmlns:a16="http://schemas.microsoft.com/office/drawing/2014/main" id="{76974A5C-CB8D-8B83-8952-9176BE65DC59}"/>
              </a:ext>
            </a:extLst>
          </p:cNvPr>
          <p:cNvSpPr txBox="1"/>
          <p:nvPr/>
        </p:nvSpPr>
        <p:spPr>
          <a:xfrm>
            <a:off x="8188036" y="4301837"/>
            <a:ext cx="3165764" cy="923330"/>
          </a:xfrm>
          <a:prstGeom prst="rect">
            <a:avLst/>
          </a:prstGeom>
          <a:noFill/>
        </p:spPr>
        <p:txBody>
          <a:bodyPr wrap="square" rtlCol="0">
            <a:spAutoFit/>
          </a:bodyPr>
          <a:lstStyle/>
          <a:p>
            <a:r>
              <a:rPr lang="es-AR" dirty="0"/>
              <a:t>Supongamos que, para una beta de 2, el rendimiento requerido es 12%</a:t>
            </a:r>
            <a:endParaRPr lang="es-ES" dirty="0"/>
          </a:p>
        </p:txBody>
      </p:sp>
      <p:graphicFrame>
        <p:nvGraphicFramePr>
          <p:cNvPr id="8" name="Gráfico 7">
            <a:extLst>
              <a:ext uri="{FF2B5EF4-FFF2-40B4-BE49-F238E27FC236}">
                <a16:creationId xmlns:a16="http://schemas.microsoft.com/office/drawing/2014/main" id="{EFDD5215-8A68-433F-BCDF-F8FE2CE943CF}"/>
              </a:ext>
            </a:extLst>
          </p:cNvPr>
          <p:cNvGraphicFramePr>
            <a:graphicFrameLocks/>
          </p:cNvGraphicFramePr>
          <p:nvPr>
            <p:extLst>
              <p:ext uri="{D42A27DB-BD31-4B8C-83A1-F6EECF244321}">
                <p14:modId xmlns:p14="http://schemas.microsoft.com/office/powerpoint/2010/main" val="1600814427"/>
              </p:ext>
            </p:extLst>
          </p:nvPr>
        </p:nvGraphicFramePr>
        <p:xfrm>
          <a:off x="2902529" y="3829754"/>
          <a:ext cx="4572000" cy="2790825"/>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3795AFB5-9C4F-916E-F04C-8326CA4D2249}"/>
                  </a:ext>
                </a:extLst>
              </p:cNvPr>
              <p:cNvSpPr txBox="1"/>
              <p:nvPr/>
            </p:nvSpPr>
            <p:spPr>
              <a:xfrm>
                <a:off x="6384866" y="3788797"/>
                <a:ext cx="4710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s-AR" i="1" dirty="0" smtClean="0">
                              <a:latin typeface="Cambria Math" panose="02040503050406030204" pitchFamily="18" charset="0"/>
                            </a:rPr>
                          </m:ctrlPr>
                        </m:accPr>
                        <m:e>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𝑟</m:t>
                              </m:r>
                            </m:e>
                            <m:sub>
                              <m:r>
                                <a:rPr lang="es-AR" b="0" i="1" dirty="0" smtClean="0">
                                  <a:latin typeface="Cambria Math" panose="02040503050406030204" pitchFamily="18" charset="0"/>
                                </a:rPr>
                                <m:t>𝑋</m:t>
                              </m:r>
                              <m:r>
                                <a:rPr lang="es-AR" b="0" i="1" dirty="0" smtClean="0">
                                  <a:latin typeface="Cambria Math" panose="02040503050406030204" pitchFamily="18" charset="0"/>
                                </a:rPr>
                                <m:t>2</m:t>
                              </m:r>
                            </m:sub>
                          </m:sSub>
                        </m:e>
                      </m:acc>
                    </m:oMath>
                  </m:oMathPara>
                </a14:m>
                <a:endParaRPr lang="es-ES" dirty="0"/>
              </a:p>
            </p:txBody>
          </p:sp>
        </mc:Choice>
        <mc:Fallback xmlns="">
          <p:sp>
            <p:nvSpPr>
              <p:cNvPr id="9" name="CuadroTexto 8">
                <a:extLst>
                  <a:ext uri="{FF2B5EF4-FFF2-40B4-BE49-F238E27FC236}">
                    <a16:creationId xmlns:a16="http://schemas.microsoft.com/office/drawing/2014/main" id="{3795AFB5-9C4F-916E-F04C-8326CA4D2249}"/>
                  </a:ext>
                </a:extLst>
              </p:cNvPr>
              <p:cNvSpPr txBox="1">
                <a:spLocks noRot="1" noChangeAspect="1" noMove="1" noResize="1" noEditPoints="1" noAdjustHandles="1" noChangeArrowheads="1" noChangeShapeType="1" noTextEdit="1"/>
              </p:cNvSpPr>
              <p:nvPr/>
            </p:nvSpPr>
            <p:spPr>
              <a:xfrm>
                <a:off x="6384866" y="3788797"/>
                <a:ext cx="471054" cy="369332"/>
              </a:xfrm>
              <a:prstGeom prst="rect">
                <a:avLst/>
              </a:prstGeom>
              <a:blipFill>
                <a:blip r:embed="rId6"/>
                <a:stretch>
                  <a:fillRect t="-6667" r="-7692"/>
                </a:stretch>
              </a:blipFill>
            </p:spPr>
            <p:txBody>
              <a:bodyPr/>
              <a:lstStyle/>
              <a:p>
                <a:r>
                  <a:rPr lang="es-ES">
                    <a:noFill/>
                  </a:rPr>
                  <a:t> </a:t>
                </a:r>
              </a:p>
            </p:txBody>
          </p:sp>
        </mc:Fallback>
      </mc:AlternateContent>
    </p:spTree>
    <p:extLst>
      <p:ext uri="{BB962C8B-B14F-4D97-AF65-F5344CB8AC3E}">
        <p14:creationId xmlns:p14="http://schemas.microsoft.com/office/powerpoint/2010/main" val="2693727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667250"/>
              </a:xfrm>
            </p:spPr>
            <p:txBody>
              <a:bodyPr>
                <a:normAutofit fontScale="92500" lnSpcReduction="10000"/>
              </a:bodyPr>
              <a:lstStyle/>
              <a:p>
                <a:r>
                  <a:rPr lang="es-AR" sz="2400" dirty="0"/>
                  <a:t>Un inversionista tiene en su cartera esta Acción X y estima que sus ganancias, dividendos y precio crecerán al 4%. El último dividendo pagado fue de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m:t>
                    </m:r>
                  </m:oMath>
                </a14:m>
                <a:r>
                  <a:rPr lang="es-AR" sz="2400" dirty="0"/>
                  <a:t>1,7308, con lo que espera que el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𝐷</m:t>
                        </m:r>
                      </m:e>
                      <m:sub>
                        <m:r>
                          <a:rPr lang="es-AR" sz="2400" b="0" i="1" smtClean="0">
                            <a:latin typeface="Cambria Math" panose="02040503050406030204" pitchFamily="18" charset="0"/>
                          </a:rPr>
                          <m:t>1</m:t>
                        </m:r>
                      </m:sub>
                    </m:sSub>
                    <m:r>
                      <a:rPr lang="es-AR" sz="2400" b="0" i="1" smtClean="0">
                        <a:latin typeface="Cambria Math" panose="02040503050406030204" pitchFamily="18" charset="0"/>
                      </a:rPr>
                      <m:t>=1,8</m:t>
                    </m:r>
                  </m:oMath>
                </a14:m>
                <a:endParaRPr lang="es-AR" sz="2400" dirty="0"/>
              </a:p>
              <a:p>
                <a:r>
                  <a:rPr lang="es-AR" sz="2400" dirty="0"/>
                  <a:t>Como dijimos en la página anterior, el rendimiento requerido dado la beta de 2 sería 12%</a:t>
                </a:r>
              </a:p>
              <a:p>
                <a:r>
                  <a:rPr lang="es-AR" sz="2400" dirty="0"/>
                  <a:t>¿Qué ocurriría si el precio de mercado fuera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=24</m:t>
                    </m:r>
                  </m:oMath>
                </a14:m>
                <a:r>
                  <a:rPr lang="es-AR" sz="2400" dirty="0"/>
                  <a:t>?</a:t>
                </a:r>
              </a:p>
              <a:p>
                <a14:m>
                  <m:oMath xmlns:m="http://schemas.openxmlformats.org/officeDocument/2006/math">
                    <m:acc>
                      <m:accPr>
                        <m:chr m:val="̂"/>
                        <m:ctrlPr>
                          <a:rPr lang="es-AR" sz="2400" b="0" i="1" dirty="0" smtClean="0">
                            <a:latin typeface="Cambria Math" panose="02040503050406030204" pitchFamily="18" charset="0"/>
                          </a:rPr>
                        </m:ctrlPr>
                      </m:accPr>
                      <m:e>
                        <m:sSub>
                          <m:sSubPr>
                            <m:ctrlPr>
                              <a:rPr lang="es-AR" sz="2400" b="0" i="1" dirty="0" smtClean="0">
                                <a:latin typeface="Cambria Math" panose="02040503050406030204" pitchFamily="18" charset="0"/>
                              </a:rPr>
                            </m:ctrlPr>
                          </m:sSubPr>
                          <m:e>
                            <m:r>
                              <a:rPr lang="es-AR" sz="2400" b="0" i="1" dirty="0" smtClean="0">
                                <a:latin typeface="Cambria Math" panose="02040503050406030204" pitchFamily="18" charset="0"/>
                              </a:rPr>
                              <m:t>𝑟</m:t>
                            </m:r>
                          </m:e>
                          <m:sub>
                            <m:r>
                              <a:rPr lang="es-AR" sz="2400" b="0" i="1" dirty="0" smtClean="0">
                                <a:latin typeface="Cambria Math" panose="02040503050406030204" pitchFamily="18" charset="0"/>
                              </a:rPr>
                              <m:t>𝑋</m:t>
                            </m:r>
                            <m:r>
                              <a:rPr lang="es-AR" sz="2400" b="0" i="1" dirty="0" smtClean="0">
                                <a:latin typeface="Cambria Math" panose="02040503050406030204" pitchFamily="18" charset="0"/>
                              </a:rPr>
                              <m:t>1</m:t>
                            </m:r>
                          </m:sub>
                        </m:sSub>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𝑃</m:t>
                            </m:r>
                          </m:e>
                          <m:sub>
                            <m:r>
                              <a:rPr lang="es-AR" sz="2400" i="1">
                                <a:latin typeface="Cambria Math" panose="02040503050406030204" pitchFamily="18" charset="0"/>
                              </a:rPr>
                              <m:t>0</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𝑔</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$1,8</m:t>
                        </m:r>
                      </m:num>
                      <m:den>
                        <m:r>
                          <a:rPr lang="es-AR" sz="2400" b="0" i="1" smtClean="0">
                            <a:latin typeface="Cambria Math" panose="02040503050406030204" pitchFamily="18" charset="0"/>
                          </a:rPr>
                          <m:t>$24</m:t>
                        </m:r>
                      </m:den>
                    </m:f>
                    <m:r>
                      <a:rPr lang="es-AR" sz="2400" b="0" i="1" smtClean="0">
                        <a:latin typeface="Cambria Math" panose="02040503050406030204" pitchFamily="18" charset="0"/>
                      </a:rPr>
                      <m:t>+4%=11,5%</m:t>
                    </m:r>
                  </m:oMath>
                </a14:m>
                <a:endParaRPr lang="es-AR" sz="2400" dirty="0"/>
              </a:p>
              <a:p>
                <a:r>
                  <a:rPr lang="es-AR" sz="2400" dirty="0"/>
                  <a:t>¿Qué ocurriría si el precio de mercado fuera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=2</m:t>
                    </m:r>
                  </m:oMath>
                </a14:m>
                <a:r>
                  <a:rPr lang="es-AR" sz="2400" dirty="0"/>
                  <a:t>0?</a:t>
                </a:r>
              </a:p>
              <a:p>
                <a14:m>
                  <m:oMath xmlns:m="http://schemas.openxmlformats.org/officeDocument/2006/math">
                    <m:acc>
                      <m:accPr>
                        <m:chr m:val="̂"/>
                        <m:ctrlPr>
                          <a:rPr lang="es-AR" sz="2400" b="0" i="1" dirty="0" smtClean="0">
                            <a:latin typeface="Cambria Math" panose="02040503050406030204" pitchFamily="18" charset="0"/>
                          </a:rPr>
                        </m:ctrlPr>
                      </m:accPr>
                      <m:e>
                        <m:sSub>
                          <m:sSubPr>
                            <m:ctrlPr>
                              <a:rPr lang="es-AR" sz="2400" b="0" i="1" dirty="0" smtClean="0">
                                <a:latin typeface="Cambria Math" panose="02040503050406030204" pitchFamily="18" charset="0"/>
                              </a:rPr>
                            </m:ctrlPr>
                          </m:sSubPr>
                          <m:e>
                            <m:r>
                              <a:rPr lang="es-AR" sz="2400" b="0" i="1" dirty="0" smtClean="0">
                                <a:latin typeface="Cambria Math" panose="02040503050406030204" pitchFamily="18" charset="0"/>
                              </a:rPr>
                              <m:t>𝑟</m:t>
                            </m:r>
                          </m:e>
                          <m:sub>
                            <m:r>
                              <a:rPr lang="es-AR" sz="2400" b="0" i="1" dirty="0" smtClean="0">
                                <a:latin typeface="Cambria Math" panose="02040503050406030204" pitchFamily="18" charset="0"/>
                              </a:rPr>
                              <m:t>𝑋</m:t>
                            </m:r>
                            <m:r>
                              <a:rPr lang="es-AR" sz="2400" b="0" i="1" dirty="0" smtClean="0">
                                <a:latin typeface="Cambria Math" panose="02040503050406030204" pitchFamily="18" charset="0"/>
                              </a:rPr>
                              <m:t>2</m:t>
                            </m:r>
                          </m:sub>
                        </m:sSub>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𝐷</m:t>
                            </m:r>
                          </m:e>
                          <m:sub>
                            <m:r>
                              <a:rPr lang="es-AR" sz="2400" i="1">
                                <a:latin typeface="Cambria Math" panose="02040503050406030204" pitchFamily="18" charset="0"/>
                              </a:rPr>
                              <m:t>1</m:t>
                            </m:r>
                          </m:sub>
                        </m:sSub>
                      </m:num>
                      <m:den>
                        <m:sSub>
                          <m:sSubPr>
                            <m:ctrlPr>
                              <a:rPr lang="es-AR" sz="2400" i="1">
                                <a:latin typeface="Cambria Math" panose="02040503050406030204" pitchFamily="18" charset="0"/>
                              </a:rPr>
                            </m:ctrlPr>
                          </m:sSubPr>
                          <m:e>
                            <m:r>
                              <a:rPr lang="es-AR" sz="2400" i="1">
                                <a:latin typeface="Cambria Math" panose="02040503050406030204" pitchFamily="18" charset="0"/>
                              </a:rPr>
                              <m:t>𝑃</m:t>
                            </m:r>
                          </m:e>
                          <m:sub>
                            <m:r>
                              <a:rPr lang="es-AR" sz="2400" i="1">
                                <a:latin typeface="Cambria Math" panose="02040503050406030204" pitchFamily="18" charset="0"/>
                              </a:rPr>
                              <m:t>0</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𝑔</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$1,8</m:t>
                        </m:r>
                      </m:num>
                      <m:den>
                        <m:r>
                          <a:rPr lang="es-AR" sz="2400" b="0" i="1" smtClean="0">
                            <a:latin typeface="Cambria Math" panose="02040503050406030204" pitchFamily="18" charset="0"/>
                          </a:rPr>
                          <m:t>$20</m:t>
                        </m:r>
                      </m:den>
                    </m:f>
                    <m:r>
                      <a:rPr lang="es-AR" sz="2400" b="0" i="1" smtClean="0">
                        <a:latin typeface="Cambria Math" panose="02040503050406030204" pitchFamily="18" charset="0"/>
                      </a:rPr>
                      <m:t>+4%=13,0%</m:t>
                    </m:r>
                  </m:oMath>
                </a14:m>
                <a:endParaRPr lang="es-AR" sz="2400" dirty="0"/>
              </a:p>
              <a:p>
                <a:r>
                  <a:rPr lang="es-AR" sz="2400" dirty="0"/>
                  <a:t>En la primera situación los precios bajarían porque muchos querrían vender y muy pocos estarían dispuestos a pagar ese precio. Así se llegaría al precio de equilibrio del 22,5 donde la acción tiene un rendimiento esperado equivalente al requerido. En el segundo caso la demanda de acciones superaría la oferta haciendo subir el precio</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696" t="-2089" r="-696"/>
                </a:stretch>
              </a:blipFill>
            </p:spPr>
            <p:txBody>
              <a:bodyPr/>
              <a:lstStyle/>
              <a:p>
                <a:r>
                  <a:rPr lang="es-ES">
                    <a:noFill/>
                  </a:rPr>
                  <a:t> </a:t>
                </a:r>
              </a:p>
            </p:txBody>
          </p:sp>
        </mc:Fallback>
      </mc:AlternateContent>
    </p:spTree>
    <p:extLst>
      <p:ext uri="{BB962C8B-B14F-4D97-AF65-F5344CB8AC3E}">
        <p14:creationId xmlns:p14="http://schemas.microsoft.com/office/powerpoint/2010/main" val="1461239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Las Acciones y su valuación</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667250"/>
          </a:xfrm>
        </p:spPr>
        <p:txBody>
          <a:bodyPr>
            <a:normAutofit/>
          </a:bodyPr>
          <a:lstStyle/>
          <a:p>
            <a:pPr marL="0" indent="0">
              <a:buNone/>
            </a:pPr>
            <a:r>
              <a:rPr lang="es-AR" sz="2400" dirty="0"/>
              <a:t>Cambios en los precios de equilibrio</a:t>
            </a:r>
          </a:p>
          <a:p>
            <a:r>
              <a:rPr lang="es-AR" sz="2400" dirty="0"/>
              <a:t>Hemos dicho que los precios irán modificándose hasta alcanzar el equilibrio de mercado para la acción.</a:t>
            </a:r>
          </a:p>
          <a:p>
            <a:r>
              <a:rPr lang="es-AR" sz="2400" dirty="0"/>
              <a:t>La historia muestra períodos breves de tiempo con caídas estrepitosas (19 de octubre de 1987, -23% promedio con máximos de -70%; el 27 de octubre de 1997, -7,18%; del 6 al 10 de octubre 2008, -18%; el 8 de agosto 2011, -5,55%)</a:t>
            </a:r>
          </a:p>
          <a:p>
            <a:r>
              <a:rPr lang="es-AR" sz="2400" dirty="0"/>
              <a:t>Veamos la sensibilidad en el Excel</a:t>
            </a:r>
          </a:p>
          <a:p>
            <a:r>
              <a:rPr lang="es-AR" sz="2400" dirty="0"/>
              <a:t>Cambios en los fundamentos, en las expectativas, pueden llevar a cambios bruscos en períodos cortos de tiempo</a:t>
            </a:r>
          </a:p>
        </p:txBody>
      </p:sp>
    </p:spTree>
    <p:extLst>
      <p:ext uri="{BB962C8B-B14F-4D97-AF65-F5344CB8AC3E}">
        <p14:creationId xmlns:p14="http://schemas.microsoft.com/office/powerpoint/2010/main" val="22811775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36F878-DB9B-4290-8EDE-E07B9B86C08D}"/>
</file>

<file path=customXml/itemProps2.xml><?xml version="1.0" encoding="utf-8"?>
<ds:datastoreItem xmlns:ds="http://schemas.openxmlformats.org/officeDocument/2006/customXml" ds:itemID="{5BFE565F-F727-4A74-9B92-963E95A8770E}"/>
</file>

<file path=customXml/itemProps3.xml><?xml version="1.0" encoding="utf-8"?>
<ds:datastoreItem xmlns:ds="http://schemas.openxmlformats.org/officeDocument/2006/customXml" ds:itemID="{11714C47-12AA-4DEC-B410-A758D3FF0564}"/>
</file>

<file path=docProps/app.xml><?xml version="1.0" encoding="utf-8"?>
<Properties xmlns="http://schemas.openxmlformats.org/officeDocument/2006/extended-properties" xmlns:vt="http://schemas.openxmlformats.org/officeDocument/2006/docPropsVTypes">
  <TotalTime>10458</TotalTime>
  <Words>4563</Words>
  <Application>Microsoft Office PowerPoint</Application>
  <PresentationFormat>Panorámica</PresentationFormat>
  <Paragraphs>301</Paragraphs>
  <Slides>41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Arial</vt:lpstr>
      <vt:lpstr>Calibri</vt:lpstr>
      <vt:lpstr>Calibri Light</vt:lpstr>
      <vt:lpstr>Cambria Math</vt:lpstr>
      <vt:lpstr>Times New Roman</vt:lpstr>
      <vt:lpstr>Tema de Office</vt:lpstr>
      <vt:lpstr>MAESTRIA EN GESTION ECONOMICA Y FINANCIERA DE RIESGOS</vt:lpstr>
      <vt:lpstr>Las Acciones y su valuación</vt:lpstr>
      <vt:lpstr>Las Acciones y su valuación</vt:lpstr>
      <vt:lpstr>Las Acciones y su valuación</vt:lpstr>
      <vt:lpstr>Las Acciones y su valuación</vt:lpstr>
      <vt:lpstr>Las Acciones y su valuación</vt:lpstr>
      <vt:lpstr>Las Acciones y su valuación</vt:lpstr>
      <vt:lpstr>Presentación de PowerPoint</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lpstr>Las Acciones y su valuación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89</cp:revision>
  <dcterms:created xsi:type="dcterms:W3CDTF">2023-02-14T14:19:39Z</dcterms:created>
  <dcterms:modified xsi:type="dcterms:W3CDTF">2024-04-24T20:08:20Z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