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303" r:id="rId14"/>
    <p:sldId id="268" r:id="rId15"/>
    <p:sldId id="304" r:id="rId16"/>
    <p:sldId id="269" r:id="rId17"/>
    <p:sldId id="270" r:id="rId18"/>
    <p:sldId id="271" r:id="rId19"/>
    <p:sldId id="272" r:id="rId20"/>
    <p:sldId id="273" r:id="rId21"/>
    <p:sldId id="274" r:id="rId22"/>
    <p:sldId id="275" r:id="rId23"/>
    <p:sldId id="276" r:id="rId24"/>
    <p:sldId id="305" r:id="rId25"/>
    <p:sldId id="277" r:id="rId26"/>
    <p:sldId id="278" r:id="rId27"/>
    <p:sldId id="285" r:id="rId28"/>
    <p:sldId id="279" r:id="rId29"/>
    <p:sldId id="306" r:id="rId30"/>
    <p:sldId id="280" r:id="rId31"/>
    <p:sldId id="281" r:id="rId32"/>
    <p:sldId id="307" r:id="rId33"/>
    <p:sldId id="282" r:id="rId34"/>
    <p:sldId id="308" r:id="rId35"/>
    <p:sldId id="283" r:id="rId36"/>
    <p:sldId id="309" r:id="rId37"/>
    <p:sldId id="284" r:id="rId38"/>
    <p:sldId id="310" r:id="rId39"/>
    <p:sldId id="294" r:id="rId40"/>
    <p:sldId id="286" r:id="rId41"/>
    <p:sldId id="287" r:id="rId42"/>
    <p:sldId id="288" r:id="rId43"/>
    <p:sldId id="289" r:id="rId44"/>
    <p:sldId id="290" r:id="rId4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143808-51B3-45EF-BC08-A8BECF60839E}" type="datetimeFigureOut">
              <a:rPr lang="es-ES" smtClean="0"/>
              <a:t>28/03/2024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1CF884-DAAB-4895-876F-FFC311068144}" type="slidenum">
              <a:rPr lang="es-ES" smtClean="0"/>
              <a:t>‹Nº›</a:t>
            </a:fld>
            <a:endParaRPr lang="es-ES"/>
          </a:p>
        </p:txBody>
      </p:sp>
    </p:spTree>
    <p:extLst>
      <p:ext uri="{BB962C8B-B14F-4D97-AF65-F5344CB8AC3E}">
        <p14:creationId xmlns:p14="http://schemas.microsoft.com/office/powerpoint/2010/main" val="1849776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21CF884-DAAB-4895-876F-FFC311068144}" type="slidenum">
              <a:rPr lang="es-ES" smtClean="0"/>
              <a:t>37</a:t>
            </a:fld>
            <a:endParaRPr lang="es-ES"/>
          </a:p>
        </p:txBody>
      </p:sp>
    </p:spTree>
    <p:extLst>
      <p:ext uri="{BB962C8B-B14F-4D97-AF65-F5344CB8AC3E}">
        <p14:creationId xmlns:p14="http://schemas.microsoft.com/office/powerpoint/2010/main" val="1645842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21CF884-DAAB-4895-876F-FFC311068144}" type="slidenum">
              <a:rPr lang="es-ES" smtClean="0"/>
              <a:t>38</a:t>
            </a:fld>
            <a:endParaRPr lang="es-ES"/>
          </a:p>
        </p:txBody>
      </p:sp>
    </p:spTree>
    <p:extLst>
      <p:ext uri="{BB962C8B-B14F-4D97-AF65-F5344CB8AC3E}">
        <p14:creationId xmlns:p14="http://schemas.microsoft.com/office/powerpoint/2010/main" val="3137359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21CF884-DAAB-4895-876F-FFC311068144}" type="slidenum">
              <a:rPr lang="es-ES" smtClean="0"/>
              <a:t>39</a:t>
            </a:fld>
            <a:endParaRPr lang="es-ES"/>
          </a:p>
        </p:txBody>
      </p:sp>
    </p:spTree>
    <p:extLst>
      <p:ext uri="{BB962C8B-B14F-4D97-AF65-F5344CB8AC3E}">
        <p14:creationId xmlns:p14="http://schemas.microsoft.com/office/powerpoint/2010/main" val="2866169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2DFBAB-5D64-6F42-D3FE-6EC110CAF14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12484972-47AF-4145-394B-2C7E3CDC62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7E0A387D-0FDF-E38A-4499-5777B772A656}"/>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F6A66FC6-E5E5-1CA1-2870-DA42B309491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4DD7504-8F12-6486-1C83-02077ECF4007}"/>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2918771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A40F6C-C9F2-21FC-C346-67FF0D39960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F4CC9D0C-7AC9-8823-DFDB-21B8194A995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051B1CC-DC6D-CE2D-3CCA-996F7B0D8053}"/>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90AD9727-D2ED-CF28-9D9D-B7931466FD1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5A4E534-BC78-0454-D576-993FD9E580DE}"/>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1224932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8355A3-E7AB-372F-3A04-D8A7BBF8153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09A4255-999D-D534-5C78-0F34AA8A1D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C992A12-2BA4-93A1-26CF-534D269335A8}"/>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1A4FBDD2-472C-6436-E35B-FF177966491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DAF4968-3FB6-69BA-5BE5-C036F360968B}"/>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3583663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E50E7A-C2BB-8C88-2922-FFE021181B2B}"/>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5722F01-9893-6F1C-2CC0-A1C2EA74F90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4FA41AAB-A445-350D-6A67-76001596077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6E75C3F4-C711-75BB-3299-73BFB21C800E}"/>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6" name="Marcador de pie de página 5">
            <a:extLst>
              <a:ext uri="{FF2B5EF4-FFF2-40B4-BE49-F238E27FC236}">
                <a16:creationId xmlns:a16="http://schemas.microsoft.com/office/drawing/2014/main" id="{7381A67E-1603-5D1E-E192-FC2385463BAC}"/>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8371064-3F0A-F359-6350-CC2522696F9F}"/>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317715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058489-35EB-F8A0-5416-DD12637BEA0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0F20E75-A137-A05A-C22F-7BD643963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B717606-DDC9-C78D-E6C8-48E52BA0D54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DA64AC2F-BC5D-E084-DF14-CE762B405B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EACE9F8-DCB6-85E6-EF31-6DA7DA0E48F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4F456F14-6758-C05C-0656-8AE88C67BAEC}"/>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8" name="Marcador de pie de página 7">
            <a:extLst>
              <a:ext uri="{FF2B5EF4-FFF2-40B4-BE49-F238E27FC236}">
                <a16:creationId xmlns:a16="http://schemas.microsoft.com/office/drawing/2014/main" id="{503DE1F5-4CFF-F855-AAE0-772E834F2EC4}"/>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F0937376-8D8A-8D49-DB36-8D89037B5DFA}"/>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53216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94D3E-E891-B869-B97E-6233951DCEE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46023375-ADC6-5E88-6B4F-4E771D5E3662}"/>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4" name="Marcador de pie de página 3">
            <a:extLst>
              <a:ext uri="{FF2B5EF4-FFF2-40B4-BE49-F238E27FC236}">
                <a16:creationId xmlns:a16="http://schemas.microsoft.com/office/drawing/2014/main" id="{405617B4-E5AA-7554-AABF-F24A45958A70}"/>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BE668BFF-B39E-5914-F8C4-3155480DC81A}"/>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219619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B0D8221-73F8-D78D-FC4B-688FAF415F29}"/>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3" name="Marcador de pie de página 2">
            <a:extLst>
              <a:ext uri="{FF2B5EF4-FFF2-40B4-BE49-F238E27FC236}">
                <a16:creationId xmlns:a16="http://schemas.microsoft.com/office/drawing/2014/main" id="{9A1D42F5-E571-2964-F576-F0FC910A4333}"/>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121805B0-194C-D150-B48E-E2621389636B}"/>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234406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7E0176-9CB8-634A-8687-EB5F4659591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3A23C1BB-A5A7-94F0-5437-CA560E45AD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479B6D67-62D3-4CB2-F359-39FFC1C079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A849AA6-DA37-0E4D-23B6-D59F7021E6E4}"/>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6" name="Marcador de pie de página 5">
            <a:extLst>
              <a:ext uri="{FF2B5EF4-FFF2-40B4-BE49-F238E27FC236}">
                <a16:creationId xmlns:a16="http://schemas.microsoft.com/office/drawing/2014/main" id="{265C0D81-6112-715D-F244-361C07A0EA2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D0A32D4-9DD5-0230-C61F-C90D282E7EC8}"/>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904190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70F396-278C-0CAE-B358-5B38797DD18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AF530942-D102-30A7-84AD-EAB35C5C22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FD407274-05D6-2DA7-7870-364591F1C8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26B4A27-8441-7FBB-678D-517DD4B91607}"/>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6" name="Marcador de pie de página 5">
            <a:extLst>
              <a:ext uri="{FF2B5EF4-FFF2-40B4-BE49-F238E27FC236}">
                <a16:creationId xmlns:a16="http://schemas.microsoft.com/office/drawing/2014/main" id="{9079B363-478A-2B4C-A9FE-32C632703AC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AD5A85A-0428-BF51-0C8A-AD0EFBBA2332}"/>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874231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DB05F4-725B-1B93-60DF-6915CFAD5C5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112C7D3-BB88-2154-8A90-C44271E4283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81D6831-E8C8-2541-829C-C3420BE3EDB3}"/>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5799AE2D-6DED-6169-88CC-599B9348507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2B00F5A-FD08-5772-8006-6CE2CECCAC18}"/>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43925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7EF4F1-90AE-79AB-0948-B67CF51A38F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0DEF4E8E-419F-FC3A-2DF7-1B8039B043F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6B7F5D6-558A-86BC-37CB-AB2F8BFB90DD}"/>
              </a:ext>
            </a:extLst>
          </p:cNvPr>
          <p:cNvSpPr>
            <a:spLocks noGrp="1"/>
          </p:cNvSpPr>
          <p:nvPr>
            <p:ph type="dt" sz="half" idx="10"/>
          </p:nvPr>
        </p:nvSpPr>
        <p:spPr/>
        <p:txBody>
          <a:body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CD94AE24-0199-2D93-D3CC-BAD69AD8E3D5}"/>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0D63BBF-99B7-4DEB-4449-A71B2B4D72B0}"/>
              </a:ext>
            </a:extLst>
          </p:cNvPr>
          <p:cNvSpPr>
            <a:spLocks noGrp="1"/>
          </p:cNvSpPr>
          <p:nvPr>
            <p:ph type="sldNum" sz="quarter" idx="12"/>
          </p:nvPr>
        </p:nvSpPr>
        <p:spPr/>
        <p:txBody>
          <a:bodyPr/>
          <a:lstStyle/>
          <a:p>
            <a:fld id="{EA75620D-C901-4C3E-AEE5-9FB0F27B3281}" type="slidenum">
              <a:rPr lang="es-AR" smtClean="0"/>
              <a:t>‹Nº›</a:t>
            </a:fld>
            <a:endParaRPr lang="es-AR"/>
          </a:p>
        </p:txBody>
      </p:sp>
    </p:spTree>
    <p:extLst>
      <p:ext uri="{BB962C8B-B14F-4D97-AF65-F5344CB8AC3E}">
        <p14:creationId xmlns:p14="http://schemas.microsoft.com/office/powerpoint/2010/main" val="3208509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A773176-319B-2A91-2C29-DAEBC03763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D4B67C1C-36B4-6396-EC57-01588BEBA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DD7912C-7F66-4931-462A-28DF644ED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655DD7-9606-4233-8880-3530663D34DA}" type="datetimeFigureOut">
              <a:rPr lang="es-AR" smtClean="0"/>
              <a:t>28/3/2024</a:t>
            </a:fld>
            <a:endParaRPr lang="es-AR"/>
          </a:p>
        </p:txBody>
      </p:sp>
      <p:sp>
        <p:nvSpPr>
          <p:cNvPr id="5" name="Marcador de pie de página 4">
            <a:extLst>
              <a:ext uri="{FF2B5EF4-FFF2-40B4-BE49-F238E27FC236}">
                <a16:creationId xmlns:a16="http://schemas.microsoft.com/office/drawing/2014/main" id="{A1311DEF-163C-9D0C-021F-E75856E378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8FDFF280-6111-5083-9046-999AD19771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75620D-C901-4C3E-AEE5-9FB0F27B3281}" type="slidenum">
              <a:rPr lang="es-AR" smtClean="0"/>
              <a:t>‹Nº›</a:t>
            </a:fld>
            <a:endParaRPr lang="es-AR"/>
          </a:p>
        </p:txBody>
      </p:sp>
    </p:spTree>
    <p:extLst>
      <p:ext uri="{BB962C8B-B14F-4D97-AF65-F5344CB8AC3E}">
        <p14:creationId xmlns:p14="http://schemas.microsoft.com/office/powerpoint/2010/main" val="60243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Los estados financieros transmiten mucha información útil que ayuda a los gerentes corporativos a evaluar fortalezas y debilidades de sus compañías y a calcular el impacto esperado de varias propuestas de inversión.</a:t>
            </a:r>
          </a:p>
          <a:p>
            <a:r>
              <a:rPr lang="es-AR" dirty="0"/>
              <a:t>No nos olvidamos, que la función principal de un gerente es aumentar el patrimonio de los accionistas, no los valores contables.</a:t>
            </a:r>
          </a:p>
          <a:p>
            <a:r>
              <a:rPr lang="es-AR" dirty="0"/>
              <a:t>Por ello, el Administrador debe tener una sólida comprensión de los estados financieros clave.</a:t>
            </a:r>
          </a:p>
          <a:p>
            <a:r>
              <a:rPr lang="es-AR" dirty="0"/>
              <a:t>También los externos se apoyarán en estos estados. Inversores, proveedores, clientes</a:t>
            </a:r>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r>
              <a:rPr lang="es-AR" dirty="0"/>
              <a:t>Nos hablan de:</a:t>
            </a:r>
          </a:p>
          <a:p>
            <a:r>
              <a:rPr lang="es-AR" dirty="0"/>
              <a:t>Tamaño de la Empresa</a:t>
            </a:r>
          </a:p>
          <a:p>
            <a:r>
              <a:rPr lang="es-AR" dirty="0"/>
              <a:t>Tipos de Activos que posee – Proporciones de cada uno</a:t>
            </a:r>
          </a:p>
          <a:p>
            <a:r>
              <a:rPr lang="es-AR" dirty="0"/>
              <a:t>Cómo financia sus Activos</a:t>
            </a:r>
          </a:p>
          <a:p>
            <a:r>
              <a:rPr lang="es-AR" dirty="0"/>
              <a:t>Tendencia en las Ventas, sus Ganancias</a:t>
            </a:r>
          </a:p>
          <a:p>
            <a:r>
              <a:rPr lang="es-AR" dirty="0"/>
              <a:t>Conocer el Flujo de Efectivo para entender: Nuevas Inversiones, Dividendos, Recompra de Deuda y/o Acciones, cómo reunió nuevos fondos</a:t>
            </a:r>
          </a:p>
          <a:p>
            <a:r>
              <a:rPr lang="es-AR" dirty="0"/>
              <a:t>Pero esto sólo no alcanza para saber el valor de una empresa. Hay que profundizar más, conocer la Industria, entender hacia dónde va la Empresa</a:t>
            </a:r>
          </a:p>
        </p:txBody>
      </p:sp>
    </p:spTree>
    <p:extLst>
      <p:ext uri="{BB962C8B-B14F-4D97-AF65-F5344CB8AC3E}">
        <p14:creationId xmlns:p14="http://schemas.microsoft.com/office/powerpoint/2010/main" val="362941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b="1" dirty="0"/>
              <a:t>La función principal de un gerente es aumentar el patrimonio de los accionistas, el cual se basa en los flujos de efectivo futuros de la empresa</a:t>
            </a:r>
          </a:p>
          <a:p>
            <a:r>
              <a:rPr lang="es-AR" dirty="0"/>
              <a:t>Un estudio profundo de los Estados ayudará a los gerentes a aumentar las probabilidades de incrementar dichos flujos</a:t>
            </a:r>
          </a:p>
          <a:p>
            <a:r>
              <a:rPr lang="es-AR" dirty="0"/>
              <a:t>Para estimar el valor de una empresa, los inversores deberán estimar los flujos futuros a partir de los Estados</a:t>
            </a:r>
          </a:p>
          <a:p>
            <a:r>
              <a:rPr lang="es-AR" dirty="0"/>
              <a:t>Veremos entonces, cómo debemos interpretar los EECC, pero no entraremos em el detalle de cómo confeccionarlos</a:t>
            </a:r>
          </a:p>
        </p:txBody>
      </p:sp>
    </p:spTree>
    <p:extLst>
      <p:ext uri="{BB962C8B-B14F-4D97-AF65-F5344CB8AC3E}">
        <p14:creationId xmlns:p14="http://schemas.microsoft.com/office/powerpoint/2010/main" val="354780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r>
              <a:rPr lang="es-AR" dirty="0"/>
              <a:t>El Informe Anual, es el más importante (hay trimestrales, menos detallados). Tendremos</a:t>
            </a:r>
          </a:p>
          <a:p>
            <a:pPr marL="0" indent="0">
              <a:buNone/>
            </a:pPr>
            <a:endParaRPr lang="es-AR" dirty="0"/>
          </a:p>
          <a:p>
            <a:pPr lvl="1"/>
            <a:r>
              <a:rPr lang="es-AR" dirty="0"/>
              <a:t>Una sección explicativa, donde se describen los resultados de las operaciones de la empresa y se exponen los sucesos que afectarán a las operaciones futuras</a:t>
            </a:r>
          </a:p>
          <a:p>
            <a:pPr lvl="1"/>
            <a:endParaRPr lang="es-AR" dirty="0"/>
          </a:p>
          <a:p>
            <a:pPr lvl="1"/>
            <a:r>
              <a:rPr lang="es-AR" dirty="0"/>
              <a:t>Estados financieros básicos</a:t>
            </a:r>
          </a:p>
          <a:p>
            <a:pPr lvl="2"/>
            <a:r>
              <a:rPr lang="es-AR" dirty="0"/>
              <a:t>Balance General</a:t>
            </a:r>
          </a:p>
          <a:p>
            <a:pPr lvl="2"/>
            <a:r>
              <a:rPr lang="es-AR" dirty="0"/>
              <a:t>Estado de Resultados</a:t>
            </a:r>
          </a:p>
          <a:p>
            <a:pPr lvl="2"/>
            <a:r>
              <a:rPr lang="es-AR" dirty="0"/>
              <a:t>Estado de Flujos de Efectivo</a:t>
            </a:r>
          </a:p>
          <a:p>
            <a:pPr lvl="2"/>
            <a:r>
              <a:rPr lang="es-AR" dirty="0"/>
              <a:t>Estado del Capital de los Accionistas</a:t>
            </a:r>
          </a:p>
          <a:p>
            <a:pPr lvl="2"/>
            <a:endParaRPr lang="es-AR" dirty="0"/>
          </a:p>
          <a:p>
            <a:r>
              <a:rPr lang="es-AR" dirty="0"/>
              <a:t>El informe puede ayudar a pronosticar ganancias y dividendos futuros y por ello debemos entenderlos</a:t>
            </a:r>
          </a:p>
        </p:txBody>
      </p:sp>
    </p:spTree>
    <p:extLst>
      <p:ext uri="{BB962C8B-B14F-4D97-AF65-F5344CB8AC3E}">
        <p14:creationId xmlns:p14="http://schemas.microsoft.com/office/powerpoint/2010/main" val="567698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0" y="1825625"/>
            <a:ext cx="10515600" cy="441199"/>
          </a:xfrm>
        </p:spPr>
        <p:txBody>
          <a:bodyPr>
            <a:normAutofit lnSpcReduction="10000"/>
          </a:bodyPr>
          <a:lstStyle/>
          <a:p>
            <a:r>
              <a:rPr lang="es-AR" dirty="0"/>
              <a:t>Balance General, una foto a un momento dado</a:t>
            </a:r>
          </a:p>
          <a:p>
            <a:endParaRPr lang="es-AR" dirty="0"/>
          </a:p>
          <a:p>
            <a:endParaRPr lang="es-AR" dirty="0"/>
          </a:p>
        </p:txBody>
      </p:sp>
      <p:sp>
        <p:nvSpPr>
          <p:cNvPr id="4" name="CuadroTexto 3">
            <a:extLst>
              <a:ext uri="{FF2B5EF4-FFF2-40B4-BE49-F238E27FC236}">
                <a16:creationId xmlns:a16="http://schemas.microsoft.com/office/drawing/2014/main" id="{73A0FD5E-14CD-A6BD-C972-D7D4E0DEB447}"/>
              </a:ext>
            </a:extLst>
          </p:cNvPr>
          <p:cNvSpPr txBox="1"/>
          <p:nvPr/>
        </p:nvSpPr>
        <p:spPr>
          <a:xfrm>
            <a:off x="1294228" y="2401761"/>
            <a:ext cx="4206240" cy="1200329"/>
          </a:xfrm>
          <a:prstGeom prst="rect">
            <a:avLst/>
          </a:prstGeom>
          <a:noFill/>
          <a:ln w="57150">
            <a:solidFill>
              <a:schemeClr val="tx2">
                <a:lumMod val="60000"/>
                <a:lumOff val="40000"/>
              </a:schemeClr>
            </a:solidFill>
          </a:ln>
        </p:spPr>
        <p:txBody>
          <a:bodyPr wrap="square" rtlCol="0">
            <a:spAutoFit/>
          </a:bodyPr>
          <a:lstStyle/>
          <a:p>
            <a:r>
              <a:rPr lang="es-AR" dirty="0"/>
              <a:t>Activo Circulante</a:t>
            </a:r>
          </a:p>
          <a:p>
            <a:r>
              <a:rPr lang="es-AR" dirty="0"/>
              <a:t>Efectivo y Equivalente</a:t>
            </a:r>
          </a:p>
          <a:p>
            <a:r>
              <a:rPr lang="es-AR" dirty="0"/>
              <a:t>Cuentas por Cobrar</a:t>
            </a:r>
          </a:p>
          <a:p>
            <a:r>
              <a:rPr lang="es-AR" dirty="0"/>
              <a:t>Inventario</a:t>
            </a:r>
          </a:p>
        </p:txBody>
      </p:sp>
      <p:sp>
        <p:nvSpPr>
          <p:cNvPr id="11" name="CuadroTexto 10">
            <a:extLst>
              <a:ext uri="{FF2B5EF4-FFF2-40B4-BE49-F238E27FC236}">
                <a16:creationId xmlns:a16="http://schemas.microsoft.com/office/drawing/2014/main" id="{EE4DA4CB-1334-1F50-8B54-DC3BECD793D0}"/>
              </a:ext>
            </a:extLst>
          </p:cNvPr>
          <p:cNvSpPr txBox="1"/>
          <p:nvPr/>
        </p:nvSpPr>
        <p:spPr>
          <a:xfrm>
            <a:off x="1291886" y="3737027"/>
            <a:ext cx="4206240" cy="923330"/>
          </a:xfrm>
          <a:prstGeom prst="rect">
            <a:avLst/>
          </a:prstGeom>
          <a:noFill/>
          <a:ln w="57150">
            <a:solidFill>
              <a:schemeClr val="tx2">
                <a:lumMod val="60000"/>
                <a:lumOff val="40000"/>
              </a:schemeClr>
            </a:solidFill>
          </a:ln>
        </p:spPr>
        <p:txBody>
          <a:bodyPr wrap="square" rtlCol="0">
            <a:spAutoFit/>
          </a:bodyPr>
          <a:lstStyle/>
          <a:p>
            <a:r>
              <a:rPr lang="es-AR" dirty="0"/>
              <a:t>Activo a largo Plazo (fijo)</a:t>
            </a:r>
          </a:p>
          <a:p>
            <a:r>
              <a:rPr lang="es-AR" dirty="0"/>
              <a:t>Planta y Equipo Netos</a:t>
            </a:r>
          </a:p>
          <a:p>
            <a:r>
              <a:rPr lang="es-AR" dirty="0"/>
              <a:t>Otros Activos a largo plazo</a:t>
            </a:r>
          </a:p>
        </p:txBody>
      </p:sp>
      <p:sp>
        <p:nvSpPr>
          <p:cNvPr id="12" name="CuadroTexto 11">
            <a:extLst>
              <a:ext uri="{FF2B5EF4-FFF2-40B4-BE49-F238E27FC236}">
                <a16:creationId xmlns:a16="http://schemas.microsoft.com/office/drawing/2014/main" id="{5598ED3B-3282-1FF2-EA46-5D3914950B62}"/>
              </a:ext>
            </a:extLst>
          </p:cNvPr>
          <p:cNvSpPr txBox="1"/>
          <p:nvPr/>
        </p:nvSpPr>
        <p:spPr>
          <a:xfrm>
            <a:off x="1308296" y="5881269"/>
            <a:ext cx="4206240" cy="369332"/>
          </a:xfrm>
          <a:prstGeom prst="rect">
            <a:avLst/>
          </a:prstGeom>
          <a:noFill/>
          <a:ln w="57150">
            <a:solidFill>
              <a:schemeClr val="tx2">
                <a:lumMod val="60000"/>
                <a:lumOff val="40000"/>
              </a:schemeClr>
            </a:solidFill>
          </a:ln>
        </p:spPr>
        <p:txBody>
          <a:bodyPr wrap="square" rtlCol="0">
            <a:spAutoFit/>
          </a:bodyPr>
          <a:lstStyle/>
          <a:p>
            <a:r>
              <a:rPr lang="es-AR" dirty="0"/>
              <a:t>Activo Contable</a:t>
            </a:r>
          </a:p>
        </p:txBody>
      </p:sp>
      <p:sp>
        <p:nvSpPr>
          <p:cNvPr id="13" name="CuadroTexto 12">
            <a:extLst>
              <a:ext uri="{FF2B5EF4-FFF2-40B4-BE49-F238E27FC236}">
                <a16:creationId xmlns:a16="http://schemas.microsoft.com/office/drawing/2014/main" id="{D37DA0E1-F525-71AD-E367-83A195FA5CDE}"/>
              </a:ext>
            </a:extLst>
          </p:cNvPr>
          <p:cNvSpPr txBox="1"/>
          <p:nvPr/>
        </p:nvSpPr>
        <p:spPr>
          <a:xfrm>
            <a:off x="6818142" y="2401761"/>
            <a:ext cx="4206240" cy="1200329"/>
          </a:xfrm>
          <a:prstGeom prst="rect">
            <a:avLst/>
          </a:prstGeom>
          <a:noFill/>
          <a:ln w="57150">
            <a:solidFill>
              <a:schemeClr val="tx2">
                <a:lumMod val="60000"/>
                <a:lumOff val="40000"/>
              </a:schemeClr>
            </a:solidFill>
          </a:ln>
        </p:spPr>
        <p:txBody>
          <a:bodyPr wrap="square" rtlCol="0">
            <a:spAutoFit/>
          </a:bodyPr>
          <a:lstStyle/>
          <a:p>
            <a:r>
              <a:rPr lang="es-AR" dirty="0"/>
              <a:t>Pasivo Circulante</a:t>
            </a:r>
          </a:p>
          <a:p>
            <a:r>
              <a:rPr lang="es-AR" dirty="0"/>
              <a:t>Salarios e Impuestos Acumulados</a:t>
            </a:r>
          </a:p>
          <a:p>
            <a:r>
              <a:rPr lang="es-AR" dirty="0"/>
              <a:t>Cuentas por Pagar</a:t>
            </a:r>
          </a:p>
          <a:p>
            <a:r>
              <a:rPr lang="es-AR" dirty="0"/>
              <a:t>Obligaciones por Pagar</a:t>
            </a:r>
          </a:p>
        </p:txBody>
      </p:sp>
      <p:sp>
        <p:nvSpPr>
          <p:cNvPr id="14" name="CuadroTexto 13">
            <a:extLst>
              <a:ext uri="{FF2B5EF4-FFF2-40B4-BE49-F238E27FC236}">
                <a16:creationId xmlns:a16="http://schemas.microsoft.com/office/drawing/2014/main" id="{750EC502-38FD-158A-1B2C-90FB3561F419}"/>
              </a:ext>
            </a:extLst>
          </p:cNvPr>
          <p:cNvSpPr txBox="1"/>
          <p:nvPr/>
        </p:nvSpPr>
        <p:spPr>
          <a:xfrm>
            <a:off x="6829866" y="3780609"/>
            <a:ext cx="4206240" cy="369332"/>
          </a:xfrm>
          <a:prstGeom prst="rect">
            <a:avLst/>
          </a:prstGeom>
          <a:noFill/>
          <a:ln w="57150">
            <a:solidFill>
              <a:schemeClr val="tx2">
                <a:lumMod val="60000"/>
                <a:lumOff val="40000"/>
              </a:schemeClr>
            </a:solidFill>
          </a:ln>
        </p:spPr>
        <p:txBody>
          <a:bodyPr wrap="square" rtlCol="0">
            <a:spAutoFit/>
          </a:bodyPr>
          <a:lstStyle/>
          <a:p>
            <a:r>
              <a:rPr lang="es-AR" dirty="0"/>
              <a:t>Deuda a Largo Plazo</a:t>
            </a:r>
          </a:p>
        </p:txBody>
      </p:sp>
      <p:sp>
        <p:nvSpPr>
          <p:cNvPr id="15" name="CuadroTexto 14">
            <a:extLst>
              <a:ext uri="{FF2B5EF4-FFF2-40B4-BE49-F238E27FC236}">
                <a16:creationId xmlns:a16="http://schemas.microsoft.com/office/drawing/2014/main" id="{8C93C807-0CB5-C99E-3CF9-6D865FBB70C5}"/>
              </a:ext>
            </a:extLst>
          </p:cNvPr>
          <p:cNvSpPr txBox="1"/>
          <p:nvPr/>
        </p:nvSpPr>
        <p:spPr>
          <a:xfrm>
            <a:off x="6818142" y="4380342"/>
            <a:ext cx="4206240" cy="1200329"/>
          </a:xfrm>
          <a:prstGeom prst="rect">
            <a:avLst/>
          </a:prstGeom>
          <a:noFill/>
          <a:ln w="57150">
            <a:solidFill>
              <a:schemeClr val="tx2">
                <a:lumMod val="60000"/>
                <a:lumOff val="40000"/>
              </a:schemeClr>
            </a:solidFill>
          </a:ln>
        </p:spPr>
        <p:txBody>
          <a:bodyPr wrap="square" rtlCol="0">
            <a:spAutoFit/>
          </a:bodyPr>
          <a:lstStyle/>
          <a:p>
            <a:r>
              <a:rPr lang="es-AR" dirty="0"/>
              <a:t>Capital de los Accionistas</a:t>
            </a:r>
          </a:p>
          <a:p>
            <a:r>
              <a:rPr lang="es-AR" dirty="0"/>
              <a:t>Acciones Comunes + Ganancias Retenidas</a:t>
            </a:r>
          </a:p>
          <a:p>
            <a:r>
              <a:rPr lang="es-AR" dirty="0"/>
              <a:t>		=</a:t>
            </a:r>
          </a:p>
          <a:p>
            <a:r>
              <a:rPr lang="es-AR" dirty="0"/>
              <a:t>Activo Contable – Pasivo Contable</a:t>
            </a:r>
          </a:p>
        </p:txBody>
      </p:sp>
      <p:sp>
        <p:nvSpPr>
          <p:cNvPr id="16" name="CuadroTexto 15">
            <a:extLst>
              <a:ext uri="{FF2B5EF4-FFF2-40B4-BE49-F238E27FC236}">
                <a16:creationId xmlns:a16="http://schemas.microsoft.com/office/drawing/2014/main" id="{1BE71468-4DC3-DA5B-99D1-6559721609D7}"/>
              </a:ext>
            </a:extLst>
          </p:cNvPr>
          <p:cNvSpPr txBox="1"/>
          <p:nvPr/>
        </p:nvSpPr>
        <p:spPr>
          <a:xfrm>
            <a:off x="6818142" y="5916948"/>
            <a:ext cx="4206240" cy="369332"/>
          </a:xfrm>
          <a:prstGeom prst="rect">
            <a:avLst/>
          </a:prstGeom>
          <a:noFill/>
          <a:ln w="57150">
            <a:solidFill>
              <a:schemeClr val="tx2">
                <a:lumMod val="60000"/>
                <a:lumOff val="40000"/>
              </a:schemeClr>
            </a:solidFill>
          </a:ln>
        </p:spPr>
        <p:txBody>
          <a:bodyPr wrap="square" rtlCol="0">
            <a:spAutoFit/>
          </a:bodyPr>
          <a:lstStyle/>
          <a:p>
            <a:r>
              <a:rPr lang="es-AR" dirty="0"/>
              <a:t>Pasivo Contable y Capital</a:t>
            </a:r>
          </a:p>
        </p:txBody>
      </p:sp>
    </p:spTree>
    <p:extLst>
      <p:ext uri="{BB962C8B-B14F-4D97-AF65-F5344CB8AC3E}">
        <p14:creationId xmlns:p14="http://schemas.microsoft.com/office/powerpoint/2010/main" val="4014363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Activo Circulante, se espera se convierta en efectivo en menos de un año</a:t>
            </a:r>
          </a:p>
          <a:p>
            <a:r>
              <a:rPr lang="es-AR" dirty="0"/>
              <a:t>El Activo a largo plazo consta de activos que se espera se usen más allá de un año. Plantas, equipos, patentes y derechos de autor. Valores netos de depreciación (Activo Fijo Neto)</a:t>
            </a:r>
          </a:p>
          <a:p>
            <a:endParaRPr lang="es-AR" dirty="0"/>
          </a:p>
          <a:p>
            <a:r>
              <a:rPr lang="es-AR" dirty="0"/>
              <a:t>Los derechos contra los activos son: Pasivo y Capital de los Accionistas</a:t>
            </a:r>
          </a:p>
          <a:p>
            <a:r>
              <a:rPr lang="es-AR" dirty="0"/>
              <a:t>Pasivo Circulante, a pagarse dentro del año. Remunerados y no Remunerados</a:t>
            </a:r>
          </a:p>
          <a:p>
            <a:r>
              <a:rPr lang="es-AR" dirty="0"/>
              <a:t>Deuda de largo plazo</a:t>
            </a:r>
          </a:p>
          <a:p>
            <a:r>
              <a:rPr lang="es-AR" dirty="0"/>
              <a:t>Capital de los Accionistas = Capital Pagado + Ganancias Retenidas (acumuladas)</a:t>
            </a:r>
          </a:p>
        </p:txBody>
      </p:sp>
    </p:spTree>
    <p:extLst>
      <p:ext uri="{BB962C8B-B14F-4D97-AF65-F5344CB8AC3E}">
        <p14:creationId xmlns:p14="http://schemas.microsoft.com/office/powerpoint/2010/main" val="2741159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¿Por qué las Acciones Comunes son más Riesgosas que los Bonos?</a:t>
            </a:r>
          </a:p>
          <a:p>
            <a:pPr lvl="1"/>
            <a:r>
              <a:rPr lang="es-AR" dirty="0"/>
              <a:t>La declinación en el valor de un activo irá contra las ganancias acumuladas y no contra deuda. Surgen entonces estas dos preguntas:</a:t>
            </a:r>
          </a:p>
          <a:p>
            <a:pPr lvl="1"/>
            <a:r>
              <a:rPr lang="es-AR" dirty="0"/>
              <a:t>¿Quién exigirá mayor Rendimiento?</a:t>
            </a:r>
          </a:p>
          <a:p>
            <a:pPr lvl="1"/>
            <a:r>
              <a:rPr lang="es-AR" dirty="0"/>
              <a:t>¿Quién se beneficia de los aciertos en la Compañía?</a:t>
            </a:r>
          </a:p>
          <a:p>
            <a:endParaRPr lang="es-AR" dirty="0"/>
          </a:p>
          <a:p>
            <a:r>
              <a:rPr lang="es-AR" dirty="0"/>
              <a:t>Ordenamos activos y pasivos según su orden temporal. Las Acciones no se saldan nunca, son propiedad</a:t>
            </a:r>
          </a:p>
        </p:txBody>
      </p:sp>
    </p:spTree>
    <p:extLst>
      <p:ext uri="{BB962C8B-B14F-4D97-AF65-F5344CB8AC3E}">
        <p14:creationId xmlns:p14="http://schemas.microsoft.com/office/powerpoint/2010/main" val="400070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r>
              <a:rPr lang="es-AR" dirty="0"/>
              <a:t>Analizamos el Balance de Allied, que utilizaremos en gran parte del curso</a:t>
            </a:r>
          </a:p>
          <a:p>
            <a:endParaRPr lang="es-AR" dirty="0"/>
          </a:p>
          <a:p>
            <a:r>
              <a:rPr lang="es-AR" dirty="0"/>
              <a:t>Tiene 2.000 de Activos, la mitad son circulantes</a:t>
            </a:r>
          </a:p>
          <a:p>
            <a:r>
              <a:rPr lang="es-AR" dirty="0"/>
              <a:t>Método de Valuación de Inventarios (detallado en Notas)</a:t>
            </a:r>
          </a:p>
          <a:p>
            <a:r>
              <a:rPr lang="es-AR" dirty="0"/>
              <a:t>Esquema de Depreciación (detallado en Notas)</a:t>
            </a:r>
          </a:p>
          <a:p>
            <a:r>
              <a:rPr lang="es-AR" dirty="0"/>
              <a:t>No tiene Acciones Preferentes</a:t>
            </a:r>
          </a:p>
          <a:p>
            <a:r>
              <a:rPr lang="es-AR" dirty="0"/>
              <a:t>Se financian con 310 de Pasivo Circulante, 750 Deuda Largo Plazo y 940 en Acciones comunes</a:t>
            </a:r>
          </a:p>
          <a:p>
            <a:r>
              <a:rPr lang="es-AR" dirty="0"/>
              <a:t>¿Qué cambios se destacan respecto del año anterior? </a:t>
            </a:r>
          </a:p>
        </p:txBody>
      </p:sp>
    </p:spTree>
    <p:extLst>
      <p:ext uri="{BB962C8B-B14F-4D97-AF65-F5344CB8AC3E}">
        <p14:creationId xmlns:p14="http://schemas.microsoft.com/office/powerpoint/2010/main" val="126099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r>
              <a:rPr lang="es-AR" dirty="0"/>
              <a:t>Capital de Trabajo: es el Activo circulante (AC) – Rota, de allí su nombre</a:t>
            </a:r>
          </a:p>
          <a:p>
            <a:r>
              <a:rPr lang="es-AR" dirty="0"/>
              <a:t>Pasivo circulante (PC), remunerado y no remunerado</a:t>
            </a:r>
          </a:p>
          <a:p>
            <a:endParaRPr lang="es-AR" dirty="0"/>
          </a:p>
          <a:p>
            <a:pPr marL="0" indent="0">
              <a:buNone/>
            </a:pPr>
            <a:r>
              <a:rPr lang="es-AR" dirty="0"/>
              <a:t>	Capital de Trabajo </a:t>
            </a:r>
            <a:r>
              <a:rPr lang="es-AR" b="1" dirty="0"/>
              <a:t>Neto</a:t>
            </a:r>
            <a:r>
              <a:rPr lang="es-AR" dirty="0"/>
              <a:t> (NWC) = AC – PC = 1.000 – 310 = 690</a:t>
            </a:r>
          </a:p>
          <a:p>
            <a:pPr marL="0" indent="0">
              <a:buNone/>
            </a:pPr>
            <a:endParaRPr lang="es-AR" dirty="0"/>
          </a:p>
          <a:p>
            <a:r>
              <a:rPr lang="es-AR" dirty="0"/>
              <a:t>Activo circulante operativo (ACO), es el AC menos los excedentes de efectivo (EE)</a:t>
            </a:r>
          </a:p>
          <a:p>
            <a:r>
              <a:rPr lang="es-AR" dirty="0"/>
              <a:t>Pasivo circulante operativo (PCO), es el PC menos las obligaciones por pagar (OP), que se consideran un costo de financiamiento más que un costo de operación</a:t>
            </a:r>
          </a:p>
          <a:p>
            <a:endParaRPr lang="es-AR" dirty="0"/>
          </a:p>
          <a:p>
            <a:pPr marL="0" indent="0">
              <a:buNone/>
            </a:pPr>
            <a:r>
              <a:rPr lang="es-AR" dirty="0"/>
              <a:t>	Capital de Trabajo Operativo Neto (NOWC) = ACO – PCO</a:t>
            </a:r>
          </a:p>
          <a:p>
            <a:pPr marL="0" indent="0">
              <a:buNone/>
            </a:pPr>
            <a:r>
              <a:rPr lang="es-AR" dirty="0"/>
              <a:t>						          = [AC – EE] – [PC – OP]</a:t>
            </a:r>
          </a:p>
          <a:p>
            <a:pPr marL="0" indent="0">
              <a:buNone/>
            </a:pPr>
            <a:r>
              <a:rPr lang="es-AR" dirty="0"/>
              <a:t>						          = [1.000 – 0] – [310 – 110] = 800</a:t>
            </a: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endParaRPr lang="es-AR" dirty="0"/>
          </a:p>
          <a:p>
            <a:endParaRPr lang="es-AR" dirty="0"/>
          </a:p>
        </p:txBody>
      </p:sp>
    </p:spTree>
    <p:extLst>
      <p:ext uri="{BB962C8B-B14F-4D97-AF65-F5344CB8AC3E}">
        <p14:creationId xmlns:p14="http://schemas.microsoft.com/office/powerpoint/2010/main" val="344580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Hemos considerado que los 10 MM de efectivo de Allied son operativos (no hay efectivo excedente) </a:t>
            </a:r>
          </a:p>
          <a:p>
            <a:pPr marL="514350" indent="-514350">
              <a:buFont typeface="+mj-lt"/>
              <a:buAutoNum type="arabicPeriod"/>
            </a:pPr>
            <a:r>
              <a:rPr lang="es-AR" dirty="0"/>
              <a:t>Hay empresas con carteras de efectivo muy grandes. Por ejemplo, Microsoft tenía el 2016 más de  100.000 MM, donde definir la parte excedente cambia todo el análisis</a:t>
            </a:r>
          </a:p>
          <a:p>
            <a:endParaRPr lang="es-AR" dirty="0"/>
          </a:p>
          <a:p>
            <a:r>
              <a:rPr lang="es-AR" dirty="0"/>
              <a:t>¿Cuáles eran el NWC y el NOWC de Allied en 2017?</a:t>
            </a:r>
          </a:p>
        </p:txBody>
      </p:sp>
    </p:spTree>
    <p:extLst>
      <p:ext uri="{BB962C8B-B14F-4D97-AF65-F5344CB8AC3E}">
        <p14:creationId xmlns:p14="http://schemas.microsoft.com/office/powerpoint/2010/main" val="4202080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Deuda total vs Pasivo Contable</a:t>
            </a:r>
          </a:p>
          <a:p>
            <a:r>
              <a:rPr lang="es-AR" dirty="0"/>
              <a:t>Deuda total = Deuda de CP + Deuda de LP (generadores de intereses)</a:t>
            </a:r>
          </a:p>
          <a:p>
            <a:r>
              <a:rPr lang="es-AR" dirty="0"/>
              <a:t>Pasivo Contable = Deuda total + cuentas por pagar + acumulaciones</a:t>
            </a:r>
          </a:p>
          <a:p>
            <a:r>
              <a:rPr lang="es-AR" dirty="0"/>
              <a:t>En 2018, </a:t>
            </a:r>
          </a:p>
          <a:p>
            <a:pPr lvl="1"/>
            <a:r>
              <a:rPr lang="es-AR" dirty="0"/>
              <a:t>Deuda total 110 + 750 = 860</a:t>
            </a:r>
          </a:p>
          <a:p>
            <a:pPr lvl="1"/>
            <a:r>
              <a:rPr lang="es-AR" dirty="0"/>
              <a:t>Pasivo Contable = Deuda total + 60 + 140 = 1.060</a:t>
            </a:r>
          </a:p>
          <a:p>
            <a:r>
              <a:rPr lang="es-AR" dirty="0"/>
              <a:t>¿En 2017?</a:t>
            </a:r>
          </a:p>
        </p:txBody>
      </p:sp>
    </p:spTree>
    <p:extLst>
      <p:ext uri="{BB962C8B-B14F-4D97-AF65-F5344CB8AC3E}">
        <p14:creationId xmlns:p14="http://schemas.microsoft.com/office/powerpoint/2010/main" val="3117052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Otras fuentes de financiamiento del Activo, efectos sobre el balance, quiebras</a:t>
            </a:r>
          </a:p>
          <a:p>
            <a:pPr lvl="1"/>
            <a:r>
              <a:rPr lang="es-AR" dirty="0"/>
              <a:t>Acciones Preferentes - Híbrido entre acciones comunes y deuda. Frente a una quiebra, se pagan inmediatamente luego de cancelar las deudas</a:t>
            </a:r>
          </a:p>
          <a:p>
            <a:pPr lvl="1"/>
            <a:r>
              <a:rPr lang="es-AR" dirty="0"/>
              <a:t>Bonos Convertibles – Deuda, que da derecho a convertirlos en Acciones Comunes</a:t>
            </a:r>
          </a:p>
          <a:p>
            <a:pPr lvl="1"/>
            <a:r>
              <a:rPr lang="es-AR" dirty="0"/>
              <a:t>Warrants</a:t>
            </a:r>
          </a:p>
          <a:p>
            <a:pPr lvl="1"/>
            <a:r>
              <a:rPr lang="es-AR" dirty="0"/>
              <a:t>Arrendamientos de largo plazo</a:t>
            </a:r>
          </a:p>
          <a:p>
            <a:r>
              <a:rPr lang="es-AR" dirty="0"/>
              <a:t>Depreciación y sus efectos fiscales. Acelerada (IRS) o lineal (US GAAP)</a:t>
            </a:r>
          </a:p>
        </p:txBody>
      </p:sp>
    </p:spTree>
    <p:extLst>
      <p:ext uri="{BB962C8B-B14F-4D97-AF65-F5344CB8AC3E}">
        <p14:creationId xmlns:p14="http://schemas.microsoft.com/office/powerpoint/2010/main" val="4294741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Valores del Mercado Vs Valores Contables</a:t>
            </a:r>
          </a:p>
          <a:p>
            <a:pPr lvl="1"/>
            <a:r>
              <a:rPr lang="es-AR" dirty="0"/>
              <a:t>Activos. Inmuebles, en GAAP se reportan a valor de compra menos depreciación</a:t>
            </a:r>
          </a:p>
          <a:p>
            <a:pPr lvl="1"/>
            <a:r>
              <a:rPr lang="es-AR" dirty="0"/>
              <a:t>Acciones. Vimos el valor contable que surge de los Estados, pero no era ese su valor de mercado de la acción</a:t>
            </a:r>
          </a:p>
          <a:p>
            <a:pPr lvl="1"/>
            <a:r>
              <a:rPr lang="es-AR" dirty="0"/>
              <a:t>¿Por qué difieren? Contabilización y expectativas de crecimiento</a:t>
            </a:r>
          </a:p>
          <a:p>
            <a:pPr lvl="2"/>
            <a:r>
              <a:rPr lang="es-AR" dirty="0"/>
              <a:t>Valor de los Activos</a:t>
            </a:r>
          </a:p>
          <a:p>
            <a:pPr lvl="2"/>
            <a:r>
              <a:rPr lang="es-AR" dirty="0"/>
              <a:t>Ganancias futuras esperadas</a:t>
            </a:r>
          </a:p>
          <a:p>
            <a:pPr lvl="1"/>
            <a:r>
              <a:rPr lang="es-AR" dirty="0"/>
              <a:t>Apple en 2017 tenía un valor de mercado más de cinco veces mayor</a:t>
            </a:r>
          </a:p>
          <a:p>
            <a:pPr lvl="1"/>
            <a:r>
              <a:rPr lang="es-AR" dirty="0"/>
              <a:t>¿Puede ser el valor contable superior al del mercado? Sí</a:t>
            </a:r>
          </a:p>
        </p:txBody>
      </p:sp>
    </p:spTree>
    <p:extLst>
      <p:ext uri="{BB962C8B-B14F-4D97-AF65-F5344CB8AC3E}">
        <p14:creationId xmlns:p14="http://schemas.microsoft.com/office/powerpoint/2010/main" val="1093400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Dimensión Temporal. El Balance General es una Foto. </a:t>
            </a:r>
          </a:p>
          <a:p>
            <a:r>
              <a:rPr lang="es-AR" dirty="0"/>
              <a:t>El Balance puede tener marcadas diferencias estacionales </a:t>
            </a:r>
          </a:p>
          <a:p>
            <a:pPr lvl="1"/>
            <a:r>
              <a:rPr lang="es-AR" dirty="0"/>
              <a:t>Su deuda de corto</a:t>
            </a:r>
          </a:p>
          <a:p>
            <a:pPr lvl="1"/>
            <a:r>
              <a:rPr lang="es-AR" dirty="0"/>
              <a:t>Sus cuentas por cobrar y pagar</a:t>
            </a:r>
          </a:p>
          <a:p>
            <a:pPr lvl="1"/>
            <a:r>
              <a:rPr lang="es-AR" dirty="0"/>
              <a:t>Sus inventarios</a:t>
            </a:r>
          </a:p>
          <a:p>
            <a:pPr lvl="1"/>
            <a:endParaRPr lang="es-AR" dirty="0"/>
          </a:p>
          <a:p>
            <a:pPr marL="457200" lvl="1" indent="0" algn="ctr">
              <a:buNone/>
            </a:pPr>
            <a:r>
              <a:rPr lang="es-AR" dirty="0"/>
              <a:t>Depende fuertemente de los ciclos del negocio en cuestión</a:t>
            </a:r>
          </a:p>
        </p:txBody>
      </p:sp>
    </p:spTree>
    <p:extLst>
      <p:ext uri="{BB962C8B-B14F-4D97-AF65-F5344CB8AC3E}">
        <p14:creationId xmlns:p14="http://schemas.microsoft.com/office/powerpoint/2010/main" val="1827047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a:xfrm>
            <a:off x="838201" y="3390310"/>
            <a:ext cx="3733800" cy="2236763"/>
          </a:xfrm>
        </p:spPr>
        <p:txBody>
          <a:bodyPr>
            <a:normAutofit fontScale="92500" lnSpcReduction="10000"/>
          </a:bodyPr>
          <a:lstStyle/>
          <a:p>
            <a:r>
              <a:rPr lang="es-AR" dirty="0"/>
              <a:t>Ventas</a:t>
            </a:r>
          </a:p>
          <a:p>
            <a:r>
              <a:rPr lang="es-AR" dirty="0"/>
              <a:t>Costos Operativos</a:t>
            </a:r>
          </a:p>
          <a:p>
            <a:r>
              <a:rPr lang="es-AR" dirty="0"/>
              <a:t>Intereses</a:t>
            </a:r>
          </a:p>
          <a:p>
            <a:r>
              <a:rPr lang="es-AR" dirty="0"/>
              <a:t>Impuestos</a:t>
            </a:r>
          </a:p>
          <a:p>
            <a:r>
              <a:rPr lang="es-AR" dirty="0"/>
              <a:t>Ingreso Neto</a:t>
            </a:r>
          </a:p>
        </p:txBody>
      </p:sp>
      <p:sp>
        <p:nvSpPr>
          <p:cNvPr id="4" name="Marcador de contenido 2">
            <a:extLst>
              <a:ext uri="{FF2B5EF4-FFF2-40B4-BE49-F238E27FC236}">
                <a16:creationId xmlns:a16="http://schemas.microsoft.com/office/drawing/2014/main" id="{82045D08-3B32-5D8B-030B-289A591421C5}"/>
              </a:ext>
            </a:extLst>
          </p:cNvPr>
          <p:cNvSpPr txBox="1">
            <a:spLocks/>
          </p:cNvSpPr>
          <p:nvPr/>
        </p:nvSpPr>
        <p:spPr>
          <a:xfrm>
            <a:off x="4873284" y="3390310"/>
            <a:ext cx="6480515" cy="157558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a:t>EPS (Ganancias por Acción) – “La Línea Esencial” para los Accionistas</a:t>
            </a:r>
          </a:p>
          <a:p>
            <a:r>
              <a:rPr lang="es-AR" dirty="0"/>
              <a:t>DPS (Dividendos por Acción)</a:t>
            </a:r>
          </a:p>
          <a:p>
            <a:r>
              <a:rPr lang="es-AR" dirty="0"/>
              <a:t>BVPS (Valor Contable por Acción)</a:t>
            </a:r>
          </a:p>
          <a:p>
            <a:pPr marL="0" indent="0">
              <a:buNone/>
            </a:pPr>
            <a:endParaRPr lang="es-AR" dirty="0"/>
          </a:p>
        </p:txBody>
      </p:sp>
      <p:sp>
        <p:nvSpPr>
          <p:cNvPr id="5" name="CuadroTexto 4">
            <a:extLst>
              <a:ext uri="{FF2B5EF4-FFF2-40B4-BE49-F238E27FC236}">
                <a16:creationId xmlns:a16="http://schemas.microsoft.com/office/drawing/2014/main" id="{5F92F7AE-D096-EC0E-9C15-6FBF02E67834}"/>
              </a:ext>
            </a:extLst>
          </p:cNvPr>
          <p:cNvSpPr txBox="1"/>
          <p:nvPr/>
        </p:nvSpPr>
        <p:spPr>
          <a:xfrm>
            <a:off x="984738" y="5739616"/>
            <a:ext cx="9847385" cy="492443"/>
          </a:xfrm>
          <a:prstGeom prst="rect">
            <a:avLst/>
          </a:prstGeom>
          <a:noFill/>
        </p:spPr>
        <p:txBody>
          <a:bodyPr wrap="square" rtlCol="0">
            <a:spAutoFit/>
          </a:bodyPr>
          <a:lstStyle/>
          <a:p>
            <a:r>
              <a:rPr lang="es-AR" sz="2600" dirty="0"/>
              <a:t>Lo analizaremos sobre el Estado de Resultados de Allied</a:t>
            </a:r>
          </a:p>
        </p:txBody>
      </p:sp>
      <p:sp>
        <p:nvSpPr>
          <p:cNvPr id="6" name="CuadroTexto 5">
            <a:extLst>
              <a:ext uri="{FF2B5EF4-FFF2-40B4-BE49-F238E27FC236}">
                <a16:creationId xmlns:a16="http://schemas.microsoft.com/office/drawing/2014/main" id="{2BC6152B-3052-78E5-5AAE-F8E30ABD8D35}"/>
              </a:ext>
            </a:extLst>
          </p:cNvPr>
          <p:cNvSpPr txBox="1"/>
          <p:nvPr/>
        </p:nvSpPr>
        <p:spPr>
          <a:xfrm>
            <a:off x="1137138" y="1727981"/>
            <a:ext cx="9847385" cy="1384995"/>
          </a:xfrm>
          <a:prstGeom prst="rect">
            <a:avLst/>
          </a:prstGeom>
          <a:noFill/>
        </p:spPr>
        <p:txBody>
          <a:bodyPr wrap="square" rtlCol="0">
            <a:spAutoFit/>
          </a:bodyPr>
          <a:lstStyle/>
          <a:p>
            <a:r>
              <a:rPr lang="es-AR" sz="2800" dirty="0"/>
              <a:t>Estado de Resultados, informes que resumen los ingresos, egresos y ganancias de una empresa durante un período de tiempo, generalmente un año o un trimestre</a:t>
            </a:r>
          </a:p>
        </p:txBody>
      </p:sp>
    </p:spTree>
    <p:extLst>
      <p:ext uri="{BB962C8B-B14F-4D97-AF65-F5344CB8AC3E}">
        <p14:creationId xmlns:p14="http://schemas.microsoft.com/office/powerpoint/2010/main" val="2623495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Si bien un Accionista promedio se concentra en los EPS, los analistas querrán diferenciar la parte operativa y no operativa</a:t>
            </a:r>
          </a:p>
          <a:p>
            <a:endParaRPr lang="es-AR" dirty="0"/>
          </a:p>
          <a:p>
            <a:pPr marL="0" indent="0" algn="ctr">
              <a:buNone/>
            </a:pPr>
            <a:r>
              <a:rPr lang="es-AR" sz="2600" dirty="0"/>
              <a:t>Ingreso de operaciones (EBIT) = Ingreso de Ventas – Costo de Operación</a:t>
            </a:r>
          </a:p>
          <a:p>
            <a:pPr marL="0" indent="0">
              <a:buNone/>
            </a:pPr>
            <a:r>
              <a:rPr lang="es-AR" sz="2600" dirty="0"/>
              <a:t> 				          = 3.000 – 2.716,2 = 283,8 MM</a:t>
            </a:r>
          </a:p>
          <a:p>
            <a:pPr marL="0" indent="0">
              <a:buNone/>
            </a:pPr>
            <a:endParaRPr lang="es-AR" dirty="0"/>
          </a:p>
          <a:p>
            <a:pPr marL="0" indent="0">
              <a:buNone/>
            </a:pPr>
            <a:r>
              <a:rPr lang="es-AR" dirty="0"/>
              <a:t>Analizar el EBIT nos evita la distorsión producto de Activos no operativos y del tipo de financiamiento. Permite una sana comparación entre empresas</a:t>
            </a:r>
          </a:p>
        </p:txBody>
      </p:sp>
    </p:spTree>
    <p:extLst>
      <p:ext uri="{BB962C8B-B14F-4D97-AF65-F5344CB8AC3E}">
        <p14:creationId xmlns:p14="http://schemas.microsoft.com/office/powerpoint/2010/main" val="1276407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Autofit/>
          </a:bodyPr>
          <a:lstStyle/>
          <a:p>
            <a:r>
              <a:rPr lang="es-AR" sz="2600" dirty="0"/>
              <a:t>Si bien el EBIT aumentó de 2017 a 2018, el ingreso neto, EBT, bajó producto de un mayor endeudamiento y sus 28 MM de intereses</a:t>
            </a:r>
          </a:p>
          <a:p>
            <a:r>
              <a:rPr lang="es-AR" sz="2600" dirty="0"/>
              <a:t>Vemos que las depreciaciones y amortizaciones son relevantes en el costo operativo, pero al no ser salidas de efectivo, lleva a que los gerentes, analistas y ejecutivos bancarios quieran ver el EBITDA. Recordar que el valor viene determinado por los flujos de efectivo futuros esperados.</a:t>
            </a:r>
          </a:p>
          <a:p>
            <a:endParaRPr lang="es-AR" sz="2600" dirty="0"/>
          </a:p>
          <a:p>
            <a:r>
              <a:rPr lang="es-AR" sz="2600" dirty="0"/>
              <a:t>El EBITDA de Allied en 2018 fue de 383,8 MM = EBIT + 100MM</a:t>
            </a:r>
          </a:p>
          <a:p>
            <a:endParaRPr lang="es-AR" sz="2600" dirty="0"/>
          </a:p>
          <a:p>
            <a:r>
              <a:rPr lang="es-AR" sz="2600" dirty="0"/>
              <a:t>Si bien de 2017 a 2018 las EPS cayeron, Allied aumentó sus DPS</a:t>
            </a:r>
          </a:p>
          <a:p>
            <a:pPr marL="0" indent="0">
              <a:buNone/>
            </a:pPr>
            <a:endParaRPr lang="es-AR" sz="2600" dirty="0"/>
          </a:p>
        </p:txBody>
      </p:sp>
    </p:spTree>
    <p:extLst>
      <p:ext uri="{BB962C8B-B14F-4D97-AF65-F5344CB8AC3E}">
        <p14:creationId xmlns:p14="http://schemas.microsoft.com/office/powerpoint/2010/main" val="2463163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dirty="0"/>
              <a:t>Estado de Flujos de efectivo</a:t>
            </a:r>
          </a:p>
          <a:p>
            <a:pPr marL="0" indent="0">
              <a:buNone/>
            </a:pPr>
            <a:endParaRPr lang="es-AR" dirty="0"/>
          </a:p>
          <a:p>
            <a:r>
              <a:rPr lang="es-AR" dirty="0"/>
              <a:t>El ingreso neto del Estado de Resultados NO es efectivo, y en Finanzas, el Efectivo es el Rey</a:t>
            </a:r>
          </a:p>
          <a:p>
            <a:r>
              <a:rPr lang="es-AR" dirty="0"/>
              <a:t>Los gerentes buscan maximizar los flujos de efectivo disponibles para sus Accionistas</a:t>
            </a:r>
          </a:p>
          <a:p>
            <a:r>
              <a:rPr lang="es-AR" dirty="0"/>
              <a:t>Veamos el correspondiente a Allied en sus cuatro secciones:</a:t>
            </a:r>
          </a:p>
          <a:p>
            <a:pPr marL="971550" lvl="1" indent="-514350">
              <a:buFont typeface="+mj-lt"/>
              <a:buAutoNum type="romanUcPeriod"/>
            </a:pPr>
            <a:r>
              <a:rPr lang="es-AR" dirty="0"/>
              <a:t>Actividades de Operación</a:t>
            </a:r>
          </a:p>
          <a:p>
            <a:pPr marL="971550" lvl="1" indent="-514350">
              <a:buFont typeface="+mj-lt"/>
              <a:buAutoNum type="romanUcPeriod"/>
            </a:pPr>
            <a:r>
              <a:rPr lang="es-AR" dirty="0"/>
              <a:t>Actividades de Inversión</a:t>
            </a:r>
          </a:p>
          <a:p>
            <a:pPr marL="971550" lvl="1" indent="-514350">
              <a:buFont typeface="+mj-lt"/>
              <a:buAutoNum type="romanUcPeriod"/>
            </a:pPr>
            <a:r>
              <a:rPr lang="es-AR" dirty="0"/>
              <a:t>Actividades de Financiamiento</a:t>
            </a:r>
          </a:p>
          <a:p>
            <a:pPr marL="971550" lvl="1" indent="-514350">
              <a:buFont typeface="+mj-lt"/>
              <a:buAutoNum type="romanUcPeriod"/>
            </a:pPr>
            <a:r>
              <a:rPr lang="es-AR" dirty="0"/>
              <a:t>Resumen</a:t>
            </a:r>
          </a:p>
        </p:txBody>
      </p:sp>
    </p:spTree>
    <p:extLst>
      <p:ext uri="{BB962C8B-B14F-4D97-AF65-F5344CB8AC3E}">
        <p14:creationId xmlns:p14="http://schemas.microsoft.com/office/powerpoint/2010/main" val="372996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Estado del Capital de los Accionistas</a:t>
            </a:r>
          </a:p>
          <a:p>
            <a:pPr marL="0" indent="0">
              <a:buNone/>
            </a:pPr>
            <a:endParaRPr lang="es-AR" dirty="0"/>
          </a:p>
          <a:p>
            <a:r>
              <a:rPr lang="es-AR" dirty="0"/>
              <a:t>Exhibe los cambios en el capital de los Accionistas durante el período</a:t>
            </a:r>
          </a:p>
          <a:p>
            <a:endParaRPr lang="es-AR" dirty="0"/>
          </a:p>
          <a:p>
            <a:r>
              <a:rPr lang="es-AR" dirty="0"/>
              <a:t>Las ganancias retenidas no son activos, son derechos sobre los activos. Por lo tanto, no debe pensarse que es efectivo que puede distribuirse a los accionistas</a:t>
            </a:r>
          </a:p>
          <a:p>
            <a:pPr lvl="1"/>
            <a:r>
              <a:rPr lang="es-AR" dirty="0"/>
              <a:t>¿Cuál es el destino que suele tener?</a:t>
            </a:r>
          </a:p>
          <a:p>
            <a:pPr lvl="1"/>
            <a:r>
              <a:rPr lang="es-AR" dirty="0"/>
              <a:t>¿Cuál es el principal problema de la gerencia si no tiene un destino definido, por qué?</a:t>
            </a:r>
          </a:p>
        </p:txBody>
      </p:sp>
    </p:spTree>
    <p:extLst>
      <p:ext uri="{BB962C8B-B14F-4D97-AF65-F5344CB8AC3E}">
        <p14:creationId xmlns:p14="http://schemas.microsoft.com/office/powerpoint/2010/main" val="1449937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dirty="0"/>
              <a:t>Usos y limitaciones de los Estados Financieros</a:t>
            </a:r>
          </a:p>
          <a:p>
            <a:endParaRPr lang="es-AR" dirty="0"/>
          </a:p>
          <a:p>
            <a:r>
              <a:rPr lang="es-AR" dirty="0"/>
              <a:t>Los estados financieros son de gran utilidad y permiten responder preguntas como</a:t>
            </a:r>
          </a:p>
          <a:p>
            <a:r>
              <a:rPr lang="es-AR" dirty="0"/>
              <a:t>¿Cuál es el tamaño de la empresa?</a:t>
            </a:r>
          </a:p>
          <a:p>
            <a:r>
              <a:rPr lang="es-AR" dirty="0"/>
              <a:t>¿Está creciendo?</a:t>
            </a:r>
          </a:p>
          <a:p>
            <a:r>
              <a:rPr lang="es-AR" dirty="0"/>
              <a:t>¿Gana o pierde dinero?</a:t>
            </a:r>
          </a:p>
          <a:p>
            <a:r>
              <a:rPr lang="es-AR" dirty="0"/>
              <a:t>¿Genera efectivo a través de sus operaciones o éstas le restan efectivo?</a:t>
            </a:r>
          </a:p>
          <a:p>
            <a:r>
              <a:rPr lang="es-AR" dirty="0"/>
              <a:t>Si bien regido por las GAAP, los gerentes tienen ciertas discrecionalidades para informar ciertas transacciones y dos empresas iguales podrían verse distintas desde lo que su solidez financiera representa</a:t>
            </a:r>
          </a:p>
        </p:txBody>
      </p:sp>
    </p:spTree>
    <p:extLst>
      <p:ext uri="{BB962C8B-B14F-4D97-AF65-F5344CB8AC3E}">
        <p14:creationId xmlns:p14="http://schemas.microsoft.com/office/powerpoint/2010/main" val="4132756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Esto no implica algo ilegal necesariamente, pueden ser diferencias de opiniones sobre cómo registrar transacciones</a:t>
            </a:r>
          </a:p>
          <a:p>
            <a:r>
              <a:rPr lang="es-AR" dirty="0"/>
              <a:t>Puede confundir al inversor</a:t>
            </a:r>
          </a:p>
          <a:p>
            <a:r>
              <a:rPr lang="es-AR" dirty="0"/>
              <a:t>Prestar atención al tipo de bonos de los altos ejecutivos, atados a resultados de corto o de largo plazo ¿A qué conclusiones podríamos arribar? </a:t>
            </a:r>
          </a:p>
          <a:p>
            <a:r>
              <a:rPr lang="es-AR" dirty="0"/>
              <a:t>Puede haber fraudes. Sobre valuación de Activos. Enron, WorldCom. Quiebras, cárcel. Arthur Andersen.</a:t>
            </a:r>
          </a:p>
          <a:p>
            <a:r>
              <a:rPr lang="es-AR" dirty="0"/>
              <a:t>Ley Sarbanes-Oxley (2002)</a:t>
            </a:r>
          </a:p>
          <a:p>
            <a:r>
              <a:rPr lang="es-AR" dirty="0"/>
              <a:t>Aun con datos contables certeros, lo que importa es el Flujo de Efectivo, al igual que cuando evaluemos qué proyectos aprobar</a:t>
            </a:r>
          </a:p>
        </p:txBody>
      </p:sp>
    </p:spTree>
    <p:extLst>
      <p:ext uri="{BB962C8B-B14F-4D97-AF65-F5344CB8AC3E}">
        <p14:creationId xmlns:p14="http://schemas.microsoft.com/office/powerpoint/2010/main" val="3024334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u="sng" dirty="0"/>
              <a:t>Flujo de Efectivo Disponible – Free Cash Flow</a:t>
            </a:r>
          </a:p>
          <a:p>
            <a:r>
              <a:rPr lang="es-AR" dirty="0"/>
              <a:t>Los gerentes y analistas suelen modificar datos contables a la hora de tomar decisiones. Buscan conocer el Flujo de Efectivo disponible (FCF), que es el monto de efectivo que puede retirarse sin dañar la capacidad de una empresa para operar y producir flujos futuros de efectivo</a:t>
            </a:r>
          </a:p>
          <a:p>
            <a:endParaRPr lang="es-AR" dirty="0"/>
          </a:p>
          <a:p>
            <a:pPr marL="0" indent="0">
              <a:buNone/>
            </a:pPr>
            <a:r>
              <a:rPr lang="es-AR" dirty="0"/>
              <a:t>FCF = [EBIT * (1 – T) + Depreciación &amp; </a:t>
            </a:r>
            <a:r>
              <a:rPr lang="es-AR" dirty="0" err="1"/>
              <a:t>Amort</a:t>
            </a:r>
            <a:r>
              <a:rPr lang="es-AR" dirty="0"/>
              <a:t>.] – [Erogaciones de Capital                      	+ Incremento NOWC]</a:t>
            </a:r>
          </a:p>
          <a:p>
            <a:pPr marL="0" indent="0">
              <a:buNone/>
            </a:pPr>
            <a:endParaRPr lang="es-AR" dirty="0"/>
          </a:p>
          <a:p>
            <a:pPr marL="0" indent="0">
              <a:buNone/>
            </a:pPr>
            <a:r>
              <a:rPr lang="es-AR" dirty="0"/>
              <a:t>NOPAT = Net </a:t>
            </a:r>
            <a:r>
              <a:rPr lang="es-AR" dirty="0" err="1"/>
              <a:t>Operating</a:t>
            </a:r>
            <a:r>
              <a:rPr lang="es-AR" dirty="0"/>
              <a:t> </a:t>
            </a:r>
            <a:r>
              <a:rPr lang="es-AR" dirty="0" err="1"/>
              <a:t>Profit</a:t>
            </a:r>
            <a:r>
              <a:rPr lang="es-AR" dirty="0"/>
              <a:t> After </a:t>
            </a:r>
            <a:r>
              <a:rPr lang="es-AR" dirty="0" err="1"/>
              <a:t>Tax</a:t>
            </a:r>
            <a:r>
              <a:rPr lang="es-AR" dirty="0"/>
              <a:t> = EBIT * (1 – T)</a:t>
            </a:r>
          </a:p>
          <a:p>
            <a:pPr marL="0" indent="0">
              <a:buNone/>
            </a:pPr>
            <a:endParaRPr lang="es-AR" dirty="0"/>
          </a:p>
          <a:p>
            <a:pPr marL="0" indent="0">
              <a:buNone/>
            </a:pPr>
            <a:r>
              <a:rPr lang="es-AR" dirty="0"/>
              <a:t>Sumamos D&amp;A porque no restan efectivo, como ya lo señalamos</a:t>
            </a:r>
          </a:p>
        </p:txBody>
      </p:sp>
    </p:spTree>
    <p:extLst>
      <p:ext uri="{BB962C8B-B14F-4D97-AF65-F5344CB8AC3E}">
        <p14:creationId xmlns:p14="http://schemas.microsoft.com/office/powerpoint/2010/main" val="1152761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u="sng" dirty="0"/>
              <a:t>Flujo de Efectivo Disponible – Free Cash Flow</a:t>
            </a:r>
          </a:p>
          <a:p>
            <a:pPr marL="0" indent="0">
              <a:buNone/>
            </a:pPr>
            <a:endParaRPr lang="es-AR" dirty="0"/>
          </a:p>
          <a:p>
            <a:pPr marL="0" indent="0">
              <a:buNone/>
            </a:pPr>
            <a:r>
              <a:rPr lang="es-AR" dirty="0"/>
              <a:t>Restamos el Efectivo que invierte la Compañía en sus Activos Fijos y en el Capital de Trabajo Operativo necesarios para sostener las operaciones</a:t>
            </a:r>
          </a:p>
          <a:p>
            <a:pPr marL="0" indent="0">
              <a:buNone/>
            </a:pPr>
            <a:r>
              <a:rPr lang="es-AR" dirty="0"/>
              <a:t>Un FCF positivo indica que la compañía genera efectivo más que suficiente para financiar sus inversiones en Activo Fijo y Capital de Trabajo</a:t>
            </a:r>
          </a:p>
          <a:p>
            <a:pPr marL="0" indent="0">
              <a:buNone/>
            </a:pPr>
            <a:r>
              <a:rPr lang="es-AR" dirty="0"/>
              <a:t>Un FCF negativo significa que la Compañía no tiene suficientes fondos internos para financiar el Activo Fijo y el Capital de Trabajo,  y que deberá buscar fondos en los Mercados de Capital para pagar esas inversiones </a:t>
            </a:r>
          </a:p>
          <a:p>
            <a:pPr marL="0" indent="0">
              <a:buNone/>
            </a:pPr>
            <a:r>
              <a:rPr lang="es-AR" b="1" dirty="0"/>
              <a:t>Nótese cómo no hacemos participar la financiación en este cálculo ya que la capacidad de generar efectivo no depende de la financiación</a:t>
            </a:r>
          </a:p>
          <a:p>
            <a:pPr marL="0" indent="0">
              <a:buNone/>
            </a:pPr>
            <a:endParaRPr lang="es-AR" dirty="0"/>
          </a:p>
        </p:txBody>
      </p:sp>
    </p:spTree>
    <p:extLst>
      <p:ext uri="{BB962C8B-B14F-4D97-AF65-F5344CB8AC3E}">
        <p14:creationId xmlns:p14="http://schemas.microsoft.com/office/powerpoint/2010/main" val="2834247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b="1" u="sng" dirty="0"/>
              <a:t>Ejemplifiquemos con una cadena, como Home </a:t>
            </a:r>
            <a:r>
              <a:rPr lang="es-AR" b="1" u="sng" dirty="0" err="1"/>
              <a:t>Depot</a:t>
            </a:r>
            <a:endParaRPr lang="es-AR" b="1" u="sng" dirty="0"/>
          </a:p>
          <a:p>
            <a:r>
              <a:rPr lang="es-AR" dirty="0"/>
              <a:t>El primer término representa lo que la empresa genera de efectivo con sus actuales tiendas</a:t>
            </a:r>
          </a:p>
          <a:p>
            <a:r>
              <a:rPr lang="es-AR" dirty="0"/>
              <a:t>El segundo término representa, por ejemplo, la inversión en una nueva tienda, con su edificio y el surtido de mercadería para abrirlo. Esto implica erogaciones de efectivo, que podrían reducirse si se aumentaran las cuentas por pagar, financiación de los proveedores, en igual medida que aumenta el inventario tal que el NOWC no crece por la parte financiada. </a:t>
            </a:r>
          </a:p>
          <a:p>
            <a:r>
              <a:rPr lang="es-AR" dirty="0"/>
              <a:t>O sea, Home </a:t>
            </a:r>
            <a:r>
              <a:rPr lang="es-AR" dirty="0" err="1"/>
              <a:t>Depot</a:t>
            </a:r>
            <a:r>
              <a:rPr lang="es-AR" dirty="0"/>
              <a:t> generará un FCF positivo en la medida que el dinero generado por sus tiendas actuales exceda las necesidades de efectivo para construir nuevas tiendas </a:t>
            </a:r>
          </a:p>
        </p:txBody>
      </p:sp>
    </p:spTree>
    <p:extLst>
      <p:ext uri="{BB962C8B-B14F-4D97-AF65-F5344CB8AC3E}">
        <p14:creationId xmlns:p14="http://schemas.microsoft.com/office/powerpoint/2010/main" val="4133216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En el caso de Allied, en 2018 tenemos (mirando nuestro Excel)</a:t>
            </a:r>
          </a:p>
          <a:p>
            <a:endParaRPr lang="es-AR" dirty="0"/>
          </a:p>
          <a:p>
            <a:r>
              <a:rPr lang="es-AR" dirty="0"/>
              <a:t>FCF= 283,8 * 60% + 100 – [230 + 150] = </a:t>
            </a:r>
            <a:r>
              <a:rPr lang="es-AR" dirty="0">
                <a:solidFill>
                  <a:srgbClr val="FF0000"/>
                </a:solidFill>
              </a:rPr>
              <a:t>- 109,72 </a:t>
            </a:r>
          </a:p>
          <a:p>
            <a:endParaRPr lang="es-AR" dirty="0"/>
          </a:p>
          <a:p>
            <a:r>
              <a:rPr lang="es-AR" dirty="0"/>
              <a:t>Los 230 surgen del estado de flujo de fondos, o del balance, si sumamos al incremento en activos fijos, la D&amp;A del 2018</a:t>
            </a:r>
          </a:p>
          <a:p>
            <a:r>
              <a:rPr lang="es-AR" dirty="0"/>
              <a:t>Un FCF negativo es una mala señal, pero teniendo en cuenta que se debe fundamentalmente a los 230 de erogación de Capital, deberemos analizar si es una cifra que esperamos se repita en el futuro.</a:t>
            </a:r>
          </a:p>
        </p:txBody>
      </p:sp>
    </p:spTree>
    <p:extLst>
      <p:ext uri="{BB962C8B-B14F-4D97-AF65-F5344CB8AC3E}">
        <p14:creationId xmlns:p14="http://schemas.microsoft.com/office/powerpoint/2010/main" val="4061976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dirty="0"/>
              <a:t>En el caso de Allied, se debe a la construcción de una planta y no se necesitará otra por los próximos 4 años. O sea, la situación financiera no es tan mala como su FCF podría sugerir</a:t>
            </a:r>
          </a:p>
          <a:p>
            <a:r>
              <a:rPr lang="es-AR" dirty="0"/>
              <a:t>La mayoría de las empresas en crecimiento tendrán este tipo de problemas por nuevos Activos Fijos y NOWC, que no son una mala señal en la medida que se trate de inversiones con el potencial suficiente para generar FCF positivos</a:t>
            </a:r>
          </a:p>
          <a:p>
            <a:r>
              <a:rPr lang="es-AR" dirty="0"/>
              <a:t>Muchos analistas consideran al FCF como la cifra más importante a rescatar de los EECC, aun más importante que el Ingreso Neto. Muestra cuánto efectivo podemos distribuir. Volveremos sobre el tema en la valuación de acciones y presupuestación del Capital</a:t>
            </a:r>
          </a:p>
        </p:txBody>
      </p:sp>
    </p:spTree>
    <p:extLst>
      <p:ext uri="{BB962C8B-B14F-4D97-AF65-F5344CB8AC3E}">
        <p14:creationId xmlns:p14="http://schemas.microsoft.com/office/powerpoint/2010/main" val="1221855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Ejercicio rápido</a:t>
            </a:r>
          </a:p>
          <a:p>
            <a:r>
              <a:rPr lang="es-AR" dirty="0"/>
              <a:t>Una compañía tiene</a:t>
            </a:r>
          </a:p>
          <a:p>
            <a:pPr lvl="1"/>
            <a:r>
              <a:rPr lang="es-AR" dirty="0"/>
              <a:t>EBIT 30 MM</a:t>
            </a:r>
          </a:p>
          <a:p>
            <a:pPr lvl="1"/>
            <a:r>
              <a:rPr lang="es-AR" dirty="0"/>
              <a:t>D&amp;A 5 MM</a:t>
            </a:r>
          </a:p>
          <a:p>
            <a:pPr lvl="1"/>
            <a:r>
              <a:rPr lang="es-AR" dirty="0"/>
              <a:t>Debe gastar 10 MM en nuevo Activo Fijo</a:t>
            </a:r>
          </a:p>
          <a:p>
            <a:pPr lvl="1"/>
            <a:r>
              <a:rPr lang="es-AR" dirty="0"/>
              <a:t>Debe incrementar su Activo Circulante Operativo en 15 MM</a:t>
            </a:r>
          </a:p>
          <a:p>
            <a:pPr lvl="1"/>
            <a:r>
              <a:rPr lang="es-AR" dirty="0"/>
              <a:t>Espera que sus cuentas por pagar aumenten 2 MM, sus acumulaciones 3 MM y sus obligaciones por pagar 8 MM, que son las únicas tres cuentas de su pasivo circulante</a:t>
            </a:r>
          </a:p>
          <a:p>
            <a:pPr marL="457200" lvl="1" indent="0" algn="ctr">
              <a:buNone/>
            </a:pPr>
            <a:r>
              <a:rPr lang="es-AR" dirty="0"/>
              <a:t>¿Cuál es el FCF? </a:t>
            </a:r>
          </a:p>
          <a:p>
            <a:endParaRPr lang="es-AR" dirty="0"/>
          </a:p>
        </p:txBody>
      </p:sp>
    </p:spTree>
    <p:extLst>
      <p:ext uri="{BB962C8B-B14F-4D97-AF65-F5344CB8AC3E}">
        <p14:creationId xmlns:p14="http://schemas.microsoft.com/office/powerpoint/2010/main" val="2209021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dirty="0"/>
              <a:t>Ejercicio rápido</a:t>
            </a:r>
          </a:p>
          <a:p>
            <a:r>
              <a:rPr lang="es-AR" dirty="0"/>
              <a:t>Una compañía tiene</a:t>
            </a:r>
          </a:p>
          <a:p>
            <a:pPr lvl="1"/>
            <a:r>
              <a:rPr lang="es-AR" dirty="0"/>
              <a:t>EBIT 30 MM</a:t>
            </a:r>
          </a:p>
          <a:p>
            <a:pPr lvl="1"/>
            <a:r>
              <a:rPr lang="es-AR" dirty="0"/>
              <a:t>D&amp;A 5 MM</a:t>
            </a:r>
          </a:p>
          <a:p>
            <a:pPr lvl="1"/>
            <a:r>
              <a:rPr lang="es-AR" dirty="0"/>
              <a:t>Debe gastar 10 MM en nuevo activo fijo</a:t>
            </a:r>
          </a:p>
          <a:p>
            <a:pPr lvl="1"/>
            <a:r>
              <a:rPr lang="es-AR" dirty="0"/>
              <a:t>Debe incrementar su activo circulante operativo en 15 MM</a:t>
            </a:r>
          </a:p>
          <a:p>
            <a:pPr lvl="1"/>
            <a:r>
              <a:rPr lang="es-AR" dirty="0"/>
              <a:t>Espera que sus cuentas por pagar aumenten 2 MM, sus acumulaciones 3 MM y sus obligaciones por pagar 8 MM, que son las únicas tres cuentas de su pasivo circulante</a:t>
            </a:r>
          </a:p>
          <a:p>
            <a:pPr marL="457200" lvl="1" indent="0" algn="ctr">
              <a:buNone/>
            </a:pPr>
            <a:r>
              <a:rPr lang="es-AR" dirty="0"/>
              <a:t>¿Cuál es el FCF? </a:t>
            </a:r>
          </a:p>
          <a:p>
            <a:pPr marL="457200" lvl="1" indent="0" algn="ctr">
              <a:buNone/>
            </a:pPr>
            <a:endParaRPr lang="es-AR" dirty="0">
              <a:solidFill>
                <a:srgbClr val="FF0000"/>
              </a:solidFill>
            </a:endParaRPr>
          </a:p>
          <a:p>
            <a:pPr marL="457200" lvl="1" indent="0" algn="ctr">
              <a:buNone/>
            </a:pPr>
            <a:r>
              <a:rPr lang="es-AR" dirty="0">
                <a:solidFill>
                  <a:srgbClr val="FF0000"/>
                </a:solidFill>
              </a:rPr>
              <a:t>FCF= 30 * 0,6 + 5 – 10 – (15-2-3) = 3 </a:t>
            </a:r>
          </a:p>
          <a:p>
            <a:endParaRPr lang="es-AR" dirty="0"/>
          </a:p>
        </p:txBody>
      </p:sp>
    </p:spTree>
    <p:extLst>
      <p:ext uri="{BB962C8B-B14F-4D97-AF65-F5344CB8AC3E}">
        <p14:creationId xmlns:p14="http://schemas.microsoft.com/office/powerpoint/2010/main" val="82650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dirty="0"/>
              <a:t>MVA (</a:t>
            </a:r>
            <a:r>
              <a:rPr lang="es-AR" dirty="0" err="1"/>
              <a:t>Market</a:t>
            </a:r>
            <a:r>
              <a:rPr lang="es-AR" dirty="0"/>
              <a:t> </a:t>
            </a:r>
            <a:r>
              <a:rPr lang="es-AR" dirty="0" err="1"/>
              <a:t>Value</a:t>
            </a:r>
            <a:r>
              <a:rPr lang="es-AR" dirty="0"/>
              <a:t> </a:t>
            </a:r>
            <a:r>
              <a:rPr lang="es-AR" dirty="0" err="1"/>
              <a:t>Added</a:t>
            </a:r>
            <a:r>
              <a:rPr lang="es-AR" dirty="0"/>
              <a:t>) y EVA (</a:t>
            </a:r>
            <a:r>
              <a:rPr lang="es-AR" dirty="0" err="1"/>
              <a:t>Economic</a:t>
            </a:r>
            <a:r>
              <a:rPr lang="es-AR" dirty="0"/>
              <a:t> </a:t>
            </a:r>
            <a:r>
              <a:rPr lang="es-AR" dirty="0" err="1"/>
              <a:t>Value</a:t>
            </a:r>
            <a:r>
              <a:rPr lang="es-AR" dirty="0"/>
              <a:t> </a:t>
            </a:r>
            <a:r>
              <a:rPr lang="es-AR" dirty="0" err="1"/>
              <a:t>Added</a:t>
            </a:r>
            <a:r>
              <a:rPr lang="es-AR" dirty="0"/>
              <a:t>)</a:t>
            </a:r>
          </a:p>
          <a:p>
            <a:endParaRPr lang="es-AR" dirty="0"/>
          </a:p>
          <a:p>
            <a:r>
              <a:rPr lang="es-AR" dirty="0"/>
              <a:t>Los EECC muestran una foto en un punto del pasado, y no reflejan necesariamente valores de Mercado.</a:t>
            </a:r>
          </a:p>
          <a:p>
            <a:r>
              <a:rPr lang="es-AR" dirty="0"/>
              <a:t>Cambios en la tasa de interés e inflación afectan el valor de activos y pasivos, pero no suelen reflejarse en los EECC</a:t>
            </a:r>
          </a:p>
          <a:p>
            <a:r>
              <a:rPr lang="es-AR" dirty="0"/>
              <a:t>El valor de Mercado tiene en cuenta el cálculo permanente de las operaciones en curso, así como de oportunidades futuras. Ejemplo, Microsoft desarrolló con poco dinero un sistema operativo que valía muchos miles de millones y no se reflejaba en su balance, y así no reflejaba su valor de Mercado.</a:t>
            </a:r>
          </a:p>
          <a:p>
            <a:endParaRPr lang="es-AR" dirty="0"/>
          </a:p>
        </p:txBody>
      </p:sp>
    </p:spTree>
    <p:extLst>
      <p:ext uri="{BB962C8B-B14F-4D97-AF65-F5344CB8AC3E}">
        <p14:creationId xmlns:p14="http://schemas.microsoft.com/office/powerpoint/2010/main" val="487302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dirty="0"/>
              <a:t>Veamos un ejemplo de una empresa Exitosa</a:t>
            </a:r>
          </a:p>
          <a:p>
            <a:endParaRPr lang="es-AR" dirty="0"/>
          </a:p>
          <a:p>
            <a:r>
              <a:rPr lang="es-AR" dirty="0"/>
              <a:t>La Empresa se inició con Activos por 1 MM, 0,5 MM obtenidos mediante la colocación de bonos y 0,5 MM por el aporte de los accionistas (50.000 acciones de USD 10 cada una)</a:t>
            </a:r>
          </a:p>
          <a:p>
            <a:r>
              <a:rPr lang="es-AR" dirty="0"/>
              <a:t>La Empresa tiene ahora valor de mercado de 19,5 MM (cada acción vale entonces USD 390)</a:t>
            </a:r>
          </a:p>
          <a:p>
            <a:r>
              <a:rPr lang="es-AR" dirty="0"/>
              <a:t>Los EECC no reflejan los valores de mercado y no permiten evaluar el excelente trabajo realizado por los administradores. Por ello los analistas han desarrollado el MVA y el EVA.</a:t>
            </a:r>
          </a:p>
          <a:p>
            <a:r>
              <a:rPr lang="es-AR" dirty="0"/>
              <a:t>El valor de mercado agregado es simplemente la diferencia entre el valor de mercado de una empresa y su valor contable en su Balance General</a:t>
            </a:r>
          </a:p>
          <a:p>
            <a:r>
              <a:rPr lang="es-AR" dirty="0"/>
              <a:t>En este ejemplo es 390 * 50.000 – 500.000 = 19 MM</a:t>
            </a:r>
          </a:p>
        </p:txBody>
      </p:sp>
    </p:spTree>
    <p:extLst>
      <p:ext uri="{BB962C8B-B14F-4D97-AF65-F5344CB8AC3E}">
        <p14:creationId xmlns:p14="http://schemas.microsoft.com/office/powerpoint/2010/main" val="2960248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Veamos un ejemplo de una empresa Exitosa</a:t>
            </a:r>
          </a:p>
          <a:p>
            <a:endParaRPr lang="es-AR" dirty="0"/>
          </a:p>
          <a:p>
            <a:r>
              <a:rPr lang="es-AR" dirty="0"/>
              <a:t>En el caso de Allied, con 50 MM de acciones valuadas a USD 23,06 cada una obtenemos un valor de mercado de 1.153 MM. Dado que contablemente tiene un valor de 940 MM, su MVA es de 213 MM.</a:t>
            </a:r>
          </a:p>
          <a:p>
            <a:r>
              <a:rPr lang="es-AR" dirty="0"/>
              <a:t>Es una buena medida para retribuir a los gerentes, aunque es cierto que, </a:t>
            </a:r>
            <a:r>
              <a:rPr lang="es-AR" b="1" dirty="0"/>
              <a:t>si todo el mercado sube</a:t>
            </a:r>
            <a:r>
              <a:rPr lang="es-AR" dirty="0"/>
              <a:t>, es esperable que suba el valor de las acciones de nuestra empresa,  a pesar del desempeño de nuestra dirección.</a:t>
            </a:r>
          </a:p>
          <a:p>
            <a:r>
              <a:rPr lang="es-AR" dirty="0"/>
              <a:t>  También hay que analizar en qué momento se produjo el MVA</a:t>
            </a:r>
          </a:p>
        </p:txBody>
      </p:sp>
    </p:spTree>
    <p:extLst>
      <p:ext uri="{BB962C8B-B14F-4D97-AF65-F5344CB8AC3E}">
        <p14:creationId xmlns:p14="http://schemas.microsoft.com/office/powerpoint/2010/main" val="111293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dirty="0"/>
              <a:t>Un concepto asociado, </a:t>
            </a:r>
            <a:r>
              <a:rPr lang="es-AR" b="1" dirty="0"/>
              <a:t>el EVA</a:t>
            </a:r>
            <a:r>
              <a:rPr lang="es-AR" dirty="0"/>
              <a:t>, también conocido como “Ganancias Económicas” está estrechamente relacionado al MVA y se define como</a:t>
            </a:r>
          </a:p>
          <a:p>
            <a:pPr marL="0" indent="0">
              <a:buNone/>
            </a:pPr>
            <a:endParaRPr lang="es-AR" dirty="0"/>
          </a:p>
          <a:p>
            <a:pPr marL="0" indent="0">
              <a:buNone/>
            </a:pPr>
            <a:r>
              <a:rPr lang="es-AR" dirty="0"/>
              <a:t>EVA = </a:t>
            </a:r>
            <a:r>
              <a:rPr lang="es-AR" dirty="0" err="1"/>
              <a:t>Gcias</a:t>
            </a:r>
            <a:r>
              <a:rPr lang="es-AR" dirty="0"/>
              <a:t> Netas de Operaciones después de Imp. (NOPAT) – costo anual del Capital en Dólares</a:t>
            </a:r>
          </a:p>
          <a:p>
            <a:pPr marL="0" indent="0">
              <a:buNone/>
            </a:pPr>
            <a:r>
              <a:rPr lang="es-AR" dirty="0"/>
              <a:t>EBIT * (1 – T) – Capital Invertido Total * Costo porcentual de Capital después de Impuestos</a:t>
            </a:r>
          </a:p>
          <a:p>
            <a:pPr marL="0" indent="0">
              <a:buNone/>
            </a:pPr>
            <a:r>
              <a:rPr lang="es-AR" dirty="0"/>
              <a:t>Pero ¿de qué Capital estamos hablando? De TODO el Capital a valor Contable, que soporta a los Activos</a:t>
            </a:r>
          </a:p>
          <a:p>
            <a:pPr marL="0" indent="0">
              <a:buNone/>
            </a:pPr>
            <a:endParaRPr lang="es-AR" dirty="0"/>
          </a:p>
          <a:p>
            <a:pPr marL="0" indent="0">
              <a:buNone/>
            </a:pPr>
            <a:r>
              <a:rPr lang="es-AR" dirty="0"/>
              <a:t>Nuevamente, destacamos que en las Ganancias Netas no se tiene en cuenta el eventual costo del financiamiento con deuda</a:t>
            </a:r>
          </a:p>
          <a:p>
            <a:pPr marL="0" indent="0">
              <a:buNone/>
            </a:pPr>
            <a:endParaRPr lang="es-AR" dirty="0"/>
          </a:p>
        </p:txBody>
      </p:sp>
    </p:spTree>
    <p:extLst>
      <p:ext uri="{BB962C8B-B14F-4D97-AF65-F5344CB8AC3E}">
        <p14:creationId xmlns:p14="http://schemas.microsoft.com/office/powerpoint/2010/main" val="43681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Las compañías crean valor si los beneficios de sus inversiones son superiores al costo de obtener el Capital Necesario</a:t>
            </a:r>
          </a:p>
          <a:p>
            <a:pPr marL="0" indent="0">
              <a:buNone/>
            </a:pPr>
            <a:endParaRPr lang="es-AR" dirty="0"/>
          </a:p>
          <a:p>
            <a:pPr marL="0" indent="0">
              <a:buNone/>
            </a:pPr>
            <a:r>
              <a:rPr lang="es-AR" dirty="0"/>
              <a:t>En números, lo que comparamos es la Ganancia Operativa después de Impuestos con el Costo de Capital que permitió obtener esa ganancia. Si “tomé prestado” USD 1 MM para generar utilidades, y el costo de ese capital después de impuestos es del 10%, deberemos generar una utilidad después de impuestos igual o superior a USD 100.000 para haber agregado una Ganancia Económica </a:t>
            </a:r>
          </a:p>
        </p:txBody>
      </p:sp>
    </p:spTree>
    <p:extLst>
      <p:ext uri="{BB962C8B-B14F-4D97-AF65-F5344CB8AC3E}">
        <p14:creationId xmlns:p14="http://schemas.microsoft.com/office/powerpoint/2010/main" val="658309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r>
              <a:rPr lang="es-AR" dirty="0"/>
              <a:t>El EVA es una estimación de las Ganancias Económicas reales de una empresa en un año dado y a menudo difieren considerablemente del Ingreso Neto Contable, que sólo toma en cuenta el Costo de la Deuda, y no del Capital de los Accionistas.</a:t>
            </a:r>
          </a:p>
          <a:p>
            <a:endParaRPr lang="es-AR" dirty="0"/>
          </a:p>
          <a:p>
            <a:r>
              <a:rPr lang="es-AR" dirty="0"/>
              <a:t>El EVA toma en cuenta el costo en USD de TODO el Capital.</a:t>
            </a:r>
          </a:p>
          <a:p>
            <a:endParaRPr lang="es-AR" dirty="0"/>
          </a:p>
          <a:p>
            <a:r>
              <a:rPr lang="es-AR" dirty="0"/>
              <a:t>EVA positivo implica haber creado valor económico para los accionistas. Un EVA anual positivo ayudará a garantizar un MVA positivo.</a:t>
            </a:r>
          </a:p>
        </p:txBody>
      </p:sp>
    </p:spTree>
    <p:extLst>
      <p:ext uri="{BB962C8B-B14F-4D97-AF65-F5344CB8AC3E}">
        <p14:creationId xmlns:p14="http://schemas.microsoft.com/office/powerpoint/2010/main" val="3221038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El MVA se calcula para la empresa en su conjunto, mientras que el EVA puede calcularse por departamento o división y así servir como parámetro de las remuneraciones de los gerentes divisionales, y generales.</a:t>
            </a:r>
          </a:p>
          <a:p>
            <a:r>
              <a:rPr lang="es-AR" dirty="0"/>
              <a:t>¿Qué hacemos con el Efectivo Excedente si lo hubiera, es parte del Capital Invertido Total?</a:t>
            </a:r>
          </a:p>
          <a:p>
            <a:pPr lvl="1"/>
            <a:r>
              <a:rPr lang="es-AR" dirty="0"/>
              <a:t>¿Cuánto lo puede hacer rendir la Gerencia?</a:t>
            </a:r>
          </a:p>
          <a:p>
            <a:pPr lvl="1"/>
            <a:r>
              <a:rPr lang="es-AR" dirty="0"/>
              <a:t>¿Cuál es la tasa de costo del Capital?</a:t>
            </a:r>
          </a:p>
        </p:txBody>
      </p:sp>
    </p:spTree>
    <p:extLst>
      <p:ext uri="{BB962C8B-B14F-4D97-AF65-F5344CB8AC3E}">
        <p14:creationId xmlns:p14="http://schemas.microsoft.com/office/powerpoint/2010/main" val="456645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Impuestos sobre la renta - Individuos</a:t>
            </a:r>
          </a:p>
          <a:p>
            <a:r>
              <a:rPr lang="es-AR" dirty="0"/>
              <a:t>Tanto individuos como empresas pagan una porción significativa de sus ingresos en impuestos.</a:t>
            </a:r>
          </a:p>
          <a:p>
            <a:r>
              <a:rPr lang="es-AR" dirty="0"/>
              <a:t>Impuestos Individuales</a:t>
            </a:r>
          </a:p>
          <a:p>
            <a:r>
              <a:rPr lang="es-AR" dirty="0"/>
              <a:t>Sobre, sueldos y salarios, ingreso por inversiones (incluidas las ganancias de capital), ganancias sobre empresas unipersonales y sociedades.</a:t>
            </a:r>
          </a:p>
          <a:p>
            <a:r>
              <a:rPr lang="es-AR" dirty="0"/>
              <a:t>Tasas progresivas</a:t>
            </a:r>
          </a:p>
          <a:p>
            <a:pPr marL="0" indent="0">
              <a:buNone/>
            </a:pPr>
            <a:endParaRPr lang="es-AR" dirty="0"/>
          </a:p>
          <a:p>
            <a:endParaRPr lang="es-AR" dirty="0"/>
          </a:p>
        </p:txBody>
      </p:sp>
    </p:spTree>
    <p:extLst>
      <p:ext uri="{BB962C8B-B14F-4D97-AF65-F5344CB8AC3E}">
        <p14:creationId xmlns:p14="http://schemas.microsoft.com/office/powerpoint/2010/main" val="3613440050"/>
      </p:ext>
    </p:extLst>
  </p:cSld>
  <p:clrMapOvr>
    <a:masterClrMapping/>
  </p:clrMapOvr>
  <mc:AlternateContent xmlns:mc="http://schemas.openxmlformats.org/markup-compatibility/2006" xmlns:p14="http://schemas.microsoft.com/office/powerpoint/2010/main">
    <mc:Choice Requires="p14">
      <p:transition spd="slow" p14:dur="2000" advTm="164271"/>
    </mc:Choice>
    <mc:Fallback xmlns="">
      <p:transition spd="slow" advTm="16427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dirty="0"/>
              <a:t>Impuestos sobre la renta - Individuos</a:t>
            </a:r>
          </a:p>
          <a:p>
            <a:r>
              <a:rPr lang="es-AR" dirty="0"/>
              <a:t>Exenciones, que se eliminan para altos ingresos, al igual que ciertas deducciones (intereses hipotecarios, contribuciones benéficas) que reducen la base imponible. Se ajustan por inflación</a:t>
            </a:r>
          </a:p>
          <a:p>
            <a:r>
              <a:rPr lang="es-AR" dirty="0"/>
              <a:t>Tasa impositiva marginal, del 10% al 39,6%, aunque tomada con todos los elementos podría exceder el 50%</a:t>
            </a:r>
          </a:p>
          <a:p>
            <a:r>
              <a:rPr lang="es-AR" dirty="0"/>
              <a:t>Tasa impositiva promedio. Forma de cálculo</a:t>
            </a:r>
          </a:p>
          <a:p>
            <a:r>
              <a:rPr lang="es-AR" dirty="0"/>
              <a:t>¿Por qué nos interesa el aspecto impositivo?</a:t>
            </a:r>
          </a:p>
          <a:p>
            <a:r>
              <a:rPr lang="es-AR" dirty="0"/>
              <a:t>Bonos exentos tendrán menores rendimientos</a:t>
            </a:r>
          </a:p>
          <a:p>
            <a:pPr marL="0" indent="0">
              <a:buNone/>
            </a:pPr>
            <a:endParaRPr lang="es-AR" dirty="0"/>
          </a:p>
          <a:p>
            <a:endParaRPr lang="es-AR" dirty="0"/>
          </a:p>
        </p:txBody>
      </p:sp>
    </p:spTree>
    <p:extLst>
      <p:ext uri="{BB962C8B-B14F-4D97-AF65-F5344CB8AC3E}">
        <p14:creationId xmlns:p14="http://schemas.microsoft.com/office/powerpoint/2010/main" val="3147618441"/>
      </p:ext>
    </p:extLst>
  </p:cSld>
  <p:clrMapOvr>
    <a:masterClrMapping/>
  </p:clrMapOvr>
  <mc:AlternateContent xmlns:mc="http://schemas.openxmlformats.org/markup-compatibility/2006" xmlns:p14="http://schemas.microsoft.com/office/powerpoint/2010/main">
    <mc:Choice Requires="p14">
      <p:transition spd="slow" p14:dur="2000" advTm="164271"/>
    </mc:Choice>
    <mc:Fallback xmlns="">
      <p:transition spd="slow" advTm="16427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dirty="0"/>
              <a:t>Ganancias y pérdidas de capital. Corto Plazo (ingreso ordinario) y Largo Plazo (15%). Distinto tratamiento impositivo. Efecto sobre los diferentes tipos de acciones y sus inversores</a:t>
            </a:r>
          </a:p>
          <a:p>
            <a:r>
              <a:rPr lang="es-AR" dirty="0"/>
              <a:t>Doble tributación sobre los dividendos, reducción de tasas sobre dividendos y ganancias de capital de Largo Plazo</a:t>
            </a:r>
          </a:p>
          <a:p>
            <a:r>
              <a:rPr lang="es-AR" dirty="0"/>
              <a:t>¿Por qué debe haber una política tributaria que estimule la inversión?</a:t>
            </a:r>
          </a:p>
          <a:p>
            <a:r>
              <a:rPr lang="es-AR" dirty="0"/>
              <a:t>Incentivo sobre inversiones en empresas recién formadas, respecto a invertir en bonos</a:t>
            </a:r>
          </a:p>
          <a:p>
            <a:endParaRPr lang="es-AR" dirty="0"/>
          </a:p>
          <a:p>
            <a:endParaRPr lang="es-AR" dirty="0"/>
          </a:p>
        </p:txBody>
      </p:sp>
    </p:spTree>
    <p:extLst>
      <p:ext uri="{BB962C8B-B14F-4D97-AF65-F5344CB8AC3E}">
        <p14:creationId xmlns:p14="http://schemas.microsoft.com/office/powerpoint/2010/main" val="2792447197"/>
      </p:ext>
    </p:extLst>
  </p:cSld>
  <p:clrMapOvr>
    <a:masterClrMapping/>
  </p:clrMapOvr>
  <mc:AlternateContent xmlns:mc="http://schemas.openxmlformats.org/markup-compatibility/2006" xmlns:p14="http://schemas.microsoft.com/office/powerpoint/2010/main">
    <mc:Choice Requires="p14">
      <p:transition spd="slow" p14:dur="2000" advTm="164271"/>
    </mc:Choice>
    <mc:Fallback xmlns="">
      <p:transition spd="slow" advTm="16427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lnSpcReduction="10000"/>
          </a:bodyPr>
          <a:lstStyle/>
          <a:p>
            <a:pPr marL="0" indent="0">
              <a:buNone/>
            </a:pPr>
            <a:r>
              <a:rPr lang="es-AR" dirty="0"/>
              <a:t>Impuestos Corporativos</a:t>
            </a:r>
          </a:p>
          <a:p>
            <a:r>
              <a:rPr lang="es-AR" dirty="0"/>
              <a:t>Tasas progresivas del 15% al 40%</a:t>
            </a:r>
          </a:p>
          <a:p>
            <a:r>
              <a:rPr lang="es-AR" dirty="0"/>
              <a:t>Las empresas tienen ingresos por intereses y acciones</a:t>
            </a:r>
          </a:p>
          <a:p>
            <a:r>
              <a:rPr lang="es-AR" dirty="0"/>
              <a:t>Tratamiento de intereses (ingreso ordinario) y dividendos (desde el 70% al 100% no gravados) llevan a las empresas a preferir invertir sus excedentes en acciones</a:t>
            </a:r>
          </a:p>
          <a:p>
            <a:pPr lvl="1"/>
            <a:r>
              <a:rPr lang="es-AR" dirty="0"/>
              <a:t>Cuándo 70% o 100% (en el caso de una subsidiaria, propiedad 100%)</a:t>
            </a:r>
          </a:p>
          <a:p>
            <a:pPr lvl="1"/>
            <a:r>
              <a:rPr lang="es-AR" dirty="0"/>
              <a:t>¿Por qué la exención?, porque los accionistas individuales tienen triple tributación</a:t>
            </a:r>
          </a:p>
          <a:p>
            <a:r>
              <a:rPr lang="es-AR" dirty="0"/>
              <a:t>¿Qué tasa tributaría Allied si invierte sus excedentes de efectivo en Bonos o en Acciones?</a:t>
            </a:r>
          </a:p>
          <a:p>
            <a:pPr lvl="1"/>
            <a:endParaRPr lang="es-AR" dirty="0"/>
          </a:p>
          <a:p>
            <a:pPr lvl="1"/>
            <a:endParaRPr lang="es-AR" dirty="0"/>
          </a:p>
        </p:txBody>
      </p:sp>
    </p:spTree>
    <p:extLst>
      <p:ext uri="{BB962C8B-B14F-4D97-AF65-F5344CB8AC3E}">
        <p14:creationId xmlns:p14="http://schemas.microsoft.com/office/powerpoint/2010/main" val="3987765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pPr marL="0" indent="0">
              <a:buNone/>
            </a:pPr>
            <a:r>
              <a:rPr lang="es-AR" dirty="0"/>
              <a:t>Tratamiento de los intereses y dividendos pagados por una corporación</a:t>
            </a:r>
          </a:p>
          <a:p>
            <a:r>
              <a:rPr lang="es-AR" dirty="0"/>
              <a:t>Intereses deducibles de ganancias</a:t>
            </a:r>
          </a:p>
          <a:p>
            <a:r>
              <a:rPr lang="es-AR" dirty="0"/>
              <a:t>Dividendos no</a:t>
            </a:r>
          </a:p>
          <a:p>
            <a:r>
              <a:rPr lang="es-AR" dirty="0"/>
              <a:t>¿Cuánto me cuesta la financiación?</a:t>
            </a:r>
          </a:p>
          <a:p>
            <a:r>
              <a:rPr lang="es-AR" dirty="0"/>
              <a:t>Para pagar $1 de intereses debo generar $1 de utilidades, para pagar $1 de dividendos debo generar $1,67, ya que pagaré 40% de impuestos 1/(1-40%) = 1.67</a:t>
            </a:r>
          </a:p>
          <a:p>
            <a:r>
              <a:rPr lang="es-AR" dirty="0"/>
              <a:t>Veamos un ejemplo de USD 10 MM financiados en su totalidad con Deuda o con Capital, y el rendimiento para los </a:t>
            </a:r>
            <a:r>
              <a:rPr lang="es-AR" b="1" u="sng" dirty="0"/>
              <a:t>Inversionistas</a:t>
            </a:r>
          </a:p>
        </p:txBody>
      </p:sp>
    </p:spTree>
    <p:extLst>
      <p:ext uri="{BB962C8B-B14F-4D97-AF65-F5344CB8AC3E}">
        <p14:creationId xmlns:p14="http://schemas.microsoft.com/office/powerpoint/2010/main" val="3337623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lstStyle/>
          <a:p>
            <a:r>
              <a:rPr lang="es-AR" dirty="0"/>
              <a:t>Por supuesto que las empresas no pueden financiarse exclusivamente con Deuda (el riesgo compensaría el mayor beneficio impositivo), pero vamos sentando las bases para entender el efecto del sistema fiscal sobre la forma en que elegiremos financiarnos</a:t>
            </a:r>
          </a:p>
          <a:p>
            <a:endParaRPr lang="es-AR" dirty="0"/>
          </a:p>
        </p:txBody>
      </p:sp>
    </p:spTree>
    <p:extLst>
      <p:ext uri="{BB962C8B-B14F-4D97-AF65-F5344CB8AC3E}">
        <p14:creationId xmlns:p14="http://schemas.microsoft.com/office/powerpoint/2010/main" val="3825538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a:bodyPr>
          <a:lstStyle/>
          <a:p>
            <a:pPr marL="0" indent="0">
              <a:buNone/>
            </a:pPr>
            <a:r>
              <a:rPr lang="es-AR" u="sng" dirty="0"/>
              <a:t>Ganancias de Capital Corporativas</a:t>
            </a:r>
          </a:p>
          <a:p>
            <a:pPr marL="0" indent="0">
              <a:buNone/>
            </a:pPr>
            <a:r>
              <a:rPr lang="es-AR" dirty="0"/>
              <a:t>Se gravan a igual nivel que su ingreso por operaciones (a partir de 1987)</a:t>
            </a:r>
          </a:p>
          <a:p>
            <a:pPr marL="0" indent="0">
              <a:buNone/>
            </a:pPr>
            <a:endParaRPr lang="es-AR" dirty="0"/>
          </a:p>
          <a:p>
            <a:pPr marL="0" indent="0">
              <a:buNone/>
            </a:pPr>
            <a:r>
              <a:rPr lang="es-AR" dirty="0"/>
              <a:t>Amortización de pérdidas corporativas en períodos anteriores y posteriores</a:t>
            </a:r>
          </a:p>
          <a:p>
            <a:pPr marL="0" indent="0">
              <a:buNone/>
            </a:pPr>
            <a:r>
              <a:rPr lang="es-AR" dirty="0"/>
              <a:t>Dos años anteriores y hasta veinte posteriores. Reembolsos y reducción de ingresos gravables</a:t>
            </a:r>
          </a:p>
          <a:p>
            <a:pPr marL="0" indent="0">
              <a:buNone/>
            </a:pPr>
            <a:r>
              <a:rPr lang="es-AR" dirty="0"/>
              <a:t>Motivo: Evitar castigar a las empresas  con ingresos fluctuantes de un año al otro</a:t>
            </a:r>
          </a:p>
          <a:p>
            <a:pPr marL="0" indent="0">
              <a:buNone/>
            </a:pPr>
            <a:r>
              <a:rPr lang="es-AR" dirty="0"/>
              <a:t>¿Cómo sería un ejemplo numérico?</a:t>
            </a:r>
          </a:p>
        </p:txBody>
      </p:sp>
    </p:spTree>
    <p:extLst>
      <p:ext uri="{BB962C8B-B14F-4D97-AF65-F5344CB8AC3E}">
        <p14:creationId xmlns:p14="http://schemas.microsoft.com/office/powerpoint/2010/main" val="389372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Estados Financieros, Flujo de Efectivo e Impuestos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20000"/>
          </a:bodyPr>
          <a:lstStyle/>
          <a:p>
            <a:pPr marL="0" indent="0">
              <a:buNone/>
            </a:pPr>
            <a:r>
              <a:rPr lang="es-AR" b="1" u="sng" dirty="0"/>
              <a:t>Declaraciones consolidades de impuestos</a:t>
            </a:r>
          </a:p>
          <a:p>
            <a:r>
              <a:rPr lang="es-AR" dirty="0"/>
              <a:t>Puede hacerse cuando se posee el 80% o más de las acciones la otra Empresa. Compensar pérdidas. Estimular las inversiones de riesgo o con un período inicial de pérdidas</a:t>
            </a:r>
          </a:p>
          <a:p>
            <a:endParaRPr lang="es-AR" dirty="0"/>
          </a:p>
          <a:p>
            <a:pPr marL="0" indent="0">
              <a:buNone/>
            </a:pPr>
            <a:r>
              <a:rPr lang="es-AR" b="1" u="sng" dirty="0"/>
              <a:t>Cómo se gravan las pequeñas empresas: Corporaciones S</a:t>
            </a:r>
          </a:p>
          <a:p>
            <a:pPr marL="0" indent="0">
              <a:buNone/>
            </a:pPr>
            <a:r>
              <a:rPr lang="es-AR" dirty="0"/>
              <a:t>Prorrateo del ingreso entre los accionistas. Se evita la doble imposición. Es similar para las LLC</a:t>
            </a:r>
          </a:p>
          <a:p>
            <a:pPr marL="0" indent="0">
              <a:buNone/>
            </a:pPr>
            <a:endParaRPr lang="es-AR" dirty="0"/>
          </a:p>
          <a:p>
            <a:pPr marL="0" indent="0">
              <a:buNone/>
            </a:pPr>
            <a:r>
              <a:rPr lang="es-AR" b="1" u="sng" dirty="0"/>
              <a:t>Depreciación</a:t>
            </a:r>
          </a:p>
          <a:p>
            <a:pPr marL="0" indent="0">
              <a:buNone/>
            </a:pPr>
            <a:r>
              <a:rPr lang="es-AR" dirty="0"/>
              <a:t>Distintos períodos y métodos de depreciación. Alto impacto fiscal. Implicancias en la Presupuestación de capital</a:t>
            </a:r>
          </a:p>
          <a:p>
            <a:pPr marL="0" indent="0">
              <a:buNone/>
            </a:pPr>
            <a:endParaRPr lang="es-AR" dirty="0"/>
          </a:p>
          <a:p>
            <a:endParaRPr lang="es-AR" dirty="0"/>
          </a:p>
        </p:txBody>
      </p:sp>
    </p:spTree>
    <p:extLst>
      <p:ext uri="{BB962C8B-B14F-4D97-AF65-F5344CB8AC3E}">
        <p14:creationId xmlns:p14="http://schemas.microsoft.com/office/powerpoint/2010/main" val="35147627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793335-6FA4-47F9-931E-7C8F265F8485}"/>
</file>

<file path=customXml/itemProps2.xml><?xml version="1.0" encoding="utf-8"?>
<ds:datastoreItem xmlns:ds="http://schemas.openxmlformats.org/officeDocument/2006/customXml" ds:itemID="{618F340E-CE45-4C95-9555-85FFCE8C1390}"/>
</file>

<file path=customXml/itemProps3.xml><?xml version="1.0" encoding="utf-8"?>
<ds:datastoreItem xmlns:ds="http://schemas.openxmlformats.org/officeDocument/2006/customXml" ds:itemID="{E05EC4F6-6958-40EC-B2E4-02F9734FA825}"/>
</file>

<file path=docProps/app.xml><?xml version="1.0" encoding="utf-8"?>
<Properties xmlns="http://schemas.openxmlformats.org/officeDocument/2006/extended-properties" xmlns:vt="http://schemas.openxmlformats.org/officeDocument/2006/docPropsVTypes">
  <TotalTime>4443</TotalTime>
  <Words>3990</Words>
  <Application>Microsoft Office PowerPoint</Application>
  <PresentationFormat>Panorámica</PresentationFormat>
  <Paragraphs>342</Paragraphs>
  <Slides>44</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44</vt:i4>
      </vt:variant>
    </vt:vector>
  </HeadingPairs>
  <TitlesOfParts>
    <vt:vector size="49" baseType="lpstr">
      <vt:lpstr>Arial</vt:lpstr>
      <vt:lpstr>Calibri</vt:lpstr>
      <vt:lpstr>Calibri Light</vt:lpstr>
      <vt:lpstr>Times New Roman</vt:lpstr>
      <vt:lpstr>Tema de Office</vt:lpstr>
      <vt:lpstr>MAESTRIA EN GESTION ECONOMICA Y FINANCIERA DE RIESGOS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lpstr>Estados Financieros, Flujo de Efectivo e Impuestos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Gustavo Grinblat</dc:creator>
  <cp:lastModifiedBy>GRINBLAT GUSTAVO GABRIEL</cp:lastModifiedBy>
  <cp:revision>54</cp:revision>
  <dcterms:created xsi:type="dcterms:W3CDTF">2023-02-08T18:30:49Z</dcterms:created>
  <dcterms:modified xsi:type="dcterms:W3CDTF">2024-03-28T16:02:53Z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