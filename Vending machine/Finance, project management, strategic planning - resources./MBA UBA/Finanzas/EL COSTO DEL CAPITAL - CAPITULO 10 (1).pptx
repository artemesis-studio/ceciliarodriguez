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5.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91" r:id="rId7"/>
    <p:sldId id="262" r:id="rId8"/>
    <p:sldId id="263" r:id="rId9"/>
    <p:sldId id="264" r:id="rId10"/>
    <p:sldId id="267" r:id="rId11"/>
    <p:sldId id="265" r:id="rId12"/>
    <p:sldId id="266" r:id="rId13"/>
    <p:sldId id="268" r:id="rId14"/>
    <p:sldId id="272" r:id="rId15"/>
    <p:sldId id="269" r:id="rId16"/>
    <p:sldId id="270" r:id="rId17"/>
    <p:sldId id="271" r:id="rId18"/>
    <p:sldId id="273" r:id="rId19"/>
    <p:sldId id="274" r:id="rId20"/>
    <p:sldId id="275" r:id="rId21"/>
    <p:sldId id="292" r:id="rId22"/>
    <p:sldId id="276" r:id="rId23"/>
    <p:sldId id="277" r:id="rId24"/>
    <p:sldId id="278" r:id="rId25"/>
    <p:sldId id="279" r:id="rId26"/>
    <p:sldId id="280" r:id="rId27"/>
    <p:sldId id="281" r:id="rId28"/>
    <p:sldId id="283" r:id="rId29"/>
    <p:sldId id="282" r:id="rId30"/>
    <p:sldId id="290" r:id="rId31"/>
    <p:sldId id="293" r:id="rId32"/>
    <p:sldId id="284" r:id="rId33"/>
    <p:sldId id="285" r:id="rId34"/>
    <p:sldId id="294" r:id="rId35"/>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A70DE0-4B97-CC8B-DA2B-D60A2C0FB91B}"/>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A1CE1EAE-CFDC-004A-8AD0-B51F2403A0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FE0B6E68-C188-7EEF-0E02-F4E288897831}"/>
              </a:ext>
            </a:extLst>
          </p:cNvPr>
          <p:cNvSpPr>
            <a:spLocks noGrp="1"/>
          </p:cNvSpPr>
          <p:nvPr>
            <p:ph type="dt" sz="half" idx="10"/>
          </p:nvPr>
        </p:nvSpPr>
        <p:spPr/>
        <p:txBody>
          <a:bodyPr/>
          <a:lstStyle/>
          <a:p>
            <a:fld id="{6D4528C1-82C9-4445-A848-4CBA9F23312B}" type="datetimeFigureOut">
              <a:rPr lang="es-ES" smtClean="0"/>
              <a:t>25/04/2024</a:t>
            </a:fld>
            <a:endParaRPr lang="es-ES"/>
          </a:p>
        </p:txBody>
      </p:sp>
      <p:sp>
        <p:nvSpPr>
          <p:cNvPr id="5" name="Marcador de pie de página 4">
            <a:extLst>
              <a:ext uri="{FF2B5EF4-FFF2-40B4-BE49-F238E27FC236}">
                <a16:creationId xmlns:a16="http://schemas.microsoft.com/office/drawing/2014/main" id="{F7066B6E-0635-0E1F-4379-C36A419EE8E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1F0A89BD-292B-7733-6B8D-EB945709119F}"/>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4108804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855550-A5A3-28B0-87A6-8BFA8585B8FD}"/>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BD66766-5859-4C0F-EE4B-095181ED33E1}"/>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0B49D55-9129-2BCB-CC58-BE8A5A02F695}"/>
              </a:ext>
            </a:extLst>
          </p:cNvPr>
          <p:cNvSpPr>
            <a:spLocks noGrp="1"/>
          </p:cNvSpPr>
          <p:nvPr>
            <p:ph type="dt" sz="half" idx="10"/>
          </p:nvPr>
        </p:nvSpPr>
        <p:spPr/>
        <p:txBody>
          <a:bodyPr/>
          <a:lstStyle/>
          <a:p>
            <a:fld id="{6D4528C1-82C9-4445-A848-4CBA9F23312B}" type="datetimeFigureOut">
              <a:rPr lang="es-ES" smtClean="0"/>
              <a:t>25/04/2024</a:t>
            </a:fld>
            <a:endParaRPr lang="es-ES"/>
          </a:p>
        </p:txBody>
      </p:sp>
      <p:sp>
        <p:nvSpPr>
          <p:cNvPr id="5" name="Marcador de pie de página 4">
            <a:extLst>
              <a:ext uri="{FF2B5EF4-FFF2-40B4-BE49-F238E27FC236}">
                <a16:creationId xmlns:a16="http://schemas.microsoft.com/office/drawing/2014/main" id="{8178981B-655E-868D-A913-990DA313B7FB}"/>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FE03A5C-2E50-F104-6EF2-328548C6ACC5}"/>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59285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B39DAC-2954-AAC3-037A-EE7F5657CF78}"/>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2138DAC5-5A1D-5565-6BE0-F8F9CBDC3A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33658DC-F3F3-6928-E77C-724A8CE3D717}"/>
              </a:ext>
            </a:extLst>
          </p:cNvPr>
          <p:cNvSpPr>
            <a:spLocks noGrp="1"/>
          </p:cNvSpPr>
          <p:nvPr>
            <p:ph type="dt" sz="half" idx="10"/>
          </p:nvPr>
        </p:nvSpPr>
        <p:spPr/>
        <p:txBody>
          <a:bodyPr/>
          <a:lstStyle/>
          <a:p>
            <a:fld id="{6D4528C1-82C9-4445-A848-4CBA9F23312B}" type="datetimeFigureOut">
              <a:rPr lang="es-ES" smtClean="0"/>
              <a:t>25/04/2024</a:t>
            </a:fld>
            <a:endParaRPr lang="es-ES"/>
          </a:p>
        </p:txBody>
      </p:sp>
      <p:sp>
        <p:nvSpPr>
          <p:cNvPr id="5" name="Marcador de pie de página 4">
            <a:extLst>
              <a:ext uri="{FF2B5EF4-FFF2-40B4-BE49-F238E27FC236}">
                <a16:creationId xmlns:a16="http://schemas.microsoft.com/office/drawing/2014/main" id="{C6F300DF-7CC3-8B85-E0CB-780F59CDA4B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DA390DF-3D5D-2441-8768-0FF172747768}"/>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492757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FF108A-B6FD-4DD3-E57D-35251CCA8CDB}"/>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71ED3077-0282-9BA1-9647-34DCFFE91B3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9F063130-158D-0337-1366-179AEC51758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C3EA4455-1040-78B0-9A83-CCFB496E4222}"/>
              </a:ext>
            </a:extLst>
          </p:cNvPr>
          <p:cNvSpPr>
            <a:spLocks noGrp="1"/>
          </p:cNvSpPr>
          <p:nvPr>
            <p:ph type="dt" sz="half" idx="10"/>
          </p:nvPr>
        </p:nvSpPr>
        <p:spPr/>
        <p:txBody>
          <a:bodyPr/>
          <a:lstStyle/>
          <a:p>
            <a:fld id="{6D4528C1-82C9-4445-A848-4CBA9F23312B}" type="datetimeFigureOut">
              <a:rPr lang="es-ES" smtClean="0"/>
              <a:t>25/04/2024</a:t>
            </a:fld>
            <a:endParaRPr lang="es-ES"/>
          </a:p>
        </p:txBody>
      </p:sp>
      <p:sp>
        <p:nvSpPr>
          <p:cNvPr id="6" name="Marcador de pie de página 5">
            <a:extLst>
              <a:ext uri="{FF2B5EF4-FFF2-40B4-BE49-F238E27FC236}">
                <a16:creationId xmlns:a16="http://schemas.microsoft.com/office/drawing/2014/main" id="{42995CC5-9BF9-C25B-E551-617C0C741D3B}"/>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A3C6B983-CC89-87A7-83C5-E8A9302FAFA4}"/>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3218245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C3BB85-25AE-B83A-CCC5-5CA70BF95792}"/>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32508F49-1586-2659-B704-8505E99644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C781A51-2B5A-F1EE-3EDC-384ADF465F9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DE8D3E41-1105-8E60-E088-8DDD261F58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5DB2382-0414-A436-50DA-DA2406F4292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257C37DA-8221-6D56-EC43-58433E468377}"/>
              </a:ext>
            </a:extLst>
          </p:cNvPr>
          <p:cNvSpPr>
            <a:spLocks noGrp="1"/>
          </p:cNvSpPr>
          <p:nvPr>
            <p:ph type="dt" sz="half" idx="10"/>
          </p:nvPr>
        </p:nvSpPr>
        <p:spPr/>
        <p:txBody>
          <a:bodyPr/>
          <a:lstStyle/>
          <a:p>
            <a:fld id="{6D4528C1-82C9-4445-A848-4CBA9F23312B}" type="datetimeFigureOut">
              <a:rPr lang="es-ES" smtClean="0"/>
              <a:t>25/04/2024</a:t>
            </a:fld>
            <a:endParaRPr lang="es-ES"/>
          </a:p>
        </p:txBody>
      </p:sp>
      <p:sp>
        <p:nvSpPr>
          <p:cNvPr id="8" name="Marcador de pie de página 7">
            <a:extLst>
              <a:ext uri="{FF2B5EF4-FFF2-40B4-BE49-F238E27FC236}">
                <a16:creationId xmlns:a16="http://schemas.microsoft.com/office/drawing/2014/main" id="{7D2644E8-DD3F-D216-6AA3-E589B5767C73}"/>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D2884065-FAAE-BDB4-32F3-248B22010F12}"/>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36402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86098B-B84A-5C8C-354A-8F8F9A6BD0E7}"/>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7ED87682-7DDD-B19E-DDA9-A7CE4E324285}"/>
              </a:ext>
            </a:extLst>
          </p:cNvPr>
          <p:cNvSpPr>
            <a:spLocks noGrp="1"/>
          </p:cNvSpPr>
          <p:nvPr>
            <p:ph type="dt" sz="half" idx="10"/>
          </p:nvPr>
        </p:nvSpPr>
        <p:spPr/>
        <p:txBody>
          <a:bodyPr/>
          <a:lstStyle/>
          <a:p>
            <a:fld id="{6D4528C1-82C9-4445-A848-4CBA9F23312B}" type="datetimeFigureOut">
              <a:rPr lang="es-ES" smtClean="0"/>
              <a:t>25/04/2024</a:t>
            </a:fld>
            <a:endParaRPr lang="es-ES"/>
          </a:p>
        </p:txBody>
      </p:sp>
      <p:sp>
        <p:nvSpPr>
          <p:cNvPr id="4" name="Marcador de pie de página 3">
            <a:extLst>
              <a:ext uri="{FF2B5EF4-FFF2-40B4-BE49-F238E27FC236}">
                <a16:creationId xmlns:a16="http://schemas.microsoft.com/office/drawing/2014/main" id="{0589A9E0-1E31-1CF9-9385-98ABD95ADFC6}"/>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6EC26854-C66C-13B9-DDBA-65127106A903}"/>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2862310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4BDD1B5-8696-85E6-0336-67B2AFAA156B}"/>
              </a:ext>
            </a:extLst>
          </p:cNvPr>
          <p:cNvSpPr>
            <a:spLocks noGrp="1"/>
          </p:cNvSpPr>
          <p:nvPr>
            <p:ph type="dt" sz="half" idx="10"/>
          </p:nvPr>
        </p:nvSpPr>
        <p:spPr/>
        <p:txBody>
          <a:bodyPr/>
          <a:lstStyle/>
          <a:p>
            <a:fld id="{6D4528C1-82C9-4445-A848-4CBA9F23312B}" type="datetimeFigureOut">
              <a:rPr lang="es-ES" smtClean="0"/>
              <a:t>25/04/2024</a:t>
            </a:fld>
            <a:endParaRPr lang="es-ES"/>
          </a:p>
        </p:txBody>
      </p:sp>
      <p:sp>
        <p:nvSpPr>
          <p:cNvPr id="3" name="Marcador de pie de página 2">
            <a:extLst>
              <a:ext uri="{FF2B5EF4-FFF2-40B4-BE49-F238E27FC236}">
                <a16:creationId xmlns:a16="http://schemas.microsoft.com/office/drawing/2014/main" id="{22484739-613F-8753-FA98-4D103CB30D0A}"/>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C0D31B71-6907-91D9-EF05-792F513E347A}"/>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2690008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6FB5C3-3275-A698-026C-886DC55FF40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50BCABC4-5D18-3E27-6A44-FC26838C2F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45E40746-4F71-7DE0-F012-7DDD0883FC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4EC19EE-490E-414E-CA52-E77AFF261BC8}"/>
              </a:ext>
            </a:extLst>
          </p:cNvPr>
          <p:cNvSpPr>
            <a:spLocks noGrp="1"/>
          </p:cNvSpPr>
          <p:nvPr>
            <p:ph type="dt" sz="half" idx="10"/>
          </p:nvPr>
        </p:nvSpPr>
        <p:spPr/>
        <p:txBody>
          <a:bodyPr/>
          <a:lstStyle/>
          <a:p>
            <a:fld id="{6D4528C1-82C9-4445-A848-4CBA9F23312B}" type="datetimeFigureOut">
              <a:rPr lang="es-ES" smtClean="0"/>
              <a:t>25/04/2024</a:t>
            </a:fld>
            <a:endParaRPr lang="es-ES"/>
          </a:p>
        </p:txBody>
      </p:sp>
      <p:sp>
        <p:nvSpPr>
          <p:cNvPr id="6" name="Marcador de pie de página 5">
            <a:extLst>
              <a:ext uri="{FF2B5EF4-FFF2-40B4-BE49-F238E27FC236}">
                <a16:creationId xmlns:a16="http://schemas.microsoft.com/office/drawing/2014/main" id="{AD5E8014-1302-B4C8-7D17-5F4C8787FE92}"/>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BB6F6371-277E-CA55-1C44-DF90C0B487EA}"/>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30419553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8F3D7D-6DB8-5CA8-33D8-A03C43B3A89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B64D5670-BFC0-3DB3-A109-81380518AD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CB36B38D-9A81-E64C-CE8E-3AEE8BAC02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13425C7-DE0E-64F8-F3F8-B160236A6DAB}"/>
              </a:ext>
            </a:extLst>
          </p:cNvPr>
          <p:cNvSpPr>
            <a:spLocks noGrp="1"/>
          </p:cNvSpPr>
          <p:nvPr>
            <p:ph type="dt" sz="half" idx="10"/>
          </p:nvPr>
        </p:nvSpPr>
        <p:spPr/>
        <p:txBody>
          <a:bodyPr/>
          <a:lstStyle/>
          <a:p>
            <a:fld id="{6D4528C1-82C9-4445-A848-4CBA9F23312B}" type="datetimeFigureOut">
              <a:rPr lang="es-ES" smtClean="0"/>
              <a:t>25/04/2024</a:t>
            </a:fld>
            <a:endParaRPr lang="es-ES"/>
          </a:p>
        </p:txBody>
      </p:sp>
      <p:sp>
        <p:nvSpPr>
          <p:cNvPr id="6" name="Marcador de pie de página 5">
            <a:extLst>
              <a:ext uri="{FF2B5EF4-FFF2-40B4-BE49-F238E27FC236}">
                <a16:creationId xmlns:a16="http://schemas.microsoft.com/office/drawing/2014/main" id="{2E301EDD-7F0A-9740-3332-CBB88123C046}"/>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7B3BE84C-6D96-5ADC-F3AA-6D44DAE245CB}"/>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443117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67BA53-C170-1009-035B-6DF474E71D27}"/>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D91F61C2-014C-A45F-EB74-9AE786E3CC1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5AA3C9E-EE3D-1DC0-EA4A-7F73CAC9D3E8}"/>
              </a:ext>
            </a:extLst>
          </p:cNvPr>
          <p:cNvSpPr>
            <a:spLocks noGrp="1"/>
          </p:cNvSpPr>
          <p:nvPr>
            <p:ph type="dt" sz="half" idx="10"/>
          </p:nvPr>
        </p:nvSpPr>
        <p:spPr/>
        <p:txBody>
          <a:bodyPr/>
          <a:lstStyle/>
          <a:p>
            <a:fld id="{6D4528C1-82C9-4445-A848-4CBA9F23312B}" type="datetimeFigureOut">
              <a:rPr lang="es-ES" smtClean="0"/>
              <a:t>25/04/2024</a:t>
            </a:fld>
            <a:endParaRPr lang="es-ES"/>
          </a:p>
        </p:txBody>
      </p:sp>
      <p:sp>
        <p:nvSpPr>
          <p:cNvPr id="5" name="Marcador de pie de página 4">
            <a:extLst>
              <a:ext uri="{FF2B5EF4-FFF2-40B4-BE49-F238E27FC236}">
                <a16:creationId xmlns:a16="http://schemas.microsoft.com/office/drawing/2014/main" id="{8334C08C-24E9-70D6-53B2-5821E4F4112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1E8F520-0506-EC10-69F1-4C13CCE99709}"/>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3318932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DCA22DF-B559-E639-75C9-BC3D422A041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D854BBD4-C434-4B35-66A5-AFBBAD652C9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39FE2F62-687B-D702-F79B-AC39487E9DA1}"/>
              </a:ext>
            </a:extLst>
          </p:cNvPr>
          <p:cNvSpPr>
            <a:spLocks noGrp="1"/>
          </p:cNvSpPr>
          <p:nvPr>
            <p:ph type="dt" sz="half" idx="10"/>
          </p:nvPr>
        </p:nvSpPr>
        <p:spPr/>
        <p:txBody>
          <a:bodyPr/>
          <a:lstStyle/>
          <a:p>
            <a:fld id="{6D4528C1-82C9-4445-A848-4CBA9F23312B}" type="datetimeFigureOut">
              <a:rPr lang="es-ES" smtClean="0"/>
              <a:t>25/04/2024</a:t>
            </a:fld>
            <a:endParaRPr lang="es-ES"/>
          </a:p>
        </p:txBody>
      </p:sp>
      <p:sp>
        <p:nvSpPr>
          <p:cNvPr id="5" name="Marcador de pie de página 4">
            <a:extLst>
              <a:ext uri="{FF2B5EF4-FFF2-40B4-BE49-F238E27FC236}">
                <a16:creationId xmlns:a16="http://schemas.microsoft.com/office/drawing/2014/main" id="{5226CF39-33C2-9BF3-544B-2B7B1446465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0C9EBFF-3268-DB30-71CF-0042D24CE203}"/>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807338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340DA5B-4F04-5E8A-6DE3-71F150CEDA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45B4A1CE-C411-332B-579B-A08B8F347E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D0A8FEF5-8DEC-BE49-ED2C-FC43B05D4D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4528C1-82C9-4445-A848-4CBA9F23312B}" type="datetimeFigureOut">
              <a:rPr lang="es-ES" smtClean="0"/>
              <a:t>25/04/2024</a:t>
            </a:fld>
            <a:endParaRPr lang="es-ES"/>
          </a:p>
        </p:txBody>
      </p:sp>
      <p:sp>
        <p:nvSpPr>
          <p:cNvPr id="5" name="Marcador de pie de página 4">
            <a:extLst>
              <a:ext uri="{FF2B5EF4-FFF2-40B4-BE49-F238E27FC236}">
                <a16:creationId xmlns:a16="http://schemas.microsoft.com/office/drawing/2014/main" id="{EF70E8C6-1AE4-42A3-03D5-549133C6FF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6A2F828B-082D-E8A8-31BA-02F0F7F041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04C4F5-1195-4895-81EB-16EC24AC6F40}" type="slidenum">
              <a:rPr lang="es-ES" smtClean="0"/>
              <a:t>‹Nº›</a:t>
            </a:fld>
            <a:endParaRPr lang="es-ES"/>
          </a:p>
        </p:txBody>
      </p:sp>
    </p:spTree>
    <p:extLst>
      <p:ext uri="{BB962C8B-B14F-4D97-AF65-F5344CB8AC3E}">
        <p14:creationId xmlns:p14="http://schemas.microsoft.com/office/powerpoint/2010/main" val="12012740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B82140-08D3-08F1-4D09-A0DA1C925D1F}"/>
              </a:ext>
            </a:extLst>
          </p:cNvPr>
          <p:cNvSpPr>
            <a:spLocks noGrp="1"/>
          </p:cNvSpPr>
          <p:nvPr>
            <p:ph type="ctrTitle"/>
          </p:nvPr>
        </p:nvSpPr>
        <p:spPr/>
        <p:txBody>
          <a:bodyPr/>
          <a:lstStyle/>
          <a:p>
            <a:r>
              <a:rPr lang="es-ES" sz="1800" b="1" dirty="0">
                <a:effectLst/>
                <a:latin typeface="Times New Roman" panose="02020603050405020304" pitchFamily="18" charset="0"/>
                <a:ea typeface="Times New Roman" panose="02020603050405020304" pitchFamily="18" charset="0"/>
              </a:rPr>
              <a:t>MAESTRIA EN GESTION ECONOMICA Y FINANCIERA DE RIESGOS</a:t>
            </a:r>
            <a:endParaRPr lang="es-AR" dirty="0"/>
          </a:p>
        </p:txBody>
      </p:sp>
      <p:sp>
        <p:nvSpPr>
          <p:cNvPr id="3" name="Subtítulo 2">
            <a:extLst>
              <a:ext uri="{FF2B5EF4-FFF2-40B4-BE49-F238E27FC236}">
                <a16:creationId xmlns:a16="http://schemas.microsoft.com/office/drawing/2014/main" id="{C8DE824A-985B-6EFE-79BC-73F2093AD114}"/>
              </a:ext>
            </a:extLst>
          </p:cNvPr>
          <p:cNvSpPr>
            <a:spLocks noGrp="1"/>
          </p:cNvSpPr>
          <p:nvPr>
            <p:ph type="subTitle" idx="1"/>
          </p:nvPr>
        </p:nvSpPr>
        <p:spPr/>
        <p:txBody>
          <a:bodyPr/>
          <a:lstStyle/>
          <a:p>
            <a:endParaRPr lang="es-ES" sz="1800" b="1" dirty="0">
              <a:effectLst/>
              <a:latin typeface="Arial" panose="020B0604020202020204" pitchFamily="34" charset="0"/>
              <a:ea typeface="Times New Roman" panose="02020603050405020304" pitchFamily="18" charset="0"/>
            </a:endParaRPr>
          </a:p>
          <a:p>
            <a:r>
              <a:rPr lang="es-ES" sz="1800" b="1" dirty="0">
                <a:effectLst/>
                <a:latin typeface="Arial" panose="020B0604020202020204" pitchFamily="34" charset="0"/>
                <a:ea typeface="Times New Roman" panose="02020603050405020304" pitchFamily="18" charset="0"/>
              </a:rPr>
              <a:t>ASIGNATURA:  TÓPICOS DE FINANZAS CORPORATIVAS</a:t>
            </a:r>
          </a:p>
          <a:p>
            <a:endParaRPr lang="es-ES" sz="1800" b="1" dirty="0">
              <a:effectLst/>
              <a:latin typeface="Arial" panose="020B0604020202020204" pitchFamily="34" charset="0"/>
              <a:ea typeface="Times New Roman" panose="02020603050405020304" pitchFamily="18" charset="0"/>
            </a:endParaRPr>
          </a:p>
          <a:p>
            <a:r>
              <a:rPr lang="es-ES" sz="1800" b="1" dirty="0">
                <a:effectLst/>
                <a:latin typeface="Arial" panose="020B0604020202020204" pitchFamily="34" charset="0"/>
                <a:ea typeface="Times New Roman" panose="02020603050405020304" pitchFamily="18" charset="0"/>
              </a:rPr>
              <a:t>DOCENTE:</a:t>
            </a:r>
            <a:r>
              <a:rPr lang="es-ES" sz="1800" dirty="0">
                <a:effectLst/>
                <a:latin typeface="Arial" panose="020B0604020202020204" pitchFamily="34" charset="0"/>
                <a:ea typeface="Times New Roman" panose="02020603050405020304" pitchFamily="18" charset="0"/>
              </a:rPr>
              <a:t> ACT. GUSTAVO GABRIEL GRINBLAT</a:t>
            </a:r>
            <a:endParaRPr lang="es-AR" dirty="0"/>
          </a:p>
        </p:txBody>
      </p:sp>
      <p:pic>
        <p:nvPicPr>
          <p:cNvPr id="4" name="1 Imagen">
            <a:extLst>
              <a:ext uri="{FF2B5EF4-FFF2-40B4-BE49-F238E27FC236}">
                <a16:creationId xmlns:a16="http://schemas.microsoft.com/office/drawing/2014/main" id="{03ECD9A0-F9B9-1F21-C435-4F8087292C62}"/>
              </a:ext>
            </a:extLst>
          </p:cNvPr>
          <p:cNvPicPr/>
          <p:nvPr/>
        </p:nvPicPr>
        <p:blipFill>
          <a:blip r:embed="rId2"/>
          <a:stretch>
            <a:fillRect/>
          </a:stretch>
        </p:blipFill>
        <p:spPr>
          <a:xfrm>
            <a:off x="4009707" y="1764030"/>
            <a:ext cx="4172585" cy="1104265"/>
          </a:xfrm>
          <a:prstGeom prst="rect">
            <a:avLst/>
          </a:prstGeom>
        </p:spPr>
      </p:pic>
    </p:spTree>
    <p:extLst>
      <p:ext uri="{BB962C8B-B14F-4D97-AF65-F5344CB8AC3E}">
        <p14:creationId xmlns:p14="http://schemas.microsoft.com/office/powerpoint/2010/main" val="3847695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 Costo 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20000"/>
          </a:bodyPr>
          <a:lstStyle/>
          <a:p>
            <a:r>
              <a:rPr lang="es-AR" sz="2400" dirty="0"/>
              <a:t>La forma de generar valor en una empresa es lograr inversiones cuyo rendimiento supere al costo del Capital</a:t>
            </a:r>
          </a:p>
          <a:p>
            <a:r>
              <a:rPr lang="es-AR" sz="2400" dirty="0"/>
              <a:t>El Capital se obtiene principalmente de tres formas: Acciones comunes (reteniendo ganancias o emitiendo nuevas Acciones), Acciones preferentes y Deuda</a:t>
            </a:r>
          </a:p>
          <a:p>
            <a:r>
              <a:rPr lang="es-AR" sz="2400" dirty="0"/>
              <a:t>Los inversionistas aportan Capital esperando obtener al menos su tasa requerida</a:t>
            </a:r>
          </a:p>
          <a:p>
            <a:r>
              <a:rPr lang="es-AR" sz="2400" dirty="0"/>
              <a:t>La tasa de rendimiento requerida es EL COSTO DEL CAPITAL de la empresa</a:t>
            </a:r>
          </a:p>
          <a:p>
            <a:r>
              <a:rPr lang="es-AR" sz="2400" dirty="0"/>
              <a:t>Factores que influyen en el costo del Capital, pero no están bajo el control de la empresa</a:t>
            </a:r>
          </a:p>
          <a:p>
            <a:pPr lvl="1"/>
            <a:r>
              <a:rPr lang="es-AR" sz="2000" dirty="0"/>
              <a:t>Tasas de interés</a:t>
            </a:r>
          </a:p>
          <a:p>
            <a:pPr lvl="1"/>
            <a:r>
              <a:rPr lang="es-AR" sz="2000" dirty="0"/>
              <a:t>Impuestos</a:t>
            </a:r>
          </a:p>
          <a:p>
            <a:pPr lvl="1"/>
            <a:r>
              <a:rPr lang="es-AR" sz="2000" dirty="0"/>
              <a:t>Condiciones económicas generales</a:t>
            </a:r>
          </a:p>
          <a:p>
            <a:r>
              <a:rPr lang="es-AR" sz="2400" dirty="0"/>
              <a:t>Pero cómo conseguir fondos y cómo invertirlos sí están bajo su control y también tienen un profundo efecto en el costo del Capital</a:t>
            </a:r>
          </a:p>
          <a:p>
            <a:pPr lvl="1"/>
            <a:r>
              <a:rPr lang="es-AR" sz="2000" dirty="0"/>
              <a:t>Cómo consigo fondos</a:t>
            </a:r>
          </a:p>
          <a:p>
            <a:pPr lvl="1"/>
            <a:r>
              <a:rPr lang="es-AR" sz="2000" dirty="0"/>
              <a:t>En qué proyectos invierto</a:t>
            </a:r>
          </a:p>
          <a:p>
            <a:endParaRPr lang="es-AR" sz="2400" dirty="0"/>
          </a:p>
        </p:txBody>
      </p:sp>
    </p:spTree>
    <p:extLst>
      <p:ext uri="{BB962C8B-B14F-4D97-AF65-F5344CB8AC3E}">
        <p14:creationId xmlns:p14="http://schemas.microsoft.com/office/powerpoint/2010/main" val="1655813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 Costo 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10000"/>
          </a:bodyPr>
          <a:lstStyle/>
          <a:p>
            <a:r>
              <a:rPr lang="es-AR" dirty="0"/>
              <a:t>Estimar el costo del Capital de una gran compañía es conceptualmente sencillo y depende de las tasas de interés en la economía y de la tasa requerida de rendimiento del Capital del accionista marginal</a:t>
            </a:r>
          </a:p>
          <a:p>
            <a:r>
              <a:rPr lang="es-AR" dirty="0"/>
              <a:t>Una gran Empresa tendrá costos de Capital diferentes para sus distintas divisiones de negocio. Así la corporación será un promedio ponderado del riesgo de sus distintas divisiones, y tendrá un costo de Capital surgido de un promedio ponderado también</a:t>
            </a:r>
          </a:p>
          <a:p>
            <a:r>
              <a:rPr lang="es-AR" dirty="0"/>
              <a:t>El costo de Capital es un elemento esencial en el proceso de presupuestación de Capital de una Empresa.</a:t>
            </a:r>
          </a:p>
          <a:p>
            <a:r>
              <a:rPr lang="es-AR" dirty="0"/>
              <a:t>Este proceso es la principal determinante del precio de las Acciones a largo plazo</a:t>
            </a:r>
          </a:p>
          <a:p>
            <a:pPr marL="0" indent="0">
              <a:buNone/>
            </a:pPr>
            <a:endParaRPr lang="es-AR" dirty="0"/>
          </a:p>
        </p:txBody>
      </p:sp>
    </p:spTree>
    <p:extLst>
      <p:ext uri="{BB962C8B-B14F-4D97-AF65-F5344CB8AC3E}">
        <p14:creationId xmlns:p14="http://schemas.microsoft.com/office/powerpoint/2010/main" val="905163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 Costo 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a:xfrm>
            <a:off x="838200" y="1576240"/>
            <a:ext cx="10515600" cy="4351338"/>
          </a:xfrm>
        </p:spPr>
        <p:txBody>
          <a:bodyPr>
            <a:normAutofit/>
          </a:bodyPr>
          <a:lstStyle/>
          <a:p>
            <a:pPr marL="0" indent="0">
              <a:buNone/>
            </a:pPr>
            <a:r>
              <a:rPr lang="es-AR" dirty="0"/>
              <a:t>El costo promedio ponderado del capital – WACC</a:t>
            </a:r>
          </a:p>
          <a:p>
            <a:pPr marL="0" indent="0">
              <a:buNone/>
            </a:pPr>
            <a:r>
              <a:rPr lang="es-AR" dirty="0"/>
              <a:t>Balance de </a:t>
            </a:r>
            <a:r>
              <a:rPr lang="es-AR" dirty="0" err="1"/>
              <a:t>Allied</a:t>
            </a:r>
            <a:endParaRPr lang="es-AR" dirty="0"/>
          </a:p>
        </p:txBody>
      </p:sp>
      <p:pic>
        <p:nvPicPr>
          <p:cNvPr id="4" name="Imagen 3">
            <a:extLst>
              <a:ext uri="{FF2B5EF4-FFF2-40B4-BE49-F238E27FC236}">
                <a16:creationId xmlns:a16="http://schemas.microsoft.com/office/drawing/2014/main" id="{57F04C09-601D-1BFC-C5F8-9E720E6C0C4F}"/>
              </a:ext>
            </a:extLst>
          </p:cNvPr>
          <p:cNvPicPr>
            <a:picLocks noChangeAspect="1"/>
          </p:cNvPicPr>
          <p:nvPr/>
        </p:nvPicPr>
        <p:blipFill>
          <a:blip r:embed="rId2"/>
          <a:stretch>
            <a:fillRect/>
          </a:stretch>
        </p:blipFill>
        <p:spPr>
          <a:xfrm>
            <a:off x="693945" y="2433203"/>
            <a:ext cx="10462417" cy="3934980"/>
          </a:xfrm>
          <a:prstGeom prst="rect">
            <a:avLst/>
          </a:prstGeom>
        </p:spPr>
      </p:pic>
    </p:spTree>
    <p:extLst>
      <p:ext uri="{BB962C8B-B14F-4D97-AF65-F5344CB8AC3E}">
        <p14:creationId xmlns:p14="http://schemas.microsoft.com/office/powerpoint/2010/main" val="15872641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 Costo 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r>
              <a:rPr lang="es-AR" dirty="0"/>
              <a:t>Cuando calculamos el WACC sólo tomamos los que aportan los inversionistas dejando afuera las cuentas por pagar y las acumulaciones que surgen de modo espontáneo con las operaciones</a:t>
            </a:r>
          </a:p>
          <a:p>
            <a:r>
              <a:rPr lang="es-AR" dirty="0"/>
              <a:t>Del cuadro anterior vemos que</a:t>
            </a:r>
          </a:p>
          <a:p>
            <a:pPr lvl="1"/>
            <a:r>
              <a:rPr lang="es-AR" dirty="0"/>
              <a:t>A valores contables la deuda de Allied es del 47,8% (860/1800) y el capital aporta el restante 52,2% (940/1800). </a:t>
            </a:r>
          </a:p>
          <a:p>
            <a:pPr lvl="1"/>
            <a:r>
              <a:rPr lang="es-AR" dirty="0"/>
              <a:t>Hemos asumido que la deuda tiene un valor de mercado equivalente al nominal ¿De qué depende que esto sea cierto?</a:t>
            </a:r>
          </a:p>
          <a:p>
            <a:pPr lvl="1"/>
            <a:r>
              <a:rPr lang="es-AR" dirty="0"/>
              <a:t>El valor de mercado de las acciones comunes supera al contable haciendo que aumente su participación en la estructura de capital (57,3%)</a:t>
            </a:r>
          </a:p>
        </p:txBody>
      </p:sp>
    </p:spTree>
    <p:extLst>
      <p:ext uri="{BB962C8B-B14F-4D97-AF65-F5344CB8AC3E}">
        <p14:creationId xmlns:p14="http://schemas.microsoft.com/office/powerpoint/2010/main" val="35741476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 Costo 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r>
              <a:rPr lang="es-AR" dirty="0"/>
              <a:t>Lo importante a los efectos del cálculo del WACC será la estructura de Capital </a:t>
            </a:r>
            <a:r>
              <a:rPr lang="es-AR" b="1" u="sng" dirty="0"/>
              <a:t>objetivo</a:t>
            </a:r>
            <a:r>
              <a:rPr lang="es-AR" dirty="0"/>
              <a:t> de la empresa, que como veremos más adelante surgirá de aquella que maximice el valor de sus acciones (estructura óptima). De allí tomaremos las ponderaciones</a:t>
            </a:r>
          </a:p>
        </p:txBody>
      </p:sp>
    </p:spTree>
    <p:extLst>
      <p:ext uri="{BB962C8B-B14F-4D97-AF65-F5344CB8AC3E}">
        <p14:creationId xmlns:p14="http://schemas.microsoft.com/office/powerpoint/2010/main" val="4015848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 Costo 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r>
              <a:rPr lang="es-AR" dirty="0"/>
              <a:t>Preguntas</a:t>
            </a:r>
          </a:p>
          <a:p>
            <a:pPr marL="514350" indent="-514350">
              <a:buFont typeface="+mj-lt"/>
              <a:buAutoNum type="arabicPeriod"/>
            </a:pPr>
            <a:r>
              <a:rPr lang="es-AR" dirty="0"/>
              <a:t>Cuando se calcula el WACC ¿qué capital se excluye y por qué?</a:t>
            </a:r>
          </a:p>
          <a:p>
            <a:pPr marL="514350" indent="-514350">
              <a:buFont typeface="+mj-lt"/>
              <a:buAutoNum type="arabicPeriod"/>
            </a:pPr>
            <a:r>
              <a:rPr lang="es-AR" dirty="0"/>
              <a:t>Cuando se calcula el WACC ¿deben usarse los valores contables, de mercado o las ponderaciones Objetivo? ¿Por qué?</a:t>
            </a:r>
          </a:p>
          <a:p>
            <a:pPr marL="514350" indent="-514350">
              <a:buFont typeface="+mj-lt"/>
              <a:buAutoNum type="arabicPeriod"/>
            </a:pPr>
            <a:r>
              <a:rPr lang="es-AR" dirty="0"/>
              <a:t>¿Por qué las ponderaciones pueden diferir a nivel contable, de mercado y Objetivo?</a:t>
            </a:r>
          </a:p>
        </p:txBody>
      </p:sp>
    </p:spTree>
    <p:extLst>
      <p:ext uri="{BB962C8B-B14F-4D97-AF65-F5344CB8AC3E}">
        <p14:creationId xmlns:p14="http://schemas.microsoft.com/office/powerpoint/2010/main" val="428014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 Costo 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20000"/>
          </a:bodyPr>
          <a:lstStyle/>
          <a:p>
            <a:r>
              <a:rPr lang="es-AR" dirty="0"/>
              <a:t>Definiciones</a:t>
            </a:r>
          </a:p>
          <a:p>
            <a:r>
              <a:rPr lang="es-AR" dirty="0"/>
              <a:t>Componentes de Capital</a:t>
            </a:r>
          </a:p>
          <a:p>
            <a:pPr lvl="1"/>
            <a:r>
              <a:rPr lang="es-AR" dirty="0"/>
              <a:t>Acciones Comunes</a:t>
            </a:r>
          </a:p>
          <a:p>
            <a:pPr lvl="1"/>
            <a:r>
              <a:rPr lang="es-AR" dirty="0"/>
              <a:t>Acciones Preferentes</a:t>
            </a:r>
          </a:p>
          <a:p>
            <a:pPr lvl="1"/>
            <a:r>
              <a:rPr lang="es-AR" dirty="0"/>
              <a:t>Deuda</a:t>
            </a:r>
          </a:p>
          <a:p>
            <a:pPr marL="0" indent="0">
              <a:buNone/>
            </a:pPr>
            <a:r>
              <a:rPr lang="es-AR" dirty="0"/>
              <a:t>y los incrementos en los activos se financian con incremento en estos componentes</a:t>
            </a:r>
          </a:p>
          <a:p>
            <a:r>
              <a:rPr lang="es-AR" dirty="0"/>
              <a:t>El costo de cada componente se llama </a:t>
            </a:r>
            <a:r>
              <a:rPr lang="es-AR" b="1" dirty="0"/>
              <a:t>costo del componente</a:t>
            </a:r>
            <a:r>
              <a:rPr lang="es-AR" dirty="0"/>
              <a:t>, por ejemplo, si la empresa se endeuda al 10%, ese será el costo del componente Deuda. ¿Impuestos, cómo juegan?</a:t>
            </a:r>
          </a:p>
          <a:p>
            <a:r>
              <a:rPr lang="es-AR" dirty="0"/>
              <a:t>Los costos de los componentes luego se combinan para obtener el WACC, que será utilizado en el </a:t>
            </a:r>
            <a:r>
              <a:rPr lang="es-AR" b="1" dirty="0"/>
              <a:t>análisis de presupuestación de capital </a:t>
            </a:r>
            <a:r>
              <a:rPr lang="es-AR" dirty="0"/>
              <a:t>de la empresa. Por eso nos interesa el costo del Capital</a:t>
            </a:r>
          </a:p>
          <a:p>
            <a:endParaRPr lang="es-AR" dirty="0"/>
          </a:p>
          <a:p>
            <a:endParaRPr lang="es-AR" dirty="0"/>
          </a:p>
        </p:txBody>
      </p:sp>
    </p:spTree>
    <p:extLst>
      <p:ext uri="{BB962C8B-B14F-4D97-AF65-F5344CB8AC3E}">
        <p14:creationId xmlns:p14="http://schemas.microsoft.com/office/powerpoint/2010/main" val="2710336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 Costo del Capital</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a:xfrm>
                <a:off x="838200" y="1825624"/>
                <a:ext cx="10515600" cy="4533611"/>
              </a:xfrm>
            </p:spPr>
            <p:txBody>
              <a:bodyPr>
                <a:normAutofit lnSpcReduction="10000"/>
              </a:bodyPr>
              <a:lstStyle/>
              <a:p>
                <a:r>
                  <a:rPr lang="es-AR" sz="2400" dirty="0"/>
                  <a:t>Términos a utilizar</a:t>
                </a:r>
              </a:p>
              <a:p>
                <a14:m>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𝑟</m:t>
                        </m:r>
                      </m:e>
                      <m:sub>
                        <m:r>
                          <a:rPr lang="es-AR" sz="2400" b="0" i="1" smtClean="0">
                            <a:latin typeface="Cambria Math" panose="02040503050406030204" pitchFamily="18" charset="0"/>
                          </a:rPr>
                          <m:t>𝑑</m:t>
                        </m:r>
                      </m:sub>
                    </m:sSub>
                  </m:oMath>
                </a14:m>
                <a:r>
                  <a:rPr lang="es-AR" sz="2400" dirty="0"/>
                  <a:t>, es la tasa de interés de la deuda nueva (antes de impuestos). Puede estimarse a partir del rendimiento al vencimiento de los bonos circulantes</a:t>
                </a:r>
              </a:p>
              <a:p>
                <a14:m>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𝑟</m:t>
                        </m:r>
                      </m:e>
                      <m:sub>
                        <m:r>
                          <a:rPr lang="es-AR" sz="2400" b="0" i="1" smtClean="0">
                            <a:latin typeface="Cambria Math" panose="02040503050406030204" pitchFamily="18" charset="0"/>
                          </a:rPr>
                          <m:t>𝑑</m:t>
                        </m:r>
                      </m:sub>
                    </m:sSub>
                  </m:oMath>
                </a14:m>
                <a:r>
                  <a:rPr lang="es-AR" sz="2400" dirty="0"/>
                  <a:t>(1-T), es lo que usaremos en el WACC porque los intereses son deducibles</a:t>
                </a:r>
              </a:p>
              <a:p>
                <a14:m>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𝑟</m:t>
                        </m:r>
                      </m:e>
                      <m:sub>
                        <m:r>
                          <a:rPr lang="es-AR" sz="2400" b="0" i="1" smtClean="0">
                            <a:latin typeface="Cambria Math" panose="02040503050406030204" pitchFamily="18" charset="0"/>
                          </a:rPr>
                          <m:t>𝑝</m:t>
                        </m:r>
                      </m:sub>
                    </m:sSub>
                  </m:oMath>
                </a14:m>
                <a:r>
                  <a:rPr lang="es-AR" sz="2400" dirty="0"/>
                  <a:t>, rendimiento esperado por el inversionista en Acciones Preferentes</a:t>
                </a:r>
              </a:p>
              <a:p>
                <a14:m>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𝑟</m:t>
                        </m:r>
                      </m:e>
                      <m:sub>
                        <m:r>
                          <a:rPr lang="es-AR" sz="2400" b="0" i="1" smtClean="0">
                            <a:latin typeface="Cambria Math" panose="02040503050406030204" pitchFamily="18" charset="0"/>
                          </a:rPr>
                          <m:t>𝑠</m:t>
                        </m:r>
                      </m:sub>
                    </m:sSub>
                  </m:oMath>
                </a14:m>
                <a:r>
                  <a:rPr lang="es-AR" sz="2400" dirty="0"/>
                  <a:t>, costo del Capital interno que surge de ganancias retenidas, rendimiento exigido por el accionista sobre las acciones comunes</a:t>
                </a:r>
              </a:p>
              <a:p>
                <a14:m>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𝑟</m:t>
                        </m:r>
                      </m:e>
                      <m:sub>
                        <m:r>
                          <a:rPr lang="es-AR" sz="2400" b="0" i="1" smtClean="0">
                            <a:latin typeface="Cambria Math" panose="02040503050406030204" pitchFamily="18" charset="0"/>
                          </a:rPr>
                          <m:t>𝑒</m:t>
                        </m:r>
                      </m:sub>
                    </m:sSub>
                  </m:oMath>
                </a14:m>
                <a:r>
                  <a:rPr lang="es-AR" sz="2400" dirty="0"/>
                  <a:t>, costo del componente Capital externo. Nuevas acciones. Es igual a </a:t>
                </a:r>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i="1">
                            <a:latin typeface="Cambria Math" panose="02040503050406030204" pitchFamily="18" charset="0"/>
                          </a:rPr>
                          <m:t>𝑠</m:t>
                        </m:r>
                      </m:sub>
                    </m:sSub>
                  </m:oMath>
                </a14:m>
                <a:r>
                  <a:rPr lang="es-AR" sz="2400" dirty="0"/>
                  <a:t> + el costo de emisión de las nuevas acciones. Aplica en las empresas jóvenes, en crecimiento</a:t>
                </a:r>
              </a:p>
              <a:p>
                <a14:m>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𝑤</m:t>
                        </m:r>
                      </m:e>
                      <m:sub>
                        <m:r>
                          <a:rPr lang="es-AR" sz="2400" b="0" i="1" smtClean="0">
                            <a:latin typeface="Cambria Math" panose="02040503050406030204" pitchFamily="18" charset="0"/>
                          </a:rPr>
                          <m:t>𝑑</m:t>
                        </m:r>
                      </m:sub>
                    </m:sSub>
                  </m:oMath>
                </a14:m>
                <a:r>
                  <a:rPr lang="es-AR" sz="2400" dirty="0"/>
                  <a:t>, </a:t>
                </a:r>
                <a14:m>
                  <m:oMath xmlns:m="http://schemas.openxmlformats.org/officeDocument/2006/math">
                    <m:sSub>
                      <m:sSubPr>
                        <m:ctrlPr>
                          <a:rPr lang="es-AR" sz="2400" i="1">
                            <a:latin typeface="Cambria Math" panose="02040503050406030204" pitchFamily="18" charset="0"/>
                          </a:rPr>
                        </m:ctrlPr>
                      </m:sSubPr>
                      <m:e>
                        <m:r>
                          <a:rPr lang="es-AR" sz="2400" b="0" i="1" smtClean="0">
                            <a:latin typeface="Cambria Math" panose="02040503050406030204" pitchFamily="18" charset="0"/>
                          </a:rPr>
                          <m:t>𝑤</m:t>
                        </m:r>
                      </m:e>
                      <m:sub>
                        <m:r>
                          <a:rPr lang="es-AR" sz="2400" b="0" i="1" smtClean="0">
                            <a:latin typeface="Cambria Math" panose="02040503050406030204" pitchFamily="18" charset="0"/>
                          </a:rPr>
                          <m:t>𝑝</m:t>
                        </m:r>
                      </m:sub>
                    </m:sSub>
                  </m:oMath>
                </a14:m>
                <a:r>
                  <a:rPr lang="es-AR" sz="2400" dirty="0"/>
                  <a:t>, </a:t>
                </a:r>
                <a14:m>
                  <m:oMath xmlns:m="http://schemas.openxmlformats.org/officeDocument/2006/math">
                    <m:sSub>
                      <m:sSubPr>
                        <m:ctrlPr>
                          <a:rPr lang="es-AR" sz="2400" i="1">
                            <a:latin typeface="Cambria Math" panose="02040503050406030204" pitchFamily="18" charset="0"/>
                          </a:rPr>
                        </m:ctrlPr>
                      </m:sSubPr>
                      <m:e>
                        <m:r>
                          <a:rPr lang="es-AR" sz="2400" b="0" i="1" smtClean="0">
                            <a:latin typeface="Cambria Math" panose="02040503050406030204" pitchFamily="18" charset="0"/>
                          </a:rPr>
                          <m:t>𝑤</m:t>
                        </m:r>
                      </m:e>
                      <m:sub>
                        <m:r>
                          <a:rPr lang="es-AR" sz="2400" b="0" i="1" smtClean="0">
                            <a:latin typeface="Cambria Math" panose="02040503050406030204" pitchFamily="18" charset="0"/>
                          </a:rPr>
                          <m:t>𝑐</m:t>
                        </m:r>
                      </m:sub>
                    </m:sSub>
                  </m:oMath>
                </a14:m>
                <a:r>
                  <a:rPr lang="es-AR" sz="2400" dirty="0"/>
                  <a:t> son las PONDERACIONES OBJETIVO que la empresa planea utilizar cuando reúna capital en el futuro. Generalmente difieran de las reales vigentes</a:t>
                </a:r>
              </a:p>
              <a:p>
                <a:endParaRPr lang="es-AR" sz="2400" dirty="0"/>
              </a:p>
            </p:txBody>
          </p:sp>
        </mc:Choice>
        <mc:Fallback xmlns="">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xfrm>
                <a:off x="838200" y="1825624"/>
                <a:ext cx="10515600" cy="4533611"/>
              </a:xfrm>
              <a:blipFill>
                <a:blip r:embed="rId2"/>
                <a:stretch>
                  <a:fillRect l="-812" t="-2554" r="-1217" b="-403"/>
                </a:stretch>
              </a:blipFill>
            </p:spPr>
            <p:txBody>
              <a:bodyPr/>
              <a:lstStyle/>
              <a:p>
                <a:r>
                  <a:rPr lang="es-ES">
                    <a:noFill/>
                  </a:rPr>
                  <a:t> </a:t>
                </a:r>
              </a:p>
            </p:txBody>
          </p:sp>
        </mc:Fallback>
      </mc:AlternateContent>
    </p:spTree>
    <p:extLst>
      <p:ext uri="{BB962C8B-B14F-4D97-AF65-F5344CB8AC3E}">
        <p14:creationId xmlns:p14="http://schemas.microsoft.com/office/powerpoint/2010/main" val="36238540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 Costo del Capital</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a:xfrm>
                <a:off x="838200" y="1825624"/>
                <a:ext cx="10515600" cy="4533611"/>
              </a:xfrm>
            </p:spPr>
            <p:txBody>
              <a:bodyPr>
                <a:normAutofit/>
              </a:bodyPr>
              <a:lstStyle/>
              <a:p>
                <a:r>
                  <a:rPr lang="es-AR" sz="2400" dirty="0"/>
                  <a:t>Términos a utilizar</a:t>
                </a:r>
              </a:p>
              <a:p>
                <a:pPr marL="0" indent="0">
                  <a:buNone/>
                </a:pPr>
                <a:r>
                  <a:rPr lang="es-AR" sz="2400" dirty="0"/>
                  <a:t>Con lo que, sin emisión de acciones comunes,</a:t>
                </a:r>
              </a:p>
              <a:p>
                <a:pPr marL="0" indent="0" algn="ctr">
                  <a:buNone/>
                </a:pPr>
                <a:r>
                  <a:rPr lang="es-AR" sz="2400" dirty="0"/>
                  <a:t>WACC= </a:t>
                </a:r>
                <a14:m>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𝑤</m:t>
                        </m:r>
                      </m:e>
                      <m:sub>
                        <m:r>
                          <a:rPr lang="es-AR" sz="2400" b="0" i="1" smtClean="0">
                            <a:latin typeface="Cambria Math" panose="02040503050406030204" pitchFamily="18" charset="0"/>
                          </a:rPr>
                          <m:t>𝑑</m:t>
                        </m:r>
                      </m:sub>
                    </m:sSub>
                  </m:oMath>
                </a14:m>
                <a:r>
                  <a:rPr lang="es-AR" sz="2400" dirty="0"/>
                  <a:t> </a:t>
                </a:r>
                <a14:m>
                  <m:oMath xmlns:m="http://schemas.openxmlformats.org/officeDocument/2006/math">
                    <m:sSub>
                      <m:sSubPr>
                        <m:ctrlPr>
                          <a:rPr lang="es-AR" sz="2400" i="1">
                            <a:latin typeface="Cambria Math" panose="02040503050406030204" pitchFamily="18" charset="0"/>
                          </a:rPr>
                        </m:ctrlPr>
                      </m:sSubPr>
                      <m:e>
                        <m:r>
                          <a:rPr lang="es-AR" sz="2400" b="0" i="1" smtClean="0">
                            <a:latin typeface="Cambria Math" panose="02040503050406030204" pitchFamily="18" charset="0"/>
                          </a:rPr>
                          <m:t>𝑟</m:t>
                        </m:r>
                      </m:e>
                      <m:sub>
                        <m:r>
                          <a:rPr lang="es-AR" sz="2400" i="1">
                            <a:latin typeface="Cambria Math" panose="02040503050406030204" pitchFamily="18" charset="0"/>
                          </a:rPr>
                          <m:t>𝑑</m:t>
                        </m:r>
                      </m:sub>
                    </m:sSub>
                  </m:oMath>
                </a14:m>
                <a:r>
                  <a:rPr lang="es-AR" sz="2400" dirty="0"/>
                  <a:t>(1-T) + </a:t>
                </a:r>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𝑤</m:t>
                        </m:r>
                      </m:e>
                      <m:sub>
                        <m:r>
                          <a:rPr lang="es-AR" sz="2400" i="1">
                            <a:latin typeface="Cambria Math" panose="02040503050406030204" pitchFamily="18" charset="0"/>
                          </a:rPr>
                          <m:t>𝑝</m:t>
                        </m:r>
                      </m:sub>
                    </m:sSub>
                  </m:oMath>
                </a14:m>
                <a:r>
                  <a:rPr lang="es-AR" sz="2400" dirty="0"/>
                  <a:t> </a:t>
                </a:r>
                <a14:m>
                  <m:oMath xmlns:m="http://schemas.openxmlformats.org/officeDocument/2006/math">
                    <m:sSub>
                      <m:sSubPr>
                        <m:ctrlPr>
                          <a:rPr lang="es-AR" sz="2400" i="1">
                            <a:latin typeface="Cambria Math" panose="02040503050406030204" pitchFamily="18" charset="0"/>
                          </a:rPr>
                        </m:ctrlPr>
                      </m:sSubPr>
                      <m:e>
                        <m:r>
                          <a:rPr lang="es-AR" sz="2400" b="0" i="1" smtClean="0">
                            <a:latin typeface="Cambria Math" panose="02040503050406030204" pitchFamily="18" charset="0"/>
                          </a:rPr>
                          <m:t>𝑟</m:t>
                        </m:r>
                      </m:e>
                      <m:sub>
                        <m:r>
                          <a:rPr lang="es-AR" sz="2400" i="1">
                            <a:latin typeface="Cambria Math" panose="02040503050406030204" pitchFamily="18" charset="0"/>
                          </a:rPr>
                          <m:t>𝑝</m:t>
                        </m:r>
                      </m:sub>
                    </m:sSub>
                  </m:oMath>
                </a14:m>
                <a:r>
                  <a:rPr lang="es-AR" sz="2400" dirty="0"/>
                  <a:t> + </a:t>
                </a:r>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𝑤</m:t>
                        </m:r>
                      </m:e>
                      <m:sub>
                        <m:r>
                          <a:rPr lang="es-AR" sz="2400" i="1">
                            <a:latin typeface="Cambria Math" panose="02040503050406030204" pitchFamily="18" charset="0"/>
                          </a:rPr>
                          <m:t>𝑐</m:t>
                        </m:r>
                      </m:sub>
                    </m:sSub>
                  </m:oMath>
                </a14:m>
                <a:r>
                  <a:rPr lang="es-AR" sz="2400" dirty="0"/>
                  <a:t> </a:t>
                </a:r>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b="0" i="1" smtClean="0">
                            <a:latin typeface="Cambria Math" panose="02040503050406030204" pitchFamily="18" charset="0"/>
                          </a:rPr>
                          <m:t>𝑠</m:t>
                        </m:r>
                      </m:sub>
                    </m:sSub>
                  </m:oMath>
                </a14:m>
                <a:endParaRPr lang="es-AR" sz="2400" dirty="0"/>
              </a:p>
              <a:p>
                <a:r>
                  <a:rPr lang="es-AR" sz="2400" dirty="0"/>
                  <a:t>Sólo el componente de deuda es neto de impuestos. Luego veremos cuál es la combinación óptima de una empresa para minimizar su costo de Capital y maximizar su Valor</a:t>
                </a:r>
              </a:p>
              <a:p>
                <a:endParaRPr lang="es-AR" sz="2400" dirty="0"/>
              </a:p>
              <a:p>
                <a:endParaRPr lang="es-AR" sz="2400" dirty="0"/>
              </a:p>
            </p:txBody>
          </p:sp>
        </mc:Choice>
        <mc:Fallback xmlns="">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xfrm>
                <a:off x="838200" y="1825624"/>
                <a:ext cx="10515600" cy="4533611"/>
              </a:xfrm>
              <a:blipFill>
                <a:blip r:embed="rId2"/>
                <a:stretch>
                  <a:fillRect l="-928" t="-1882"/>
                </a:stretch>
              </a:blipFill>
            </p:spPr>
            <p:txBody>
              <a:bodyPr/>
              <a:lstStyle/>
              <a:p>
                <a:r>
                  <a:rPr lang="es-ES">
                    <a:noFill/>
                  </a:rPr>
                  <a:t> </a:t>
                </a:r>
              </a:p>
            </p:txBody>
          </p:sp>
        </mc:Fallback>
      </mc:AlternateContent>
    </p:spTree>
    <p:extLst>
      <p:ext uri="{BB962C8B-B14F-4D97-AF65-F5344CB8AC3E}">
        <p14:creationId xmlns:p14="http://schemas.microsoft.com/office/powerpoint/2010/main" val="16740038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 Costo del Capital</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Autofit/>
              </a:bodyPr>
              <a:lstStyle/>
              <a:p>
                <a:r>
                  <a:rPr lang="es-AR" sz="2400" dirty="0"/>
                  <a:t>Costo de la Deuda, </a:t>
                </a:r>
                <a14:m>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𝑟</m:t>
                        </m:r>
                      </m:e>
                      <m:sub>
                        <m:r>
                          <a:rPr lang="es-AR" sz="2400" i="1">
                            <a:latin typeface="Cambria Math" panose="02040503050406030204" pitchFamily="18" charset="0"/>
                          </a:rPr>
                          <m:t>𝑑</m:t>
                        </m:r>
                      </m:sub>
                    </m:sSub>
                  </m:oMath>
                </a14:m>
                <a:r>
                  <a:rPr lang="es-AR" sz="2400" dirty="0"/>
                  <a:t>(1-T)</a:t>
                </a:r>
              </a:p>
              <a:p>
                <a:r>
                  <a:rPr lang="es-AR" sz="2400" dirty="0"/>
                  <a:t>Aspectos a considerar</a:t>
                </a:r>
              </a:p>
              <a:p>
                <a:pPr lvl="1"/>
                <a:r>
                  <a:rPr lang="es-AR" sz="2000" b="1" dirty="0"/>
                  <a:t>El costo de la deuda nos interesa fundamentalmente para conocer el costo de Capital en su uso en las decisiones de presupuestación de Capital</a:t>
                </a:r>
              </a:p>
              <a:p>
                <a:pPr lvl="1"/>
                <a:r>
                  <a:rPr lang="es-AR" sz="2000" dirty="0"/>
                  <a:t>Costo de la nueva deuda, no la vigente</a:t>
                </a:r>
              </a:p>
              <a:p>
                <a:pPr lvl="1"/>
                <a:r>
                  <a:rPr lang="es-AR" sz="2000" dirty="0"/>
                  <a:t>Rendimiento de la deuda vigente, no su cupón</a:t>
                </a:r>
              </a:p>
              <a:p>
                <a:pPr lvl="1"/>
                <a:r>
                  <a:rPr lang="es-AR" sz="2000" dirty="0"/>
                  <a:t>A cuánto nos prestaría el banco</a:t>
                </a:r>
              </a:p>
              <a:p>
                <a:pPr lvl="1"/>
                <a:r>
                  <a:rPr lang="es-AR" sz="2000" dirty="0"/>
                  <a:t>Tasas de corto plazo o largo plazo ¿Cómo se va a financiar el proyecto? Ahí la respuesta</a:t>
                </a:r>
              </a:p>
              <a:p>
                <a:pPr lvl="1"/>
                <a:r>
                  <a:rPr lang="es-AR" sz="2000" dirty="0"/>
                  <a:t>¿Qué hacer con la tasa impositiva si la empresa no va a pagar impuestos?</a:t>
                </a:r>
              </a:p>
              <a:p>
                <a:pPr marL="0" indent="0">
                  <a:buNone/>
                </a:pPr>
                <a:r>
                  <a:rPr lang="es-AR" sz="2400" dirty="0"/>
                  <a:t>Pregunta: ¿Qué tasa tomaría para el WACC si la compañía tiene bonos circulantes a 20 años con un cupón anual del 11% que cotizan hoy a 1.294,54? La tasa impositiva es del 40%</a:t>
                </a:r>
              </a:p>
            </p:txBody>
          </p:sp>
        </mc:Choice>
        <mc:Fallback xmlns="">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blipFill>
                <a:blip r:embed="rId2"/>
                <a:stretch>
                  <a:fillRect l="-928" t="-1961" r="-986" b="-1821"/>
                </a:stretch>
              </a:blipFill>
            </p:spPr>
            <p:txBody>
              <a:bodyPr/>
              <a:lstStyle/>
              <a:p>
                <a:r>
                  <a:rPr lang="es-ES">
                    <a:noFill/>
                  </a:rPr>
                  <a:t> </a:t>
                </a:r>
              </a:p>
            </p:txBody>
          </p:sp>
        </mc:Fallback>
      </mc:AlternateContent>
    </p:spTree>
    <p:extLst>
      <p:ext uri="{BB962C8B-B14F-4D97-AF65-F5344CB8AC3E}">
        <p14:creationId xmlns:p14="http://schemas.microsoft.com/office/powerpoint/2010/main" val="1361365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 Costo del Capital</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10000"/>
              </a:bodyPr>
              <a:lstStyle/>
              <a:p>
                <a:r>
                  <a:rPr lang="es-AR" dirty="0"/>
                  <a:t>Costo de las acciones preferentes, </a:t>
                </a:r>
                <a14:m>
                  <m:oMath xmlns:m="http://schemas.openxmlformats.org/officeDocument/2006/math">
                    <m:sSub>
                      <m:sSubPr>
                        <m:ctrlPr>
                          <a:rPr lang="es-AR" sz="2800" i="1" smtClean="0">
                            <a:latin typeface="Cambria Math" panose="02040503050406030204" pitchFamily="18" charset="0"/>
                          </a:rPr>
                        </m:ctrlPr>
                      </m:sSubPr>
                      <m:e>
                        <m:r>
                          <a:rPr lang="es-AR" sz="2800" b="0" i="1" smtClean="0">
                            <a:latin typeface="Cambria Math" panose="02040503050406030204" pitchFamily="18" charset="0"/>
                          </a:rPr>
                          <m:t>𝑟</m:t>
                        </m:r>
                      </m:e>
                      <m:sub>
                        <m:r>
                          <a:rPr lang="es-AR" sz="2800" i="1">
                            <a:latin typeface="Cambria Math" panose="02040503050406030204" pitchFamily="18" charset="0"/>
                          </a:rPr>
                          <m:t>𝑝</m:t>
                        </m:r>
                      </m:sub>
                    </m:sSub>
                  </m:oMath>
                </a14:m>
                <a:endParaRPr lang="es-AR" dirty="0"/>
              </a:p>
              <a:p>
                <a:r>
                  <a:rPr lang="es-AR" dirty="0"/>
                  <a:t>El valor a considerar para utilizar en el WACC es simplemente el cociente entre el dividendo comprometido y el precio vigente de las acciones</a:t>
                </a:r>
              </a:p>
              <a:p>
                <a:pPr marL="0" indent="0">
                  <a:buNone/>
                </a:pPr>
                <a:r>
                  <a:rPr lang="es-AR" sz="2800" dirty="0"/>
                  <a:t>Costo del componente de las acciones preferentes = </a:t>
                </a:r>
                <a14:m>
                  <m:oMath xmlns:m="http://schemas.openxmlformats.org/officeDocument/2006/math">
                    <m:sSub>
                      <m:sSubPr>
                        <m:ctrlPr>
                          <a:rPr lang="es-AR" sz="2800" i="1" smtClean="0">
                            <a:latin typeface="Cambria Math" panose="02040503050406030204" pitchFamily="18" charset="0"/>
                          </a:rPr>
                        </m:ctrlPr>
                      </m:sSubPr>
                      <m:e>
                        <m:r>
                          <a:rPr lang="es-AR" sz="2800" b="0" i="1" smtClean="0">
                            <a:latin typeface="Cambria Math" panose="02040503050406030204" pitchFamily="18" charset="0"/>
                          </a:rPr>
                          <m:t>𝑟</m:t>
                        </m:r>
                      </m:e>
                      <m:sub>
                        <m:r>
                          <a:rPr lang="es-AR" sz="2800" i="1">
                            <a:latin typeface="Cambria Math" panose="02040503050406030204" pitchFamily="18" charset="0"/>
                          </a:rPr>
                          <m:t>𝑝</m:t>
                        </m:r>
                      </m:sub>
                    </m:sSub>
                    <m:r>
                      <a:rPr lang="es-AR" sz="2800" b="0" i="1" smtClean="0">
                        <a:latin typeface="Cambria Math" panose="02040503050406030204" pitchFamily="18" charset="0"/>
                      </a:rPr>
                      <m:t> </m:t>
                    </m:r>
                  </m:oMath>
                </a14:m>
                <a:r>
                  <a:rPr lang="es-AR" dirty="0"/>
                  <a:t>= </a:t>
                </a:r>
                <a14:m>
                  <m:oMath xmlns:m="http://schemas.openxmlformats.org/officeDocument/2006/math">
                    <m:f>
                      <m:fPr>
                        <m:ctrlPr>
                          <a:rPr lang="es-AR" i="1" dirty="0" smtClean="0">
                            <a:latin typeface="Cambria Math" panose="02040503050406030204" pitchFamily="18" charset="0"/>
                          </a:rPr>
                        </m:ctrlPr>
                      </m:fPr>
                      <m:num>
                        <m:sSub>
                          <m:sSubPr>
                            <m:ctrlPr>
                              <a:rPr lang="es-AR" i="1" dirty="0" smtClean="0">
                                <a:latin typeface="Cambria Math" panose="02040503050406030204" pitchFamily="18" charset="0"/>
                              </a:rPr>
                            </m:ctrlPr>
                          </m:sSubPr>
                          <m:e>
                            <m:r>
                              <a:rPr lang="es-AR" b="0" i="1" dirty="0" smtClean="0">
                                <a:latin typeface="Cambria Math" panose="02040503050406030204" pitchFamily="18" charset="0"/>
                              </a:rPr>
                              <m:t>𝐷</m:t>
                            </m:r>
                          </m:e>
                          <m:sub>
                            <m:r>
                              <a:rPr lang="es-AR" b="0" i="1" dirty="0" smtClean="0">
                                <a:latin typeface="Cambria Math" panose="02040503050406030204" pitchFamily="18" charset="0"/>
                              </a:rPr>
                              <m:t>𝑝</m:t>
                            </m:r>
                          </m:sub>
                        </m:sSub>
                      </m:num>
                      <m:den>
                        <m:sSub>
                          <m:sSubPr>
                            <m:ctrlPr>
                              <a:rPr lang="es-AR" i="1" dirty="0" smtClean="0">
                                <a:latin typeface="Cambria Math" panose="02040503050406030204" pitchFamily="18" charset="0"/>
                              </a:rPr>
                            </m:ctrlPr>
                          </m:sSubPr>
                          <m:e>
                            <m:r>
                              <a:rPr lang="es-AR" b="0" i="1" dirty="0" smtClean="0">
                                <a:latin typeface="Cambria Math" panose="02040503050406030204" pitchFamily="18" charset="0"/>
                              </a:rPr>
                              <m:t>𝑃</m:t>
                            </m:r>
                          </m:e>
                          <m:sub>
                            <m:r>
                              <a:rPr lang="es-AR" b="0" i="1" dirty="0" smtClean="0">
                                <a:latin typeface="Cambria Math" panose="02040503050406030204" pitchFamily="18" charset="0"/>
                              </a:rPr>
                              <m:t>𝑝</m:t>
                            </m:r>
                          </m:sub>
                        </m:sSub>
                      </m:den>
                    </m:f>
                  </m:oMath>
                </a14:m>
                <a:endParaRPr lang="es-AR" dirty="0"/>
              </a:p>
              <a:p>
                <a:r>
                  <a:rPr lang="es-AR" dirty="0"/>
                  <a:t>Las acciones preferentes a emitir pueden o no tener un costo de emisión (por ejemplo, si se colocan directamente en grandes fondos de cobertura se evitarían costos de colocación)</a:t>
                </a:r>
              </a:p>
              <a:p>
                <a:r>
                  <a:rPr lang="es-AR" dirty="0"/>
                  <a:t>Debieran tener un costo superior al de la deuda</a:t>
                </a:r>
              </a:p>
              <a:p>
                <a:r>
                  <a:rPr lang="es-AR" dirty="0"/>
                  <a:t>El cálculo diferiría si no fueran acciones preferentes sin fecha de vencimiento, o si tuvieran opción de conversión a acciones comunes</a:t>
                </a:r>
              </a:p>
              <a:p>
                <a:pPr marL="0" indent="0">
                  <a:buNone/>
                </a:pPr>
                <a:endParaRPr lang="es-AR" dirty="0"/>
              </a:p>
              <a:p>
                <a:endParaRPr lang="es-AR" dirty="0"/>
              </a:p>
            </p:txBody>
          </p:sp>
        </mc:Choice>
        <mc:Fallback>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blipFill>
                <a:blip r:embed="rId2"/>
                <a:stretch>
                  <a:fillRect l="-1043" t="-2521"/>
                </a:stretch>
              </a:blipFill>
            </p:spPr>
            <p:txBody>
              <a:bodyPr/>
              <a:lstStyle/>
              <a:p>
                <a:r>
                  <a:rPr lang="es-ES">
                    <a:noFill/>
                  </a:rPr>
                  <a:t> </a:t>
                </a:r>
              </a:p>
            </p:txBody>
          </p:sp>
        </mc:Fallback>
      </mc:AlternateContent>
    </p:spTree>
    <p:extLst>
      <p:ext uri="{BB962C8B-B14F-4D97-AF65-F5344CB8AC3E}">
        <p14:creationId xmlns:p14="http://schemas.microsoft.com/office/powerpoint/2010/main" val="18028981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 Costo del Capital</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20000"/>
              </a:bodyPr>
              <a:lstStyle/>
              <a:p>
                <a:r>
                  <a:rPr lang="es-AR" dirty="0"/>
                  <a:t>Costo de las Ganancias Retenidas, </a:t>
                </a:r>
                <a14:m>
                  <m:oMath xmlns:m="http://schemas.openxmlformats.org/officeDocument/2006/math">
                    <m:sSub>
                      <m:sSubPr>
                        <m:ctrlPr>
                          <a:rPr lang="es-AR" sz="2800" i="1" smtClean="0">
                            <a:latin typeface="Cambria Math" panose="02040503050406030204" pitchFamily="18" charset="0"/>
                          </a:rPr>
                        </m:ctrlPr>
                      </m:sSubPr>
                      <m:e>
                        <m:r>
                          <a:rPr lang="es-AR" sz="2800" b="0" i="1" smtClean="0">
                            <a:latin typeface="Cambria Math" panose="02040503050406030204" pitchFamily="18" charset="0"/>
                          </a:rPr>
                          <m:t>𝑟</m:t>
                        </m:r>
                      </m:e>
                      <m:sub>
                        <m:r>
                          <a:rPr lang="es-AR" sz="2800" b="0" i="1" smtClean="0">
                            <a:latin typeface="Cambria Math" panose="02040503050406030204" pitchFamily="18" charset="0"/>
                          </a:rPr>
                          <m:t>𝑠</m:t>
                        </m:r>
                      </m:sub>
                    </m:sSub>
                  </m:oMath>
                </a14:m>
                <a:endParaRPr lang="es-AR" dirty="0"/>
              </a:p>
              <a:p>
                <a:r>
                  <a:rPr lang="es-AR" dirty="0"/>
                  <a:t>Se basa en la tasa de rendimiento que los inversionistas requieren de las acciones comunes de la compañía</a:t>
                </a:r>
              </a:p>
              <a:p>
                <a:r>
                  <a:rPr lang="es-AR" dirty="0"/>
                  <a:t>El nuevo capital común se consigue mediante</a:t>
                </a:r>
              </a:p>
              <a:p>
                <a:pPr lvl="1"/>
                <a:r>
                  <a:rPr lang="es-AR" dirty="0"/>
                  <a:t>La retención de algunas </a:t>
                </a:r>
                <a:r>
                  <a:rPr lang="es-AR" b="1" dirty="0"/>
                  <a:t>ganancias del año en curso</a:t>
                </a:r>
                <a:r>
                  <a:rPr lang="es-AR" dirty="0"/>
                  <a:t>, </a:t>
                </a:r>
                <a14:m>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𝑟</m:t>
                        </m:r>
                      </m:e>
                      <m:sub>
                        <m:r>
                          <a:rPr lang="es-AR" sz="2400" b="0" i="1" smtClean="0">
                            <a:latin typeface="Cambria Math" panose="02040503050406030204" pitchFamily="18" charset="0"/>
                          </a:rPr>
                          <m:t>𝑠</m:t>
                        </m:r>
                      </m:sub>
                    </m:sSub>
                  </m:oMath>
                </a14:m>
                <a:endParaRPr lang="es-AR" b="1" dirty="0"/>
              </a:p>
              <a:p>
                <a:pPr lvl="1"/>
                <a:r>
                  <a:rPr lang="es-AR" dirty="0"/>
                  <a:t>La emisión de nuevas acciones comunes, capital externo, </a:t>
                </a:r>
                <a14:m>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𝑟</m:t>
                        </m:r>
                      </m:e>
                      <m:sub>
                        <m:r>
                          <a:rPr lang="es-AR" sz="2400" b="0" i="1" smtClean="0">
                            <a:latin typeface="Cambria Math" panose="02040503050406030204" pitchFamily="18" charset="0"/>
                          </a:rPr>
                          <m:t>𝑒</m:t>
                        </m:r>
                      </m:sub>
                    </m:sSub>
                  </m:oMath>
                </a14:m>
                <a:r>
                  <a:rPr lang="es-AR" dirty="0"/>
                  <a:t> (más caro), no es usual una vez que la empresa se encuentra madura</a:t>
                </a:r>
              </a:p>
              <a:p>
                <a:r>
                  <a:rPr lang="es-AR" dirty="0"/>
                  <a:t>Las ganancias retenidas deben ser recompensadas a los accionistas por su costo de oportunidad (no haber invertido en otros activos de riesgo equivalente o comparable, si las hubieran recibido como dividendos)</a:t>
                </a:r>
              </a:p>
              <a:p>
                <a:r>
                  <a:rPr lang="es-AR" dirty="0"/>
                  <a:t>La tasa deberá ser la de rendimiento esperado </a:t>
                </a:r>
                <a14:m>
                  <m:oMath xmlns:m="http://schemas.openxmlformats.org/officeDocument/2006/math">
                    <m:acc>
                      <m:accPr>
                        <m:chr m:val="̂"/>
                        <m:ctrlPr>
                          <a:rPr lang="es-AR" i="1" smtClean="0">
                            <a:latin typeface="Cambria Math" panose="02040503050406030204" pitchFamily="18" charset="0"/>
                          </a:rPr>
                        </m:ctrlPr>
                      </m:accPr>
                      <m:e>
                        <m:sSub>
                          <m:sSubPr>
                            <m:ctrlPr>
                              <a:rPr lang="es-AR" i="1" smtClean="0">
                                <a:latin typeface="Cambria Math" panose="02040503050406030204" pitchFamily="18" charset="0"/>
                              </a:rPr>
                            </m:ctrlPr>
                          </m:sSubPr>
                          <m:e>
                            <m:r>
                              <a:rPr lang="es-AR" b="0" i="1" smtClean="0">
                                <a:latin typeface="Cambria Math" panose="02040503050406030204" pitchFamily="18" charset="0"/>
                              </a:rPr>
                              <m:t>𝑟</m:t>
                            </m:r>
                          </m:e>
                          <m:sub>
                            <m:r>
                              <a:rPr lang="es-AR" b="0" i="1" smtClean="0">
                                <a:latin typeface="Cambria Math" panose="02040503050406030204" pitchFamily="18" charset="0"/>
                              </a:rPr>
                              <m:t>𝑠</m:t>
                            </m:r>
                          </m:sub>
                        </m:sSub>
                      </m:e>
                    </m:acc>
                    <m:r>
                      <a:rPr lang="es-AR" b="0" i="1" smtClean="0">
                        <a:latin typeface="Cambria Math" panose="02040503050406030204" pitchFamily="18" charset="0"/>
                      </a:rPr>
                      <m:t>=</m:t>
                    </m:r>
                    <m:sSub>
                      <m:sSubPr>
                        <m:ctrlPr>
                          <a:rPr lang="es-AR" i="1">
                            <a:latin typeface="Cambria Math" panose="02040503050406030204" pitchFamily="18" charset="0"/>
                          </a:rPr>
                        </m:ctrlPr>
                      </m:sSubPr>
                      <m:e>
                        <m:r>
                          <a:rPr lang="es-AR" i="1">
                            <a:latin typeface="Cambria Math" panose="02040503050406030204" pitchFamily="18" charset="0"/>
                          </a:rPr>
                          <m:t>𝑟</m:t>
                        </m:r>
                      </m:e>
                      <m:sub>
                        <m:r>
                          <a:rPr lang="es-AR" i="1">
                            <a:latin typeface="Cambria Math" panose="02040503050406030204" pitchFamily="18" charset="0"/>
                          </a:rPr>
                          <m:t>𝑠</m:t>
                        </m:r>
                      </m:sub>
                    </m:sSub>
                  </m:oMath>
                </a14:m>
                <a:r>
                  <a:rPr lang="es-AR" dirty="0"/>
                  <a:t> ya que normalmente las acciones están en equilibrio</a:t>
                </a:r>
              </a:p>
              <a:p>
                <a:endParaRPr lang="es-AR" dirty="0"/>
              </a:p>
            </p:txBody>
          </p:sp>
        </mc:Choice>
        <mc:Fallback xmlns="">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blipFill>
                <a:blip r:embed="rId2"/>
                <a:stretch>
                  <a:fillRect l="-928" t="-3501" r="-1043"/>
                </a:stretch>
              </a:blipFill>
            </p:spPr>
            <p:txBody>
              <a:bodyPr/>
              <a:lstStyle/>
              <a:p>
                <a:r>
                  <a:rPr lang="es-ES">
                    <a:noFill/>
                  </a:rPr>
                  <a:t> </a:t>
                </a:r>
              </a:p>
            </p:txBody>
          </p:sp>
        </mc:Fallback>
      </mc:AlternateContent>
    </p:spTree>
    <p:extLst>
      <p:ext uri="{BB962C8B-B14F-4D97-AF65-F5344CB8AC3E}">
        <p14:creationId xmlns:p14="http://schemas.microsoft.com/office/powerpoint/2010/main" val="1084571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 Costo del Capital</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20000"/>
              </a:bodyPr>
              <a:lstStyle/>
              <a:p>
                <a:r>
                  <a:rPr lang="es-AR" dirty="0"/>
                  <a:t>Costo de las Ganancias Retenidas, </a:t>
                </a:r>
                <a14:m>
                  <m:oMath xmlns:m="http://schemas.openxmlformats.org/officeDocument/2006/math">
                    <m:sSub>
                      <m:sSubPr>
                        <m:ctrlPr>
                          <a:rPr lang="es-AR" sz="2800" i="1" smtClean="0">
                            <a:latin typeface="Cambria Math" panose="02040503050406030204" pitchFamily="18" charset="0"/>
                          </a:rPr>
                        </m:ctrlPr>
                      </m:sSubPr>
                      <m:e>
                        <m:r>
                          <a:rPr lang="es-AR" sz="2800" b="0" i="1" smtClean="0">
                            <a:latin typeface="Cambria Math" panose="02040503050406030204" pitchFamily="18" charset="0"/>
                          </a:rPr>
                          <m:t>𝑟</m:t>
                        </m:r>
                      </m:e>
                      <m:sub>
                        <m:r>
                          <a:rPr lang="es-AR" sz="2800" b="0" i="1" smtClean="0">
                            <a:latin typeface="Cambria Math" panose="02040503050406030204" pitchFamily="18" charset="0"/>
                          </a:rPr>
                          <m:t>𝑠</m:t>
                        </m:r>
                      </m:sub>
                    </m:sSub>
                  </m:oMath>
                </a14:m>
                <a:endParaRPr lang="es-AR" dirty="0"/>
              </a:p>
              <a:p>
                <a:r>
                  <a:rPr lang="es-AR" dirty="0"/>
                  <a:t>Si la empresa no puede invertir, no tiene proyectos, a tasas iguales o superiores a </a:t>
                </a:r>
                <a14:m>
                  <m:oMath xmlns:m="http://schemas.openxmlformats.org/officeDocument/2006/math">
                    <m:sSub>
                      <m:sSubPr>
                        <m:ctrlPr>
                          <a:rPr lang="es-AR" sz="2800" i="1" smtClean="0">
                            <a:latin typeface="Cambria Math" panose="02040503050406030204" pitchFamily="18" charset="0"/>
                          </a:rPr>
                        </m:ctrlPr>
                      </m:sSubPr>
                      <m:e>
                        <m:r>
                          <a:rPr lang="es-AR" sz="2800" b="0" i="1" smtClean="0">
                            <a:latin typeface="Cambria Math" panose="02040503050406030204" pitchFamily="18" charset="0"/>
                          </a:rPr>
                          <m:t>𝑟</m:t>
                        </m:r>
                      </m:e>
                      <m:sub>
                        <m:r>
                          <a:rPr lang="es-AR" sz="2800" b="0" i="1" smtClean="0">
                            <a:latin typeface="Cambria Math" panose="02040503050406030204" pitchFamily="18" charset="0"/>
                          </a:rPr>
                          <m:t>𝑠</m:t>
                        </m:r>
                      </m:sub>
                    </m:sSub>
                  </m:oMath>
                </a14:m>
                <a:r>
                  <a:rPr lang="es-AR" dirty="0"/>
                  <a:t>, debiera devolver en forma de dividendos en lugar de retener ganancias y dejar que el accionista invierta en otras acciones o activos con ese rendimiento</a:t>
                </a:r>
              </a:p>
              <a:p>
                <a:r>
                  <a:rPr lang="es-AR" dirty="0"/>
                  <a:t>A diferencia de la deuda y las preferentes, las acciones comunes no tienen una tasa de costo establecida, lo cual dificulta medir </a:t>
                </a:r>
                <a14:m>
                  <m:oMath xmlns:m="http://schemas.openxmlformats.org/officeDocument/2006/math">
                    <m:sSub>
                      <m:sSubPr>
                        <m:ctrlPr>
                          <a:rPr lang="es-AR" sz="2800" i="1" smtClean="0">
                            <a:latin typeface="Cambria Math" panose="02040503050406030204" pitchFamily="18" charset="0"/>
                          </a:rPr>
                        </m:ctrlPr>
                      </m:sSubPr>
                      <m:e>
                        <m:r>
                          <a:rPr lang="es-AR" sz="2800" b="0" i="1" smtClean="0">
                            <a:latin typeface="Cambria Math" panose="02040503050406030204" pitchFamily="18" charset="0"/>
                          </a:rPr>
                          <m:t>𝑟</m:t>
                        </m:r>
                      </m:e>
                      <m:sub>
                        <m:r>
                          <a:rPr lang="es-AR" sz="2800" b="0" i="1" smtClean="0">
                            <a:latin typeface="Cambria Math" panose="02040503050406030204" pitchFamily="18" charset="0"/>
                          </a:rPr>
                          <m:t>𝑠</m:t>
                        </m:r>
                      </m:sub>
                    </m:sSub>
                  </m:oMath>
                </a14:m>
                <a:r>
                  <a:rPr lang="es-AR" dirty="0"/>
                  <a:t>. Sin embargo, nos podemos basar en lo aprendido con el CAPM y el modelo de dividendos descontados, y asumiendo que la acción se encuentra en equilibrio</a:t>
                </a:r>
              </a:p>
              <a:p>
                <a:pPr marL="0" indent="0" algn="ctr">
                  <a:buNone/>
                </a:pPr>
                <a14:m>
                  <m:oMath xmlns:m="http://schemas.openxmlformats.org/officeDocument/2006/math">
                    <m:sSub>
                      <m:sSubPr>
                        <m:ctrlPr>
                          <a:rPr lang="es-AR" sz="2800" i="1" smtClean="0">
                            <a:latin typeface="Cambria Math" panose="02040503050406030204" pitchFamily="18" charset="0"/>
                          </a:rPr>
                        </m:ctrlPr>
                      </m:sSubPr>
                      <m:e>
                        <m:r>
                          <a:rPr lang="es-AR" sz="2800" b="0" i="1" smtClean="0">
                            <a:latin typeface="Cambria Math" panose="02040503050406030204" pitchFamily="18" charset="0"/>
                          </a:rPr>
                          <m:t>𝑟</m:t>
                        </m:r>
                      </m:e>
                      <m:sub>
                        <m:r>
                          <a:rPr lang="es-AR" sz="2800" b="0" i="1" smtClean="0">
                            <a:latin typeface="Cambria Math" panose="02040503050406030204" pitchFamily="18" charset="0"/>
                          </a:rPr>
                          <m:t>𝑠</m:t>
                        </m:r>
                      </m:sub>
                    </m:sSub>
                  </m:oMath>
                </a14:m>
                <a:r>
                  <a:rPr lang="es-AR" dirty="0"/>
                  <a:t> </a:t>
                </a:r>
                <a14:m>
                  <m:oMath xmlns:m="http://schemas.openxmlformats.org/officeDocument/2006/math">
                    <m:r>
                      <a:rPr lang="es-AR" i="1">
                        <a:latin typeface="Cambria Math" panose="02040503050406030204" pitchFamily="18" charset="0"/>
                      </a:rPr>
                      <m:t>=</m:t>
                    </m:r>
                  </m:oMath>
                </a14:m>
                <a:r>
                  <a:rPr lang="es-AR" dirty="0"/>
                  <a:t> </a:t>
                </a:r>
                <a14:m>
                  <m:oMath xmlns:m="http://schemas.openxmlformats.org/officeDocument/2006/math">
                    <m:sSub>
                      <m:sSubPr>
                        <m:ctrlPr>
                          <a:rPr lang="es-AR" i="1">
                            <a:latin typeface="Cambria Math" panose="02040503050406030204" pitchFamily="18" charset="0"/>
                          </a:rPr>
                        </m:ctrlPr>
                      </m:sSubPr>
                      <m:e>
                        <m:r>
                          <a:rPr lang="es-AR" i="1">
                            <a:latin typeface="Cambria Math" panose="02040503050406030204" pitchFamily="18" charset="0"/>
                          </a:rPr>
                          <m:t>𝑟</m:t>
                        </m:r>
                      </m:e>
                      <m:sub>
                        <m:r>
                          <a:rPr lang="es-AR" b="0" i="1" smtClean="0">
                            <a:latin typeface="Cambria Math" panose="02040503050406030204" pitchFamily="18" charset="0"/>
                          </a:rPr>
                          <m:t>𝑅𝐹</m:t>
                        </m:r>
                      </m:sub>
                    </m:sSub>
                  </m:oMath>
                </a14:m>
                <a:r>
                  <a:rPr lang="es-AR" dirty="0"/>
                  <a:t> + RP </a:t>
                </a:r>
                <a14:m>
                  <m:oMath xmlns:m="http://schemas.openxmlformats.org/officeDocument/2006/math">
                    <m:r>
                      <a:rPr lang="es-AR" i="1">
                        <a:latin typeface="Cambria Math" panose="02040503050406030204" pitchFamily="18" charset="0"/>
                      </a:rPr>
                      <m:t>=</m:t>
                    </m:r>
                  </m:oMath>
                </a14:m>
                <a:r>
                  <a:rPr lang="es-AR" dirty="0"/>
                  <a:t> </a:t>
                </a:r>
                <a14:m>
                  <m:oMath xmlns:m="http://schemas.openxmlformats.org/officeDocument/2006/math">
                    <m:f>
                      <m:fPr>
                        <m:type m:val="skw"/>
                        <m:ctrlPr>
                          <a:rPr lang="es-AR" i="1" smtClean="0">
                            <a:latin typeface="Cambria Math" panose="02040503050406030204" pitchFamily="18" charset="0"/>
                          </a:rPr>
                        </m:ctrlPr>
                      </m:fPr>
                      <m:num>
                        <m:sSub>
                          <m:sSubPr>
                            <m:ctrlPr>
                              <a:rPr lang="es-AR" i="1" smtClean="0">
                                <a:latin typeface="Cambria Math" panose="02040503050406030204" pitchFamily="18" charset="0"/>
                              </a:rPr>
                            </m:ctrlPr>
                          </m:sSubPr>
                          <m:e>
                            <m:r>
                              <a:rPr lang="es-AR" b="0" i="1" smtClean="0">
                                <a:latin typeface="Cambria Math" panose="02040503050406030204" pitchFamily="18" charset="0"/>
                              </a:rPr>
                              <m:t>𝐷</m:t>
                            </m:r>
                          </m:e>
                          <m:sub>
                            <m:r>
                              <a:rPr lang="es-AR" b="0" i="1" smtClean="0">
                                <a:latin typeface="Cambria Math" panose="02040503050406030204" pitchFamily="18" charset="0"/>
                              </a:rPr>
                              <m:t>1</m:t>
                            </m:r>
                          </m:sub>
                        </m:sSub>
                      </m:num>
                      <m:den>
                        <m:sSub>
                          <m:sSubPr>
                            <m:ctrlPr>
                              <a:rPr lang="es-AR" i="1" smtClean="0">
                                <a:latin typeface="Cambria Math" panose="02040503050406030204" pitchFamily="18" charset="0"/>
                              </a:rPr>
                            </m:ctrlPr>
                          </m:sSubPr>
                          <m:e>
                            <m:r>
                              <a:rPr lang="es-AR" b="0" i="1" smtClean="0">
                                <a:latin typeface="Cambria Math" panose="02040503050406030204" pitchFamily="18" charset="0"/>
                              </a:rPr>
                              <m:t>𝑃</m:t>
                            </m:r>
                          </m:e>
                          <m:sub>
                            <m:r>
                              <a:rPr lang="es-AR" b="0" i="1" smtClean="0">
                                <a:latin typeface="Cambria Math" panose="02040503050406030204" pitchFamily="18" charset="0"/>
                              </a:rPr>
                              <m:t>0</m:t>
                            </m:r>
                          </m:sub>
                        </m:sSub>
                      </m:den>
                    </m:f>
                    <m:r>
                      <a:rPr lang="es-AR" b="0" i="1" smtClean="0">
                        <a:latin typeface="Cambria Math" panose="02040503050406030204" pitchFamily="18" charset="0"/>
                      </a:rPr>
                      <m:t>+</m:t>
                    </m:r>
                    <m:r>
                      <a:rPr lang="es-AR" b="0" i="1" smtClean="0">
                        <a:latin typeface="Cambria Math" panose="02040503050406030204" pitchFamily="18" charset="0"/>
                      </a:rPr>
                      <m:t>𝑔</m:t>
                    </m:r>
                    <m:r>
                      <a:rPr lang="es-AR" b="0" i="1" smtClean="0">
                        <a:latin typeface="Cambria Math" panose="02040503050406030204" pitchFamily="18" charset="0"/>
                      </a:rPr>
                      <m:t>= </m:t>
                    </m:r>
                    <m:acc>
                      <m:accPr>
                        <m:chr m:val="̂"/>
                        <m:ctrlPr>
                          <a:rPr lang="es-AR" b="0" i="1" smtClean="0">
                            <a:latin typeface="Cambria Math" panose="02040503050406030204" pitchFamily="18" charset="0"/>
                          </a:rPr>
                        </m:ctrlPr>
                      </m:accPr>
                      <m:e>
                        <m:sSub>
                          <m:sSubPr>
                            <m:ctrlPr>
                              <a:rPr lang="es-AR" b="0" i="1" smtClean="0">
                                <a:latin typeface="Cambria Math" panose="02040503050406030204" pitchFamily="18" charset="0"/>
                              </a:rPr>
                            </m:ctrlPr>
                          </m:sSubPr>
                          <m:e>
                            <m:r>
                              <a:rPr lang="es-AR" b="0" i="1" smtClean="0">
                                <a:latin typeface="Cambria Math" panose="02040503050406030204" pitchFamily="18" charset="0"/>
                              </a:rPr>
                              <m:t>𝑟</m:t>
                            </m:r>
                          </m:e>
                          <m:sub>
                            <m:r>
                              <a:rPr lang="es-AR" b="0" i="1" smtClean="0">
                                <a:latin typeface="Cambria Math" panose="02040503050406030204" pitchFamily="18" charset="0"/>
                              </a:rPr>
                              <m:t>𝑠</m:t>
                            </m:r>
                          </m:sub>
                        </m:sSub>
                      </m:e>
                    </m:acc>
                  </m:oMath>
                </a14:m>
                <a:endParaRPr lang="es-AR" dirty="0"/>
              </a:p>
              <a:p>
                <a:r>
                  <a:rPr lang="es-AR" dirty="0"/>
                  <a:t>El primer término viene del CAPM y el segundo del modelo de dividendos descontados. Veremos un tercer método</a:t>
                </a:r>
              </a:p>
            </p:txBody>
          </p:sp>
        </mc:Choice>
        <mc:Fallback>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blipFill>
                <a:blip r:embed="rId2"/>
                <a:stretch>
                  <a:fillRect l="-928" t="-3501"/>
                </a:stretch>
              </a:blipFill>
            </p:spPr>
            <p:txBody>
              <a:bodyPr/>
              <a:lstStyle/>
              <a:p>
                <a:r>
                  <a:rPr lang="es-ES">
                    <a:noFill/>
                  </a:rPr>
                  <a:t> </a:t>
                </a:r>
              </a:p>
            </p:txBody>
          </p:sp>
        </mc:Fallback>
      </mc:AlternateContent>
    </p:spTree>
    <p:extLst>
      <p:ext uri="{BB962C8B-B14F-4D97-AF65-F5344CB8AC3E}">
        <p14:creationId xmlns:p14="http://schemas.microsoft.com/office/powerpoint/2010/main" val="624337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 Costo del Capital</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a:xfrm>
                <a:off x="838200" y="1825625"/>
                <a:ext cx="10515600" cy="4667250"/>
              </a:xfrm>
            </p:spPr>
            <p:txBody>
              <a:bodyPr>
                <a:noAutofit/>
              </a:bodyPr>
              <a:lstStyle/>
              <a:p>
                <a:pPr marL="0" indent="0">
                  <a:buNone/>
                </a:pPr>
                <a:r>
                  <a:rPr lang="es-AR" sz="2400" dirty="0"/>
                  <a:t>Método CAPM</a:t>
                </a:r>
              </a:p>
              <a:p>
                <a:pPr marL="514350" indent="-514350">
                  <a:buFont typeface="+mj-lt"/>
                  <a:buAutoNum type="arabicPeriod"/>
                </a:pPr>
                <a:r>
                  <a:rPr lang="es-AR" sz="2000" dirty="0"/>
                  <a:t>Estime la tasa libre de riesgo, </a:t>
                </a:r>
                <a14:m>
                  <m:oMath xmlns:m="http://schemas.openxmlformats.org/officeDocument/2006/math">
                    <m:sSub>
                      <m:sSubPr>
                        <m:ctrlPr>
                          <a:rPr lang="es-AR" sz="2000" i="1" smtClean="0">
                            <a:latin typeface="Cambria Math" panose="02040503050406030204" pitchFamily="18" charset="0"/>
                          </a:rPr>
                        </m:ctrlPr>
                      </m:sSubPr>
                      <m:e>
                        <m:r>
                          <a:rPr lang="es-AR" sz="2000" i="1">
                            <a:latin typeface="Cambria Math" panose="02040503050406030204" pitchFamily="18" charset="0"/>
                          </a:rPr>
                          <m:t>𝑟</m:t>
                        </m:r>
                      </m:e>
                      <m:sub>
                        <m:r>
                          <a:rPr lang="es-AR" sz="2000" b="0" i="1" smtClean="0">
                            <a:latin typeface="Cambria Math" panose="02040503050406030204" pitchFamily="18" charset="0"/>
                          </a:rPr>
                          <m:t>𝑅𝐹</m:t>
                        </m:r>
                      </m:sub>
                    </m:sSub>
                  </m:oMath>
                </a14:m>
                <a:r>
                  <a:rPr lang="es-AR" sz="2000" dirty="0"/>
                  <a:t>, a partir del bono del tesoro a 10 años (algunos prefieren usar la de certificados a corto plazo)</a:t>
                </a:r>
              </a:p>
              <a:p>
                <a:pPr marL="514350" indent="-514350">
                  <a:buFont typeface="+mj-lt"/>
                  <a:buAutoNum type="arabicPeriod"/>
                </a:pPr>
                <a:r>
                  <a:rPr lang="es-AR" sz="2000" dirty="0"/>
                  <a:t>Estime el coeficiente beta de la acción</a:t>
                </a:r>
              </a:p>
              <a:p>
                <a:pPr marL="514350" indent="-514350">
                  <a:buFont typeface="+mj-lt"/>
                  <a:buAutoNum type="arabicPeriod"/>
                </a:pPr>
                <a:r>
                  <a:rPr lang="es-AR" sz="2000" dirty="0"/>
                  <a:t>Estime la RP del mercado (</a:t>
                </a:r>
                <a14:m>
                  <m:oMath xmlns:m="http://schemas.openxmlformats.org/officeDocument/2006/math">
                    <m:sSub>
                      <m:sSubPr>
                        <m:ctrlPr>
                          <a:rPr lang="es-AR" sz="2000" i="1" smtClean="0">
                            <a:latin typeface="Cambria Math" panose="02040503050406030204" pitchFamily="18" charset="0"/>
                          </a:rPr>
                        </m:ctrlPr>
                      </m:sSubPr>
                      <m:e>
                        <m:r>
                          <a:rPr lang="es-AR" sz="2000" b="0" i="1" smtClean="0">
                            <a:latin typeface="Cambria Math" panose="02040503050406030204" pitchFamily="18" charset="0"/>
                          </a:rPr>
                          <m:t>𝑅𝑃</m:t>
                        </m:r>
                      </m:e>
                      <m:sub>
                        <m:r>
                          <a:rPr lang="es-AR" sz="2000" b="0" i="1" smtClean="0">
                            <a:latin typeface="Cambria Math" panose="02040503050406030204" pitchFamily="18" charset="0"/>
                          </a:rPr>
                          <m:t>𝑀</m:t>
                        </m:r>
                      </m:sub>
                    </m:sSub>
                  </m:oMath>
                </a14:m>
                <a:r>
                  <a:rPr lang="es-AR" sz="2000" dirty="0"/>
                  <a:t>= </a:t>
                </a:r>
                <a14:m>
                  <m:oMath xmlns:m="http://schemas.openxmlformats.org/officeDocument/2006/math">
                    <m:sSub>
                      <m:sSubPr>
                        <m:ctrlPr>
                          <a:rPr lang="es-AR" sz="2000" i="1">
                            <a:latin typeface="Cambria Math" panose="02040503050406030204" pitchFamily="18" charset="0"/>
                          </a:rPr>
                        </m:ctrlPr>
                      </m:sSubPr>
                      <m:e>
                        <m:r>
                          <a:rPr lang="es-AR" sz="2000" i="1">
                            <a:latin typeface="Cambria Math" panose="02040503050406030204" pitchFamily="18" charset="0"/>
                          </a:rPr>
                          <m:t>𝑟</m:t>
                        </m:r>
                      </m:e>
                      <m:sub>
                        <m:r>
                          <a:rPr lang="es-AR" sz="2000" b="0" i="1" smtClean="0">
                            <a:latin typeface="Cambria Math" panose="02040503050406030204" pitchFamily="18" charset="0"/>
                          </a:rPr>
                          <m:t>𝑀</m:t>
                        </m:r>
                      </m:sub>
                    </m:sSub>
                  </m:oMath>
                </a14:m>
                <a:r>
                  <a:rPr lang="es-AR" sz="2000" dirty="0"/>
                  <a:t>- </a:t>
                </a:r>
                <a14:m>
                  <m:oMath xmlns:m="http://schemas.openxmlformats.org/officeDocument/2006/math">
                    <m:sSub>
                      <m:sSubPr>
                        <m:ctrlPr>
                          <a:rPr lang="es-AR" sz="2000" i="1">
                            <a:latin typeface="Cambria Math" panose="02040503050406030204" pitchFamily="18" charset="0"/>
                          </a:rPr>
                        </m:ctrlPr>
                      </m:sSubPr>
                      <m:e>
                        <m:r>
                          <a:rPr lang="es-AR" sz="2000" i="1">
                            <a:latin typeface="Cambria Math" panose="02040503050406030204" pitchFamily="18" charset="0"/>
                          </a:rPr>
                          <m:t>𝑟</m:t>
                        </m:r>
                      </m:e>
                      <m:sub>
                        <m:r>
                          <a:rPr lang="es-AR" sz="2000" i="1">
                            <a:latin typeface="Cambria Math" panose="02040503050406030204" pitchFamily="18" charset="0"/>
                          </a:rPr>
                          <m:t>𝑅𝐹</m:t>
                        </m:r>
                      </m:sub>
                    </m:sSub>
                  </m:oMath>
                </a14:m>
                <a:r>
                  <a:rPr lang="es-AR" sz="2000" dirty="0"/>
                  <a:t>) siendo coherente con el punto 1</a:t>
                </a:r>
              </a:p>
              <a:p>
                <a:pPr marL="514350" indent="-514350">
                  <a:buFont typeface="+mj-lt"/>
                  <a:buAutoNum type="arabicPeriod"/>
                </a:pPr>
                <a:r>
                  <a:rPr lang="es-AR" sz="2000" dirty="0"/>
                  <a:t>Obtenga </a:t>
                </a:r>
                <a14:m>
                  <m:oMath xmlns:m="http://schemas.openxmlformats.org/officeDocument/2006/math">
                    <m:sSub>
                      <m:sSubPr>
                        <m:ctrlPr>
                          <a:rPr lang="es-AR" sz="2000" i="1" smtClean="0">
                            <a:latin typeface="Cambria Math" panose="02040503050406030204" pitchFamily="18" charset="0"/>
                          </a:rPr>
                        </m:ctrlPr>
                      </m:sSubPr>
                      <m:e>
                        <m:r>
                          <a:rPr lang="es-AR" sz="2000" i="1">
                            <a:latin typeface="Cambria Math" panose="02040503050406030204" pitchFamily="18" charset="0"/>
                          </a:rPr>
                          <m:t>𝑟</m:t>
                        </m:r>
                      </m:e>
                      <m:sub>
                        <m:r>
                          <a:rPr lang="es-AR" sz="2000" b="0" i="1" smtClean="0">
                            <a:latin typeface="Cambria Math" panose="02040503050406030204" pitchFamily="18" charset="0"/>
                          </a:rPr>
                          <m:t>𝑠</m:t>
                        </m:r>
                      </m:sub>
                    </m:sSub>
                  </m:oMath>
                </a14:m>
                <a:r>
                  <a:rPr lang="es-AR" sz="2000" dirty="0"/>
                  <a:t> a partir de</a:t>
                </a:r>
              </a:p>
              <a:p>
                <a:pPr marL="0" indent="0" algn="ctr">
                  <a:buNone/>
                </a:pPr>
                <a14:m>
                  <m:oMath xmlns:m="http://schemas.openxmlformats.org/officeDocument/2006/math">
                    <m:sSub>
                      <m:sSubPr>
                        <m:ctrlPr>
                          <a:rPr lang="es-AR" sz="2200" i="1" smtClean="0">
                            <a:latin typeface="Cambria Math" panose="02040503050406030204" pitchFamily="18" charset="0"/>
                          </a:rPr>
                        </m:ctrlPr>
                      </m:sSubPr>
                      <m:e>
                        <m:r>
                          <a:rPr lang="es-AR" sz="2200" i="1">
                            <a:latin typeface="Cambria Math" panose="02040503050406030204" pitchFamily="18" charset="0"/>
                          </a:rPr>
                          <m:t>𝑟</m:t>
                        </m:r>
                      </m:e>
                      <m:sub>
                        <m:r>
                          <a:rPr lang="es-AR" sz="2200" b="0" i="1" smtClean="0">
                            <a:latin typeface="Cambria Math" panose="02040503050406030204" pitchFamily="18" charset="0"/>
                          </a:rPr>
                          <m:t>𝑠</m:t>
                        </m:r>
                      </m:sub>
                    </m:sSub>
                  </m:oMath>
                </a14:m>
                <a:r>
                  <a:rPr lang="es-AR" sz="2200" dirty="0"/>
                  <a:t>= </a:t>
                </a:r>
                <a14:m>
                  <m:oMath xmlns:m="http://schemas.openxmlformats.org/officeDocument/2006/math">
                    <m:sSub>
                      <m:sSubPr>
                        <m:ctrlPr>
                          <a:rPr lang="es-AR" sz="2200" i="1">
                            <a:latin typeface="Cambria Math" panose="02040503050406030204" pitchFamily="18" charset="0"/>
                          </a:rPr>
                        </m:ctrlPr>
                      </m:sSubPr>
                      <m:e>
                        <m:r>
                          <a:rPr lang="es-AR" sz="2200" i="1">
                            <a:latin typeface="Cambria Math" panose="02040503050406030204" pitchFamily="18" charset="0"/>
                          </a:rPr>
                          <m:t>𝑟</m:t>
                        </m:r>
                      </m:e>
                      <m:sub>
                        <m:r>
                          <a:rPr lang="es-AR" sz="2200" i="1">
                            <a:latin typeface="Cambria Math" panose="02040503050406030204" pitchFamily="18" charset="0"/>
                          </a:rPr>
                          <m:t>𝑅𝐹</m:t>
                        </m:r>
                      </m:sub>
                    </m:sSub>
                  </m:oMath>
                </a14:m>
                <a:r>
                  <a:rPr lang="es-AR" sz="2200" dirty="0"/>
                  <a:t>+ (</a:t>
                </a:r>
                <a14:m>
                  <m:oMath xmlns:m="http://schemas.openxmlformats.org/officeDocument/2006/math">
                    <m:sSub>
                      <m:sSubPr>
                        <m:ctrlPr>
                          <a:rPr lang="es-AR" sz="2200" i="1">
                            <a:latin typeface="Cambria Math" panose="02040503050406030204" pitchFamily="18" charset="0"/>
                          </a:rPr>
                        </m:ctrlPr>
                      </m:sSubPr>
                      <m:e>
                        <m:r>
                          <a:rPr lang="es-AR" sz="2200" b="0" i="1" smtClean="0">
                            <a:latin typeface="Cambria Math" panose="02040503050406030204" pitchFamily="18" charset="0"/>
                          </a:rPr>
                          <m:t>𝑅𝑃</m:t>
                        </m:r>
                      </m:e>
                      <m:sub>
                        <m:r>
                          <a:rPr lang="es-AR" sz="2200" b="0" i="1" smtClean="0">
                            <a:latin typeface="Cambria Math" panose="02040503050406030204" pitchFamily="18" charset="0"/>
                          </a:rPr>
                          <m:t>𝑀</m:t>
                        </m:r>
                      </m:sub>
                    </m:sSub>
                    <m:r>
                      <a:rPr lang="es-AR" sz="2200" b="0" i="1" smtClean="0">
                        <a:latin typeface="Cambria Math" panose="02040503050406030204" pitchFamily="18" charset="0"/>
                      </a:rPr>
                      <m:t>)</m:t>
                    </m:r>
                  </m:oMath>
                </a14:m>
                <a:r>
                  <a:rPr lang="es-AR" sz="2200" dirty="0"/>
                  <a:t>* </a:t>
                </a:r>
                <a14:m>
                  <m:oMath xmlns:m="http://schemas.openxmlformats.org/officeDocument/2006/math">
                    <m:sSub>
                      <m:sSubPr>
                        <m:ctrlPr>
                          <a:rPr lang="es-AR" sz="2200" i="1">
                            <a:latin typeface="Cambria Math" panose="02040503050406030204" pitchFamily="18" charset="0"/>
                          </a:rPr>
                        </m:ctrlPr>
                      </m:sSubPr>
                      <m:e>
                        <m:r>
                          <a:rPr lang="es-AR" sz="2200" b="0" i="1" smtClean="0">
                            <a:latin typeface="Cambria Math" panose="02040503050406030204" pitchFamily="18" charset="0"/>
                          </a:rPr>
                          <m:t>𝑏</m:t>
                        </m:r>
                      </m:e>
                      <m:sub>
                        <m:r>
                          <a:rPr lang="es-AR" sz="2200" b="0" i="1" smtClean="0">
                            <a:latin typeface="Cambria Math" panose="02040503050406030204" pitchFamily="18" charset="0"/>
                          </a:rPr>
                          <m:t>𝑖</m:t>
                        </m:r>
                      </m:sub>
                    </m:sSub>
                  </m:oMath>
                </a14:m>
                <a:endParaRPr lang="es-AR" sz="2200" dirty="0"/>
              </a:p>
              <a:p>
                <a:r>
                  <a:rPr lang="es-AR" sz="2000" dirty="0"/>
                  <a:t>Por ejemplo, para Allied con una beta de 1,48 y siendo la </a:t>
                </a:r>
                <a14:m>
                  <m:oMath xmlns:m="http://schemas.openxmlformats.org/officeDocument/2006/math">
                    <m:sSub>
                      <m:sSubPr>
                        <m:ctrlPr>
                          <a:rPr lang="es-AR" sz="2000" i="1">
                            <a:latin typeface="Cambria Math" panose="02040503050406030204" pitchFamily="18" charset="0"/>
                          </a:rPr>
                        </m:ctrlPr>
                      </m:sSubPr>
                      <m:e>
                        <m:r>
                          <a:rPr lang="es-AR" sz="2000" i="1">
                            <a:latin typeface="Cambria Math" panose="02040503050406030204" pitchFamily="18" charset="0"/>
                          </a:rPr>
                          <m:t>𝑟</m:t>
                        </m:r>
                      </m:e>
                      <m:sub>
                        <m:r>
                          <a:rPr lang="es-AR" sz="2000" i="1">
                            <a:latin typeface="Cambria Math" panose="02040503050406030204" pitchFamily="18" charset="0"/>
                          </a:rPr>
                          <m:t>𝑅𝐹</m:t>
                        </m:r>
                      </m:sub>
                    </m:sSub>
                  </m:oMath>
                </a14:m>
                <a:r>
                  <a:rPr lang="es-AR" sz="2000" dirty="0"/>
                  <a:t>=5,6% y la </a:t>
                </a:r>
                <a14:m>
                  <m:oMath xmlns:m="http://schemas.openxmlformats.org/officeDocument/2006/math">
                    <m:sSub>
                      <m:sSubPr>
                        <m:ctrlPr>
                          <a:rPr lang="es-AR" sz="2000" i="1">
                            <a:latin typeface="Cambria Math" panose="02040503050406030204" pitchFamily="18" charset="0"/>
                          </a:rPr>
                        </m:ctrlPr>
                      </m:sSubPr>
                      <m:e>
                        <m:r>
                          <a:rPr lang="es-AR" sz="2000" b="0" i="1" smtClean="0">
                            <a:latin typeface="Cambria Math" panose="02040503050406030204" pitchFamily="18" charset="0"/>
                          </a:rPr>
                          <m:t>𝑅𝑃</m:t>
                        </m:r>
                      </m:e>
                      <m:sub>
                        <m:r>
                          <a:rPr lang="es-AR" sz="2000" b="0" i="1" smtClean="0">
                            <a:latin typeface="Cambria Math" panose="02040503050406030204" pitchFamily="18" charset="0"/>
                          </a:rPr>
                          <m:t>𝑀</m:t>
                        </m:r>
                      </m:sub>
                    </m:sSub>
                    <m:r>
                      <a:rPr lang="es-AR" sz="2000" b="0" i="1" smtClean="0">
                        <a:latin typeface="Cambria Math" panose="02040503050406030204" pitchFamily="18" charset="0"/>
                      </a:rPr>
                      <m:t>=5%</m:t>
                    </m:r>
                  </m:oMath>
                </a14:m>
                <a:r>
                  <a:rPr lang="es-AR" sz="2000" dirty="0"/>
                  <a:t> obtendríamos una </a:t>
                </a:r>
                <a14:m>
                  <m:oMath xmlns:m="http://schemas.openxmlformats.org/officeDocument/2006/math">
                    <m:sSub>
                      <m:sSubPr>
                        <m:ctrlPr>
                          <a:rPr lang="es-AR" sz="2000" i="1">
                            <a:latin typeface="Cambria Math" panose="02040503050406030204" pitchFamily="18" charset="0"/>
                          </a:rPr>
                        </m:ctrlPr>
                      </m:sSubPr>
                      <m:e>
                        <m:r>
                          <a:rPr lang="es-AR" sz="2000" i="1">
                            <a:latin typeface="Cambria Math" panose="02040503050406030204" pitchFamily="18" charset="0"/>
                          </a:rPr>
                          <m:t>𝑟</m:t>
                        </m:r>
                      </m:e>
                      <m:sub>
                        <m:r>
                          <a:rPr lang="es-AR" sz="2000" i="1">
                            <a:latin typeface="Cambria Math" panose="02040503050406030204" pitchFamily="18" charset="0"/>
                          </a:rPr>
                          <m:t>𝑠</m:t>
                        </m:r>
                      </m:sub>
                    </m:sSub>
                  </m:oMath>
                </a14:m>
                <a:r>
                  <a:rPr lang="es-AR" sz="2000" dirty="0"/>
                  <a:t>= </a:t>
                </a:r>
                <a14:m>
                  <m:oMath xmlns:m="http://schemas.openxmlformats.org/officeDocument/2006/math">
                    <m:r>
                      <a:rPr lang="es-AR" sz="2000" b="0" i="1" smtClean="0">
                        <a:latin typeface="Cambria Math" panose="02040503050406030204" pitchFamily="18" charset="0"/>
                      </a:rPr>
                      <m:t>5,6% </m:t>
                    </m:r>
                  </m:oMath>
                </a14:m>
                <a:r>
                  <a:rPr lang="es-AR" sz="2000" dirty="0"/>
                  <a:t>+ 5%* </a:t>
                </a:r>
                <a14:m>
                  <m:oMath xmlns:m="http://schemas.openxmlformats.org/officeDocument/2006/math">
                    <m:r>
                      <a:rPr lang="es-AR" sz="2000" b="0" i="1" smtClean="0">
                        <a:latin typeface="Cambria Math" panose="02040503050406030204" pitchFamily="18" charset="0"/>
                      </a:rPr>
                      <m:t>1,48=13%</m:t>
                    </m:r>
                  </m:oMath>
                </a14:m>
                <a:endParaRPr lang="es-AR" sz="2000" dirty="0"/>
              </a:p>
              <a:p>
                <a:r>
                  <a:rPr lang="es-AR" sz="2000" dirty="0"/>
                  <a:t>El CAPM arroja una estimación certera, pero enfrenta ciertos problemas para determinar sus “inputs” ¿qué </a:t>
                </a:r>
                <a14:m>
                  <m:oMath xmlns:m="http://schemas.openxmlformats.org/officeDocument/2006/math">
                    <m:sSub>
                      <m:sSubPr>
                        <m:ctrlPr>
                          <a:rPr lang="es-AR" sz="2000" i="1" smtClean="0">
                            <a:latin typeface="Cambria Math" panose="02040503050406030204" pitchFamily="18" charset="0"/>
                          </a:rPr>
                        </m:ctrlPr>
                      </m:sSubPr>
                      <m:e>
                        <m:r>
                          <a:rPr lang="es-AR" sz="2000" i="1">
                            <a:latin typeface="Cambria Math" panose="02040503050406030204" pitchFamily="18" charset="0"/>
                          </a:rPr>
                          <m:t>𝑟</m:t>
                        </m:r>
                      </m:e>
                      <m:sub>
                        <m:r>
                          <a:rPr lang="es-AR" sz="2000" i="1">
                            <a:latin typeface="Cambria Math" panose="02040503050406030204" pitchFamily="18" charset="0"/>
                          </a:rPr>
                          <m:t>𝑅𝐹</m:t>
                        </m:r>
                      </m:sub>
                    </m:sSub>
                  </m:oMath>
                </a14:m>
                <a:r>
                  <a:rPr lang="es-AR" sz="2000" dirty="0"/>
                  <a:t> tomar? ¿los accionistas están realmente diversificados para que sólo les importe el riesgo de mercado de la acción? ¿cómo estimar la beta que los accionistas esperan la compañía tenga a futuro? Veamos otras estimaciones de la </a:t>
                </a:r>
                <a14:m>
                  <m:oMath xmlns:m="http://schemas.openxmlformats.org/officeDocument/2006/math">
                    <m:sSub>
                      <m:sSubPr>
                        <m:ctrlPr>
                          <a:rPr lang="es-AR" sz="2000" i="1">
                            <a:latin typeface="Cambria Math" panose="02040503050406030204" pitchFamily="18" charset="0"/>
                          </a:rPr>
                        </m:ctrlPr>
                      </m:sSubPr>
                      <m:e>
                        <m:r>
                          <a:rPr lang="es-AR" sz="2000" i="1">
                            <a:latin typeface="Cambria Math" panose="02040503050406030204" pitchFamily="18" charset="0"/>
                          </a:rPr>
                          <m:t>𝑟</m:t>
                        </m:r>
                      </m:e>
                      <m:sub>
                        <m:r>
                          <a:rPr lang="es-AR" sz="2000" b="0" i="1" smtClean="0">
                            <a:latin typeface="Cambria Math" panose="02040503050406030204" pitchFamily="18" charset="0"/>
                          </a:rPr>
                          <m:t>𝑠</m:t>
                        </m:r>
                      </m:sub>
                    </m:sSub>
                  </m:oMath>
                </a14:m>
                <a:endParaRPr lang="es-AR" sz="2000" dirty="0"/>
              </a:p>
            </p:txBody>
          </p:sp>
        </mc:Choice>
        <mc:Fallback>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928" t="-1828" r="-348" b="-1436"/>
                </a:stretch>
              </a:blipFill>
            </p:spPr>
            <p:txBody>
              <a:bodyPr/>
              <a:lstStyle/>
              <a:p>
                <a:r>
                  <a:rPr lang="es-ES">
                    <a:noFill/>
                  </a:rPr>
                  <a:t> </a:t>
                </a:r>
              </a:p>
            </p:txBody>
          </p:sp>
        </mc:Fallback>
      </mc:AlternateContent>
    </p:spTree>
    <p:extLst>
      <p:ext uri="{BB962C8B-B14F-4D97-AF65-F5344CB8AC3E}">
        <p14:creationId xmlns:p14="http://schemas.microsoft.com/office/powerpoint/2010/main" val="2206052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 Costo del Capital</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85000" lnSpcReduction="20000"/>
              </a:bodyPr>
              <a:lstStyle/>
              <a:p>
                <a:pPr marL="0" indent="0">
                  <a:buNone/>
                </a:pPr>
                <a:r>
                  <a:rPr lang="es-AR" dirty="0"/>
                  <a:t>Método del rendimiento de los bonos más la prima de riesgo</a:t>
                </a:r>
              </a:p>
              <a:p>
                <a:r>
                  <a:rPr lang="es-AR" dirty="0"/>
                  <a:t>Se suele utilizar cuando no se tienen valores confiables para las entradas del CAPM como podría ocurrir para una compañía de propiedad privada</a:t>
                </a:r>
              </a:p>
              <a:p>
                <a:r>
                  <a:rPr lang="es-AR" dirty="0"/>
                  <a:t>Es subjetivo y se basa en adicionar entre 3 y 5 puntos en concepto de prima de riesgo, RP, a la tasa que paga la Compañía en los bonos de largo plazo. El rango de RP surge de estudios empíricos</a:t>
                </a:r>
              </a:p>
              <a:p>
                <a:r>
                  <a:rPr lang="es-AR" dirty="0"/>
                  <a:t>Cuanto peor calificada esté la deuda de la empresa, la misma se entiende como más riesgosa y se incrementa el costo del capital propio</a:t>
                </a:r>
              </a:p>
              <a:p>
                <a:pPr marL="0" indent="0" algn="ctr">
                  <a:buNone/>
                </a:pPr>
                <a:r>
                  <a:rPr lang="es-AR" dirty="0"/>
                  <a:t> </a:t>
                </a:r>
                <a14:m>
                  <m:oMath xmlns:m="http://schemas.openxmlformats.org/officeDocument/2006/math">
                    <m:sSub>
                      <m:sSubPr>
                        <m:ctrlPr>
                          <a:rPr lang="es-AR" sz="2800" i="1" smtClean="0">
                            <a:latin typeface="Cambria Math" panose="02040503050406030204" pitchFamily="18" charset="0"/>
                          </a:rPr>
                        </m:ctrlPr>
                      </m:sSubPr>
                      <m:e>
                        <m:r>
                          <a:rPr lang="es-AR" sz="2800" i="1">
                            <a:latin typeface="Cambria Math" panose="02040503050406030204" pitchFamily="18" charset="0"/>
                          </a:rPr>
                          <m:t>𝑟</m:t>
                        </m:r>
                      </m:e>
                      <m:sub>
                        <m:r>
                          <a:rPr lang="es-AR" sz="2800" b="0" i="1" smtClean="0">
                            <a:latin typeface="Cambria Math" panose="02040503050406030204" pitchFamily="18" charset="0"/>
                          </a:rPr>
                          <m:t>𝑠</m:t>
                        </m:r>
                      </m:sub>
                    </m:sSub>
                  </m:oMath>
                </a14:m>
                <a:r>
                  <a:rPr lang="es-AR" sz="2800" dirty="0"/>
                  <a:t>=rendimiento de los bonos + prima de riesgo= 10% + 4% = 14%</a:t>
                </a:r>
              </a:p>
              <a:p>
                <a:pPr marL="0" indent="0">
                  <a:buNone/>
                </a:pPr>
                <a:r>
                  <a:rPr lang="es-AR" dirty="0"/>
                  <a:t>En caso de que los bonos tuvieran una tasa del 10% y tomáramos 4% como punto medio de la RP</a:t>
                </a:r>
              </a:p>
              <a:p>
                <a:pPr marL="0" indent="0">
                  <a:buNone/>
                </a:pPr>
                <a:r>
                  <a:rPr lang="es-AR" dirty="0"/>
                  <a:t>Podríamos decir que entre 13% y 15% se encuentra el verdadero costo del capital propio para esta compañía</a:t>
                </a:r>
              </a:p>
            </p:txBody>
          </p:sp>
        </mc:Choice>
        <mc:Fallback>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blipFill>
                <a:blip r:embed="rId2"/>
                <a:stretch>
                  <a:fillRect l="-928" t="-3221" r="-1101"/>
                </a:stretch>
              </a:blipFill>
            </p:spPr>
            <p:txBody>
              <a:bodyPr/>
              <a:lstStyle/>
              <a:p>
                <a:r>
                  <a:rPr lang="es-ES">
                    <a:noFill/>
                  </a:rPr>
                  <a:t> </a:t>
                </a:r>
              </a:p>
            </p:txBody>
          </p:sp>
        </mc:Fallback>
      </mc:AlternateContent>
    </p:spTree>
    <p:extLst>
      <p:ext uri="{BB962C8B-B14F-4D97-AF65-F5344CB8AC3E}">
        <p14:creationId xmlns:p14="http://schemas.microsoft.com/office/powerpoint/2010/main" val="7569809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 Costo del Capital</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70000" lnSpcReduction="20000"/>
              </a:bodyPr>
              <a:lstStyle/>
              <a:p>
                <a:pPr marL="0" indent="0">
                  <a:buNone/>
                </a:pPr>
                <a:r>
                  <a:rPr lang="es-AR" dirty="0"/>
                  <a:t>Método de Flujo de Efectivo Descontado (DCF)</a:t>
                </a:r>
              </a:p>
              <a:p>
                <a:r>
                  <a:rPr lang="es-AR" dirty="0"/>
                  <a:t>Para una empresa que esperamos permanezca en actividad, sus dividendos serán sus flujos de efectivo, si creemos que se venderá en algún momento, serán los dividendos hasta la venta más el valor de la venta (que también debiera ser el valor presente de los dividendos futuros)</a:t>
                </a:r>
              </a:p>
              <a:p>
                <a:r>
                  <a:rPr lang="es-AR" dirty="0"/>
                  <a:t>Como esperamos que nuestra compañía bajo análisis siga operando indefinidamente</a:t>
                </a:r>
              </a:p>
              <a:p>
                <a:pPr marL="0" indent="0">
                  <a:buNone/>
                </a:pPr>
                <a14:m>
                  <m:oMathPara xmlns:m="http://schemas.openxmlformats.org/officeDocument/2006/math">
                    <m:oMathParaPr>
                      <m:jc m:val="centerGroup"/>
                    </m:oMathParaPr>
                    <m:oMath xmlns:m="http://schemas.openxmlformats.org/officeDocument/2006/math">
                      <m:sSub>
                        <m:sSubPr>
                          <m:ctrlPr>
                            <a:rPr lang="es-AR" i="1">
                              <a:latin typeface="Cambria Math" panose="02040503050406030204" pitchFamily="18" charset="0"/>
                            </a:rPr>
                          </m:ctrlPr>
                        </m:sSubPr>
                        <m:e>
                          <m:r>
                            <a:rPr lang="es-AR" b="0" i="1" smtClean="0">
                              <a:latin typeface="Cambria Math" panose="02040503050406030204" pitchFamily="18" charset="0"/>
                            </a:rPr>
                            <m:t>𝑃</m:t>
                          </m:r>
                        </m:e>
                        <m:sub>
                          <m:r>
                            <a:rPr lang="es-AR" b="0" i="1" smtClean="0">
                              <a:latin typeface="Cambria Math" panose="02040503050406030204" pitchFamily="18" charset="0"/>
                            </a:rPr>
                            <m:t>0</m:t>
                          </m:r>
                        </m:sub>
                      </m:sSub>
                      <m:r>
                        <a:rPr lang="es-AR" b="0" i="1" smtClean="0">
                          <a:latin typeface="Cambria Math" panose="02040503050406030204" pitchFamily="18" charset="0"/>
                        </a:rPr>
                        <m:t>=</m:t>
                      </m:r>
                      <m:f>
                        <m:fPr>
                          <m:ctrlPr>
                            <a:rPr lang="es-AR" b="0" i="1" smtClean="0">
                              <a:latin typeface="Cambria Math" panose="02040503050406030204" pitchFamily="18" charset="0"/>
                            </a:rPr>
                          </m:ctrlPr>
                        </m:fPr>
                        <m:num>
                          <m:sSub>
                            <m:sSubPr>
                              <m:ctrlPr>
                                <a:rPr lang="es-AR" b="0" i="1" smtClean="0">
                                  <a:latin typeface="Cambria Math" panose="02040503050406030204" pitchFamily="18" charset="0"/>
                                </a:rPr>
                              </m:ctrlPr>
                            </m:sSubPr>
                            <m:e>
                              <m:r>
                                <a:rPr lang="es-AR" b="0" i="1" smtClean="0">
                                  <a:latin typeface="Cambria Math" panose="02040503050406030204" pitchFamily="18" charset="0"/>
                                </a:rPr>
                                <m:t>𝐷</m:t>
                              </m:r>
                            </m:e>
                            <m:sub>
                              <m:r>
                                <a:rPr lang="es-AR" b="0" i="1" smtClean="0">
                                  <a:latin typeface="Cambria Math" panose="02040503050406030204" pitchFamily="18" charset="0"/>
                                </a:rPr>
                                <m:t>1</m:t>
                              </m:r>
                            </m:sub>
                          </m:sSub>
                        </m:num>
                        <m:den>
                          <m:sSup>
                            <m:sSupPr>
                              <m:ctrlPr>
                                <a:rPr lang="es-AR" b="0" i="1" smtClean="0">
                                  <a:latin typeface="Cambria Math" panose="02040503050406030204" pitchFamily="18" charset="0"/>
                                </a:rPr>
                              </m:ctrlPr>
                            </m:sSupPr>
                            <m:e>
                              <m:r>
                                <a:rPr lang="es-AR" b="0" i="1" smtClean="0">
                                  <a:latin typeface="Cambria Math" panose="02040503050406030204" pitchFamily="18" charset="0"/>
                                </a:rPr>
                                <m:t>(1+</m:t>
                              </m:r>
                              <m:sSub>
                                <m:sSubPr>
                                  <m:ctrlPr>
                                    <a:rPr lang="es-AR" b="0" i="1" smtClean="0">
                                      <a:latin typeface="Cambria Math" panose="02040503050406030204" pitchFamily="18" charset="0"/>
                                    </a:rPr>
                                  </m:ctrlPr>
                                </m:sSubPr>
                                <m:e>
                                  <m:r>
                                    <a:rPr lang="es-AR" b="0" i="1" smtClean="0">
                                      <a:latin typeface="Cambria Math" panose="02040503050406030204" pitchFamily="18" charset="0"/>
                                    </a:rPr>
                                    <m:t>𝑟</m:t>
                                  </m:r>
                                </m:e>
                                <m:sub>
                                  <m:r>
                                    <a:rPr lang="es-AR" b="0" i="1" smtClean="0">
                                      <a:latin typeface="Cambria Math" panose="02040503050406030204" pitchFamily="18" charset="0"/>
                                    </a:rPr>
                                    <m:t>𝑠</m:t>
                                  </m:r>
                                </m:sub>
                              </m:sSub>
                              <m:r>
                                <a:rPr lang="es-AR" b="0" i="1" smtClean="0">
                                  <a:latin typeface="Cambria Math" panose="02040503050406030204" pitchFamily="18" charset="0"/>
                                </a:rPr>
                                <m:t>)</m:t>
                              </m:r>
                            </m:e>
                            <m:sup>
                              <m:r>
                                <a:rPr lang="es-AR" b="0" i="1" smtClean="0">
                                  <a:latin typeface="Cambria Math" panose="02040503050406030204" pitchFamily="18" charset="0"/>
                                </a:rPr>
                                <m:t>1</m:t>
                              </m:r>
                            </m:sup>
                          </m:sSup>
                        </m:den>
                      </m:f>
                      <m:r>
                        <a:rPr lang="es-AR" b="0" i="1" smtClean="0">
                          <a:latin typeface="Cambria Math" panose="02040503050406030204" pitchFamily="18" charset="0"/>
                        </a:rPr>
                        <m:t>+</m:t>
                      </m:r>
                      <m:f>
                        <m:fPr>
                          <m:ctrlPr>
                            <a:rPr lang="es-AR" i="1">
                              <a:latin typeface="Cambria Math" panose="02040503050406030204" pitchFamily="18" charset="0"/>
                            </a:rPr>
                          </m:ctrlPr>
                        </m:fPr>
                        <m:num>
                          <m:sSub>
                            <m:sSubPr>
                              <m:ctrlPr>
                                <a:rPr lang="es-AR" i="1">
                                  <a:latin typeface="Cambria Math" panose="02040503050406030204" pitchFamily="18" charset="0"/>
                                </a:rPr>
                              </m:ctrlPr>
                            </m:sSubPr>
                            <m:e>
                              <m:r>
                                <a:rPr lang="es-AR" i="1">
                                  <a:latin typeface="Cambria Math" panose="02040503050406030204" pitchFamily="18" charset="0"/>
                                </a:rPr>
                                <m:t>𝐷</m:t>
                              </m:r>
                            </m:e>
                            <m:sub>
                              <m:r>
                                <a:rPr lang="es-AR" b="0" i="1" smtClean="0">
                                  <a:latin typeface="Cambria Math" panose="02040503050406030204" pitchFamily="18" charset="0"/>
                                </a:rPr>
                                <m:t>2</m:t>
                              </m:r>
                            </m:sub>
                          </m:sSub>
                        </m:num>
                        <m:den>
                          <m:sSup>
                            <m:sSupPr>
                              <m:ctrlPr>
                                <a:rPr lang="es-AR" i="1">
                                  <a:latin typeface="Cambria Math" panose="02040503050406030204" pitchFamily="18" charset="0"/>
                                </a:rPr>
                              </m:ctrlPr>
                            </m:sSupPr>
                            <m:e>
                              <m:r>
                                <a:rPr lang="es-AR" i="1">
                                  <a:latin typeface="Cambria Math" panose="02040503050406030204" pitchFamily="18" charset="0"/>
                                </a:rPr>
                                <m:t>(1+</m:t>
                              </m:r>
                              <m:sSub>
                                <m:sSubPr>
                                  <m:ctrlPr>
                                    <a:rPr lang="es-AR" i="1">
                                      <a:latin typeface="Cambria Math" panose="02040503050406030204" pitchFamily="18" charset="0"/>
                                    </a:rPr>
                                  </m:ctrlPr>
                                </m:sSubPr>
                                <m:e>
                                  <m:r>
                                    <a:rPr lang="es-AR" i="1">
                                      <a:latin typeface="Cambria Math" panose="02040503050406030204" pitchFamily="18" charset="0"/>
                                    </a:rPr>
                                    <m:t>𝑟</m:t>
                                  </m:r>
                                </m:e>
                                <m:sub>
                                  <m:r>
                                    <a:rPr lang="es-AR" i="1">
                                      <a:latin typeface="Cambria Math" panose="02040503050406030204" pitchFamily="18" charset="0"/>
                                    </a:rPr>
                                    <m:t>𝑠</m:t>
                                  </m:r>
                                </m:sub>
                              </m:sSub>
                              <m:r>
                                <a:rPr lang="es-AR" i="1">
                                  <a:latin typeface="Cambria Math" panose="02040503050406030204" pitchFamily="18" charset="0"/>
                                </a:rPr>
                                <m:t>)</m:t>
                              </m:r>
                            </m:e>
                            <m:sup>
                              <m:r>
                                <a:rPr lang="es-AR" b="0" i="1" smtClean="0">
                                  <a:latin typeface="Cambria Math" panose="02040503050406030204" pitchFamily="18" charset="0"/>
                                </a:rPr>
                                <m:t>2</m:t>
                              </m:r>
                            </m:sup>
                          </m:sSup>
                        </m:den>
                      </m:f>
                      <m:r>
                        <a:rPr lang="es-AR" i="1">
                          <a:latin typeface="Cambria Math" panose="02040503050406030204" pitchFamily="18" charset="0"/>
                        </a:rPr>
                        <m:t>+</m:t>
                      </m:r>
                      <m:r>
                        <a:rPr lang="es-AR" b="0" i="1" smtClean="0">
                          <a:latin typeface="Cambria Math" panose="02040503050406030204" pitchFamily="18" charset="0"/>
                        </a:rPr>
                        <m:t>…+</m:t>
                      </m:r>
                      <m:f>
                        <m:fPr>
                          <m:ctrlPr>
                            <a:rPr lang="es-AR" i="1">
                              <a:latin typeface="Cambria Math" panose="02040503050406030204" pitchFamily="18" charset="0"/>
                            </a:rPr>
                          </m:ctrlPr>
                        </m:fPr>
                        <m:num>
                          <m:sSub>
                            <m:sSubPr>
                              <m:ctrlPr>
                                <a:rPr lang="es-AR" i="1">
                                  <a:latin typeface="Cambria Math" panose="02040503050406030204" pitchFamily="18" charset="0"/>
                                </a:rPr>
                              </m:ctrlPr>
                            </m:sSubPr>
                            <m:e>
                              <m:r>
                                <a:rPr lang="es-AR" i="1">
                                  <a:latin typeface="Cambria Math" panose="02040503050406030204" pitchFamily="18" charset="0"/>
                                </a:rPr>
                                <m:t>𝐷</m:t>
                              </m:r>
                            </m:e>
                            <m:sub>
                              <m:r>
                                <a:rPr lang="es-AR" i="1">
                                  <a:latin typeface="Cambria Math" panose="02040503050406030204" pitchFamily="18" charset="0"/>
                                  <a:ea typeface="Cambria Math" panose="02040503050406030204" pitchFamily="18" charset="0"/>
                                </a:rPr>
                                <m:t>∞</m:t>
                              </m:r>
                            </m:sub>
                          </m:sSub>
                        </m:num>
                        <m:den>
                          <m:sSup>
                            <m:sSupPr>
                              <m:ctrlPr>
                                <a:rPr lang="es-AR" i="1">
                                  <a:latin typeface="Cambria Math" panose="02040503050406030204" pitchFamily="18" charset="0"/>
                                </a:rPr>
                              </m:ctrlPr>
                            </m:sSupPr>
                            <m:e>
                              <m:r>
                                <a:rPr lang="es-AR" i="1">
                                  <a:latin typeface="Cambria Math" panose="02040503050406030204" pitchFamily="18" charset="0"/>
                                </a:rPr>
                                <m:t>(1+</m:t>
                              </m:r>
                              <m:sSub>
                                <m:sSubPr>
                                  <m:ctrlPr>
                                    <a:rPr lang="es-AR" i="1">
                                      <a:latin typeface="Cambria Math" panose="02040503050406030204" pitchFamily="18" charset="0"/>
                                    </a:rPr>
                                  </m:ctrlPr>
                                </m:sSubPr>
                                <m:e>
                                  <m:r>
                                    <a:rPr lang="es-AR" i="1">
                                      <a:latin typeface="Cambria Math" panose="02040503050406030204" pitchFamily="18" charset="0"/>
                                    </a:rPr>
                                    <m:t>𝑟</m:t>
                                  </m:r>
                                </m:e>
                                <m:sub>
                                  <m:r>
                                    <a:rPr lang="es-AR" i="1">
                                      <a:latin typeface="Cambria Math" panose="02040503050406030204" pitchFamily="18" charset="0"/>
                                    </a:rPr>
                                    <m:t>𝑠</m:t>
                                  </m:r>
                                </m:sub>
                              </m:sSub>
                              <m:r>
                                <a:rPr lang="es-AR" i="1">
                                  <a:latin typeface="Cambria Math" panose="02040503050406030204" pitchFamily="18" charset="0"/>
                                </a:rPr>
                                <m:t>)</m:t>
                              </m:r>
                            </m:e>
                            <m:sup>
                              <m:r>
                                <a:rPr lang="es-AR" i="1">
                                  <a:latin typeface="Cambria Math" panose="02040503050406030204" pitchFamily="18" charset="0"/>
                                  <a:ea typeface="Cambria Math" panose="02040503050406030204" pitchFamily="18" charset="0"/>
                                </a:rPr>
                                <m:t>∞</m:t>
                              </m:r>
                            </m:sup>
                          </m:sSup>
                        </m:den>
                      </m:f>
                      <m:r>
                        <a:rPr lang="es-AR" b="0" i="1" smtClean="0">
                          <a:latin typeface="Cambria Math" panose="02040503050406030204" pitchFamily="18" charset="0"/>
                        </a:rPr>
                        <m:t>=</m:t>
                      </m:r>
                      <m:nary>
                        <m:naryPr>
                          <m:chr m:val="∑"/>
                          <m:ctrlPr>
                            <a:rPr lang="es-AR" b="0" i="1" smtClean="0">
                              <a:latin typeface="Cambria Math" panose="02040503050406030204" pitchFamily="18" charset="0"/>
                            </a:rPr>
                          </m:ctrlPr>
                        </m:naryPr>
                        <m:sub>
                          <m:r>
                            <m:rPr>
                              <m:brk m:alnAt="23"/>
                            </m:rPr>
                            <a:rPr lang="es-AR" b="0" i="1" smtClean="0">
                              <a:latin typeface="Cambria Math" panose="02040503050406030204" pitchFamily="18" charset="0"/>
                            </a:rPr>
                            <m:t>𝑡</m:t>
                          </m:r>
                          <m:r>
                            <a:rPr lang="es-AR" b="0" i="1" smtClean="0">
                              <a:latin typeface="Cambria Math" panose="02040503050406030204" pitchFamily="18" charset="0"/>
                            </a:rPr>
                            <m:t>=</m:t>
                          </m:r>
                          <m:r>
                            <m:rPr>
                              <m:brk m:alnAt="23"/>
                            </m:rPr>
                            <a:rPr lang="es-AR" b="0" i="1" smtClean="0">
                              <a:latin typeface="Cambria Math" panose="02040503050406030204" pitchFamily="18" charset="0"/>
                            </a:rPr>
                            <m:t>1</m:t>
                          </m:r>
                        </m:sub>
                        <m:sup>
                          <m:r>
                            <a:rPr lang="es-AR" b="0" i="1" smtClean="0">
                              <a:latin typeface="Cambria Math" panose="02040503050406030204" pitchFamily="18" charset="0"/>
                              <a:ea typeface="Cambria Math" panose="02040503050406030204" pitchFamily="18" charset="0"/>
                            </a:rPr>
                            <m:t>∞</m:t>
                          </m:r>
                        </m:sup>
                        <m:e>
                          <m:f>
                            <m:fPr>
                              <m:ctrlPr>
                                <a:rPr lang="es-AR" b="0" i="1" smtClean="0">
                                  <a:latin typeface="Cambria Math" panose="02040503050406030204" pitchFamily="18" charset="0"/>
                                </a:rPr>
                              </m:ctrlPr>
                            </m:fPr>
                            <m:num>
                              <m:sSub>
                                <m:sSubPr>
                                  <m:ctrlPr>
                                    <a:rPr lang="es-AR" b="0" i="1" smtClean="0">
                                      <a:latin typeface="Cambria Math" panose="02040503050406030204" pitchFamily="18" charset="0"/>
                                    </a:rPr>
                                  </m:ctrlPr>
                                </m:sSubPr>
                                <m:e>
                                  <m:r>
                                    <a:rPr lang="es-AR" b="0" i="1" smtClean="0">
                                      <a:latin typeface="Cambria Math" panose="02040503050406030204" pitchFamily="18" charset="0"/>
                                    </a:rPr>
                                    <m:t>𝐷</m:t>
                                  </m:r>
                                </m:e>
                                <m:sub>
                                  <m:r>
                                    <a:rPr lang="es-AR" b="0" i="1" smtClean="0">
                                      <a:latin typeface="Cambria Math" panose="02040503050406030204" pitchFamily="18" charset="0"/>
                                    </a:rPr>
                                    <m:t>𝑡</m:t>
                                  </m:r>
                                </m:sub>
                              </m:sSub>
                            </m:num>
                            <m:den>
                              <m:sSup>
                                <m:sSupPr>
                                  <m:ctrlPr>
                                    <a:rPr lang="es-AR" b="0" i="1" smtClean="0">
                                      <a:latin typeface="Cambria Math" panose="02040503050406030204" pitchFamily="18" charset="0"/>
                                    </a:rPr>
                                  </m:ctrlPr>
                                </m:sSupPr>
                                <m:e>
                                  <m:r>
                                    <a:rPr lang="es-AR" b="0" i="1" smtClean="0">
                                      <a:latin typeface="Cambria Math" panose="02040503050406030204" pitchFamily="18" charset="0"/>
                                    </a:rPr>
                                    <m:t>(1+</m:t>
                                  </m:r>
                                  <m:sSub>
                                    <m:sSubPr>
                                      <m:ctrlPr>
                                        <a:rPr lang="es-AR" i="1">
                                          <a:latin typeface="Cambria Math" panose="02040503050406030204" pitchFamily="18" charset="0"/>
                                        </a:rPr>
                                      </m:ctrlPr>
                                    </m:sSubPr>
                                    <m:e>
                                      <m:r>
                                        <a:rPr lang="es-AR" i="1">
                                          <a:latin typeface="Cambria Math" panose="02040503050406030204" pitchFamily="18" charset="0"/>
                                        </a:rPr>
                                        <m:t>𝑟</m:t>
                                      </m:r>
                                    </m:e>
                                    <m:sub>
                                      <m:r>
                                        <a:rPr lang="es-AR" i="1">
                                          <a:latin typeface="Cambria Math" panose="02040503050406030204" pitchFamily="18" charset="0"/>
                                        </a:rPr>
                                        <m:t>𝑠</m:t>
                                      </m:r>
                                    </m:sub>
                                  </m:sSub>
                                  <m:r>
                                    <a:rPr lang="es-AR" b="0" i="1" smtClean="0">
                                      <a:latin typeface="Cambria Math" panose="02040503050406030204" pitchFamily="18" charset="0"/>
                                    </a:rPr>
                                    <m:t>)</m:t>
                                  </m:r>
                                </m:e>
                                <m:sup>
                                  <m:r>
                                    <a:rPr lang="es-AR" b="0" i="1" smtClean="0">
                                      <a:latin typeface="Cambria Math" panose="02040503050406030204" pitchFamily="18" charset="0"/>
                                    </a:rPr>
                                    <m:t>𝑡</m:t>
                                  </m:r>
                                </m:sup>
                              </m:sSup>
                            </m:den>
                          </m:f>
                        </m:e>
                      </m:nary>
                    </m:oMath>
                  </m:oMathPara>
                </a14:m>
                <a:endParaRPr lang="es-AR" dirty="0"/>
              </a:p>
              <a:p>
                <a14:m>
                  <m:oMath xmlns:m="http://schemas.openxmlformats.org/officeDocument/2006/math">
                    <m:sSub>
                      <m:sSubPr>
                        <m:ctrlPr>
                          <a:rPr lang="es-AR" i="1" smtClean="0">
                            <a:latin typeface="Cambria Math" panose="02040503050406030204" pitchFamily="18" charset="0"/>
                          </a:rPr>
                        </m:ctrlPr>
                      </m:sSubPr>
                      <m:e>
                        <m:r>
                          <a:rPr lang="es-AR" b="0" i="1" smtClean="0">
                            <a:latin typeface="Cambria Math" panose="02040503050406030204" pitchFamily="18" charset="0"/>
                          </a:rPr>
                          <m:t>𝑃</m:t>
                        </m:r>
                      </m:e>
                      <m:sub>
                        <m:r>
                          <a:rPr lang="es-AR" b="0" i="1" smtClean="0">
                            <a:latin typeface="Cambria Math" panose="02040503050406030204" pitchFamily="18" charset="0"/>
                          </a:rPr>
                          <m:t>0</m:t>
                        </m:r>
                      </m:sub>
                    </m:sSub>
                  </m:oMath>
                </a14:m>
                <a:r>
                  <a:rPr lang="es-AR" dirty="0"/>
                  <a:t> es el precio vigente de las acciones, </a:t>
                </a:r>
                <a14:m>
                  <m:oMath xmlns:m="http://schemas.openxmlformats.org/officeDocument/2006/math">
                    <m:sSub>
                      <m:sSubPr>
                        <m:ctrlPr>
                          <a:rPr lang="es-AR" i="1">
                            <a:latin typeface="Cambria Math" panose="02040503050406030204" pitchFamily="18" charset="0"/>
                          </a:rPr>
                        </m:ctrlPr>
                      </m:sSubPr>
                      <m:e>
                        <m:r>
                          <a:rPr lang="es-AR" i="1">
                            <a:latin typeface="Cambria Math" panose="02040503050406030204" pitchFamily="18" charset="0"/>
                          </a:rPr>
                          <m:t>𝐷</m:t>
                        </m:r>
                      </m:e>
                      <m:sub>
                        <m:r>
                          <a:rPr lang="es-AR" b="0" i="1" smtClean="0">
                            <a:latin typeface="Cambria Math" panose="02040503050406030204" pitchFamily="18" charset="0"/>
                          </a:rPr>
                          <m:t>𝑡</m:t>
                        </m:r>
                      </m:sub>
                    </m:sSub>
                  </m:oMath>
                </a14:m>
                <a:r>
                  <a:rPr lang="es-AR" dirty="0"/>
                  <a:t> el dividendo esperado a fin del año “t” y </a:t>
                </a:r>
                <a14:m>
                  <m:oMath xmlns:m="http://schemas.openxmlformats.org/officeDocument/2006/math">
                    <m:sSub>
                      <m:sSubPr>
                        <m:ctrlPr>
                          <a:rPr lang="es-AR" i="1">
                            <a:latin typeface="Cambria Math" panose="02040503050406030204" pitchFamily="18" charset="0"/>
                          </a:rPr>
                        </m:ctrlPr>
                      </m:sSubPr>
                      <m:e>
                        <m:r>
                          <a:rPr lang="es-AR" i="1">
                            <a:latin typeface="Cambria Math" panose="02040503050406030204" pitchFamily="18" charset="0"/>
                          </a:rPr>
                          <m:t>𝑟</m:t>
                        </m:r>
                      </m:e>
                      <m:sub>
                        <m:r>
                          <a:rPr lang="es-AR" i="1">
                            <a:latin typeface="Cambria Math" panose="02040503050406030204" pitchFamily="18" charset="0"/>
                          </a:rPr>
                          <m:t>𝑠</m:t>
                        </m:r>
                      </m:sub>
                    </m:sSub>
                  </m:oMath>
                </a14:m>
                <a:r>
                  <a:rPr lang="es-AR" dirty="0"/>
                  <a:t> es la tasa requerida de rendimiento (que es lo que queremos estimar)</a:t>
                </a:r>
              </a:p>
              <a:p>
                <a:r>
                  <a:rPr lang="es-AR" dirty="0"/>
                  <a:t>Si esperamos un crecimiento constante de los dividendos</a:t>
                </a:r>
              </a:p>
              <a:p>
                <a:pPr marL="0" indent="0" algn="ctr">
                  <a:buNone/>
                </a:pPr>
                <a14:m>
                  <m:oMath xmlns:m="http://schemas.openxmlformats.org/officeDocument/2006/math">
                    <m:sSub>
                      <m:sSubPr>
                        <m:ctrlPr>
                          <a:rPr lang="es-AR" i="1" smtClean="0">
                            <a:latin typeface="Cambria Math" panose="02040503050406030204" pitchFamily="18" charset="0"/>
                          </a:rPr>
                        </m:ctrlPr>
                      </m:sSubPr>
                      <m:e>
                        <m:r>
                          <a:rPr lang="es-AR" b="0" i="1" smtClean="0">
                            <a:latin typeface="Cambria Math" panose="02040503050406030204" pitchFamily="18" charset="0"/>
                          </a:rPr>
                          <m:t>𝑃</m:t>
                        </m:r>
                      </m:e>
                      <m:sub>
                        <m:r>
                          <a:rPr lang="es-AR" b="0" i="1" smtClean="0">
                            <a:latin typeface="Cambria Math" panose="02040503050406030204" pitchFamily="18" charset="0"/>
                          </a:rPr>
                          <m:t>0</m:t>
                        </m:r>
                      </m:sub>
                    </m:sSub>
                    <m:r>
                      <a:rPr lang="es-AR" b="0" i="1" smtClean="0">
                        <a:latin typeface="Cambria Math" panose="02040503050406030204" pitchFamily="18" charset="0"/>
                      </a:rPr>
                      <m:t>=</m:t>
                    </m:r>
                    <m:f>
                      <m:fPr>
                        <m:ctrlPr>
                          <a:rPr lang="es-AR" b="0" i="1" smtClean="0">
                            <a:latin typeface="Cambria Math" panose="02040503050406030204" pitchFamily="18" charset="0"/>
                          </a:rPr>
                        </m:ctrlPr>
                      </m:fPr>
                      <m:num>
                        <m:sSub>
                          <m:sSubPr>
                            <m:ctrlPr>
                              <a:rPr lang="es-AR" b="0" i="1" smtClean="0">
                                <a:latin typeface="Cambria Math" panose="02040503050406030204" pitchFamily="18" charset="0"/>
                              </a:rPr>
                            </m:ctrlPr>
                          </m:sSubPr>
                          <m:e>
                            <m:r>
                              <a:rPr lang="es-AR" b="0" i="1" smtClean="0">
                                <a:latin typeface="Cambria Math" panose="02040503050406030204" pitchFamily="18" charset="0"/>
                              </a:rPr>
                              <m:t>𝐷</m:t>
                            </m:r>
                          </m:e>
                          <m:sub>
                            <m:r>
                              <a:rPr lang="es-AR" b="0" i="1" smtClean="0">
                                <a:latin typeface="Cambria Math" panose="02040503050406030204" pitchFamily="18" charset="0"/>
                              </a:rPr>
                              <m:t>1</m:t>
                            </m:r>
                          </m:sub>
                        </m:sSub>
                      </m:num>
                      <m:den>
                        <m:r>
                          <a:rPr lang="es-AR" b="0" i="1" smtClean="0">
                            <a:latin typeface="Cambria Math" panose="02040503050406030204" pitchFamily="18" charset="0"/>
                          </a:rPr>
                          <m:t>(</m:t>
                        </m:r>
                        <m:sSub>
                          <m:sSubPr>
                            <m:ctrlPr>
                              <a:rPr lang="es-AR" i="1">
                                <a:latin typeface="Cambria Math" panose="02040503050406030204" pitchFamily="18" charset="0"/>
                              </a:rPr>
                            </m:ctrlPr>
                          </m:sSubPr>
                          <m:e>
                            <m:r>
                              <a:rPr lang="es-AR" i="1">
                                <a:latin typeface="Cambria Math" panose="02040503050406030204" pitchFamily="18" charset="0"/>
                              </a:rPr>
                              <m:t>𝑟</m:t>
                            </m:r>
                          </m:e>
                          <m:sub>
                            <m:r>
                              <a:rPr lang="es-AR" i="1">
                                <a:latin typeface="Cambria Math" panose="02040503050406030204" pitchFamily="18" charset="0"/>
                              </a:rPr>
                              <m:t>𝑠</m:t>
                            </m:r>
                          </m:sub>
                        </m:sSub>
                        <m:r>
                          <a:rPr lang="es-AR" b="0" i="1" smtClean="0">
                            <a:latin typeface="Cambria Math" panose="02040503050406030204" pitchFamily="18" charset="0"/>
                          </a:rPr>
                          <m:t> −</m:t>
                        </m:r>
                        <m:r>
                          <a:rPr lang="es-AR" b="0" i="1" smtClean="0">
                            <a:latin typeface="Cambria Math" panose="02040503050406030204" pitchFamily="18" charset="0"/>
                          </a:rPr>
                          <m:t>𝑔</m:t>
                        </m:r>
                        <m:r>
                          <a:rPr lang="es-AR" b="0" i="1" smtClean="0">
                            <a:latin typeface="Cambria Math" panose="02040503050406030204" pitchFamily="18" charset="0"/>
                          </a:rPr>
                          <m:t>)</m:t>
                        </m:r>
                      </m:den>
                    </m:f>
                  </m:oMath>
                </a14:m>
                <a:r>
                  <a:rPr lang="es-AR" dirty="0"/>
                  <a:t> </a:t>
                </a:r>
              </a:p>
              <a:p>
                <a:pPr marL="0" indent="0">
                  <a:buNone/>
                </a:pPr>
                <a:r>
                  <a:rPr lang="es-AR" dirty="0"/>
                  <a:t>de donde obtendremos</a:t>
                </a:r>
              </a:p>
              <a:p>
                <a:pPr marL="0" indent="0" algn="ctr">
                  <a:buNone/>
                </a:pPr>
                <a14:m>
                  <m:oMath xmlns:m="http://schemas.openxmlformats.org/officeDocument/2006/math">
                    <m:sSub>
                      <m:sSubPr>
                        <m:ctrlPr>
                          <a:rPr lang="es-AR" i="1">
                            <a:latin typeface="Cambria Math" panose="02040503050406030204" pitchFamily="18" charset="0"/>
                          </a:rPr>
                        </m:ctrlPr>
                      </m:sSubPr>
                      <m:e>
                        <m:r>
                          <a:rPr lang="es-AR" i="1">
                            <a:latin typeface="Cambria Math" panose="02040503050406030204" pitchFamily="18" charset="0"/>
                          </a:rPr>
                          <m:t>𝑟</m:t>
                        </m:r>
                      </m:e>
                      <m:sub>
                        <m:r>
                          <a:rPr lang="es-AR" i="1">
                            <a:latin typeface="Cambria Math" panose="02040503050406030204" pitchFamily="18" charset="0"/>
                          </a:rPr>
                          <m:t>𝑠</m:t>
                        </m:r>
                      </m:sub>
                    </m:sSub>
                    <m:r>
                      <a:rPr lang="es-AR" b="0" i="1" smtClean="0">
                        <a:latin typeface="Cambria Math" panose="02040503050406030204" pitchFamily="18" charset="0"/>
                      </a:rPr>
                      <m:t>=</m:t>
                    </m:r>
                    <m:acc>
                      <m:accPr>
                        <m:chr m:val="̂"/>
                        <m:ctrlPr>
                          <a:rPr lang="es-AR" i="1">
                            <a:latin typeface="Cambria Math" panose="02040503050406030204" pitchFamily="18" charset="0"/>
                          </a:rPr>
                        </m:ctrlPr>
                      </m:accPr>
                      <m:e>
                        <m:sSub>
                          <m:sSubPr>
                            <m:ctrlPr>
                              <a:rPr lang="es-AR" i="1">
                                <a:latin typeface="Cambria Math" panose="02040503050406030204" pitchFamily="18" charset="0"/>
                              </a:rPr>
                            </m:ctrlPr>
                          </m:sSubPr>
                          <m:e>
                            <m:r>
                              <a:rPr lang="es-AR" i="1">
                                <a:latin typeface="Cambria Math" panose="02040503050406030204" pitchFamily="18" charset="0"/>
                              </a:rPr>
                              <m:t>𝑟</m:t>
                            </m:r>
                          </m:e>
                          <m:sub>
                            <m:r>
                              <a:rPr lang="es-AR" i="1">
                                <a:latin typeface="Cambria Math" panose="02040503050406030204" pitchFamily="18" charset="0"/>
                              </a:rPr>
                              <m:t>𝑠</m:t>
                            </m:r>
                          </m:sub>
                        </m:sSub>
                      </m:e>
                    </m:acc>
                    <m:r>
                      <a:rPr lang="es-AR" b="0" i="1" smtClean="0">
                        <a:latin typeface="Cambria Math" panose="02040503050406030204" pitchFamily="18" charset="0"/>
                      </a:rPr>
                      <m:t>=</m:t>
                    </m:r>
                    <m:f>
                      <m:fPr>
                        <m:ctrlPr>
                          <a:rPr lang="es-AR" b="0" i="1" smtClean="0">
                            <a:latin typeface="Cambria Math" panose="02040503050406030204" pitchFamily="18" charset="0"/>
                          </a:rPr>
                        </m:ctrlPr>
                      </m:fPr>
                      <m:num>
                        <m:sSub>
                          <m:sSubPr>
                            <m:ctrlPr>
                              <a:rPr lang="es-AR" b="0" i="1" smtClean="0">
                                <a:latin typeface="Cambria Math" panose="02040503050406030204" pitchFamily="18" charset="0"/>
                              </a:rPr>
                            </m:ctrlPr>
                          </m:sSubPr>
                          <m:e>
                            <m:r>
                              <a:rPr lang="es-AR" b="0" i="1" smtClean="0">
                                <a:latin typeface="Cambria Math" panose="02040503050406030204" pitchFamily="18" charset="0"/>
                              </a:rPr>
                              <m:t>𝐷</m:t>
                            </m:r>
                          </m:e>
                          <m:sub>
                            <m:r>
                              <a:rPr lang="es-AR" b="0" i="1" smtClean="0">
                                <a:latin typeface="Cambria Math" panose="02040503050406030204" pitchFamily="18" charset="0"/>
                              </a:rPr>
                              <m:t>1</m:t>
                            </m:r>
                          </m:sub>
                        </m:sSub>
                      </m:num>
                      <m:den>
                        <m:sSub>
                          <m:sSubPr>
                            <m:ctrlPr>
                              <a:rPr lang="es-AR" i="1">
                                <a:latin typeface="Cambria Math" panose="02040503050406030204" pitchFamily="18" charset="0"/>
                              </a:rPr>
                            </m:ctrlPr>
                          </m:sSubPr>
                          <m:e>
                            <m:r>
                              <a:rPr lang="es-AR" b="0" i="1" smtClean="0">
                                <a:latin typeface="Cambria Math" panose="02040503050406030204" pitchFamily="18" charset="0"/>
                              </a:rPr>
                              <m:t>𝑃</m:t>
                            </m:r>
                          </m:e>
                          <m:sub>
                            <m:r>
                              <a:rPr lang="es-AR" b="0" i="1" smtClean="0">
                                <a:latin typeface="Cambria Math" panose="02040503050406030204" pitchFamily="18" charset="0"/>
                              </a:rPr>
                              <m:t>0</m:t>
                            </m:r>
                          </m:sub>
                        </m:sSub>
                        <m:r>
                          <a:rPr lang="es-AR" b="0" i="1" smtClean="0">
                            <a:latin typeface="Cambria Math" panose="02040503050406030204" pitchFamily="18" charset="0"/>
                          </a:rPr>
                          <m:t> </m:t>
                        </m:r>
                      </m:den>
                    </m:f>
                  </m:oMath>
                </a14:m>
                <a:r>
                  <a:rPr lang="es-AR" dirty="0"/>
                  <a:t> + g esperada </a:t>
                </a:r>
              </a:p>
              <a:p>
                <a:pPr marL="0" indent="0">
                  <a:buNone/>
                </a:pPr>
                <a:endParaRPr lang="es-AR" dirty="0"/>
              </a:p>
            </p:txBody>
          </p:sp>
        </mc:Choice>
        <mc:Fallback>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blipFill>
                <a:blip r:embed="rId2"/>
                <a:stretch>
                  <a:fillRect l="-638" t="-2521"/>
                </a:stretch>
              </a:blipFill>
            </p:spPr>
            <p:txBody>
              <a:bodyPr/>
              <a:lstStyle/>
              <a:p>
                <a:r>
                  <a:rPr lang="es-ES">
                    <a:noFill/>
                  </a:rPr>
                  <a:t> </a:t>
                </a:r>
              </a:p>
            </p:txBody>
          </p:sp>
        </mc:Fallback>
      </mc:AlternateContent>
    </p:spTree>
    <p:extLst>
      <p:ext uri="{BB962C8B-B14F-4D97-AF65-F5344CB8AC3E}">
        <p14:creationId xmlns:p14="http://schemas.microsoft.com/office/powerpoint/2010/main" val="40697986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 Costo del Capital</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20000"/>
              </a:bodyPr>
              <a:lstStyle/>
              <a:p>
                <a:r>
                  <a:rPr lang="es-AR" sz="2400" dirty="0"/>
                  <a:t>Los inversionistas esperan recibir un rendimiento de dividendos </a:t>
                </a:r>
                <a14:m>
                  <m:oMath xmlns:m="http://schemas.openxmlformats.org/officeDocument/2006/math">
                    <m:f>
                      <m:fPr>
                        <m:type m:val="skw"/>
                        <m:ctrlPr>
                          <a:rPr lang="es-AR" sz="2400" i="1" smtClean="0">
                            <a:latin typeface="Cambria Math" panose="02040503050406030204" pitchFamily="18" charset="0"/>
                          </a:rPr>
                        </m:ctrlPr>
                      </m:fPr>
                      <m:num>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𝐷</m:t>
                            </m:r>
                          </m:e>
                          <m:sub>
                            <m:r>
                              <a:rPr lang="es-AR" sz="2400" b="0" i="1" smtClean="0">
                                <a:latin typeface="Cambria Math" panose="02040503050406030204" pitchFamily="18" charset="0"/>
                              </a:rPr>
                              <m:t>1</m:t>
                            </m:r>
                          </m:sub>
                        </m:sSub>
                      </m:num>
                      <m:den>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𝑃</m:t>
                            </m:r>
                          </m:e>
                          <m:sub>
                            <m:r>
                              <a:rPr lang="es-AR" sz="2400" b="0" i="1" smtClean="0">
                                <a:latin typeface="Cambria Math" panose="02040503050406030204" pitchFamily="18" charset="0"/>
                              </a:rPr>
                              <m:t>0</m:t>
                            </m:r>
                          </m:sub>
                        </m:sSub>
                      </m:den>
                    </m:f>
                  </m:oMath>
                </a14:m>
                <a:r>
                  <a:rPr lang="es-AR" sz="2400" dirty="0"/>
                  <a:t>, más una ganancia de capital, g, para un rendimiento total esperado de </a:t>
                </a:r>
                <a14:m>
                  <m:oMath xmlns:m="http://schemas.openxmlformats.org/officeDocument/2006/math">
                    <m:acc>
                      <m:accPr>
                        <m:chr m:val="̂"/>
                        <m:ctrlPr>
                          <a:rPr lang="es-AR" sz="2400" i="1">
                            <a:latin typeface="Cambria Math" panose="02040503050406030204" pitchFamily="18" charset="0"/>
                          </a:rPr>
                        </m:ctrlPr>
                      </m:accPr>
                      <m:e>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i="1">
                                <a:latin typeface="Cambria Math" panose="02040503050406030204" pitchFamily="18" charset="0"/>
                              </a:rPr>
                              <m:t>𝑠</m:t>
                            </m:r>
                          </m:sub>
                        </m:sSub>
                      </m:e>
                    </m:acc>
                  </m:oMath>
                </a14:m>
                <a:r>
                  <a:rPr lang="es-AR" sz="2400" dirty="0"/>
                  <a:t>, que en equilibrio es igual al rendimiento requerido </a:t>
                </a:r>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i="1">
                            <a:latin typeface="Cambria Math" panose="02040503050406030204" pitchFamily="18" charset="0"/>
                          </a:rPr>
                          <m:t>𝑠</m:t>
                        </m:r>
                      </m:sub>
                    </m:sSub>
                  </m:oMath>
                </a14:m>
                <a:endParaRPr lang="es-AR" sz="2400" dirty="0"/>
              </a:p>
              <a:p>
                <a:r>
                  <a:rPr lang="es-AR" sz="2400" dirty="0"/>
                  <a:t>Es claro que el precio de una acción cambia diariamente y que su tasa de crecimiento no necesariamente se obtenga del pasado. En muchos casos el dividendo a un año será bastante previsible. Hay analistas y publicaciones que presentan estimaciones de la “g” para más de 1.700 empresas, luego de analizar sus ventas proyectadas, márgenes de utilidad, competencia, etc. Entonces podríamos determinar el costo del capital a partir de</a:t>
                </a:r>
              </a:p>
              <a:p>
                <a:pPr marL="0" indent="0" algn="ctr">
                  <a:buNone/>
                </a:pPr>
                <a14:m>
                  <m:oMath xmlns:m="http://schemas.openxmlformats.org/officeDocument/2006/math">
                    <m:acc>
                      <m:accPr>
                        <m:chr m:val="̂"/>
                        <m:ctrlPr>
                          <a:rPr lang="es-AR" sz="2400" i="1" smtClean="0">
                            <a:latin typeface="Cambria Math" panose="02040503050406030204" pitchFamily="18" charset="0"/>
                          </a:rPr>
                        </m:ctrlPr>
                      </m:accPr>
                      <m:e>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i="1">
                                <a:latin typeface="Cambria Math" panose="02040503050406030204" pitchFamily="18" charset="0"/>
                              </a:rPr>
                              <m:t>𝑠</m:t>
                            </m:r>
                          </m:sub>
                        </m:sSub>
                      </m:e>
                    </m:acc>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𝐷</m:t>
                            </m:r>
                          </m:e>
                          <m:sub>
                            <m:r>
                              <a:rPr lang="es-AR" sz="2400" b="0" i="1" smtClean="0">
                                <a:latin typeface="Cambria Math" panose="02040503050406030204" pitchFamily="18" charset="0"/>
                              </a:rPr>
                              <m:t>1</m:t>
                            </m:r>
                          </m:sub>
                        </m:sSub>
                      </m:num>
                      <m:den>
                        <m:sSub>
                          <m:sSubPr>
                            <m:ctrlPr>
                              <a:rPr lang="es-AR" sz="2400" i="1">
                                <a:latin typeface="Cambria Math" panose="02040503050406030204" pitchFamily="18" charset="0"/>
                              </a:rPr>
                            </m:ctrlPr>
                          </m:sSubPr>
                          <m:e>
                            <m:r>
                              <a:rPr lang="es-AR" sz="2400" b="0" i="1" smtClean="0">
                                <a:latin typeface="Cambria Math" panose="02040503050406030204" pitchFamily="18" charset="0"/>
                              </a:rPr>
                              <m:t>𝑃</m:t>
                            </m:r>
                          </m:e>
                          <m:sub>
                            <m:r>
                              <a:rPr lang="es-AR" sz="2400" b="0" i="1" smtClean="0">
                                <a:latin typeface="Cambria Math" panose="02040503050406030204" pitchFamily="18" charset="0"/>
                              </a:rPr>
                              <m:t>0</m:t>
                            </m:r>
                          </m:sub>
                        </m:sSub>
                        <m:r>
                          <a:rPr lang="es-AR" sz="2400" b="0" i="1" smtClean="0">
                            <a:latin typeface="Cambria Math" panose="02040503050406030204" pitchFamily="18" charset="0"/>
                          </a:rPr>
                          <m:t> </m:t>
                        </m:r>
                      </m:den>
                    </m:f>
                  </m:oMath>
                </a14:m>
                <a:r>
                  <a:rPr lang="es-AR" sz="2400" dirty="0"/>
                  <a:t> + tasa de crecimiento proyectada por analistas de valores</a:t>
                </a:r>
              </a:p>
              <a:p>
                <a:r>
                  <a:rPr lang="es-AR" sz="2400" dirty="0"/>
                  <a:t>Si la tasa de crecimiento no fuera constante, deberemos usar un promedio</a:t>
                </a:r>
              </a:p>
              <a:p>
                <a14:m>
                  <m:oMath xmlns:m="http://schemas.openxmlformats.org/officeDocument/2006/math">
                    <m:acc>
                      <m:accPr>
                        <m:chr m:val="̂"/>
                        <m:ctrlPr>
                          <a:rPr lang="es-AR" sz="2400" i="1" smtClean="0">
                            <a:latin typeface="Cambria Math" panose="02040503050406030204" pitchFamily="18" charset="0"/>
                          </a:rPr>
                        </m:ctrlPr>
                      </m:accPr>
                      <m:e>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i="1">
                                <a:latin typeface="Cambria Math" panose="02040503050406030204" pitchFamily="18" charset="0"/>
                              </a:rPr>
                              <m:t>𝑠</m:t>
                            </m:r>
                          </m:sub>
                        </m:sSub>
                      </m:e>
                    </m:acc>
                  </m:oMath>
                </a14:m>
                <a:r>
                  <a:rPr lang="es-AR" sz="2400" dirty="0"/>
                  <a:t> en el caso de </a:t>
                </a:r>
                <a:r>
                  <a:rPr lang="es-AR" sz="2400" dirty="0" err="1"/>
                  <a:t>Allied</a:t>
                </a:r>
                <a:r>
                  <a:rPr lang="es-AR" sz="2400" dirty="0"/>
                  <a:t> sería de </a:t>
                </a:r>
                <a14:m>
                  <m:oMath xmlns:m="http://schemas.openxmlformats.org/officeDocument/2006/math">
                    <m:acc>
                      <m:accPr>
                        <m:chr m:val="̂"/>
                        <m:ctrlPr>
                          <a:rPr lang="es-AR" sz="2400" i="1">
                            <a:latin typeface="Cambria Math" panose="02040503050406030204" pitchFamily="18" charset="0"/>
                          </a:rPr>
                        </m:ctrlPr>
                      </m:accPr>
                      <m:e>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i="1">
                                <a:latin typeface="Cambria Math" panose="02040503050406030204" pitchFamily="18" charset="0"/>
                              </a:rPr>
                              <m:t>𝑠</m:t>
                            </m:r>
                          </m:sub>
                        </m:sSub>
                      </m:e>
                    </m:acc>
                    <m:r>
                      <a:rPr lang="es-AR" sz="2400" i="1">
                        <a:latin typeface="Cambria Math" panose="02040503050406030204" pitchFamily="18" charset="0"/>
                      </a:rPr>
                      <m:t>=</m:t>
                    </m:r>
                    <m:f>
                      <m:fPr>
                        <m:ctrlPr>
                          <a:rPr lang="es-AR" sz="2400" i="1">
                            <a:latin typeface="Cambria Math" panose="02040503050406030204" pitchFamily="18" charset="0"/>
                          </a:rPr>
                        </m:ctrlPr>
                      </m:fPr>
                      <m:num>
                        <m:r>
                          <a:rPr lang="es-AR" sz="2400" b="0" i="1" smtClean="0">
                            <a:latin typeface="Cambria Math" panose="02040503050406030204" pitchFamily="18" charset="0"/>
                          </a:rPr>
                          <m:t>1,25</m:t>
                        </m:r>
                      </m:num>
                      <m:den>
                        <m:r>
                          <a:rPr lang="es-AR" sz="2400" b="0" i="1" smtClean="0">
                            <a:latin typeface="Cambria Math" panose="02040503050406030204" pitchFamily="18" charset="0"/>
                          </a:rPr>
                          <m:t>23,06</m:t>
                        </m:r>
                        <m:r>
                          <a:rPr lang="es-AR" sz="2400" i="1">
                            <a:latin typeface="Cambria Math" panose="02040503050406030204" pitchFamily="18" charset="0"/>
                          </a:rPr>
                          <m:t> </m:t>
                        </m:r>
                      </m:den>
                    </m:f>
                  </m:oMath>
                </a14:m>
                <a:r>
                  <a:rPr lang="es-AR" sz="2400" dirty="0"/>
                  <a:t> + 8,3% = 13,7%</a:t>
                </a:r>
              </a:p>
              <a:p>
                <a:r>
                  <a:rPr lang="es-AR" sz="2400" dirty="0"/>
                  <a:t>Que es la tasa mínima de rendimiento que se exigirá sobre las ganancias retenidas, el costo de oportunidad para no pagarlas como dividendos</a:t>
                </a:r>
              </a:p>
              <a:p>
                <a:endParaRPr lang="es-AR" sz="2400" dirty="0"/>
              </a:p>
            </p:txBody>
          </p:sp>
        </mc:Choice>
        <mc:Fallback xmlns="">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blipFill>
                <a:blip r:embed="rId2"/>
                <a:stretch>
                  <a:fillRect l="-696" t="-17927" b="-2241"/>
                </a:stretch>
              </a:blipFill>
            </p:spPr>
            <p:txBody>
              <a:bodyPr/>
              <a:lstStyle/>
              <a:p>
                <a:r>
                  <a:rPr lang="es-ES">
                    <a:noFill/>
                  </a:rPr>
                  <a:t> </a:t>
                </a:r>
              </a:p>
            </p:txBody>
          </p:sp>
        </mc:Fallback>
      </mc:AlternateContent>
    </p:spTree>
    <p:extLst>
      <p:ext uri="{BB962C8B-B14F-4D97-AF65-F5344CB8AC3E}">
        <p14:creationId xmlns:p14="http://schemas.microsoft.com/office/powerpoint/2010/main" val="26744563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 Costo 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pPr marL="0" indent="0">
              <a:buNone/>
            </a:pPr>
            <a:r>
              <a:rPr lang="es-AR" dirty="0"/>
              <a:t>Promedio de estimaciones alternas</a:t>
            </a:r>
          </a:p>
          <a:p>
            <a:r>
              <a:rPr lang="es-AR" dirty="0"/>
              <a:t>Hemos visto tres métodos con tres resultados diferentes.</a:t>
            </a:r>
          </a:p>
          <a:p>
            <a:r>
              <a:rPr lang="es-AR" dirty="0"/>
              <a:t>Podemos usar un promedio, pero podemos analizar el entorno económico y de la empresa y volcarnos por uno de ellos más que por los otros</a:t>
            </a:r>
          </a:p>
          <a:p>
            <a:r>
              <a:rPr lang="es-AR" dirty="0"/>
              <a:t>De todos modos, nos permite fijar un rango de posibles costos del capital propio y elegir cuál utilizar en el WACC</a:t>
            </a:r>
          </a:p>
        </p:txBody>
      </p:sp>
    </p:spTree>
    <p:extLst>
      <p:ext uri="{BB962C8B-B14F-4D97-AF65-F5344CB8AC3E}">
        <p14:creationId xmlns:p14="http://schemas.microsoft.com/office/powerpoint/2010/main" val="40115088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 Costo 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r>
              <a:rPr lang="es-AR" sz="2000" dirty="0"/>
              <a:t>Preguntas</a:t>
            </a:r>
          </a:p>
          <a:p>
            <a:pPr marL="514350" indent="-514350">
              <a:buFont typeface="+mj-lt"/>
              <a:buAutoNum type="arabicPeriod"/>
            </a:pPr>
            <a:r>
              <a:rPr lang="es-AR" sz="2000" dirty="0"/>
              <a:t>¿Por qué debe asignarse un costo a las ganancias retenidas si finalmente es dinero de los accionistas, que se beneficiarán como tales con el resultado de las inversiones, y no hay que salir a pedírselo a nadie?</a:t>
            </a:r>
          </a:p>
          <a:p>
            <a:pPr marL="514350" indent="-514350">
              <a:buFont typeface="+mj-lt"/>
              <a:buAutoNum type="arabicPeriod"/>
            </a:pPr>
            <a:r>
              <a:rPr lang="es-AR" sz="2000" dirty="0"/>
              <a:t>¿Cuál de los tres enfoques es más utilizado en la práctica?</a:t>
            </a:r>
          </a:p>
          <a:p>
            <a:pPr marL="514350" indent="-514350">
              <a:buFont typeface="+mj-lt"/>
              <a:buAutoNum type="arabicPeriod"/>
            </a:pPr>
            <a:r>
              <a:rPr lang="es-AR" sz="2000" dirty="0"/>
              <a:t>¿Qué problemas puede presentar el cálculo mediante el CAPM?</a:t>
            </a:r>
          </a:p>
          <a:p>
            <a:pPr marL="514350" indent="-514350">
              <a:buFont typeface="+mj-lt"/>
              <a:buAutoNum type="arabicPeriod"/>
            </a:pPr>
            <a:r>
              <a:rPr lang="es-AR" sz="2000" dirty="0"/>
              <a:t>¿Cuál de los componentes del DCF piensa usted que es más difícil de estimar, Dividendos o crecimiento?</a:t>
            </a:r>
          </a:p>
          <a:p>
            <a:pPr marL="514350" indent="-514350">
              <a:buFont typeface="+mj-lt"/>
              <a:buAutoNum type="arabicPeriod"/>
            </a:pPr>
            <a:r>
              <a:rPr lang="es-AR" sz="2000" dirty="0"/>
              <a:t>¿Cuál es la lógica detrás del método del rendimiento de los bonos más la prima de riesgo?</a:t>
            </a:r>
          </a:p>
          <a:p>
            <a:pPr marL="514350" indent="-514350">
              <a:buFont typeface="+mj-lt"/>
              <a:buAutoNum type="arabicPeriod"/>
            </a:pPr>
            <a:endParaRPr lang="es-AR" sz="2000" dirty="0"/>
          </a:p>
        </p:txBody>
      </p:sp>
    </p:spTree>
    <p:extLst>
      <p:ext uri="{BB962C8B-B14F-4D97-AF65-F5344CB8AC3E}">
        <p14:creationId xmlns:p14="http://schemas.microsoft.com/office/powerpoint/2010/main" val="15732791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 Costo del Capital</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r>
                  <a:rPr lang="es-AR" sz="2000" dirty="0"/>
                  <a:t>Preguntas</a:t>
                </a:r>
              </a:p>
              <a:p>
                <a:pPr marL="514350" indent="-514350">
                  <a:buFont typeface="+mj-lt"/>
                  <a:buAutoNum type="arabicPeriod" startAt="6"/>
                </a:pPr>
                <a:r>
                  <a:rPr lang="es-AR" sz="2000" dirty="0"/>
                  <a:t>Calculemos el costo del capital propio para los tres enfoques con los siguientes datos</a:t>
                </a:r>
              </a:p>
              <a:p>
                <a:pPr lvl="1"/>
                <a14:m>
                  <m:oMath xmlns:m="http://schemas.openxmlformats.org/officeDocument/2006/math">
                    <m:sSub>
                      <m:sSubPr>
                        <m:ctrlPr>
                          <a:rPr lang="es-AR" sz="1800" i="1" smtClean="0">
                            <a:latin typeface="Cambria Math" panose="02040503050406030204" pitchFamily="18" charset="0"/>
                          </a:rPr>
                        </m:ctrlPr>
                      </m:sSubPr>
                      <m:e>
                        <m:r>
                          <a:rPr lang="es-AR" sz="1800" i="1">
                            <a:latin typeface="Cambria Math" panose="02040503050406030204" pitchFamily="18" charset="0"/>
                          </a:rPr>
                          <m:t>𝑟</m:t>
                        </m:r>
                      </m:e>
                      <m:sub>
                        <m:r>
                          <a:rPr lang="es-AR" sz="1800" b="0" i="1" smtClean="0">
                            <a:latin typeface="Cambria Math" panose="02040503050406030204" pitchFamily="18" charset="0"/>
                          </a:rPr>
                          <m:t>𝑅𝐹</m:t>
                        </m:r>
                      </m:sub>
                    </m:sSub>
                    <m:r>
                      <a:rPr lang="es-AR" sz="1800" b="0" i="1" smtClean="0">
                        <a:latin typeface="Cambria Math" panose="02040503050406030204" pitchFamily="18" charset="0"/>
                      </a:rPr>
                      <m:t>=5,5%</m:t>
                    </m:r>
                  </m:oMath>
                </a14:m>
                <a:endParaRPr lang="es-AR" sz="1800" b="0" dirty="0"/>
              </a:p>
              <a:p>
                <a:pPr lvl="1"/>
                <a14:m>
                  <m:oMath xmlns:m="http://schemas.openxmlformats.org/officeDocument/2006/math">
                    <m:sSub>
                      <m:sSubPr>
                        <m:ctrlPr>
                          <a:rPr lang="es-AR" sz="1800" i="1" smtClean="0">
                            <a:latin typeface="Cambria Math" panose="02040503050406030204" pitchFamily="18" charset="0"/>
                          </a:rPr>
                        </m:ctrlPr>
                      </m:sSubPr>
                      <m:e>
                        <m:r>
                          <a:rPr lang="es-AR" sz="1800" b="0" i="1" smtClean="0">
                            <a:latin typeface="Cambria Math" panose="02040503050406030204" pitchFamily="18" charset="0"/>
                          </a:rPr>
                          <m:t>𝑅𝑃</m:t>
                        </m:r>
                      </m:e>
                      <m:sub>
                        <m:r>
                          <a:rPr lang="es-AR" sz="1800" b="0" i="1" smtClean="0">
                            <a:latin typeface="Cambria Math" panose="02040503050406030204" pitchFamily="18" charset="0"/>
                          </a:rPr>
                          <m:t>𝑀</m:t>
                        </m:r>
                      </m:sub>
                    </m:sSub>
                    <m:r>
                      <a:rPr lang="es-AR" sz="1800" b="0" i="1" smtClean="0">
                        <a:latin typeface="Cambria Math" panose="02040503050406030204" pitchFamily="18" charset="0"/>
                      </a:rPr>
                      <m:t>=6%</m:t>
                    </m:r>
                  </m:oMath>
                </a14:m>
                <a:endParaRPr lang="es-AR" sz="1800" b="0" dirty="0"/>
              </a:p>
              <a:p>
                <a:pPr lvl="1"/>
                <a:r>
                  <a:rPr lang="es-AR" sz="1600" dirty="0"/>
                  <a:t>Beta= 0,8</a:t>
                </a:r>
              </a:p>
              <a:p>
                <a:pPr lvl="1"/>
                <a14:m>
                  <m:oMath xmlns:m="http://schemas.openxmlformats.org/officeDocument/2006/math">
                    <m:sSub>
                      <m:sSubPr>
                        <m:ctrlPr>
                          <a:rPr lang="es-AR" sz="1800" i="1" smtClean="0">
                            <a:latin typeface="Cambria Math" panose="02040503050406030204" pitchFamily="18" charset="0"/>
                          </a:rPr>
                        </m:ctrlPr>
                      </m:sSubPr>
                      <m:e>
                        <m:r>
                          <a:rPr lang="es-AR" sz="1800" b="0" i="1" smtClean="0">
                            <a:latin typeface="Cambria Math" panose="02040503050406030204" pitchFamily="18" charset="0"/>
                          </a:rPr>
                          <m:t>𝐷</m:t>
                        </m:r>
                      </m:e>
                      <m:sub>
                        <m:r>
                          <a:rPr lang="es-AR" sz="1800" b="0" i="1" smtClean="0">
                            <a:latin typeface="Cambria Math" panose="02040503050406030204" pitchFamily="18" charset="0"/>
                          </a:rPr>
                          <m:t>1</m:t>
                        </m:r>
                      </m:sub>
                    </m:sSub>
                    <m:r>
                      <a:rPr lang="es-AR" sz="1800" b="0" i="1" smtClean="0">
                        <a:latin typeface="Cambria Math" panose="02040503050406030204" pitchFamily="18" charset="0"/>
                      </a:rPr>
                      <m:t>=$1,00</m:t>
                    </m:r>
                  </m:oMath>
                </a14:m>
                <a:endParaRPr lang="es-AR" sz="1800" b="0" dirty="0"/>
              </a:p>
              <a:p>
                <a:pPr lvl="1"/>
                <a14:m>
                  <m:oMath xmlns:m="http://schemas.openxmlformats.org/officeDocument/2006/math">
                    <m:sSub>
                      <m:sSubPr>
                        <m:ctrlPr>
                          <a:rPr lang="es-AR" sz="1800" i="1" smtClean="0">
                            <a:latin typeface="Cambria Math" panose="02040503050406030204" pitchFamily="18" charset="0"/>
                          </a:rPr>
                        </m:ctrlPr>
                      </m:sSubPr>
                      <m:e>
                        <m:r>
                          <a:rPr lang="es-AR" sz="1800" b="0" i="1" smtClean="0">
                            <a:latin typeface="Cambria Math" panose="02040503050406030204" pitchFamily="18" charset="0"/>
                          </a:rPr>
                          <m:t>𝑃</m:t>
                        </m:r>
                      </m:e>
                      <m:sub>
                        <m:r>
                          <a:rPr lang="es-AR" sz="1800" b="0" i="1" smtClean="0">
                            <a:latin typeface="Cambria Math" panose="02040503050406030204" pitchFamily="18" charset="0"/>
                          </a:rPr>
                          <m:t>0</m:t>
                        </m:r>
                      </m:sub>
                    </m:sSub>
                    <m:r>
                      <a:rPr lang="es-AR" sz="1800" b="0" i="1" smtClean="0">
                        <a:latin typeface="Cambria Math" panose="02040503050406030204" pitchFamily="18" charset="0"/>
                      </a:rPr>
                      <m:t>=$25,00</m:t>
                    </m:r>
                  </m:oMath>
                </a14:m>
                <a:endParaRPr lang="es-AR" sz="1800" b="0" dirty="0"/>
              </a:p>
              <a:p>
                <a:pPr lvl="1"/>
                <a:r>
                  <a:rPr lang="es-AR" sz="1600" dirty="0"/>
                  <a:t>g = 6%</a:t>
                </a:r>
              </a:p>
              <a:p>
                <a:pPr lvl="1"/>
                <a14:m>
                  <m:oMath xmlns:m="http://schemas.openxmlformats.org/officeDocument/2006/math">
                    <m:sSub>
                      <m:sSubPr>
                        <m:ctrlPr>
                          <a:rPr lang="es-AR" sz="1800" i="1" smtClean="0">
                            <a:latin typeface="Cambria Math" panose="02040503050406030204" pitchFamily="18" charset="0"/>
                          </a:rPr>
                        </m:ctrlPr>
                      </m:sSubPr>
                      <m:e>
                        <m:r>
                          <a:rPr lang="es-AR" sz="1800" i="1">
                            <a:latin typeface="Cambria Math" panose="02040503050406030204" pitchFamily="18" charset="0"/>
                          </a:rPr>
                          <m:t>𝑟</m:t>
                        </m:r>
                      </m:e>
                      <m:sub>
                        <m:r>
                          <a:rPr lang="es-AR" sz="1800" b="0" i="1" smtClean="0">
                            <a:latin typeface="Cambria Math" panose="02040503050406030204" pitchFamily="18" charset="0"/>
                          </a:rPr>
                          <m:t>𝑑</m:t>
                        </m:r>
                      </m:sub>
                    </m:sSub>
                  </m:oMath>
                </a14:m>
                <a:r>
                  <a:rPr lang="es-AR" sz="1600" dirty="0"/>
                  <a:t>= 6,5% </a:t>
                </a:r>
              </a:p>
              <a:p>
                <a:pPr marL="514350" indent="-514350">
                  <a:buFont typeface="+mj-lt"/>
                  <a:buAutoNum type="arabicPeriod" startAt="6"/>
                </a:pPr>
                <a:endParaRPr lang="es-AR" sz="2000" dirty="0"/>
              </a:p>
            </p:txBody>
          </p:sp>
        </mc:Choice>
        <mc:Fallback>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blipFill>
                <a:blip r:embed="rId2"/>
                <a:stretch>
                  <a:fillRect l="-638" t="-1401"/>
                </a:stretch>
              </a:blipFill>
            </p:spPr>
            <p:txBody>
              <a:bodyPr/>
              <a:lstStyle/>
              <a:p>
                <a:r>
                  <a:rPr lang="es-ES">
                    <a:noFill/>
                  </a:rPr>
                  <a:t> </a:t>
                </a:r>
              </a:p>
            </p:txBody>
          </p:sp>
        </mc:Fallback>
      </mc:AlternateContent>
      <p:sp>
        <p:nvSpPr>
          <p:cNvPr id="4" name="CuadroTexto 3">
            <a:extLst>
              <a:ext uri="{FF2B5EF4-FFF2-40B4-BE49-F238E27FC236}">
                <a16:creationId xmlns:a16="http://schemas.microsoft.com/office/drawing/2014/main" id="{B6B8AAE5-9AB8-6D90-ED96-C6A6B8A604DC}"/>
              </a:ext>
            </a:extLst>
          </p:cNvPr>
          <p:cNvSpPr txBox="1"/>
          <p:nvPr/>
        </p:nvSpPr>
        <p:spPr>
          <a:xfrm>
            <a:off x="3948545" y="4492715"/>
            <a:ext cx="6151419" cy="923330"/>
          </a:xfrm>
          <a:prstGeom prst="rect">
            <a:avLst/>
          </a:prstGeom>
          <a:noFill/>
        </p:spPr>
        <p:txBody>
          <a:bodyPr wrap="square" rtlCol="0">
            <a:spAutoFit/>
          </a:bodyPr>
          <a:lstStyle/>
          <a:p>
            <a:pPr marL="285750" indent="-285750">
              <a:buFont typeface="Arial" panose="020B0604020202020204" pitchFamily="34" charset="0"/>
              <a:buChar char="•"/>
            </a:pPr>
            <a:r>
              <a:rPr lang="es-AR" dirty="0"/>
              <a:t>CAPM: 5,5% + 6%* 0,8 = 10,3% </a:t>
            </a:r>
          </a:p>
          <a:p>
            <a:pPr marL="285750" indent="-285750">
              <a:buFont typeface="Arial" panose="020B0604020202020204" pitchFamily="34" charset="0"/>
              <a:buChar char="•"/>
            </a:pPr>
            <a:r>
              <a:rPr lang="es-AR" dirty="0"/>
              <a:t>Bonos más RP(3-5%): 6,5% + 3%/5% = entre 9,5% y 11,5% </a:t>
            </a:r>
          </a:p>
          <a:p>
            <a:pPr marL="285750" indent="-285750">
              <a:buFont typeface="Arial" panose="020B0604020202020204" pitchFamily="34" charset="0"/>
              <a:buChar char="•"/>
            </a:pPr>
            <a:r>
              <a:rPr lang="es-AR" dirty="0"/>
              <a:t>DCF: $1/$25 + 6% = 10% </a:t>
            </a:r>
            <a:endParaRPr lang="es-ES" dirty="0"/>
          </a:p>
        </p:txBody>
      </p:sp>
    </p:spTree>
    <p:extLst>
      <p:ext uri="{BB962C8B-B14F-4D97-AF65-F5344CB8AC3E}">
        <p14:creationId xmlns:p14="http://schemas.microsoft.com/office/powerpoint/2010/main" val="19236260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 Costo del Capital</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85000" lnSpcReduction="20000"/>
              </a:bodyPr>
              <a:lstStyle/>
              <a:p>
                <a:pPr marL="0" indent="0">
                  <a:buNone/>
                </a:pPr>
                <a:r>
                  <a:rPr lang="es-AR" dirty="0"/>
                  <a:t>Costo de nuevas acciones comunes, </a:t>
                </a:r>
                <a14:m>
                  <m:oMath xmlns:m="http://schemas.openxmlformats.org/officeDocument/2006/math">
                    <m:sSub>
                      <m:sSubPr>
                        <m:ctrlPr>
                          <a:rPr lang="es-AR" sz="2800" i="1" smtClean="0">
                            <a:latin typeface="Cambria Math" panose="02040503050406030204" pitchFamily="18" charset="0"/>
                          </a:rPr>
                        </m:ctrlPr>
                      </m:sSubPr>
                      <m:e>
                        <m:r>
                          <a:rPr lang="es-AR" sz="2800" i="1">
                            <a:latin typeface="Cambria Math" panose="02040503050406030204" pitchFamily="18" charset="0"/>
                          </a:rPr>
                          <m:t>𝑟</m:t>
                        </m:r>
                      </m:e>
                      <m:sub>
                        <m:r>
                          <a:rPr lang="es-AR" sz="2800" b="0" i="1" smtClean="0">
                            <a:latin typeface="Cambria Math" panose="02040503050406030204" pitchFamily="18" charset="0"/>
                          </a:rPr>
                          <m:t>𝑒</m:t>
                        </m:r>
                      </m:sub>
                    </m:sSub>
                  </m:oMath>
                </a14:m>
                <a:endParaRPr lang="es-AR" dirty="0"/>
              </a:p>
              <a:p>
                <a:r>
                  <a:rPr lang="es-AR" dirty="0"/>
                  <a:t>Las compañías a menudo de sirven de un banco de inversión cuando emiten nuevas acciones comunes, y a veces cuando emiten acciones preferentes o bonos</a:t>
                </a:r>
              </a:p>
              <a:p>
                <a:r>
                  <a:rPr lang="es-AR" dirty="0"/>
                  <a:t>La banca ayuda a estructurar las condiciones, fijar un precio a la emisión y venderlas</a:t>
                </a:r>
              </a:p>
              <a:p>
                <a:r>
                  <a:rPr lang="es-AR" dirty="0"/>
                  <a:t>En estos casos las comisiones se llaman costos de emisión</a:t>
                </a:r>
              </a:p>
              <a:p>
                <a:r>
                  <a:rPr lang="es-AR" dirty="0"/>
                  <a:t>Para este capital, su costo será el rendimiento requerido por los accionistas más el costo de emisión</a:t>
                </a:r>
              </a:p>
              <a:p>
                <a:r>
                  <a:rPr lang="es-AR" dirty="0"/>
                  <a:t>Si el grueso o la totalidad del capital propio se reúne mediante ganancias retenidas el costo de emisión no es un problema y hasta aquí no lo hemos considerado</a:t>
                </a:r>
              </a:p>
              <a:p>
                <a:r>
                  <a:rPr lang="es-AR" dirty="0"/>
                  <a:t>De lo contrario, si hay que tenerlos en cuenta, presentaremos dos enfoques</a:t>
                </a:r>
              </a:p>
            </p:txBody>
          </p:sp>
        </mc:Choice>
        <mc:Fallback>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blipFill>
                <a:blip r:embed="rId2"/>
                <a:stretch>
                  <a:fillRect l="-928" t="-3221" r="-522"/>
                </a:stretch>
              </a:blipFill>
            </p:spPr>
            <p:txBody>
              <a:bodyPr/>
              <a:lstStyle/>
              <a:p>
                <a:r>
                  <a:rPr lang="es-ES">
                    <a:noFill/>
                  </a:rPr>
                  <a:t> </a:t>
                </a:r>
              </a:p>
            </p:txBody>
          </p:sp>
        </mc:Fallback>
      </mc:AlternateContent>
    </p:spTree>
    <p:extLst>
      <p:ext uri="{BB962C8B-B14F-4D97-AF65-F5344CB8AC3E}">
        <p14:creationId xmlns:p14="http://schemas.microsoft.com/office/powerpoint/2010/main" val="6105241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 Costo 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a:bodyPr>
          <a:lstStyle/>
          <a:p>
            <a:pPr marL="0" indent="0">
              <a:buNone/>
            </a:pPr>
            <a:r>
              <a:rPr lang="es-AR" dirty="0"/>
              <a:t>Adición de costos de emisión al proyecto</a:t>
            </a:r>
          </a:p>
          <a:p>
            <a:r>
              <a:rPr lang="es-AR" dirty="0"/>
              <a:t>Este enfoque es muy sencillo, al desembolso inicial le agregamos los costos de emisión al analizar los proyectos de presupuestación de capital</a:t>
            </a:r>
          </a:p>
          <a:p>
            <a:r>
              <a:rPr lang="es-AR" dirty="0"/>
              <a:t>La tasa esperada de rendimiento se reduce y podría condicionar la realización del proyecto bajo análisis por no cubrir los costos del capital</a:t>
            </a:r>
          </a:p>
          <a:p>
            <a:r>
              <a:rPr lang="es-AR" dirty="0"/>
              <a:t>Si debo invertir 100MM para en un año obtener 115MM, el rendimiento esperado es del 15%</a:t>
            </a:r>
          </a:p>
          <a:p>
            <a:r>
              <a:rPr lang="es-AR" dirty="0"/>
              <a:t>Sin embargo, si obtener los 100MM me implican costos de emisión de 2MM, el rendimiento esperado bajará a 115/102 - 1= 12,745%</a:t>
            </a:r>
          </a:p>
          <a:p>
            <a:r>
              <a:rPr lang="es-AR" dirty="0"/>
              <a:t>Este enfoque parece adecuado si no se piensa seguir utilizando el capital</a:t>
            </a:r>
          </a:p>
        </p:txBody>
      </p:sp>
    </p:spTree>
    <p:extLst>
      <p:ext uri="{BB962C8B-B14F-4D97-AF65-F5344CB8AC3E}">
        <p14:creationId xmlns:p14="http://schemas.microsoft.com/office/powerpoint/2010/main" val="21799175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 Costo 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Autofit/>
          </a:bodyPr>
          <a:lstStyle/>
          <a:p>
            <a:pPr marL="0" indent="0">
              <a:buNone/>
            </a:pPr>
            <a:r>
              <a:rPr lang="es-AR" sz="2200" dirty="0"/>
              <a:t>Aumento del costo del capital</a:t>
            </a:r>
          </a:p>
          <a:p>
            <a:r>
              <a:rPr lang="es-AR" sz="2200" dirty="0"/>
              <a:t>Este enfoque implica ajustar el costo del capital en lugar de aumentar el costo de inversión como en el enfoque anterior</a:t>
            </a:r>
          </a:p>
          <a:p>
            <a:r>
              <a:rPr lang="es-AR" sz="2200" dirty="0"/>
              <a:t>Si la empresa piensa seguir utilizando el capital, como suele ser con el capital propio, este enfoque es mejor en teoría</a:t>
            </a:r>
          </a:p>
          <a:p>
            <a:r>
              <a:rPr lang="es-AR" sz="2200" dirty="0"/>
              <a:t>Como hay costos de emisión, comisiones del colocador, la compañía no recoge todo el capital invertido por los inversionistas y deberá generar un rendimiento superior al por ellos pretendido para satisfacerlos</a:t>
            </a:r>
          </a:p>
          <a:p>
            <a:r>
              <a:rPr lang="es-AR" sz="2200" dirty="0"/>
              <a:t>Como veremos, si los gastos de colocación fueran del 10%, la compañía recibiría para invertir el 90% de los aportes de los inversionistas y para generarles un rendimiento del 13,7% deberá obtener uno cercano al 14,3% (no es lineal en tanto no sea de corto plazo y haya crecimiento)</a:t>
            </a:r>
          </a:p>
          <a:p>
            <a:pPr marL="0" indent="0">
              <a:buNone/>
            </a:pPr>
            <a:endParaRPr lang="es-AR" sz="2200" dirty="0"/>
          </a:p>
        </p:txBody>
      </p:sp>
    </p:spTree>
    <p:extLst>
      <p:ext uri="{BB962C8B-B14F-4D97-AF65-F5344CB8AC3E}">
        <p14:creationId xmlns:p14="http://schemas.microsoft.com/office/powerpoint/2010/main" val="27482024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 Costo del Capital</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20000"/>
              </a:bodyPr>
              <a:lstStyle/>
              <a:p>
                <a:r>
                  <a:rPr lang="es-AR" sz="2400" dirty="0"/>
                  <a:t>El 14,3% sería el costo del capital ajustado a la emisión.</a:t>
                </a:r>
              </a:p>
              <a:p>
                <a:r>
                  <a:rPr lang="es-AR" sz="2400" dirty="0"/>
                  <a:t>Veamos los efectos del costo de emisión con el método DCF</a:t>
                </a:r>
              </a:p>
              <a:p>
                <a:endParaRPr lang="es-AR" sz="2400" dirty="0"/>
              </a:p>
              <a:p>
                <a:r>
                  <a:rPr lang="es-AR" sz="2400" dirty="0"/>
                  <a:t>Costo de capital de nuevas acciones = </a:t>
                </a:r>
                <a14:m>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𝑟</m:t>
                        </m:r>
                      </m:e>
                      <m:sub>
                        <m:r>
                          <a:rPr lang="es-AR" sz="2400" b="0" i="1" smtClean="0">
                            <a:latin typeface="Cambria Math" panose="02040503050406030204" pitchFamily="18" charset="0"/>
                          </a:rPr>
                          <m:t>𝑒</m:t>
                        </m:r>
                      </m:sub>
                    </m:sSub>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𝐷</m:t>
                            </m:r>
                          </m:e>
                          <m:sub>
                            <m:r>
                              <a:rPr lang="es-AR" sz="2400" b="0" i="1" smtClean="0">
                                <a:latin typeface="Cambria Math" panose="02040503050406030204" pitchFamily="18" charset="0"/>
                              </a:rPr>
                              <m:t>1</m:t>
                            </m:r>
                          </m:sub>
                        </m:sSub>
                      </m:num>
                      <m:den>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𝑃</m:t>
                            </m:r>
                          </m:e>
                          <m:sub>
                            <m:r>
                              <a:rPr lang="es-AR" sz="2400" b="0" i="1" smtClean="0">
                                <a:latin typeface="Cambria Math" panose="02040503050406030204" pitchFamily="18" charset="0"/>
                              </a:rPr>
                              <m:t>0</m:t>
                            </m:r>
                          </m:sub>
                        </m:sSub>
                        <m:r>
                          <a:rPr lang="es-AR" sz="2400" b="0" i="1" smtClean="0">
                            <a:latin typeface="Cambria Math" panose="02040503050406030204" pitchFamily="18" charset="0"/>
                          </a:rPr>
                          <m:t>(1−</m:t>
                        </m:r>
                        <m:r>
                          <a:rPr lang="es-AR" sz="2400" b="0" i="1" smtClean="0">
                            <a:latin typeface="Cambria Math" panose="02040503050406030204" pitchFamily="18" charset="0"/>
                          </a:rPr>
                          <m:t>𝐹</m:t>
                        </m:r>
                        <m:r>
                          <a:rPr lang="es-AR" sz="2400" b="0" i="1" smtClean="0">
                            <a:latin typeface="Cambria Math" panose="02040503050406030204" pitchFamily="18" charset="0"/>
                          </a:rPr>
                          <m:t>)</m:t>
                        </m:r>
                      </m:den>
                    </m:f>
                    <m:r>
                      <a:rPr lang="es-AR" sz="2400" b="0" i="1" smtClean="0">
                        <a:latin typeface="Cambria Math" panose="02040503050406030204" pitchFamily="18" charset="0"/>
                      </a:rPr>
                      <m:t>+</m:t>
                    </m:r>
                    <m:r>
                      <a:rPr lang="es-AR" sz="2400" b="0" i="1" smtClean="0">
                        <a:latin typeface="Cambria Math" panose="02040503050406030204" pitchFamily="18" charset="0"/>
                      </a:rPr>
                      <m:t>𝑔</m:t>
                    </m:r>
                  </m:oMath>
                </a14:m>
                <a:endParaRPr lang="es-AR" sz="2400" dirty="0"/>
              </a:p>
              <a:p>
                <a:r>
                  <a:rPr lang="es-AR" sz="2400" dirty="0"/>
                  <a:t>Siendo F el costo porcentual de la emisión</a:t>
                </a:r>
              </a:p>
              <a:p>
                <a:r>
                  <a:rPr lang="es-AR" sz="2400" dirty="0"/>
                  <a:t>Veamos los valores para </a:t>
                </a:r>
                <a:r>
                  <a:rPr lang="es-AR" sz="2400" dirty="0" err="1"/>
                  <a:t>Allied</a:t>
                </a:r>
                <a:r>
                  <a:rPr lang="es-AR" sz="2400" dirty="0"/>
                  <a:t>, con y sin costos de emisión, recordando que </a:t>
                </a:r>
                <a14:m>
                  <m:oMath xmlns:m="http://schemas.openxmlformats.org/officeDocument/2006/math">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𝐷</m:t>
                        </m:r>
                      </m:e>
                      <m:sub>
                        <m:r>
                          <a:rPr lang="es-AR" sz="2400" b="0" i="1" smtClean="0">
                            <a:latin typeface="Cambria Math" panose="02040503050406030204" pitchFamily="18" charset="0"/>
                          </a:rPr>
                          <m:t>1</m:t>
                        </m:r>
                      </m:sub>
                    </m:sSub>
                  </m:oMath>
                </a14:m>
                <a:r>
                  <a:rPr lang="es-AR" sz="2400" dirty="0"/>
                  <a:t>=$1,25; </a:t>
                </a:r>
              </a:p>
              <a:p>
                <a:pPr marL="0" indent="0">
                  <a:buNone/>
                </a:pPr>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𝑃</m:t>
                        </m:r>
                      </m:e>
                      <m:sub>
                        <m:r>
                          <a:rPr lang="es-AR" sz="2400" i="1">
                            <a:latin typeface="Cambria Math" panose="02040503050406030204" pitchFamily="18" charset="0"/>
                          </a:rPr>
                          <m:t>0</m:t>
                        </m:r>
                      </m:sub>
                    </m:sSub>
                  </m:oMath>
                </a14:m>
                <a:r>
                  <a:rPr lang="es-AR" sz="2400" dirty="0"/>
                  <a:t>=$23,06 y g=8,3%, para un F=10%</a:t>
                </a:r>
              </a:p>
              <a:p>
                <a:endParaRPr lang="es-AR" sz="2400" i="1" dirty="0">
                  <a:latin typeface="Cambria Math" panose="02040503050406030204" pitchFamily="18" charset="0"/>
                </a:endParaRPr>
              </a:p>
              <a:p>
                <a:pPr marL="0" indent="0" algn="ctr">
                  <a:buNone/>
                </a:pPr>
                <a14:m>
                  <m:oMath xmlns:m="http://schemas.openxmlformats.org/officeDocument/2006/math">
                    <m:sSub>
                      <m:sSubPr>
                        <m:ctrlPr>
                          <a:rPr lang="es-AR" sz="2400" i="1" smtClean="0">
                            <a:latin typeface="Cambria Math" panose="02040503050406030204" pitchFamily="18" charset="0"/>
                          </a:rPr>
                        </m:ctrlPr>
                      </m:sSubPr>
                      <m:e>
                        <m:r>
                          <a:rPr lang="es-AR" sz="2400" i="1">
                            <a:latin typeface="Cambria Math" panose="02040503050406030204" pitchFamily="18" charset="0"/>
                          </a:rPr>
                          <m:t>𝑟</m:t>
                        </m:r>
                      </m:e>
                      <m:sub>
                        <m:r>
                          <a:rPr lang="es-AR" sz="2400" b="0" i="1" smtClean="0">
                            <a:latin typeface="Cambria Math" panose="02040503050406030204" pitchFamily="18" charset="0"/>
                          </a:rPr>
                          <m:t>𝑠</m:t>
                        </m:r>
                      </m:sub>
                    </m:sSub>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r>
                          <a:rPr lang="es-AR" sz="2400" b="0" i="1" smtClean="0">
                            <a:latin typeface="Cambria Math" panose="02040503050406030204" pitchFamily="18" charset="0"/>
                          </a:rPr>
                          <m:t>1,25</m:t>
                        </m:r>
                      </m:num>
                      <m:den>
                        <m:r>
                          <a:rPr lang="es-AR" sz="2400" b="0" i="1" smtClean="0">
                            <a:latin typeface="Cambria Math" panose="02040503050406030204" pitchFamily="18" charset="0"/>
                          </a:rPr>
                          <m:t>23,06</m:t>
                        </m:r>
                      </m:den>
                    </m:f>
                    <m:r>
                      <a:rPr lang="es-AR" sz="2400" b="0" i="1" smtClean="0">
                        <a:latin typeface="Cambria Math" panose="02040503050406030204" pitchFamily="18" charset="0"/>
                      </a:rPr>
                      <m:t>+8,3%</m:t>
                    </m:r>
                  </m:oMath>
                </a14:m>
                <a:r>
                  <a:rPr lang="es-AR" sz="2400" dirty="0"/>
                  <a:t> = 13,72%</a:t>
                </a:r>
              </a:p>
              <a:p>
                <a:pPr marL="0" indent="0" algn="ctr">
                  <a:buNone/>
                </a:pPr>
                <a14:m>
                  <m:oMath xmlns:m="http://schemas.openxmlformats.org/officeDocument/2006/math">
                    <m:sSub>
                      <m:sSubPr>
                        <m:ctrlPr>
                          <a:rPr lang="es-AR" sz="2400" i="1" smtClean="0">
                            <a:latin typeface="Cambria Math" panose="02040503050406030204" pitchFamily="18" charset="0"/>
                          </a:rPr>
                        </m:ctrlPr>
                      </m:sSubPr>
                      <m:e>
                        <m:r>
                          <a:rPr lang="es-AR" sz="2400" i="1">
                            <a:latin typeface="Cambria Math" panose="02040503050406030204" pitchFamily="18" charset="0"/>
                          </a:rPr>
                          <m:t>𝑟</m:t>
                        </m:r>
                      </m:e>
                      <m:sub>
                        <m:r>
                          <a:rPr lang="es-AR" sz="2400" b="0" i="1" smtClean="0">
                            <a:latin typeface="Cambria Math" panose="02040503050406030204" pitchFamily="18" charset="0"/>
                          </a:rPr>
                          <m:t>𝑒</m:t>
                        </m:r>
                      </m:sub>
                    </m:sSub>
                    <m:r>
                      <a:rPr lang="es-AR" sz="2400" i="1">
                        <a:latin typeface="Cambria Math" panose="02040503050406030204" pitchFamily="18" charset="0"/>
                      </a:rPr>
                      <m:t>=</m:t>
                    </m:r>
                    <m:f>
                      <m:fPr>
                        <m:ctrlPr>
                          <a:rPr lang="es-AR" sz="2400" i="1">
                            <a:latin typeface="Cambria Math" panose="02040503050406030204" pitchFamily="18" charset="0"/>
                          </a:rPr>
                        </m:ctrlPr>
                      </m:fPr>
                      <m:num>
                        <m:r>
                          <a:rPr lang="es-AR" sz="2400" i="1">
                            <a:latin typeface="Cambria Math" panose="02040503050406030204" pitchFamily="18" charset="0"/>
                          </a:rPr>
                          <m:t>1,25</m:t>
                        </m:r>
                      </m:num>
                      <m:den>
                        <m:r>
                          <a:rPr lang="es-AR" sz="2400" i="1">
                            <a:latin typeface="Cambria Math" panose="02040503050406030204" pitchFamily="18" charset="0"/>
                          </a:rPr>
                          <m:t>23,06</m:t>
                        </m:r>
                        <m:r>
                          <a:rPr lang="es-AR" sz="2400" b="0" i="1" smtClean="0">
                            <a:latin typeface="Cambria Math" panose="02040503050406030204" pitchFamily="18" charset="0"/>
                          </a:rPr>
                          <m:t>(1−10%)</m:t>
                        </m:r>
                      </m:den>
                    </m:f>
                    <m:r>
                      <a:rPr lang="es-AR" sz="2400" i="1">
                        <a:latin typeface="Cambria Math" panose="02040503050406030204" pitchFamily="18" charset="0"/>
                      </a:rPr>
                      <m:t>+8,3%</m:t>
                    </m:r>
                  </m:oMath>
                </a14:m>
                <a:r>
                  <a:rPr lang="es-AR" sz="2400" dirty="0"/>
                  <a:t> = 14,32%</a:t>
                </a:r>
              </a:p>
              <a:p>
                <a:r>
                  <a:rPr lang="es-AR" sz="2400" dirty="0"/>
                  <a:t>O sea que el ajuste del costo de emisión es de 0,6%</a:t>
                </a:r>
              </a:p>
              <a:p>
                <a:endParaRPr lang="es-AR" sz="2400" dirty="0"/>
              </a:p>
            </p:txBody>
          </p:sp>
        </mc:Choice>
        <mc:Fallback>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blipFill>
                <a:blip r:embed="rId2"/>
                <a:stretch>
                  <a:fillRect l="-696" t="-2801" b="-2661"/>
                </a:stretch>
              </a:blipFill>
            </p:spPr>
            <p:txBody>
              <a:bodyPr/>
              <a:lstStyle/>
              <a:p>
                <a:r>
                  <a:rPr lang="es-ES">
                    <a:noFill/>
                  </a:rPr>
                  <a:t> </a:t>
                </a:r>
              </a:p>
            </p:txBody>
          </p:sp>
        </mc:Fallback>
      </mc:AlternateContent>
    </p:spTree>
    <p:extLst>
      <p:ext uri="{BB962C8B-B14F-4D97-AF65-F5344CB8AC3E}">
        <p14:creationId xmlns:p14="http://schemas.microsoft.com/office/powerpoint/2010/main" val="37120235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 Costo del Capital</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r>
                  <a:rPr lang="es-AR" dirty="0"/>
                  <a:t>Allied había estimado, promedio de los tres métodos, su costo de capital interno en 13,5% con lo que puede considerar su costo de capital externo en 14,1% (costo capital interno + ajuste del costo de emisión)</a:t>
                </a:r>
              </a:p>
              <a:p>
                <a:r>
                  <a:rPr lang="es-AR" dirty="0"/>
                  <a:t>El precio de las acciones debiera aumentar si </a:t>
                </a:r>
                <a:r>
                  <a:rPr lang="es-AR" dirty="0" err="1"/>
                  <a:t>Allied</a:t>
                </a:r>
                <a:r>
                  <a:rPr lang="es-AR" dirty="0"/>
                  <a:t> consigue más del 14,1% de rendimiento, que le permitiría otorgar el rendimiento requerido del 13,5%</a:t>
                </a:r>
              </a:p>
              <a:p>
                <a:r>
                  <a:rPr lang="es-AR" dirty="0"/>
                  <a:t>El ajuste del costo de capital de las acciones preferentes se obtiene haciendo que el precio </a:t>
                </a:r>
                <a14:m>
                  <m:oMath xmlns:m="http://schemas.openxmlformats.org/officeDocument/2006/math">
                    <m:sSub>
                      <m:sSubPr>
                        <m:ctrlPr>
                          <a:rPr lang="es-AR" sz="2800" i="1" smtClean="0">
                            <a:latin typeface="Cambria Math" panose="02040503050406030204" pitchFamily="18" charset="0"/>
                          </a:rPr>
                        </m:ctrlPr>
                      </m:sSubPr>
                      <m:e>
                        <m:r>
                          <a:rPr lang="es-AR" sz="2800" b="0" i="1" smtClean="0">
                            <a:latin typeface="Cambria Math" panose="02040503050406030204" pitchFamily="18" charset="0"/>
                          </a:rPr>
                          <m:t>𝑃</m:t>
                        </m:r>
                      </m:e>
                      <m:sub>
                        <m:r>
                          <a:rPr lang="es-AR" sz="2800" b="0" i="1" smtClean="0">
                            <a:latin typeface="Cambria Math" panose="02040503050406030204" pitchFamily="18" charset="0"/>
                          </a:rPr>
                          <m:t>𝑃</m:t>
                        </m:r>
                      </m:sub>
                    </m:sSub>
                  </m:oMath>
                </a14:m>
                <a:r>
                  <a:rPr lang="es-AR" dirty="0"/>
                  <a:t> se modifique a </a:t>
                </a:r>
                <a14:m>
                  <m:oMath xmlns:m="http://schemas.openxmlformats.org/officeDocument/2006/math">
                    <m:sSub>
                      <m:sSubPr>
                        <m:ctrlPr>
                          <a:rPr lang="es-AR" i="1">
                            <a:latin typeface="Cambria Math" panose="02040503050406030204" pitchFamily="18" charset="0"/>
                          </a:rPr>
                        </m:ctrlPr>
                      </m:sSubPr>
                      <m:e>
                        <m:r>
                          <a:rPr lang="es-AR" i="1">
                            <a:latin typeface="Cambria Math" panose="02040503050406030204" pitchFamily="18" charset="0"/>
                          </a:rPr>
                          <m:t>𝑃</m:t>
                        </m:r>
                      </m:e>
                      <m:sub>
                        <m:r>
                          <a:rPr lang="es-AR" i="1">
                            <a:latin typeface="Cambria Math" panose="02040503050406030204" pitchFamily="18" charset="0"/>
                          </a:rPr>
                          <m:t>𝑃</m:t>
                        </m:r>
                      </m:sub>
                    </m:sSub>
                  </m:oMath>
                </a14:m>
                <a:r>
                  <a:rPr lang="es-AR" dirty="0"/>
                  <a:t>*(1-F) y en los bonos calculando el YTM reduciendo en VA </a:t>
                </a:r>
              </a:p>
            </p:txBody>
          </p:sp>
        </mc:Choice>
        <mc:Fallback xmlns="">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blipFill>
                <a:blip r:embed="rId2"/>
                <a:stretch>
                  <a:fillRect l="-1043" t="-2241" b="-140"/>
                </a:stretch>
              </a:blipFill>
            </p:spPr>
            <p:txBody>
              <a:bodyPr/>
              <a:lstStyle/>
              <a:p>
                <a:r>
                  <a:rPr lang="es-ES">
                    <a:noFill/>
                  </a:rPr>
                  <a:t> </a:t>
                </a:r>
              </a:p>
            </p:txBody>
          </p:sp>
        </mc:Fallback>
      </mc:AlternateContent>
    </p:spTree>
    <p:extLst>
      <p:ext uri="{BB962C8B-B14F-4D97-AF65-F5344CB8AC3E}">
        <p14:creationId xmlns:p14="http://schemas.microsoft.com/office/powerpoint/2010/main" val="26768659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 Costo 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10000"/>
          </a:bodyPr>
          <a:lstStyle/>
          <a:p>
            <a:pPr marL="0" indent="0">
              <a:buNone/>
            </a:pPr>
            <a:r>
              <a:rPr lang="es-AR" dirty="0"/>
              <a:t>¿Cuándo debe usarse capital externo?</a:t>
            </a:r>
          </a:p>
          <a:p>
            <a:r>
              <a:rPr lang="es-AR" dirty="0"/>
              <a:t>Por lo analizado, financiarse con ganancias retenidas siempre será más barato que hacerlo con capital externo</a:t>
            </a:r>
          </a:p>
          <a:p>
            <a:r>
              <a:rPr lang="es-AR" dirty="0"/>
              <a:t>A veces las oportunidades requieren más capital que las ganancias retenidas durante el año</a:t>
            </a:r>
          </a:p>
          <a:p>
            <a:r>
              <a:rPr lang="es-AR" dirty="0"/>
              <a:t>¿Cuál es el presupuesto máximo que se puede plantear como inversión una compañía sin tener que recurrir a nuevas emisiones?</a:t>
            </a:r>
          </a:p>
          <a:p>
            <a:pPr lvl="1"/>
            <a:r>
              <a:rPr lang="es-AR" dirty="0"/>
              <a:t>Es lo que se llama </a:t>
            </a:r>
            <a:r>
              <a:rPr lang="es-AR" b="1" dirty="0"/>
              <a:t>punto de equilibrio de las ganancias retenidas </a:t>
            </a:r>
            <a:r>
              <a:rPr lang="es-AR" dirty="0"/>
              <a:t>y es simplemente el cociente entre la adición a ganancias retenidas del año y el porcentaje objetivo de capital propio en la estructura de Capital</a:t>
            </a:r>
          </a:p>
          <a:p>
            <a:pPr lvl="1"/>
            <a:r>
              <a:rPr lang="es-AR" dirty="0"/>
              <a:t>Las condiciones económicas y de la empresa en sí hacen que el punto de equilibrio se modifique en el tiempo. Es meramente una referencia</a:t>
            </a:r>
          </a:p>
        </p:txBody>
      </p:sp>
    </p:spTree>
    <p:extLst>
      <p:ext uri="{BB962C8B-B14F-4D97-AF65-F5344CB8AC3E}">
        <p14:creationId xmlns:p14="http://schemas.microsoft.com/office/powerpoint/2010/main" val="13570157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 Costo del Capital</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lnSpcReduction="10000"/>
              </a:bodyPr>
              <a:lstStyle/>
              <a:p>
                <a:r>
                  <a:rPr lang="es-AR" sz="2400" dirty="0"/>
                  <a:t>Costo del capital compuesto, o ponderado promedio, WACC</a:t>
                </a:r>
              </a:p>
              <a:p>
                <a:r>
                  <a:rPr lang="es-AR" sz="2400" dirty="0"/>
                  <a:t>Será simplemente el promedio ponderado de los costos donde las ponderaciones provienen de la estructura objetivo de la compañía ya que así es como se procurará el nuevo capital</a:t>
                </a:r>
              </a:p>
              <a:p>
                <a:r>
                  <a:rPr lang="es-AR" sz="2400" dirty="0"/>
                  <a:t>Sin necesidad de nuevas emisiones, en el caso de Allied su WACC sería</a:t>
                </a:r>
              </a:p>
              <a:p>
                <a:endParaRPr lang="es-AR" sz="2400" dirty="0"/>
              </a:p>
              <a:p>
                <a14:m>
                  <m:oMath xmlns:m="http://schemas.openxmlformats.org/officeDocument/2006/math">
                    <m:r>
                      <a:rPr lang="es-AR" sz="2000" b="0" i="1" smtClean="0">
                        <a:latin typeface="Cambria Math" panose="02040503050406030204" pitchFamily="18" charset="0"/>
                      </a:rPr>
                      <m:t>𝑊𝐴𝐶𝐶</m:t>
                    </m:r>
                    <m:r>
                      <a:rPr lang="es-AR" sz="2000" b="0" i="1" smtClean="0">
                        <a:latin typeface="Cambria Math" panose="02040503050406030204" pitchFamily="18" charset="0"/>
                      </a:rPr>
                      <m:t>=</m:t>
                    </m:r>
                    <m:sSub>
                      <m:sSubPr>
                        <m:ctrlPr>
                          <a:rPr lang="es-AR" sz="2000" b="0" i="1" smtClean="0">
                            <a:latin typeface="Cambria Math" panose="02040503050406030204" pitchFamily="18" charset="0"/>
                          </a:rPr>
                        </m:ctrlPr>
                      </m:sSubPr>
                      <m:e>
                        <m:r>
                          <a:rPr lang="es-AR" sz="2000" b="0" i="1" smtClean="0">
                            <a:latin typeface="Cambria Math" panose="02040503050406030204" pitchFamily="18" charset="0"/>
                          </a:rPr>
                          <m:t>𝑤</m:t>
                        </m:r>
                      </m:e>
                      <m:sub>
                        <m:r>
                          <a:rPr lang="es-AR" sz="2000" b="0" i="1" smtClean="0">
                            <a:latin typeface="Cambria Math" panose="02040503050406030204" pitchFamily="18" charset="0"/>
                          </a:rPr>
                          <m:t>𝑑</m:t>
                        </m:r>
                      </m:sub>
                    </m:sSub>
                    <m:sSub>
                      <m:sSubPr>
                        <m:ctrlPr>
                          <a:rPr lang="es-AR" sz="2000" b="0" i="1" smtClean="0">
                            <a:latin typeface="Cambria Math" panose="02040503050406030204" pitchFamily="18" charset="0"/>
                          </a:rPr>
                        </m:ctrlPr>
                      </m:sSubPr>
                      <m:e>
                        <m:r>
                          <a:rPr lang="es-AR" sz="2000" b="0" i="1" smtClean="0">
                            <a:latin typeface="Cambria Math" panose="02040503050406030204" pitchFamily="18" charset="0"/>
                          </a:rPr>
                          <m:t>𝑟</m:t>
                        </m:r>
                      </m:e>
                      <m:sub>
                        <m:r>
                          <a:rPr lang="es-AR" sz="2000" b="0" i="1" smtClean="0">
                            <a:latin typeface="Cambria Math" panose="02040503050406030204" pitchFamily="18" charset="0"/>
                          </a:rPr>
                          <m:t>𝑑</m:t>
                        </m:r>
                      </m:sub>
                    </m:sSub>
                    <m:d>
                      <m:dPr>
                        <m:ctrlPr>
                          <a:rPr lang="es-AR" sz="2000" b="0" i="1" smtClean="0">
                            <a:latin typeface="Cambria Math" panose="02040503050406030204" pitchFamily="18" charset="0"/>
                          </a:rPr>
                        </m:ctrlPr>
                      </m:dPr>
                      <m:e>
                        <m:r>
                          <a:rPr lang="es-AR" sz="2000" b="0" i="1" smtClean="0">
                            <a:latin typeface="Cambria Math" panose="02040503050406030204" pitchFamily="18" charset="0"/>
                          </a:rPr>
                          <m:t>1−</m:t>
                        </m:r>
                        <m:r>
                          <a:rPr lang="es-AR" sz="2000" b="0" i="1" smtClean="0">
                            <a:latin typeface="Cambria Math" panose="02040503050406030204" pitchFamily="18" charset="0"/>
                          </a:rPr>
                          <m:t>𝑇</m:t>
                        </m:r>
                      </m:e>
                    </m:d>
                    <m:r>
                      <a:rPr lang="es-AR" sz="2000" b="0" i="1" smtClean="0">
                        <a:latin typeface="Cambria Math" panose="02040503050406030204" pitchFamily="18" charset="0"/>
                      </a:rPr>
                      <m:t>+</m:t>
                    </m:r>
                    <m:sSub>
                      <m:sSubPr>
                        <m:ctrlPr>
                          <a:rPr lang="es-AR" sz="2000" b="0" i="1" smtClean="0">
                            <a:latin typeface="Cambria Math" panose="02040503050406030204" pitchFamily="18" charset="0"/>
                          </a:rPr>
                        </m:ctrlPr>
                      </m:sSubPr>
                      <m:e>
                        <m:r>
                          <a:rPr lang="es-AR" sz="2000" b="0" i="1" smtClean="0">
                            <a:latin typeface="Cambria Math" panose="02040503050406030204" pitchFamily="18" charset="0"/>
                          </a:rPr>
                          <m:t>𝑤</m:t>
                        </m:r>
                      </m:e>
                      <m:sub>
                        <m:r>
                          <a:rPr lang="es-AR" sz="2000" b="0" i="1" smtClean="0">
                            <a:latin typeface="Cambria Math" panose="02040503050406030204" pitchFamily="18" charset="0"/>
                          </a:rPr>
                          <m:t>𝑝</m:t>
                        </m:r>
                      </m:sub>
                    </m:sSub>
                    <m:sSub>
                      <m:sSubPr>
                        <m:ctrlPr>
                          <a:rPr lang="es-AR" sz="2000" b="0" i="1" smtClean="0">
                            <a:latin typeface="Cambria Math" panose="02040503050406030204" pitchFamily="18" charset="0"/>
                          </a:rPr>
                        </m:ctrlPr>
                      </m:sSubPr>
                      <m:e>
                        <m:r>
                          <a:rPr lang="es-AR" sz="2000" b="0" i="1" smtClean="0">
                            <a:latin typeface="Cambria Math" panose="02040503050406030204" pitchFamily="18" charset="0"/>
                          </a:rPr>
                          <m:t>𝑟</m:t>
                        </m:r>
                      </m:e>
                      <m:sub>
                        <m:r>
                          <a:rPr lang="es-AR" sz="2000" b="0" i="1" smtClean="0">
                            <a:latin typeface="Cambria Math" panose="02040503050406030204" pitchFamily="18" charset="0"/>
                          </a:rPr>
                          <m:t>𝑝</m:t>
                        </m:r>
                      </m:sub>
                    </m:sSub>
                    <m:r>
                      <a:rPr lang="es-AR" sz="2000" b="0" i="1" smtClean="0">
                        <a:latin typeface="Cambria Math" panose="02040503050406030204" pitchFamily="18" charset="0"/>
                      </a:rPr>
                      <m:t>+</m:t>
                    </m:r>
                    <m:sSub>
                      <m:sSubPr>
                        <m:ctrlPr>
                          <a:rPr lang="es-AR" sz="2000" b="0" i="1" smtClean="0">
                            <a:latin typeface="Cambria Math" panose="02040503050406030204" pitchFamily="18" charset="0"/>
                          </a:rPr>
                        </m:ctrlPr>
                      </m:sSubPr>
                      <m:e>
                        <m:r>
                          <a:rPr lang="es-AR" sz="2000" b="0" i="1" smtClean="0">
                            <a:latin typeface="Cambria Math" panose="02040503050406030204" pitchFamily="18" charset="0"/>
                          </a:rPr>
                          <m:t>𝑤</m:t>
                        </m:r>
                      </m:e>
                      <m:sub>
                        <m:r>
                          <a:rPr lang="es-AR" sz="2000" b="0" i="1" smtClean="0">
                            <a:latin typeface="Cambria Math" panose="02040503050406030204" pitchFamily="18" charset="0"/>
                          </a:rPr>
                          <m:t>𝑐</m:t>
                        </m:r>
                      </m:sub>
                    </m:sSub>
                    <m:sSub>
                      <m:sSubPr>
                        <m:ctrlPr>
                          <a:rPr lang="es-AR" sz="2000" b="0" i="1" smtClean="0">
                            <a:latin typeface="Cambria Math" panose="02040503050406030204" pitchFamily="18" charset="0"/>
                          </a:rPr>
                        </m:ctrlPr>
                      </m:sSubPr>
                      <m:e>
                        <m:r>
                          <a:rPr lang="es-AR" sz="2000" b="0" i="1" smtClean="0">
                            <a:latin typeface="Cambria Math" panose="02040503050406030204" pitchFamily="18" charset="0"/>
                          </a:rPr>
                          <m:t>𝑟</m:t>
                        </m:r>
                      </m:e>
                      <m:sub>
                        <m:r>
                          <a:rPr lang="es-AR" sz="2000" b="0" i="1" smtClean="0">
                            <a:latin typeface="Cambria Math" panose="02040503050406030204" pitchFamily="18" charset="0"/>
                          </a:rPr>
                          <m:t>𝑠</m:t>
                        </m:r>
                      </m:sub>
                    </m:sSub>
                  </m:oMath>
                </a14:m>
                <a:r>
                  <a:rPr lang="es-AR" sz="2000" dirty="0"/>
                  <a:t>=0,45*10%*(1-40%) +0,02*10,3%+0,53*13,5%=10,1%</a:t>
                </a:r>
              </a:p>
              <a:p>
                <a:endParaRPr lang="es-AR" sz="2000" dirty="0"/>
              </a:p>
              <a:p>
                <a:pPr marL="0" indent="0">
                  <a:buNone/>
                </a:pPr>
                <a:r>
                  <a:rPr lang="es-AR" sz="2200" dirty="0"/>
                  <a:t>y si todo el capital propio fuera con nuevas emisiones</a:t>
                </a:r>
              </a:p>
              <a:p>
                <a:pPr marL="0" indent="0">
                  <a:buNone/>
                </a:pPr>
                <a:endParaRPr lang="es-AR" sz="2200" dirty="0"/>
              </a:p>
              <a:p>
                <a14:m>
                  <m:oMath xmlns:m="http://schemas.openxmlformats.org/officeDocument/2006/math">
                    <m:r>
                      <a:rPr lang="es-AR" sz="2000" i="1">
                        <a:latin typeface="Cambria Math" panose="02040503050406030204" pitchFamily="18" charset="0"/>
                      </a:rPr>
                      <m:t>𝑊𝐴𝐶𝐶</m:t>
                    </m:r>
                    <m:r>
                      <a:rPr lang="es-AR" sz="2000" i="1">
                        <a:latin typeface="Cambria Math" panose="02040503050406030204" pitchFamily="18" charset="0"/>
                      </a:rPr>
                      <m:t>=</m:t>
                    </m:r>
                    <m:sSub>
                      <m:sSubPr>
                        <m:ctrlPr>
                          <a:rPr lang="es-AR" sz="2000" i="1">
                            <a:latin typeface="Cambria Math" panose="02040503050406030204" pitchFamily="18" charset="0"/>
                          </a:rPr>
                        </m:ctrlPr>
                      </m:sSubPr>
                      <m:e>
                        <m:r>
                          <a:rPr lang="es-AR" sz="2000" i="1">
                            <a:latin typeface="Cambria Math" panose="02040503050406030204" pitchFamily="18" charset="0"/>
                          </a:rPr>
                          <m:t>𝑤</m:t>
                        </m:r>
                      </m:e>
                      <m:sub>
                        <m:r>
                          <a:rPr lang="es-AR" sz="2000" i="1">
                            <a:latin typeface="Cambria Math" panose="02040503050406030204" pitchFamily="18" charset="0"/>
                          </a:rPr>
                          <m:t>𝑑</m:t>
                        </m:r>
                      </m:sub>
                    </m:sSub>
                    <m:sSub>
                      <m:sSubPr>
                        <m:ctrlPr>
                          <a:rPr lang="es-AR" sz="2000" i="1">
                            <a:latin typeface="Cambria Math" panose="02040503050406030204" pitchFamily="18" charset="0"/>
                          </a:rPr>
                        </m:ctrlPr>
                      </m:sSubPr>
                      <m:e>
                        <m:r>
                          <a:rPr lang="es-AR" sz="2000" i="1">
                            <a:latin typeface="Cambria Math" panose="02040503050406030204" pitchFamily="18" charset="0"/>
                          </a:rPr>
                          <m:t>𝑟</m:t>
                        </m:r>
                      </m:e>
                      <m:sub>
                        <m:r>
                          <a:rPr lang="es-AR" sz="2000" i="1">
                            <a:latin typeface="Cambria Math" panose="02040503050406030204" pitchFamily="18" charset="0"/>
                          </a:rPr>
                          <m:t>𝑑</m:t>
                        </m:r>
                      </m:sub>
                    </m:sSub>
                    <m:d>
                      <m:dPr>
                        <m:ctrlPr>
                          <a:rPr lang="es-AR" sz="2000" i="1">
                            <a:latin typeface="Cambria Math" panose="02040503050406030204" pitchFamily="18" charset="0"/>
                          </a:rPr>
                        </m:ctrlPr>
                      </m:dPr>
                      <m:e>
                        <m:r>
                          <a:rPr lang="es-AR" sz="2000" i="1">
                            <a:latin typeface="Cambria Math" panose="02040503050406030204" pitchFamily="18" charset="0"/>
                          </a:rPr>
                          <m:t>1−</m:t>
                        </m:r>
                        <m:r>
                          <a:rPr lang="es-AR" sz="2000" i="1">
                            <a:latin typeface="Cambria Math" panose="02040503050406030204" pitchFamily="18" charset="0"/>
                          </a:rPr>
                          <m:t>𝑇</m:t>
                        </m:r>
                      </m:e>
                    </m:d>
                    <m:r>
                      <a:rPr lang="es-AR" sz="2000" i="1">
                        <a:latin typeface="Cambria Math" panose="02040503050406030204" pitchFamily="18" charset="0"/>
                      </a:rPr>
                      <m:t>+</m:t>
                    </m:r>
                    <m:sSub>
                      <m:sSubPr>
                        <m:ctrlPr>
                          <a:rPr lang="es-AR" sz="2000" i="1">
                            <a:latin typeface="Cambria Math" panose="02040503050406030204" pitchFamily="18" charset="0"/>
                          </a:rPr>
                        </m:ctrlPr>
                      </m:sSubPr>
                      <m:e>
                        <m:r>
                          <a:rPr lang="es-AR" sz="2000" i="1">
                            <a:latin typeface="Cambria Math" panose="02040503050406030204" pitchFamily="18" charset="0"/>
                          </a:rPr>
                          <m:t>𝑤</m:t>
                        </m:r>
                      </m:e>
                      <m:sub>
                        <m:r>
                          <a:rPr lang="es-AR" sz="2000" i="1">
                            <a:latin typeface="Cambria Math" panose="02040503050406030204" pitchFamily="18" charset="0"/>
                          </a:rPr>
                          <m:t>𝑝</m:t>
                        </m:r>
                      </m:sub>
                    </m:sSub>
                    <m:sSub>
                      <m:sSubPr>
                        <m:ctrlPr>
                          <a:rPr lang="es-AR" sz="2000" i="1">
                            <a:latin typeface="Cambria Math" panose="02040503050406030204" pitchFamily="18" charset="0"/>
                          </a:rPr>
                        </m:ctrlPr>
                      </m:sSubPr>
                      <m:e>
                        <m:r>
                          <a:rPr lang="es-AR" sz="2000" i="1">
                            <a:latin typeface="Cambria Math" panose="02040503050406030204" pitchFamily="18" charset="0"/>
                          </a:rPr>
                          <m:t>𝑟</m:t>
                        </m:r>
                      </m:e>
                      <m:sub>
                        <m:r>
                          <a:rPr lang="es-AR" sz="2000" i="1">
                            <a:latin typeface="Cambria Math" panose="02040503050406030204" pitchFamily="18" charset="0"/>
                          </a:rPr>
                          <m:t>𝑝</m:t>
                        </m:r>
                      </m:sub>
                    </m:sSub>
                    <m:r>
                      <a:rPr lang="es-AR" sz="2000" i="1">
                        <a:latin typeface="Cambria Math" panose="02040503050406030204" pitchFamily="18" charset="0"/>
                      </a:rPr>
                      <m:t>+</m:t>
                    </m:r>
                    <m:sSub>
                      <m:sSubPr>
                        <m:ctrlPr>
                          <a:rPr lang="es-AR" sz="2000" i="1">
                            <a:latin typeface="Cambria Math" panose="02040503050406030204" pitchFamily="18" charset="0"/>
                          </a:rPr>
                        </m:ctrlPr>
                      </m:sSubPr>
                      <m:e>
                        <m:r>
                          <a:rPr lang="es-AR" sz="2000" i="1">
                            <a:latin typeface="Cambria Math" panose="02040503050406030204" pitchFamily="18" charset="0"/>
                          </a:rPr>
                          <m:t>𝑤</m:t>
                        </m:r>
                      </m:e>
                      <m:sub>
                        <m:r>
                          <a:rPr lang="es-AR" sz="2000" i="1">
                            <a:latin typeface="Cambria Math" panose="02040503050406030204" pitchFamily="18" charset="0"/>
                          </a:rPr>
                          <m:t>𝑐</m:t>
                        </m:r>
                      </m:sub>
                    </m:sSub>
                    <m:sSub>
                      <m:sSubPr>
                        <m:ctrlPr>
                          <a:rPr lang="es-AR" sz="2000" i="1">
                            <a:latin typeface="Cambria Math" panose="02040503050406030204" pitchFamily="18" charset="0"/>
                          </a:rPr>
                        </m:ctrlPr>
                      </m:sSubPr>
                      <m:e>
                        <m:r>
                          <a:rPr lang="es-AR" sz="2000" i="1">
                            <a:latin typeface="Cambria Math" panose="02040503050406030204" pitchFamily="18" charset="0"/>
                          </a:rPr>
                          <m:t>𝑟</m:t>
                        </m:r>
                      </m:e>
                      <m:sub>
                        <m:r>
                          <a:rPr lang="es-AR" sz="2000" b="0" i="1" smtClean="0">
                            <a:latin typeface="Cambria Math" panose="02040503050406030204" pitchFamily="18" charset="0"/>
                          </a:rPr>
                          <m:t>𝑒</m:t>
                        </m:r>
                      </m:sub>
                    </m:sSub>
                  </m:oMath>
                </a14:m>
                <a:r>
                  <a:rPr lang="es-AR" sz="2000" dirty="0"/>
                  <a:t>=0,45*10%*(1-40%) +0,02*10,3%+0,53*14,1%=10,4%</a:t>
                </a:r>
              </a:p>
              <a:p>
                <a:pPr marL="0" indent="0">
                  <a:buNone/>
                </a:pPr>
                <a:endParaRPr lang="es-AR" sz="2200" dirty="0"/>
              </a:p>
            </p:txBody>
          </p:sp>
        </mc:Choice>
        <mc:Fallback>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blipFill>
                <a:blip r:embed="rId2"/>
                <a:stretch>
                  <a:fillRect l="-812" t="-2661" r="-870"/>
                </a:stretch>
              </a:blipFill>
            </p:spPr>
            <p:txBody>
              <a:bodyPr/>
              <a:lstStyle/>
              <a:p>
                <a:r>
                  <a:rPr lang="es-ES">
                    <a:noFill/>
                  </a:rPr>
                  <a:t> </a:t>
                </a:r>
              </a:p>
            </p:txBody>
          </p:sp>
        </mc:Fallback>
      </mc:AlternateContent>
    </p:spTree>
    <p:extLst>
      <p:ext uri="{BB962C8B-B14F-4D97-AF65-F5344CB8AC3E}">
        <p14:creationId xmlns:p14="http://schemas.microsoft.com/office/powerpoint/2010/main" val="26079449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 Costo 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a:bodyPr>
          <a:lstStyle/>
          <a:p>
            <a:pPr marL="0" indent="0">
              <a:buNone/>
            </a:pPr>
            <a:r>
              <a:rPr lang="es-AR" dirty="0"/>
              <a:t>Factores externos a la empresa que afectan el WACC</a:t>
            </a:r>
          </a:p>
          <a:p>
            <a:r>
              <a:rPr lang="es-AR" dirty="0"/>
              <a:t>Los tres factores más importantes que afectarán el WACC, pero la empresa no puede controlar son</a:t>
            </a:r>
          </a:p>
          <a:p>
            <a:pPr lvl="1"/>
            <a:r>
              <a:rPr lang="es-AR" b="1" dirty="0"/>
              <a:t>Las tasas de interés de la economía. </a:t>
            </a:r>
            <a:r>
              <a:rPr lang="es-AR" dirty="0"/>
              <a:t>Cuando las tasas de interés suban, la compañía tendrá que pagar más por su deuda aumentando el WACC</a:t>
            </a:r>
          </a:p>
          <a:p>
            <a:pPr lvl="1"/>
            <a:r>
              <a:rPr lang="es-AR" b="1" dirty="0"/>
              <a:t>El nivel general de precios de las acciones. </a:t>
            </a:r>
            <a:r>
              <a:rPr lang="es-AR" dirty="0"/>
              <a:t>Si el precio de las acciones baja, y el de las acciones de la empresa también, se deberá pagar más por el costo del capital propio ¿Qué significa una baja general en el nivel de precios de las acciones?</a:t>
            </a:r>
          </a:p>
          <a:p>
            <a:pPr lvl="1"/>
            <a:r>
              <a:rPr lang="es-AR" b="1" dirty="0"/>
              <a:t>Las tasas impositivas</a:t>
            </a:r>
            <a:r>
              <a:rPr lang="es-AR" dirty="0"/>
              <a:t> afectan en </a:t>
            </a:r>
            <a:r>
              <a:rPr lang="es-AR" b="1" dirty="0"/>
              <a:t>forma directa </a:t>
            </a:r>
            <a:r>
              <a:rPr lang="es-AR" dirty="0"/>
              <a:t>el cálculo, pero también lo afectan en </a:t>
            </a:r>
            <a:r>
              <a:rPr lang="es-AR" b="1" dirty="0"/>
              <a:t>forma indirecta</a:t>
            </a:r>
            <a:r>
              <a:rPr lang="es-AR" dirty="0"/>
              <a:t>. Las tasas impositivas sobre intereses, dividendos y ganancias de capital harán a las acciones más o menos atractivas, afectando el costo del capital propio y, por ende, el WACC</a:t>
            </a:r>
          </a:p>
        </p:txBody>
      </p:sp>
    </p:spTree>
    <p:extLst>
      <p:ext uri="{BB962C8B-B14F-4D97-AF65-F5344CB8AC3E}">
        <p14:creationId xmlns:p14="http://schemas.microsoft.com/office/powerpoint/2010/main" val="34684205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 Costo 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lnSpcReduction="10000"/>
          </a:bodyPr>
          <a:lstStyle/>
          <a:p>
            <a:pPr marL="0" indent="0">
              <a:buNone/>
            </a:pPr>
            <a:r>
              <a:rPr lang="es-AR" dirty="0"/>
              <a:t>Factores que la empresa puede controlar y que afectan el WACC</a:t>
            </a:r>
          </a:p>
          <a:p>
            <a:r>
              <a:rPr lang="es-AR" dirty="0"/>
              <a:t>Las tres decisiones más importantes que puede tomar una empresa y afectar su WACC son</a:t>
            </a:r>
          </a:p>
          <a:p>
            <a:pPr lvl="1"/>
            <a:r>
              <a:rPr lang="es-AR" b="1" dirty="0"/>
              <a:t>Cambiar su estructura de capital.</a:t>
            </a:r>
            <a:r>
              <a:rPr lang="es-AR" dirty="0"/>
              <a:t> Mayor deuda reduce el WACC, pero aumentar la razón de endeudamiento a la larga presionará sobre la tasa a pagar y sobre el costo del capital propio (por mayor riesgo en ambos casos) pudiendo aumentar el WACC por encima del previo al cambio de estructura. Veremos más adelante cómo definir la estructura óptima de capital</a:t>
            </a:r>
          </a:p>
          <a:p>
            <a:pPr lvl="1"/>
            <a:r>
              <a:rPr lang="es-AR" b="1" dirty="0"/>
              <a:t>Cambiar su tasa/política de pago de dividendos</a:t>
            </a:r>
            <a:r>
              <a:rPr lang="es-AR" dirty="0"/>
              <a:t>. Determina la necesidad o no de emitir nuevas acciones y condiciona la tasa requerida por los accionistas en la medida que éstos prefieran mayores dividendos o mayores ganancias de capital. No es directo el análisis de este punto</a:t>
            </a:r>
          </a:p>
        </p:txBody>
      </p:sp>
    </p:spTree>
    <p:extLst>
      <p:ext uri="{BB962C8B-B14F-4D97-AF65-F5344CB8AC3E}">
        <p14:creationId xmlns:p14="http://schemas.microsoft.com/office/powerpoint/2010/main" val="20380075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 Costo 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pPr marL="0" indent="0">
              <a:buNone/>
            </a:pPr>
            <a:r>
              <a:rPr lang="es-AR" dirty="0"/>
              <a:t>Factores que la empresa puede controlar y que afectan el WACC</a:t>
            </a:r>
          </a:p>
          <a:p>
            <a:r>
              <a:rPr lang="es-AR" dirty="0"/>
              <a:t>Las tres decisiones más importantes que puede tomar una empresa y afectar su WACC son (cont.)</a:t>
            </a:r>
          </a:p>
          <a:p>
            <a:pPr marL="0" indent="0">
              <a:buNone/>
            </a:pPr>
            <a:endParaRPr lang="es-AR" dirty="0"/>
          </a:p>
          <a:p>
            <a:pPr lvl="1"/>
            <a:r>
              <a:rPr lang="es-AR" b="1" dirty="0"/>
              <a:t>Cambiar sus reglas de decisión de presupuestación de capital </a:t>
            </a:r>
            <a:r>
              <a:rPr lang="es-AR" dirty="0"/>
              <a:t>para aceptar proyectos con más o menos riesgo que los previamente emprendidos. Emprender proyectos más riesgosos debiera afectar el rendimiento requerido del capital propio y de los bonos circulantes, aumentando el WACC</a:t>
            </a:r>
          </a:p>
        </p:txBody>
      </p:sp>
    </p:spTree>
    <p:extLst>
      <p:ext uri="{BB962C8B-B14F-4D97-AF65-F5344CB8AC3E}">
        <p14:creationId xmlns:p14="http://schemas.microsoft.com/office/powerpoint/2010/main" val="37560245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 Costo 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a:xfrm>
            <a:off x="838200" y="1825625"/>
            <a:ext cx="10515600" cy="4561320"/>
          </a:xfrm>
        </p:spPr>
        <p:txBody>
          <a:bodyPr>
            <a:normAutofit fontScale="92500" lnSpcReduction="10000"/>
          </a:bodyPr>
          <a:lstStyle/>
          <a:p>
            <a:pPr marL="0" indent="0">
              <a:buNone/>
            </a:pPr>
            <a:r>
              <a:rPr lang="es-AR" sz="2400" dirty="0"/>
              <a:t>Ajuste del costo del capital al riesgo</a:t>
            </a:r>
          </a:p>
          <a:p>
            <a:r>
              <a:rPr lang="es-AR" sz="2400" dirty="0"/>
              <a:t>El costo de capital es la tasa obstáculo que deben saltar los proyectos para ser aprobados</a:t>
            </a:r>
          </a:p>
          <a:p>
            <a:r>
              <a:rPr lang="es-AR" sz="2400" dirty="0"/>
              <a:t>A proyectos más riesgosos se les exigirá rendimientos más elevados</a:t>
            </a:r>
          </a:p>
          <a:p>
            <a:r>
              <a:rPr lang="es-AR" sz="2400" dirty="0"/>
              <a:t>Cuando analizamos una empresa pensamos en principio en su WACC general o compuesto, pero éste aplicaría sólo a proyectos con riesgo equivalente al promedio de la empresa. Esa misma empresa podrá incursionar en proyectos más o menos riesgosos y su costo de capital debe adaptarse al riesgo del nuevo proyecto</a:t>
            </a:r>
          </a:p>
          <a:p>
            <a:r>
              <a:rPr lang="es-AR" sz="2400" dirty="0"/>
              <a:t>Si una empresa se compone de dos divisiones igualmente grandes con 7% y 13% de WACC respectivamente, el WACC compuesto será del 10%. Evaluar los proyectos de una y otra división con esta “tasa obstáculo” y no con la propia de la división, nos llevaría a rechazar proyectos convenientes desde una óptica de riesgo/retorno esperado, y a aprobar algunos no rentables para su nivel de riesgo. Esto llevaría a que la empresa se volviera más riesgosa, aumentara consecuentemente su WACC perjudicando así el patrimonio de sus accionistas </a:t>
            </a:r>
          </a:p>
        </p:txBody>
      </p:sp>
    </p:spTree>
    <p:extLst>
      <p:ext uri="{BB962C8B-B14F-4D97-AF65-F5344CB8AC3E}">
        <p14:creationId xmlns:p14="http://schemas.microsoft.com/office/powerpoint/2010/main" val="41754193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 Costo 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a:bodyPr>
          <a:lstStyle/>
          <a:p>
            <a:r>
              <a:rPr lang="es-AR" sz="2400" dirty="0"/>
              <a:t>Otros problemas de estimaciones del costo del capital</a:t>
            </a:r>
          </a:p>
          <a:p>
            <a:r>
              <a:rPr lang="es-AR" sz="2400" dirty="0"/>
              <a:t>Si bien son elementos de estudio de un curso más avanzado de finanzas,  mencionaremos cinco aspectos que deben ser tenidos en cuenta para mejorar las estimaciones del costo del capital, sin que por ello invaliden lo que hemos visto hasta ahora</a:t>
            </a:r>
          </a:p>
          <a:p>
            <a:pPr marL="514350" indent="-514350">
              <a:buFont typeface="+mj-lt"/>
              <a:buAutoNum type="arabicPeriod"/>
            </a:pPr>
            <a:r>
              <a:rPr lang="es-AR" sz="2400" dirty="0"/>
              <a:t>Fondos generados por la depreciación. A pesar de ser una gran fuente de capital para muchas empresas, no hemos visto cómo se determina el costo de este capital. Como estos fondos pueden reinvertirse o devolver a los inversionistas tienen un costo de oportunidad, y es muy cercano al WACC de las ganancias retenidas, acciones preferentes y deuda. Por lo tanto, lo podemos ignorar en nuestra estimación del WACC</a:t>
            </a:r>
          </a:p>
          <a:p>
            <a:pPr marL="514350" indent="-514350">
              <a:buFont typeface="+mj-lt"/>
              <a:buAutoNum type="arabicPeriod"/>
            </a:pPr>
            <a:r>
              <a:rPr lang="es-AR" sz="2400" dirty="0"/>
              <a:t>Empresas de propiedad privada. Los principios para estimar el costo del capital son los mismos que para las empresas públicas, pero es muy difícil el acceso a sus datos</a:t>
            </a:r>
          </a:p>
          <a:p>
            <a:pPr marL="514350" indent="-514350">
              <a:buFont typeface="+mj-lt"/>
              <a:buAutoNum type="arabicPeriod"/>
            </a:pPr>
            <a:endParaRPr lang="es-AR" sz="2400" dirty="0"/>
          </a:p>
        </p:txBody>
      </p:sp>
    </p:spTree>
    <p:extLst>
      <p:ext uri="{BB962C8B-B14F-4D97-AF65-F5344CB8AC3E}">
        <p14:creationId xmlns:p14="http://schemas.microsoft.com/office/powerpoint/2010/main" val="21455876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 Costo 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r>
              <a:rPr lang="es-AR" sz="2400" dirty="0"/>
              <a:t>Otros problemas de estimaciones del costo del capital</a:t>
            </a:r>
          </a:p>
          <a:p>
            <a:pPr marL="514350" indent="-514350">
              <a:buFont typeface="+mj-lt"/>
              <a:buAutoNum type="arabicPeriod" startAt="3"/>
            </a:pPr>
            <a:r>
              <a:rPr lang="es-AR" sz="2400" dirty="0"/>
              <a:t>Problemas de Medición. Debemos enfatizar que, si bien hasta aquí hemos supuesto que estaban disponibles, obtener los datos para calcular valores intrínsecos, precios, dividendos y tasas de crecimiento es muy difícil y por tanto nunca podremos estar seguros de nuestro costo estimado de capital</a:t>
            </a:r>
          </a:p>
          <a:p>
            <a:pPr marL="514350" indent="-514350">
              <a:buFont typeface="+mj-lt"/>
              <a:buAutoNum type="arabicPeriod" startAt="3"/>
            </a:pPr>
            <a:r>
              <a:rPr lang="es-AR" sz="2400" dirty="0"/>
              <a:t>Costos de capital para proyectos de riesgo diferentes. Si bien el principio es comprensible, medir el riesgo de cada proyecto no es tan sencillo ni objetivo</a:t>
            </a:r>
          </a:p>
          <a:p>
            <a:pPr marL="514350" indent="-514350">
              <a:buFont typeface="+mj-lt"/>
              <a:buAutoNum type="arabicPeriod" startAt="3"/>
            </a:pPr>
            <a:r>
              <a:rPr lang="es-AR" sz="2400" dirty="0"/>
              <a:t>Ponderaciones de la estructura de capital. Le hemos dado por sentada, pero como veremos más adelante, establecer la estructura óptima es una tarea por demás importante</a:t>
            </a:r>
          </a:p>
          <a:p>
            <a:pPr marL="514350" indent="-514350">
              <a:buFont typeface="+mj-lt"/>
              <a:buAutoNum type="arabicPeriod" startAt="3"/>
            </a:pPr>
            <a:endParaRPr lang="es-AR" sz="2400" dirty="0"/>
          </a:p>
        </p:txBody>
      </p:sp>
    </p:spTree>
    <p:extLst>
      <p:ext uri="{BB962C8B-B14F-4D97-AF65-F5344CB8AC3E}">
        <p14:creationId xmlns:p14="http://schemas.microsoft.com/office/powerpoint/2010/main" val="88321402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20668E3FE9A3174EAF1AA80B147CEE15" ma:contentTypeVersion="4" ma:contentTypeDescription="Crear nuevo documento." ma:contentTypeScope="" ma:versionID="d29dfd9a9a7666034e5ad4f5ee96d9e6">
  <xsd:schema xmlns:xsd="http://www.w3.org/2001/XMLSchema" xmlns:xs="http://www.w3.org/2001/XMLSchema" xmlns:p="http://schemas.microsoft.com/office/2006/metadata/properties" xmlns:ns2="e0a2096b-51a3-4c59-a6bd-c7f798262ca8" targetNamespace="http://schemas.microsoft.com/office/2006/metadata/properties" ma:root="true" ma:fieldsID="bfc5d357d775e068c7ede3c89a10d3d3" ns2:_="">
    <xsd:import namespace="e0a2096b-51a3-4c59-a6bd-c7f798262ca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a2096b-51a3-4c59-a6bd-c7f798262c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E893EC5-9A16-46BC-A476-F1D1DC0C3D43}"/>
</file>

<file path=customXml/itemProps2.xml><?xml version="1.0" encoding="utf-8"?>
<ds:datastoreItem xmlns:ds="http://schemas.openxmlformats.org/officeDocument/2006/customXml" ds:itemID="{F2C2F42A-E3D9-4811-AB69-FC5AC732E70C}"/>
</file>

<file path=customXml/itemProps3.xml><?xml version="1.0" encoding="utf-8"?>
<ds:datastoreItem xmlns:ds="http://schemas.openxmlformats.org/officeDocument/2006/customXml" ds:itemID="{F77528B9-72A3-45B6-94A0-5BDBE59F7922}"/>
</file>

<file path=docProps/app.xml><?xml version="1.0" encoding="utf-8"?>
<Properties xmlns="http://schemas.openxmlformats.org/officeDocument/2006/extended-properties" xmlns:vt="http://schemas.openxmlformats.org/officeDocument/2006/docPropsVTypes">
  <TotalTime>11355</TotalTime>
  <Words>3901</Words>
  <Application>Microsoft Office PowerPoint</Application>
  <PresentationFormat>Panorámica</PresentationFormat>
  <Paragraphs>236</Paragraphs>
  <Slides>34</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34</vt:i4>
      </vt:variant>
    </vt:vector>
  </HeadingPairs>
  <TitlesOfParts>
    <vt:vector size="40" baseType="lpstr">
      <vt:lpstr>Arial</vt:lpstr>
      <vt:lpstr>Calibri</vt:lpstr>
      <vt:lpstr>Calibri Light</vt:lpstr>
      <vt:lpstr>Cambria Math</vt:lpstr>
      <vt:lpstr>Times New Roman</vt:lpstr>
      <vt:lpstr>Tema de Office</vt:lpstr>
      <vt:lpstr>MAESTRIA EN GESTION ECONOMICA Y FINANCIERA DE RIESGOS</vt:lpstr>
      <vt:lpstr>El Costo del Capital</vt:lpstr>
      <vt:lpstr>El Costo del Capital</vt:lpstr>
      <vt:lpstr>El Costo del Capital</vt:lpstr>
      <vt:lpstr>El Costo del Capital</vt:lpstr>
      <vt:lpstr>El Costo del Capital</vt:lpstr>
      <vt:lpstr>El Costo del Capital</vt:lpstr>
      <vt:lpstr>El Costo del Capital</vt:lpstr>
      <vt:lpstr>El Costo del Capital</vt:lpstr>
      <vt:lpstr>El Costo del Capital</vt:lpstr>
      <vt:lpstr>El Costo del Capital</vt:lpstr>
      <vt:lpstr>El Costo del Capital</vt:lpstr>
      <vt:lpstr>El Costo del Capital</vt:lpstr>
      <vt:lpstr>El Costo del Capital</vt:lpstr>
      <vt:lpstr>El Costo del Capital</vt:lpstr>
      <vt:lpstr>El Costo del Capital</vt:lpstr>
      <vt:lpstr>El Costo del Capital</vt:lpstr>
      <vt:lpstr>El Costo del Capital</vt:lpstr>
      <vt:lpstr>El Costo del Capital</vt:lpstr>
      <vt:lpstr>El Costo del Capital</vt:lpstr>
      <vt:lpstr>El Costo del Capital</vt:lpstr>
      <vt:lpstr>El Costo del Capital</vt:lpstr>
      <vt:lpstr>El Costo del Capital</vt:lpstr>
      <vt:lpstr>El Costo del Capital</vt:lpstr>
      <vt:lpstr>El Costo del Capital</vt:lpstr>
      <vt:lpstr>El Costo del Capital</vt:lpstr>
      <vt:lpstr>El Costo del Capital</vt:lpstr>
      <vt:lpstr>El Costo del Capital</vt:lpstr>
      <vt:lpstr>El Costo del Capital</vt:lpstr>
      <vt:lpstr>El Costo del Capital</vt:lpstr>
      <vt:lpstr>El Costo del Capital</vt:lpstr>
      <vt:lpstr>El Costo del Capital</vt:lpstr>
      <vt:lpstr>El Costo del Capital</vt:lpstr>
      <vt:lpstr>El Costo del Capital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MAESTRIA EN GESTION ECONOMICA Y FINANCIERA DE RIESGOS</dc:title>
  <dc:creator>GRINBLAT GUSTAVO GABRIEL</dc:creator>
  <cp:lastModifiedBy>GRINBLAT GUSTAVO GABRIEL</cp:lastModifiedBy>
  <cp:revision>96</cp:revision>
  <dcterms:created xsi:type="dcterms:W3CDTF">2023-02-14T14:19:39Z</dcterms:created>
  <dcterms:modified xsi:type="dcterms:W3CDTF">2024-04-25T21:55:24Z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0x01010020668E3FE9A3174EAF1AA80B147CEE15</vt:lpwstr>
  </property>
</Properties>
</file>