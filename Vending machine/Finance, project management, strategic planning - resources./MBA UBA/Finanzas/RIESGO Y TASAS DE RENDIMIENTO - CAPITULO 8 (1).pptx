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drawings/drawing1.xml" ContentType="application/vnd.openxmlformats-officedocument.drawingml.chartshapes+xml"/>
  <Override PartName="/ppt/drawings/drawing2.xml" ContentType="application/vnd.openxmlformats-officedocument.drawingml.chartshapes+xml"/>
  <Override PartName="/ppt/drawings/drawing3.xml" ContentType="application/vnd.openxmlformats-officedocument.drawingml.chartshapes+xml"/>
  <Override PartName="/ppt/drawings/drawing4.xml" ContentType="application/vnd.openxmlformats-officedocument.drawingml.chartshapes+xml"/>
  <Override PartName="/ppt/slideMasters/slideMaster1.xml" ContentType="application/vnd.openxmlformats-officedocument.presentationml.slideMaster+xml"/>
  <Override PartName="/ppt/slideLayouts/slideLayout11.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Override2.xml" ContentType="application/vnd.openxmlformats-officedocument.themeOverr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3.xml" ContentType="application/vnd.openxmlformats-officedocument.themeOverr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heme/themeOverride4.xml" ContentType="application/vnd.openxmlformats-officedocument.themeOverr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theme/themeOverride5.xml" ContentType="application/vnd.openxmlformats-officedocument.themeOverride+xml"/>
  <Override PartName="/ppt/charts/chart6.xml" ContentType="application/vnd.openxmlformats-officedocument.drawingml.chart+xml"/>
  <Override PartName="/ppt/theme/themeOverride7.xml" ContentType="application/vnd.openxmlformats-officedocument.themeOverr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theme/themeOverride8.xml" ContentType="application/vnd.openxmlformats-officedocument.themeOverride+xml"/>
  <Override PartName="/ppt/theme/themeOverride6.xml" ContentType="application/vnd.openxmlformats-officedocument.themeOverride+xml"/>
  <Override PartName="/ppt/charts/style6.xml" ContentType="application/vnd.ms-office.chartstyle+xml"/>
  <Override PartName="/ppt/charts/colors6.xml" ContentType="application/vnd.ms-office.chartcolorstyle+xml"/>
  <Override PartName="/ppt/charts/style7.xml" ContentType="application/vnd.ms-office.chartstyle+xml"/>
  <Override PartName="/ppt/theme/theme1.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charts/chart2.xml" ContentType="application/vnd.openxmlformats-officedocument.drawingml.chart+xml"/>
  <Override PartName="/ppt/charts/chart7.xml" ContentType="application/vnd.openxmlformats-officedocument.drawingml.chart+xml"/>
  <Override PartName="/ppt/charts/style2.xml" ContentType="application/vnd.ms-office.chartstyle+xml"/>
  <Override PartName="/ppt/charts/colors2.xml" ContentType="application/vnd.ms-office.chartcolorstyle+xml"/>
  <Override PartName="/ppt/charts/colors7.xml" ContentType="application/vnd.ms-office.chartcolorstyl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308" r:id="rId5"/>
    <p:sldId id="260" r:id="rId6"/>
    <p:sldId id="261" r:id="rId7"/>
    <p:sldId id="263" r:id="rId8"/>
    <p:sldId id="267" r:id="rId9"/>
    <p:sldId id="264" r:id="rId10"/>
    <p:sldId id="309" r:id="rId11"/>
    <p:sldId id="265" r:id="rId12"/>
    <p:sldId id="310" r:id="rId13"/>
    <p:sldId id="266" r:id="rId14"/>
    <p:sldId id="268" r:id="rId15"/>
    <p:sldId id="311" r:id="rId16"/>
    <p:sldId id="269" r:id="rId17"/>
    <p:sldId id="312" r:id="rId18"/>
    <p:sldId id="272" r:id="rId19"/>
    <p:sldId id="270" r:id="rId20"/>
    <p:sldId id="273" r:id="rId21"/>
    <p:sldId id="271" r:id="rId22"/>
    <p:sldId id="274" r:id="rId23"/>
    <p:sldId id="275" r:id="rId24"/>
    <p:sldId id="276" r:id="rId25"/>
    <p:sldId id="277" r:id="rId26"/>
    <p:sldId id="278" r:id="rId27"/>
    <p:sldId id="279" r:id="rId28"/>
    <p:sldId id="280" r:id="rId29"/>
    <p:sldId id="287" r:id="rId30"/>
    <p:sldId id="313" r:id="rId31"/>
    <p:sldId id="281" r:id="rId32"/>
    <p:sldId id="314" r:id="rId33"/>
    <p:sldId id="282" r:id="rId34"/>
    <p:sldId id="315" r:id="rId35"/>
    <p:sldId id="283" r:id="rId36"/>
    <p:sldId id="284" r:id="rId37"/>
    <p:sldId id="288" r:id="rId38"/>
    <p:sldId id="316" r:id="rId39"/>
    <p:sldId id="285" r:id="rId40"/>
    <p:sldId id="286" r:id="rId41"/>
    <p:sldId id="289" r:id="rId42"/>
    <p:sldId id="302" r:id="rId43"/>
    <p:sldId id="290" r:id="rId44"/>
    <p:sldId id="317" r:id="rId45"/>
    <p:sldId id="291" r:id="rId46"/>
    <p:sldId id="318" r:id="rId47"/>
    <p:sldId id="303" r:id="rId48"/>
    <p:sldId id="319" r:id="rId49"/>
    <p:sldId id="292" r:id="rId50"/>
    <p:sldId id="293" r:id="rId51"/>
    <p:sldId id="304" r:id="rId52"/>
    <p:sldId id="294" r:id="rId53"/>
    <p:sldId id="295" r:id="rId54"/>
    <p:sldId id="296" r:id="rId55"/>
    <p:sldId id="297" r:id="rId56"/>
    <p:sldId id="298" r:id="rId57"/>
    <p:sldId id="299" r:id="rId58"/>
    <p:sldId id="300" r:id="rId59"/>
    <p:sldId id="305" r:id="rId60"/>
    <p:sldId id="301" r:id="rId61"/>
    <p:sldId id="306" r:id="rId62"/>
    <p:sldId id="307" r:id="rId63"/>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9" d="100"/>
          <a:sy n="69" d="100"/>
        </p:scale>
        <p:origin x="780" y="60"/>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customXml" Target="../customXml/item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69" Type="http://schemas.openxmlformats.org/officeDocument/2006/relationships/customXml" Target="../customXml/item2.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5" Type="http://schemas.openxmlformats.org/officeDocument/2006/relationships/chartUserShapes" Target="../drawings/drawing1.xml"/><Relationship Id="rId4" Type="http://schemas.openxmlformats.org/officeDocument/2006/relationships/oleObject" Target="file:///C:\Users\Gustavo\Desktop\FINANZAS%20CORPORATIVAS\CLASES\Riesgo%20y%20tasas%20de%20rendimiento.xlsx" TargetMode="External"/></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oleObject" Target="file:///C:\Users\Gustavo\Desktop\FINANZAS%20CORPORATIVAS\CLASES\Riesgo%20y%20tasas%20de%20rendimiento.xlsx" TargetMode="External"/></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3.xml"/><Relationship Id="rId1" Type="http://schemas.microsoft.com/office/2011/relationships/chartStyle" Target="style3.xml"/><Relationship Id="rId5" Type="http://schemas.openxmlformats.org/officeDocument/2006/relationships/chartUserShapes" Target="../drawings/drawing2.xml"/><Relationship Id="rId4" Type="http://schemas.openxmlformats.org/officeDocument/2006/relationships/oleObject" Target="file:///C:\Users\Gustavo\Desktop\FINANZAS%20CORPORATIVAS\CLASES\Riesgo%20y%20tasas%20de%20rendimiento.xlsx" TargetMode="External"/></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4.xml"/><Relationship Id="rId1" Type="http://schemas.microsoft.com/office/2011/relationships/chartStyle" Target="style4.xml"/><Relationship Id="rId5" Type="http://schemas.openxmlformats.org/officeDocument/2006/relationships/chartUserShapes" Target="../drawings/drawing3.xml"/><Relationship Id="rId4" Type="http://schemas.openxmlformats.org/officeDocument/2006/relationships/oleObject" Target="file:///C:\Users\Gustavo\Desktop\FINANZAS%20CORPORATIVAS\CLASES\Riesgo%20y%20tasas%20de%20rendimiento.xlsx" TargetMode="External"/></Relationships>
</file>

<file path=ppt/charts/_rels/chart5.xml.rels><?xml version="1.0" encoding="UTF-8" standalone="yes"?>
<Relationships xmlns="http://schemas.openxmlformats.org/package/2006/relationships"><Relationship Id="rId3" Type="http://schemas.openxmlformats.org/officeDocument/2006/relationships/themeOverride" Target="../theme/themeOverride5.xm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oleObject" Target="file:///C:\Users\Gustavo\Desktop\FINANZAS%20CORPORATIVAS\CLASES\Riesgo%20y%20tasas%20de%20rendimiento.xlsx" TargetMode="External"/></Relationships>
</file>

<file path=ppt/charts/_rels/chart6.xml.rels><?xml version="1.0" encoding="UTF-8" standalone="yes"?>
<Relationships xmlns="http://schemas.openxmlformats.org/package/2006/relationships"><Relationship Id="rId3" Type="http://schemas.openxmlformats.org/officeDocument/2006/relationships/themeOverride" Target="../theme/themeOverride6.xml"/><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oleObject" Target="file:///C:\Users\Gustavo\Desktop\FINANZAS%20CORPORATIVAS\CLASES\Riesgo%20y%20tasas%20de%20rendimiento.xlsx" TargetMode="External"/></Relationships>
</file>

<file path=ppt/charts/_rels/chart7.xml.rels><?xml version="1.0" encoding="UTF-8" standalone="yes"?>
<Relationships xmlns="http://schemas.openxmlformats.org/package/2006/relationships"><Relationship Id="rId3" Type="http://schemas.openxmlformats.org/officeDocument/2006/relationships/themeOverride" Target="../theme/themeOverride7.xml"/><Relationship Id="rId2" Type="http://schemas.microsoft.com/office/2011/relationships/chartColorStyle" Target="colors7.xml"/><Relationship Id="rId1" Type="http://schemas.microsoft.com/office/2011/relationships/chartStyle" Target="style7.xml"/><Relationship Id="rId4" Type="http://schemas.openxmlformats.org/officeDocument/2006/relationships/oleObject" Target="file:///C:\Users\usuario\Desktop\FINANZAS%20CORPORATIVAS\CLASES\Riesgo%20y%20tasas%20de%20rendimiento.xlsx" TargetMode="External"/></Relationships>
</file>

<file path=ppt/charts/_rels/chart8.xml.rels><?xml version="1.0" encoding="UTF-8" standalone="yes"?>
<Relationships xmlns="http://schemas.openxmlformats.org/package/2006/relationships"><Relationship Id="rId3" Type="http://schemas.openxmlformats.org/officeDocument/2006/relationships/themeOverride" Target="../theme/themeOverride8.xml"/><Relationship Id="rId2" Type="http://schemas.microsoft.com/office/2011/relationships/chartColorStyle" Target="colors8.xml"/><Relationship Id="rId1" Type="http://schemas.microsoft.com/office/2011/relationships/chartStyle" Target="style8.xml"/><Relationship Id="rId5" Type="http://schemas.openxmlformats.org/officeDocument/2006/relationships/chartUserShapes" Target="../drawings/drawing4.xml"/><Relationship Id="rId4" Type="http://schemas.openxmlformats.org/officeDocument/2006/relationships/oleObject" Target="file:///C:\Users\usuario\Desktop\FINANZAS%20CORPORATIVAS\CLASES\Riesgo%20y%20tasas%20de%20rendimiento.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
          <c:y val="4.6698279931368235E-2"/>
          <c:w val="0.97342995169082125"/>
          <c:h val="0.93578986509436868"/>
        </c:manualLayout>
      </c:layout>
      <c:lineChart>
        <c:grouping val="standard"/>
        <c:varyColors val="0"/>
        <c:ser>
          <c:idx val="0"/>
          <c:order val="0"/>
          <c:tx>
            <c:v>Medio</c:v>
          </c:tx>
          <c:spPr>
            <a:ln w="28575" cap="rnd">
              <a:solidFill>
                <a:schemeClr val="accent1"/>
              </a:solidFill>
              <a:round/>
            </a:ln>
            <a:effectLst/>
          </c:spPr>
          <c:marker>
            <c:symbol val="none"/>
          </c:marker>
          <c:cat>
            <c:numRef>
              <c:f>Hoja1!$C$3:$C$4</c:f>
              <c:numCache>
                <c:formatCode>General</c:formatCode>
                <c:ptCount val="2"/>
                <c:pt idx="0">
                  <c:v>0</c:v>
                </c:pt>
                <c:pt idx="1">
                  <c:v>20</c:v>
                </c:pt>
              </c:numCache>
            </c:numRef>
          </c:cat>
          <c:val>
            <c:numRef>
              <c:f>Hoja1!$D$3:$D$4</c:f>
              <c:numCache>
                <c:formatCode>General</c:formatCode>
                <c:ptCount val="2"/>
                <c:pt idx="0">
                  <c:v>5</c:v>
                </c:pt>
                <c:pt idx="1">
                  <c:v>10</c:v>
                </c:pt>
              </c:numCache>
            </c:numRef>
          </c:val>
          <c:smooth val="0"/>
          <c:extLst>
            <c:ext xmlns:c16="http://schemas.microsoft.com/office/drawing/2014/chart" uri="{C3380CC4-5D6E-409C-BE32-E72D297353CC}">
              <c16:uniqueId val="{00000000-6657-41ED-B503-768D15A7DDE9}"/>
            </c:ext>
          </c:extLst>
        </c:ser>
        <c:dLbls>
          <c:showLegendKey val="0"/>
          <c:showVal val="0"/>
          <c:showCatName val="0"/>
          <c:showSerName val="0"/>
          <c:showPercent val="0"/>
          <c:showBubbleSize val="0"/>
        </c:dLbls>
        <c:smooth val="0"/>
        <c:axId val="107677248"/>
        <c:axId val="104673088"/>
      </c:lineChart>
      <c:catAx>
        <c:axId val="107677248"/>
        <c:scaling>
          <c:orientation val="minMax"/>
        </c:scaling>
        <c:delete val="1"/>
        <c:axPos val="b"/>
        <c:numFmt formatCode="General" sourceLinked="1"/>
        <c:majorTickMark val="none"/>
        <c:minorTickMark val="none"/>
        <c:tickLblPos val="nextTo"/>
        <c:crossAx val="104673088"/>
        <c:crosses val="autoZero"/>
        <c:auto val="1"/>
        <c:lblAlgn val="ctr"/>
        <c:lblOffset val="100"/>
        <c:noMultiLvlLbl val="0"/>
      </c:catAx>
      <c:valAx>
        <c:axId val="104673088"/>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10767724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s-ES"/>
    </a:p>
  </c:txPr>
  <c:externalData r:id="rId4">
    <c:autoUpdate val="0"/>
  </c:externalData>
  <c:userShapes r:id="rId5"/>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lineChart>
        <c:grouping val="standard"/>
        <c:varyColors val="0"/>
        <c:ser>
          <c:idx val="0"/>
          <c:order val="0"/>
          <c:tx>
            <c:v>Medio</c:v>
          </c:tx>
          <c:spPr>
            <a:ln w="28575" cap="rnd">
              <a:solidFill>
                <a:schemeClr val="accent1"/>
              </a:solidFill>
              <a:round/>
            </a:ln>
            <a:effectLst/>
          </c:spPr>
          <c:marker>
            <c:symbol val="none"/>
          </c:marker>
          <c:cat>
            <c:numRef>
              <c:f>Hoja1!$C$3:$C$4</c:f>
              <c:numCache>
                <c:formatCode>General</c:formatCode>
                <c:ptCount val="2"/>
                <c:pt idx="0">
                  <c:v>0</c:v>
                </c:pt>
                <c:pt idx="1">
                  <c:v>20</c:v>
                </c:pt>
              </c:numCache>
            </c:numRef>
          </c:cat>
          <c:val>
            <c:numRef>
              <c:f>Hoja1!$D$3:$D$4</c:f>
              <c:numCache>
                <c:formatCode>General</c:formatCode>
                <c:ptCount val="2"/>
                <c:pt idx="0">
                  <c:v>5</c:v>
                </c:pt>
                <c:pt idx="1">
                  <c:v>10</c:v>
                </c:pt>
              </c:numCache>
            </c:numRef>
          </c:val>
          <c:smooth val="0"/>
          <c:extLst>
            <c:ext xmlns:c16="http://schemas.microsoft.com/office/drawing/2014/chart" uri="{C3380CC4-5D6E-409C-BE32-E72D297353CC}">
              <c16:uniqueId val="{00000000-C811-4EDD-86F3-2AACEDF782EE}"/>
            </c:ext>
          </c:extLst>
        </c:ser>
        <c:ser>
          <c:idx val="1"/>
          <c:order val="1"/>
          <c:tx>
            <c:v>Averso</c:v>
          </c:tx>
          <c:spPr>
            <a:ln w="28575" cap="rnd">
              <a:solidFill>
                <a:schemeClr val="accent2"/>
              </a:solidFill>
              <a:round/>
            </a:ln>
            <a:effectLst/>
          </c:spPr>
          <c:marker>
            <c:symbol val="none"/>
          </c:marker>
          <c:cat>
            <c:numRef>
              <c:f>Hoja1!$C$3:$C$4</c:f>
              <c:numCache>
                <c:formatCode>General</c:formatCode>
                <c:ptCount val="2"/>
                <c:pt idx="0">
                  <c:v>0</c:v>
                </c:pt>
                <c:pt idx="1">
                  <c:v>20</c:v>
                </c:pt>
              </c:numCache>
            </c:numRef>
          </c:cat>
          <c:val>
            <c:numRef>
              <c:f>Hoja1!$E$3:$E$4</c:f>
              <c:numCache>
                <c:formatCode>General</c:formatCode>
                <c:ptCount val="2"/>
                <c:pt idx="0">
                  <c:v>5</c:v>
                </c:pt>
                <c:pt idx="1">
                  <c:v>15</c:v>
                </c:pt>
              </c:numCache>
            </c:numRef>
          </c:val>
          <c:smooth val="0"/>
          <c:extLst>
            <c:ext xmlns:c16="http://schemas.microsoft.com/office/drawing/2014/chart" uri="{C3380CC4-5D6E-409C-BE32-E72D297353CC}">
              <c16:uniqueId val="{00000001-C811-4EDD-86F3-2AACEDF782EE}"/>
            </c:ext>
          </c:extLst>
        </c:ser>
        <c:ser>
          <c:idx val="2"/>
          <c:order val="2"/>
          <c:tx>
            <c:v>Propenso</c:v>
          </c:tx>
          <c:spPr>
            <a:ln w="28575" cap="rnd">
              <a:solidFill>
                <a:schemeClr val="accent3"/>
              </a:solidFill>
              <a:round/>
            </a:ln>
            <a:effectLst/>
          </c:spPr>
          <c:marker>
            <c:symbol val="none"/>
          </c:marker>
          <c:cat>
            <c:numRef>
              <c:f>Hoja1!$C$3:$C$4</c:f>
              <c:numCache>
                <c:formatCode>General</c:formatCode>
                <c:ptCount val="2"/>
                <c:pt idx="0">
                  <c:v>0</c:v>
                </c:pt>
                <c:pt idx="1">
                  <c:v>20</c:v>
                </c:pt>
              </c:numCache>
            </c:numRef>
          </c:cat>
          <c:val>
            <c:numRef>
              <c:f>Hoja1!$F$3:$F$4</c:f>
              <c:numCache>
                <c:formatCode>General</c:formatCode>
                <c:ptCount val="2"/>
                <c:pt idx="0">
                  <c:v>5</c:v>
                </c:pt>
                <c:pt idx="1">
                  <c:v>8</c:v>
                </c:pt>
              </c:numCache>
            </c:numRef>
          </c:val>
          <c:smooth val="0"/>
          <c:extLst>
            <c:ext xmlns:c16="http://schemas.microsoft.com/office/drawing/2014/chart" uri="{C3380CC4-5D6E-409C-BE32-E72D297353CC}">
              <c16:uniqueId val="{00000002-C811-4EDD-86F3-2AACEDF782EE}"/>
            </c:ext>
          </c:extLst>
        </c:ser>
        <c:dLbls>
          <c:showLegendKey val="0"/>
          <c:showVal val="0"/>
          <c:showCatName val="0"/>
          <c:showSerName val="0"/>
          <c:showPercent val="0"/>
          <c:showBubbleSize val="0"/>
        </c:dLbls>
        <c:smooth val="0"/>
        <c:axId val="107677248"/>
        <c:axId val="104673088"/>
      </c:lineChart>
      <c:catAx>
        <c:axId val="107677248"/>
        <c:scaling>
          <c:orientation val="minMax"/>
        </c:scaling>
        <c:delete val="1"/>
        <c:axPos val="b"/>
        <c:numFmt formatCode="General" sourceLinked="1"/>
        <c:majorTickMark val="none"/>
        <c:minorTickMark val="none"/>
        <c:tickLblPos val="nextTo"/>
        <c:crossAx val="104673088"/>
        <c:crosses val="autoZero"/>
        <c:auto val="1"/>
        <c:lblAlgn val="ctr"/>
        <c:lblOffset val="100"/>
        <c:noMultiLvlLbl val="0"/>
      </c:catAx>
      <c:valAx>
        <c:axId val="104673088"/>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107677248"/>
        <c:crosses val="autoZero"/>
        <c:crossBetween val="between"/>
      </c:valAx>
      <c:spPr>
        <a:noFill/>
        <a:ln>
          <a:noFill/>
        </a:ln>
        <a:effectLst/>
      </c:spPr>
    </c:plotArea>
    <c:legend>
      <c:legendPos val="b"/>
      <c:layout>
        <c:manualLayout>
          <c:xMode val="edge"/>
          <c:yMode val="edge"/>
          <c:x val="0.3300498619087408"/>
          <c:y val="0.81835138247489281"/>
          <c:w val="0.37812439535806985"/>
          <c:h val="0.15736140111102859"/>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s-ES"/>
        </a:p>
      </c:txPr>
    </c:legend>
    <c:plotVisOnly val="1"/>
    <c:dispBlanksAs val="gap"/>
    <c:showDLblsOverMax val="0"/>
  </c:chart>
  <c:spPr>
    <a:noFill/>
    <a:ln>
      <a:noFill/>
    </a:ln>
    <a:effectLst/>
  </c:spPr>
  <c:txPr>
    <a:bodyPr/>
    <a:lstStyle/>
    <a:p>
      <a:pPr>
        <a:defRPr/>
      </a:pPr>
      <a:endParaRPr lang="es-ES"/>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lineChart>
        <c:grouping val="standard"/>
        <c:varyColors val="0"/>
        <c:ser>
          <c:idx val="0"/>
          <c:order val="0"/>
          <c:tx>
            <c:v>Medio</c:v>
          </c:tx>
          <c:spPr>
            <a:ln w="28575" cap="rnd">
              <a:solidFill>
                <a:schemeClr val="accent1"/>
              </a:solidFill>
              <a:round/>
            </a:ln>
            <a:effectLst/>
          </c:spPr>
          <c:marker>
            <c:symbol val="none"/>
          </c:marker>
          <c:cat>
            <c:numRef>
              <c:f>Hoja1!$C$3:$C$4</c:f>
              <c:numCache>
                <c:formatCode>General</c:formatCode>
                <c:ptCount val="2"/>
                <c:pt idx="0">
                  <c:v>0</c:v>
                </c:pt>
                <c:pt idx="1">
                  <c:v>20</c:v>
                </c:pt>
              </c:numCache>
            </c:numRef>
          </c:cat>
          <c:val>
            <c:numRef>
              <c:f>Hoja1!$D$3:$D$4</c:f>
              <c:numCache>
                <c:formatCode>General</c:formatCode>
                <c:ptCount val="2"/>
                <c:pt idx="0">
                  <c:v>5</c:v>
                </c:pt>
                <c:pt idx="1">
                  <c:v>10</c:v>
                </c:pt>
              </c:numCache>
            </c:numRef>
          </c:val>
          <c:smooth val="0"/>
          <c:extLst>
            <c:ext xmlns:c16="http://schemas.microsoft.com/office/drawing/2014/chart" uri="{C3380CC4-5D6E-409C-BE32-E72D297353CC}">
              <c16:uniqueId val="{00000000-6657-41ED-B503-768D15A7DDE9}"/>
            </c:ext>
          </c:extLst>
        </c:ser>
        <c:dLbls>
          <c:showLegendKey val="0"/>
          <c:showVal val="0"/>
          <c:showCatName val="0"/>
          <c:showSerName val="0"/>
          <c:showPercent val="0"/>
          <c:showBubbleSize val="0"/>
        </c:dLbls>
        <c:smooth val="0"/>
        <c:axId val="107677248"/>
        <c:axId val="104673088"/>
      </c:lineChart>
      <c:catAx>
        <c:axId val="107677248"/>
        <c:scaling>
          <c:orientation val="minMax"/>
        </c:scaling>
        <c:delete val="1"/>
        <c:axPos val="b"/>
        <c:numFmt formatCode="General" sourceLinked="1"/>
        <c:majorTickMark val="none"/>
        <c:minorTickMark val="none"/>
        <c:tickLblPos val="nextTo"/>
        <c:crossAx val="104673088"/>
        <c:crosses val="autoZero"/>
        <c:auto val="1"/>
        <c:lblAlgn val="ctr"/>
        <c:lblOffset val="100"/>
        <c:noMultiLvlLbl val="0"/>
      </c:catAx>
      <c:valAx>
        <c:axId val="104673088"/>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10767724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s-ES"/>
    </a:p>
  </c:txPr>
  <c:externalData r:id="rId4">
    <c:autoUpdate val="0"/>
  </c:externalData>
  <c:userShapes r:id="rId5"/>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manualLayout>
          <c:layoutTarget val="inner"/>
          <c:xMode val="edge"/>
          <c:yMode val="edge"/>
          <c:x val="6.4200186548445892E-2"/>
          <c:y val="4.5812444932629551E-2"/>
          <c:w val="0.91889257464812191"/>
          <c:h val="0.9020808589653061"/>
        </c:manualLayout>
      </c:layout>
      <c:lineChart>
        <c:grouping val="standard"/>
        <c:varyColors val="0"/>
        <c:ser>
          <c:idx val="0"/>
          <c:order val="0"/>
          <c:tx>
            <c:v>Rendimiento</c:v>
          </c:tx>
          <c:spPr>
            <a:ln w="19050" cap="rnd">
              <a:solidFill>
                <a:schemeClr val="accent1"/>
              </a:solidFill>
              <a:round/>
            </a:ln>
            <a:effectLst/>
          </c:spPr>
          <c:marker>
            <c:symbol val="none"/>
          </c:marker>
          <c:cat>
            <c:numRef>
              <c:f>CAPM!$D$44:$D$56</c:f>
              <c:numCache>
                <c:formatCode>General</c:formatCode>
                <c:ptCount val="13"/>
                <c:pt idx="0">
                  <c:v>1</c:v>
                </c:pt>
                <c:pt idx="1">
                  <c:v>2</c:v>
                </c:pt>
                <c:pt idx="2">
                  <c:v>3</c:v>
                </c:pt>
                <c:pt idx="3">
                  <c:v>4</c:v>
                </c:pt>
                <c:pt idx="4">
                  <c:v>5</c:v>
                </c:pt>
                <c:pt idx="5">
                  <c:v>6</c:v>
                </c:pt>
                <c:pt idx="6">
                  <c:v>10</c:v>
                </c:pt>
                <c:pt idx="7">
                  <c:v>20</c:v>
                </c:pt>
                <c:pt idx="8">
                  <c:v>30</c:v>
                </c:pt>
                <c:pt idx="9">
                  <c:v>40</c:v>
                </c:pt>
                <c:pt idx="10">
                  <c:v>50</c:v>
                </c:pt>
                <c:pt idx="11">
                  <c:v>55</c:v>
                </c:pt>
                <c:pt idx="12">
                  <c:v>58</c:v>
                </c:pt>
              </c:numCache>
            </c:numRef>
          </c:cat>
          <c:val>
            <c:numRef>
              <c:f>CAPM!$E$44:$E$56</c:f>
              <c:numCache>
                <c:formatCode>0.00%</c:formatCode>
                <c:ptCount val="13"/>
                <c:pt idx="0">
                  <c:v>0.35</c:v>
                </c:pt>
                <c:pt idx="1">
                  <c:v>0.31</c:v>
                </c:pt>
                <c:pt idx="2">
                  <c:v>0.3</c:v>
                </c:pt>
                <c:pt idx="3">
                  <c:v>0.28999999999999998</c:v>
                </c:pt>
                <c:pt idx="4">
                  <c:v>0.28000000000000003</c:v>
                </c:pt>
                <c:pt idx="5">
                  <c:v>0.27200000000000002</c:v>
                </c:pt>
                <c:pt idx="6">
                  <c:v>0.25800000000000001</c:v>
                </c:pt>
                <c:pt idx="7">
                  <c:v>0.245</c:v>
                </c:pt>
                <c:pt idx="8">
                  <c:v>0.23899999999999999</c:v>
                </c:pt>
                <c:pt idx="9">
                  <c:v>0.23399999999999999</c:v>
                </c:pt>
                <c:pt idx="10">
                  <c:v>0.20499999999999999</c:v>
                </c:pt>
                <c:pt idx="11">
                  <c:v>0.20449999999999999</c:v>
                </c:pt>
                <c:pt idx="12">
                  <c:v>0.2044</c:v>
                </c:pt>
              </c:numCache>
            </c:numRef>
          </c:val>
          <c:smooth val="0"/>
          <c:extLst>
            <c:ext xmlns:c16="http://schemas.microsoft.com/office/drawing/2014/chart" uri="{C3380CC4-5D6E-409C-BE32-E72D297353CC}">
              <c16:uniqueId val="{00000000-649E-434C-A6AE-0F40950B53E9}"/>
            </c:ext>
          </c:extLst>
        </c:ser>
        <c:ser>
          <c:idx val="1"/>
          <c:order val="1"/>
          <c:tx>
            <c:v>Mercado</c:v>
          </c:tx>
          <c:spPr>
            <a:ln w="19050" cap="rnd">
              <a:solidFill>
                <a:schemeClr val="accent2"/>
              </a:solidFill>
              <a:round/>
            </a:ln>
            <a:effectLst/>
          </c:spPr>
          <c:marker>
            <c:symbol val="none"/>
          </c:marker>
          <c:cat>
            <c:numRef>
              <c:f>CAPM!$D$44:$D$56</c:f>
              <c:numCache>
                <c:formatCode>General</c:formatCode>
                <c:ptCount val="13"/>
                <c:pt idx="0">
                  <c:v>1</c:v>
                </c:pt>
                <c:pt idx="1">
                  <c:v>2</c:v>
                </c:pt>
                <c:pt idx="2">
                  <c:v>3</c:v>
                </c:pt>
                <c:pt idx="3">
                  <c:v>4</c:v>
                </c:pt>
                <c:pt idx="4">
                  <c:v>5</c:v>
                </c:pt>
                <c:pt idx="5">
                  <c:v>6</c:v>
                </c:pt>
                <c:pt idx="6">
                  <c:v>10</c:v>
                </c:pt>
                <c:pt idx="7">
                  <c:v>20</c:v>
                </c:pt>
                <c:pt idx="8">
                  <c:v>30</c:v>
                </c:pt>
                <c:pt idx="9">
                  <c:v>40</c:v>
                </c:pt>
                <c:pt idx="10">
                  <c:v>50</c:v>
                </c:pt>
                <c:pt idx="11">
                  <c:v>55</c:v>
                </c:pt>
                <c:pt idx="12">
                  <c:v>58</c:v>
                </c:pt>
              </c:numCache>
            </c:numRef>
          </c:cat>
          <c:val>
            <c:numRef>
              <c:f>CAPM!$F$44:$F$56</c:f>
              <c:numCache>
                <c:formatCode>0.00%</c:formatCode>
                <c:ptCount val="13"/>
                <c:pt idx="0">
                  <c:v>0.20399999999999999</c:v>
                </c:pt>
                <c:pt idx="1">
                  <c:v>0.20399999999999999</c:v>
                </c:pt>
                <c:pt idx="2">
                  <c:v>0.20399999999999999</c:v>
                </c:pt>
                <c:pt idx="3">
                  <c:v>0.20399999999999999</c:v>
                </c:pt>
                <c:pt idx="4">
                  <c:v>0.20399999999999999</c:v>
                </c:pt>
                <c:pt idx="5">
                  <c:v>0.20399999999999999</c:v>
                </c:pt>
                <c:pt idx="6">
                  <c:v>0.20399999999999999</c:v>
                </c:pt>
                <c:pt idx="7">
                  <c:v>0.20399999999999999</c:v>
                </c:pt>
                <c:pt idx="8">
                  <c:v>0.20399999999999999</c:v>
                </c:pt>
                <c:pt idx="9">
                  <c:v>0.20399999999999999</c:v>
                </c:pt>
                <c:pt idx="10">
                  <c:v>0.20399999999999999</c:v>
                </c:pt>
                <c:pt idx="11">
                  <c:v>0.20399999999999999</c:v>
                </c:pt>
                <c:pt idx="12">
                  <c:v>0.20399999999999999</c:v>
                </c:pt>
              </c:numCache>
            </c:numRef>
          </c:val>
          <c:smooth val="0"/>
          <c:extLst>
            <c:ext xmlns:c16="http://schemas.microsoft.com/office/drawing/2014/chart" uri="{C3380CC4-5D6E-409C-BE32-E72D297353CC}">
              <c16:uniqueId val="{00000001-649E-434C-A6AE-0F40950B53E9}"/>
            </c:ext>
          </c:extLst>
        </c:ser>
        <c:dLbls>
          <c:showLegendKey val="0"/>
          <c:showVal val="0"/>
          <c:showCatName val="0"/>
          <c:showSerName val="0"/>
          <c:showPercent val="0"/>
          <c:showBubbleSize val="0"/>
        </c:dLbls>
        <c:smooth val="0"/>
        <c:axId val="1810596848"/>
        <c:axId val="1810584368"/>
      </c:lineChart>
      <c:catAx>
        <c:axId val="181059684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S"/>
          </a:p>
        </c:txPr>
        <c:crossAx val="1810584368"/>
        <c:crosses val="autoZero"/>
        <c:auto val="1"/>
        <c:lblAlgn val="ctr"/>
        <c:lblOffset val="100"/>
        <c:noMultiLvlLbl val="0"/>
      </c:catAx>
      <c:valAx>
        <c:axId val="1810584368"/>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S"/>
          </a:p>
        </c:txPr>
        <c:crossAx val="181059684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s-ES"/>
    </a:p>
  </c:txPr>
  <c:externalData r:id="rId4">
    <c:autoUpdate val="0"/>
  </c:externalData>
  <c:userShapes r:id="rId5"/>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scatterChart>
        <c:scatterStyle val="lineMarker"/>
        <c:varyColors val="0"/>
        <c:ser>
          <c:idx val="0"/>
          <c:order val="0"/>
          <c:tx>
            <c:strRef>
              <c:f>CAPM!$F$61</c:f>
              <c:strCache>
                <c:ptCount val="1"/>
                <c:pt idx="0">
                  <c:v>Alta: b=2,0</c:v>
                </c:pt>
              </c:strCache>
            </c:strRef>
          </c:tx>
          <c:spPr>
            <a:ln w="19050" cap="rnd">
              <a:solidFill>
                <a:schemeClr val="accent1"/>
              </a:solidFill>
              <a:round/>
            </a:ln>
            <a:effectLst/>
          </c:spPr>
          <c:marker>
            <c:symbol val="circle"/>
            <c:size val="5"/>
            <c:spPr>
              <a:solidFill>
                <a:schemeClr val="accent1"/>
              </a:solidFill>
              <a:ln w="9525">
                <a:solidFill>
                  <a:schemeClr val="accent1"/>
                </a:solidFill>
              </a:ln>
              <a:effectLst/>
            </c:spPr>
          </c:marker>
          <c:xVal>
            <c:numRef>
              <c:f>CAPM!$E$62:$E$66</c:f>
              <c:numCache>
                <c:formatCode>0.0%</c:formatCode>
                <c:ptCount val="5"/>
                <c:pt idx="0">
                  <c:v>-0.1</c:v>
                </c:pt>
                <c:pt idx="1">
                  <c:v>0</c:v>
                </c:pt>
                <c:pt idx="2">
                  <c:v>0.05</c:v>
                </c:pt>
                <c:pt idx="3">
                  <c:v>0.1</c:v>
                </c:pt>
                <c:pt idx="4">
                  <c:v>0.2</c:v>
                </c:pt>
              </c:numCache>
            </c:numRef>
          </c:xVal>
          <c:yVal>
            <c:numRef>
              <c:f>CAPM!$F$62:$F$66</c:f>
              <c:numCache>
                <c:formatCode>0.0%</c:formatCode>
                <c:ptCount val="5"/>
                <c:pt idx="0">
                  <c:v>-0.3</c:v>
                </c:pt>
                <c:pt idx="1">
                  <c:v>-0.1</c:v>
                </c:pt>
                <c:pt idx="2">
                  <c:v>0</c:v>
                </c:pt>
                <c:pt idx="3">
                  <c:v>0.1</c:v>
                </c:pt>
                <c:pt idx="4">
                  <c:v>0.3</c:v>
                </c:pt>
              </c:numCache>
            </c:numRef>
          </c:yVal>
          <c:smooth val="0"/>
          <c:extLst>
            <c:ext xmlns:c16="http://schemas.microsoft.com/office/drawing/2014/chart" uri="{C3380CC4-5D6E-409C-BE32-E72D297353CC}">
              <c16:uniqueId val="{00000000-FB18-4762-90B3-44914FA27E8B}"/>
            </c:ext>
          </c:extLst>
        </c:ser>
        <c:ser>
          <c:idx val="1"/>
          <c:order val="1"/>
          <c:tx>
            <c:strRef>
              <c:f>CAPM!$G$61</c:f>
              <c:strCache>
                <c:ptCount val="1"/>
                <c:pt idx="0">
                  <c:v>Prom: b=1,0</c:v>
                </c:pt>
              </c:strCache>
            </c:strRef>
          </c:tx>
          <c:spPr>
            <a:ln w="19050" cap="rnd">
              <a:solidFill>
                <a:schemeClr val="accent2"/>
              </a:solidFill>
              <a:round/>
            </a:ln>
            <a:effectLst/>
          </c:spPr>
          <c:marker>
            <c:symbol val="circle"/>
            <c:size val="5"/>
            <c:spPr>
              <a:solidFill>
                <a:schemeClr val="accent2"/>
              </a:solidFill>
              <a:ln w="9525">
                <a:solidFill>
                  <a:schemeClr val="accent2"/>
                </a:solidFill>
              </a:ln>
              <a:effectLst/>
            </c:spPr>
          </c:marker>
          <c:xVal>
            <c:numRef>
              <c:f>CAPM!$E$62:$E$66</c:f>
              <c:numCache>
                <c:formatCode>0.0%</c:formatCode>
                <c:ptCount val="5"/>
                <c:pt idx="0">
                  <c:v>-0.1</c:v>
                </c:pt>
                <c:pt idx="1">
                  <c:v>0</c:v>
                </c:pt>
                <c:pt idx="2">
                  <c:v>0.05</c:v>
                </c:pt>
                <c:pt idx="3">
                  <c:v>0.1</c:v>
                </c:pt>
                <c:pt idx="4">
                  <c:v>0.2</c:v>
                </c:pt>
              </c:numCache>
            </c:numRef>
          </c:xVal>
          <c:yVal>
            <c:numRef>
              <c:f>CAPM!$G$62:$G$66</c:f>
              <c:numCache>
                <c:formatCode>0.0%</c:formatCode>
                <c:ptCount val="5"/>
                <c:pt idx="0">
                  <c:v>-0.1</c:v>
                </c:pt>
                <c:pt idx="1">
                  <c:v>0</c:v>
                </c:pt>
                <c:pt idx="2">
                  <c:v>0.05</c:v>
                </c:pt>
                <c:pt idx="3">
                  <c:v>0.1</c:v>
                </c:pt>
                <c:pt idx="4">
                  <c:v>0.2</c:v>
                </c:pt>
              </c:numCache>
            </c:numRef>
          </c:yVal>
          <c:smooth val="0"/>
          <c:extLst>
            <c:ext xmlns:c16="http://schemas.microsoft.com/office/drawing/2014/chart" uri="{C3380CC4-5D6E-409C-BE32-E72D297353CC}">
              <c16:uniqueId val="{00000001-FB18-4762-90B3-44914FA27E8B}"/>
            </c:ext>
          </c:extLst>
        </c:ser>
        <c:ser>
          <c:idx val="2"/>
          <c:order val="2"/>
          <c:tx>
            <c:strRef>
              <c:f>CAPM!$H$61</c:f>
              <c:strCache>
                <c:ptCount val="1"/>
                <c:pt idx="0">
                  <c:v>Baja: b=0,5</c:v>
                </c:pt>
              </c:strCache>
            </c:strRef>
          </c:tx>
          <c:spPr>
            <a:ln w="19050" cap="rnd">
              <a:solidFill>
                <a:schemeClr val="accent3"/>
              </a:solidFill>
              <a:round/>
            </a:ln>
            <a:effectLst/>
          </c:spPr>
          <c:marker>
            <c:symbol val="circle"/>
            <c:size val="5"/>
            <c:spPr>
              <a:solidFill>
                <a:schemeClr val="accent3"/>
              </a:solidFill>
              <a:ln w="9525">
                <a:solidFill>
                  <a:schemeClr val="accent3"/>
                </a:solidFill>
              </a:ln>
              <a:effectLst/>
            </c:spPr>
          </c:marker>
          <c:xVal>
            <c:numRef>
              <c:f>CAPM!$E$62:$E$66</c:f>
              <c:numCache>
                <c:formatCode>0.0%</c:formatCode>
                <c:ptCount val="5"/>
                <c:pt idx="0">
                  <c:v>-0.1</c:v>
                </c:pt>
                <c:pt idx="1">
                  <c:v>0</c:v>
                </c:pt>
                <c:pt idx="2">
                  <c:v>0.05</c:v>
                </c:pt>
                <c:pt idx="3">
                  <c:v>0.1</c:v>
                </c:pt>
                <c:pt idx="4">
                  <c:v>0.2</c:v>
                </c:pt>
              </c:numCache>
            </c:numRef>
          </c:xVal>
          <c:yVal>
            <c:numRef>
              <c:f>CAPM!$H$62:$H$66</c:f>
              <c:numCache>
                <c:formatCode>0.0%</c:formatCode>
                <c:ptCount val="5"/>
                <c:pt idx="0">
                  <c:v>0</c:v>
                </c:pt>
                <c:pt idx="1">
                  <c:v>0.05</c:v>
                </c:pt>
                <c:pt idx="2">
                  <c:v>7.4999999999999997E-2</c:v>
                </c:pt>
                <c:pt idx="3">
                  <c:v>0.1</c:v>
                </c:pt>
                <c:pt idx="4">
                  <c:v>0.15</c:v>
                </c:pt>
              </c:numCache>
            </c:numRef>
          </c:yVal>
          <c:smooth val="0"/>
          <c:extLst>
            <c:ext xmlns:c16="http://schemas.microsoft.com/office/drawing/2014/chart" uri="{C3380CC4-5D6E-409C-BE32-E72D297353CC}">
              <c16:uniqueId val="{00000002-FB18-4762-90B3-44914FA27E8B}"/>
            </c:ext>
          </c:extLst>
        </c:ser>
        <c:dLbls>
          <c:showLegendKey val="0"/>
          <c:showVal val="0"/>
          <c:showCatName val="0"/>
          <c:showSerName val="0"/>
          <c:showPercent val="0"/>
          <c:showBubbleSize val="0"/>
        </c:dLbls>
        <c:axId val="673331632"/>
        <c:axId val="673329552"/>
      </c:scatterChart>
      <c:valAx>
        <c:axId val="673331632"/>
        <c:scaling>
          <c:orientation val="minMax"/>
        </c:scaling>
        <c:delete val="0"/>
        <c:axPos val="b"/>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S"/>
          </a:p>
        </c:txPr>
        <c:crossAx val="673329552"/>
        <c:crosses val="autoZero"/>
        <c:crossBetween val="midCat"/>
      </c:valAx>
      <c:valAx>
        <c:axId val="673329552"/>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S"/>
          </a:p>
        </c:txPr>
        <c:crossAx val="673331632"/>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S"/>
        </a:p>
      </c:txPr>
    </c:legend>
    <c:plotVisOnly val="1"/>
    <c:dispBlanksAs val="gap"/>
    <c:showDLblsOverMax val="0"/>
  </c:chart>
  <c:spPr>
    <a:noFill/>
    <a:ln>
      <a:noFill/>
    </a:ln>
    <a:effectLst/>
  </c:spPr>
  <c:txPr>
    <a:bodyPr/>
    <a:lstStyle/>
    <a:p>
      <a:pPr>
        <a:defRPr/>
      </a:pPr>
      <a:endParaRPr lang="es-ES"/>
    </a:p>
  </c:txPr>
  <c:externalData r:id="rId4">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scatterChart>
        <c:scatterStyle val="lineMarker"/>
        <c:varyColors val="0"/>
        <c:ser>
          <c:idx val="0"/>
          <c:order val="0"/>
          <c:tx>
            <c:strRef>
              <c:f>CAPM!$F$61</c:f>
              <c:strCache>
                <c:ptCount val="1"/>
                <c:pt idx="0">
                  <c:v>Alta: b=2,0</c:v>
                </c:pt>
              </c:strCache>
            </c:strRef>
          </c:tx>
          <c:spPr>
            <a:ln w="19050" cap="rnd">
              <a:solidFill>
                <a:schemeClr val="accent1"/>
              </a:solidFill>
              <a:round/>
            </a:ln>
            <a:effectLst/>
          </c:spPr>
          <c:marker>
            <c:symbol val="circle"/>
            <c:size val="5"/>
            <c:spPr>
              <a:solidFill>
                <a:schemeClr val="accent1"/>
              </a:solidFill>
              <a:ln w="9525">
                <a:solidFill>
                  <a:schemeClr val="accent1"/>
                </a:solidFill>
              </a:ln>
              <a:effectLst/>
            </c:spPr>
          </c:marker>
          <c:xVal>
            <c:numRef>
              <c:f>CAPM!$E$62:$E$66</c:f>
              <c:numCache>
                <c:formatCode>0.0%</c:formatCode>
                <c:ptCount val="5"/>
                <c:pt idx="0">
                  <c:v>-0.1</c:v>
                </c:pt>
                <c:pt idx="1">
                  <c:v>0</c:v>
                </c:pt>
                <c:pt idx="2">
                  <c:v>0.05</c:v>
                </c:pt>
                <c:pt idx="3">
                  <c:v>0.1</c:v>
                </c:pt>
                <c:pt idx="4">
                  <c:v>0.2</c:v>
                </c:pt>
              </c:numCache>
            </c:numRef>
          </c:xVal>
          <c:yVal>
            <c:numRef>
              <c:f>CAPM!$F$62:$F$66</c:f>
              <c:numCache>
                <c:formatCode>0.0%</c:formatCode>
                <c:ptCount val="5"/>
                <c:pt idx="0">
                  <c:v>-0.3</c:v>
                </c:pt>
                <c:pt idx="1">
                  <c:v>-0.1</c:v>
                </c:pt>
                <c:pt idx="2">
                  <c:v>0</c:v>
                </c:pt>
                <c:pt idx="3">
                  <c:v>0.1</c:v>
                </c:pt>
                <c:pt idx="4">
                  <c:v>0.3</c:v>
                </c:pt>
              </c:numCache>
            </c:numRef>
          </c:yVal>
          <c:smooth val="0"/>
          <c:extLst>
            <c:ext xmlns:c16="http://schemas.microsoft.com/office/drawing/2014/chart" uri="{C3380CC4-5D6E-409C-BE32-E72D297353CC}">
              <c16:uniqueId val="{00000000-FB18-4762-90B3-44914FA27E8B}"/>
            </c:ext>
          </c:extLst>
        </c:ser>
        <c:ser>
          <c:idx val="1"/>
          <c:order val="1"/>
          <c:tx>
            <c:strRef>
              <c:f>CAPM!$G$61</c:f>
              <c:strCache>
                <c:ptCount val="1"/>
                <c:pt idx="0">
                  <c:v>Prom: b=1,0</c:v>
                </c:pt>
              </c:strCache>
            </c:strRef>
          </c:tx>
          <c:spPr>
            <a:ln w="19050" cap="rnd">
              <a:solidFill>
                <a:schemeClr val="accent2"/>
              </a:solidFill>
              <a:round/>
            </a:ln>
            <a:effectLst/>
          </c:spPr>
          <c:marker>
            <c:symbol val="circle"/>
            <c:size val="5"/>
            <c:spPr>
              <a:solidFill>
                <a:schemeClr val="accent2"/>
              </a:solidFill>
              <a:ln w="9525">
                <a:solidFill>
                  <a:schemeClr val="accent2"/>
                </a:solidFill>
              </a:ln>
              <a:effectLst/>
            </c:spPr>
          </c:marker>
          <c:xVal>
            <c:numRef>
              <c:f>CAPM!$E$62:$E$66</c:f>
              <c:numCache>
                <c:formatCode>0.0%</c:formatCode>
                <c:ptCount val="5"/>
                <c:pt idx="0">
                  <c:v>-0.1</c:v>
                </c:pt>
                <c:pt idx="1">
                  <c:v>0</c:v>
                </c:pt>
                <c:pt idx="2">
                  <c:v>0.05</c:v>
                </c:pt>
                <c:pt idx="3">
                  <c:v>0.1</c:v>
                </c:pt>
                <c:pt idx="4">
                  <c:v>0.2</c:v>
                </c:pt>
              </c:numCache>
            </c:numRef>
          </c:xVal>
          <c:yVal>
            <c:numRef>
              <c:f>CAPM!$G$62:$G$66</c:f>
              <c:numCache>
                <c:formatCode>0.0%</c:formatCode>
                <c:ptCount val="5"/>
                <c:pt idx="0">
                  <c:v>-0.1</c:v>
                </c:pt>
                <c:pt idx="1">
                  <c:v>0</c:v>
                </c:pt>
                <c:pt idx="2">
                  <c:v>0.05</c:v>
                </c:pt>
                <c:pt idx="3">
                  <c:v>0.1</c:v>
                </c:pt>
                <c:pt idx="4">
                  <c:v>0.2</c:v>
                </c:pt>
              </c:numCache>
            </c:numRef>
          </c:yVal>
          <c:smooth val="0"/>
          <c:extLst>
            <c:ext xmlns:c16="http://schemas.microsoft.com/office/drawing/2014/chart" uri="{C3380CC4-5D6E-409C-BE32-E72D297353CC}">
              <c16:uniqueId val="{00000001-FB18-4762-90B3-44914FA27E8B}"/>
            </c:ext>
          </c:extLst>
        </c:ser>
        <c:ser>
          <c:idx val="2"/>
          <c:order val="2"/>
          <c:tx>
            <c:strRef>
              <c:f>CAPM!$H$61</c:f>
              <c:strCache>
                <c:ptCount val="1"/>
                <c:pt idx="0">
                  <c:v>Baja: b=0,5</c:v>
                </c:pt>
              </c:strCache>
            </c:strRef>
          </c:tx>
          <c:spPr>
            <a:ln w="19050" cap="rnd">
              <a:solidFill>
                <a:schemeClr val="accent3"/>
              </a:solidFill>
              <a:round/>
            </a:ln>
            <a:effectLst/>
          </c:spPr>
          <c:marker>
            <c:symbol val="circle"/>
            <c:size val="5"/>
            <c:spPr>
              <a:solidFill>
                <a:schemeClr val="accent3"/>
              </a:solidFill>
              <a:ln w="9525">
                <a:solidFill>
                  <a:schemeClr val="accent3"/>
                </a:solidFill>
              </a:ln>
              <a:effectLst/>
            </c:spPr>
          </c:marker>
          <c:xVal>
            <c:numRef>
              <c:f>CAPM!$E$62:$E$66</c:f>
              <c:numCache>
                <c:formatCode>0.0%</c:formatCode>
                <c:ptCount val="5"/>
                <c:pt idx="0">
                  <c:v>-0.1</c:v>
                </c:pt>
                <c:pt idx="1">
                  <c:v>0</c:v>
                </c:pt>
                <c:pt idx="2">
                  <c:v>0.05</c:v>
                </c:pt>
                <c:pt idx="3">
                  <c:v>0.1</c:v>
                </c:pt>
                <c:pt idx="4">
                  <c:v>0.2</c:v>
                </c:pt>
              </c:numCache>
            </c:numRef>
          </c:xVal>
          <c:yVal>
            <c:numRef>
              <c:f>CAPM!$H$62:$H$66</c:f>
              <c:numCache>
                <c:formatCode>0.0%</c:formatCode>
                <c:ptCount val="5"/>
                <c:pt idx="0">
                  <c:v>0</c:v>
                </c:pt>
                <c:pt idx="1">
                  <c:v>0.05</c:v>
                </c:pt>
                <c:pt idx="2">
                  <c:v>7.4999999999999997E-2</c:v>
                </c:pt>
                <c:pt idx="3">
                  <c:v>0.1</c:v>
                </c:pt>
                <c:pt idx="4">
                  <c:v>0.15</c:v>
                </c:pt>
              </c:numCache>
            </c:numRef>
          </c:yVal>
          <c:smooth val="0"/>
          <c:extLst>
            <c:ext xmlns:c16="http://schemas.microsoft.com/office/drawing/2014/chart" uri="{C3380CC4-5D6E-409C-BE32-E72D297353CC}">
              <c16:uniqueId val="{00000002-FB18-4762-90B3-44914FA27E8B}"/>
            </c:ext>
          </c:extLst>
        </c:ser>
        <c:dLbls>
          <c:showLegendKey val="0"/>
          <c:showVal val="0"/>
          <c:showCatName val="0"/>
          <c:showSerName val="0"/>
          <c:showPercent val="0"/>
          <c:showBubbleSize val="0"/>
        </c:dLbls>
        <c:axId val="673331632"/>
        <c:axId val="673329552"/>
      </c:scatterChart>
      <c:valAx>
        <c:axId val="673331632"/>
        <c:scaling>
          <c:orientation val="minMax"/>
        </c:scaling>
        <c:delete val="0"/>
        <c:axPos val="b"/>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S"/>
          </a:p>
        </c:txPr>
        <c:crossAx val="673329552"/>
        <c:crosses val="autoZero"/>
        <c:crossBetween val="midCat"/>
      </c:valAx>
      <c:valAx>
        <c:axId val="673329552"/>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S"/>
          </a:p>
        </c:txPr>
        <c:crossAx val="673331632"/>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S"/>
        </a:p>
      </c:txPr>
    </c:legend>
    <c:plotVisOnly val="1"/>
    <c:dispBlanksAs val="gap"/>
    <c:showDLblsOverMax val="0"/>
  </c:chart>
  <c:spPr>
    <a:noFill/>
    <a:ln>
      <a:noFill/>
    </a:ln>
    <a:effectLst/>
  </c:spPr>
  <c:txPr>
    <a:bodyPr/>
    <a:lstStyle/>
    <a:p>
      <a:pPr>
        <a:defRPr/>
      </a:pPr>
      <a:endParaRPr lang="es-ES"/>
    </a:p>
  </c:txPr>
  <c:externalData r:id="rId4">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manualLayout>
          <c:layoutTarget val="inner"/>
          <c:xMode val="edge"/>
          <c:yMode val="edge"/>
          <c:x val="8.3124239691790724E-2"/>
          <c:y val="3.4808610882898487E-2"/>
          <c:w val="0.89386892112022809"/>
          <c:h val="0.90080048384882738"/>
        </c:manualLayout>
      </c:layout>
      <c:scatterChart>
        <c:scatterStyle val="lineMarker"/>
        <c:varyColors val="0"/>
        <c:ser>
          <c:idx val="0"/>
          <c:order val="0"/>
          <c:tx>
            <c:v>RF</c:v>
          </c:tx>
          <c:spPr>
            <a:ln w="19050" cap="rnd">
              <a:solidFill>
                <a:schemeClr val="accent1"/>
              </a:solidFill>
              <a:round/>
            </a:ln>
            <a:effectLst/>
          </c:spPr>
          <c:marker>
            <c:symbol val="circle"/>
            <c:size val="5"/>
            <c:spPr>
              <a:solidFill>
                <a:schemeClr val="accent1"/>
              </a:solidFill>
              <a:ln w="9525">
                <a:solidFill>
                  <a:schemeClr val="accent1"/>
                </a:solidFill>
              </a:ln>
              <a:effectLst/>
            </c:spPr>
          </c:marker>
          <c:xVal>
            <c:numRef>
              <c:f>CAPM!$D$115:$D$119</c:f>
              <c:numCache>
                <c:formatCode>General</c:formatCode>
                <c:ptCount val="5"/>
                <c:pt idx="0">
                  <c:v>0</c:v>
                </c:pt>
                <c:pt idx="1">
                  <c:v>0.5</c:v>
                </c:pt>
                <c:pt idx="2">
                  <c:v>1</c:v>
                </c:pt>
                <c:pt idx="3">
                  <c:v>1.5</c:v>
                </c:pt>
                <c:pt idx="4">
                  <c:v>2</c:v>
                </c:pt>
              </c:numCache>
            </c:numRef>
          </c:xVal>
          <c:yVal>
            <c:numRef>
              <c:f>CAPM!$F$115:$F$119</c:f>
              <c:numCache>
                <c:formatCode>0.0%</c:formatCode>
                <c:ptCount val="5"/>
                <c:pt idx="0">
                  <c:v>0.03</c:v>
                </c:pt>
                <c:pt idx="1">
                  <c:v>0.03</c:v>
                </c:pt>
                <c:pt idx="2">
                  <c:v>0.03</c:v>
                </c:pt>
                <c:pt idx="3">
                  <c:v>0.03</c:v>
                </c:pt>
                <c:pt idx="4">
                  <c:v>0.03</c:v>
                </c:pt>
              </c:numCache>
            </c:numRef>
          </c:yVal>
          <c:smooth val="0"/>
          <c:extLst>
            <c:ext xmlns:c16="http://schemas.microsoft.com/office/drawing/2014/chart" uri="{C3380CC4-5D6E-409C-BE32-E72D297353CC}">
              <c16:uniqueId val="{00000000-7215-4ABE-8488-9B5667A89B74}"/>
            </c:ext>
          </c:extLst>
        </c:ser>
        <c:ser>
          <c:idx val="1"/>
          <c:order val="1"/>
          <c:tx>
            <c:v>Rend. Requerido</c:v>
          </c:tx>
          <c:spPr>
            <a:ln w="19050" cap="rnd">
              <a:solidFill>
                <a:schemeClr val="accent2"/>
              </a:solidFill>
              <a:round/>
            </a:ln>
            <a:effectLst/>
          </c:spPr>
          <c:marker>
            <c:symbol val="circle"/>
            <c:size val="5"/>
            <c:spPr>
              <a:solidFill>
                <a:schemeClr val="accent2"/>
              </a:solidFill>
              <a:ln w="9525">
                <a:solidFill>
                  <a:schemeClr val="accent2"/>
                </a:solidFill>
              </a:ln>
              <a:effectLst/>
            </c:spPr>
          </c:marker>
          <c:xVal>
            <c:numRef>
              <c:f>CAPM!$D$115:$D$119</c:f>
              <c:numCache>
                <c:formatCode>General</c:formatCode>
                <c:ptCount val="5"/>
                <c:pt idx="0">
                  <c:v>0</c:v>
                </c:pt>
                <c:pt idx="1">
                  <c:v>0.5</c:v>
                </c:pt>
                <c:pt idx="2">
                  <c:v>1</c:v>
                </c:pt>
                <c:pt idx="3">
                  <c:v>1.5</c:v>
                </c:pt>
                <c:pt idx="4">
                  <c:v>2</c:v>
                </c:pt>
              </c:numCache>
            </c:numRef>
          </c:xVal>
          <c:yVal>
            <c:numRef>
              <c:f>CAPM!$E$115:$E$119</c:f>
              <c:numCache>
                <c:formatCode>0.0%</c:formatCode>
                <c:ptCount val="5"/>
                <c:pt idx="0">
                  <c:v>0.03</c:v>
                </c:pt>
                <c:pt idx="1">
                  <c:v>5.5E-2</c:v>
                </c:pt>
                <c:pt idx="2">
                  <c:v>0.08</c:v>
                </c:pt>
                <c:pt idx="3">
                  <c:v>0.10500000000000001</c:v>
                </c:pt>
                <c:pt idx="4">
                  <c:v>0.13</c:v>
                </c:pt>
              </c:numCache>
            </c:numRef>
          </c:yVal>
          <c:smooth val="0"/>
          <c:extLst>
            <c:ext xmlns:c16="http://schemas.microsoft.com/office/drawing/2014/chart" uri="{C3380CC4-5D6E-409C-BE32-E72D297353CC}">
              <c16:uniqueId val="{00000001-7215-4ABE-8488-9B5667A89B74}"/>
            </c:ext>
          </c:extLst>
        </c:ser>
        <c:dLbls>
          <c:showLegendKey val="0"/>
          <c:showVal val="0"/>
          <c:showCatName val="0"/>
          <c:showSerName val="0"/>
          <c:showPercent val="0"/>
          <c:showBubbleSize val="0"/>
        </c:dLbls>
        <c:axId val="872699583"/>
        <c:axId val="872043935"/>
      </c:scatterChart>
      <c:valAx>
        <c:axId val="872699583"/>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S"/>
          </a:p>
        </c:txPr>
        <c:crossAx val="872043935"/>
        <c:crosses val="autoZero"/>
        <c:crossBetween val="midCat"/>
      </c:valAx>
      <c:valAx>
        <c:axId val="872043935"/>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S"/>
          </a:p>
        </c:txPr>
        <c:crossAx val="872699583"/>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ES"/>
    </a:p>
  </c:txPr>
  <c:externalData r:id="rId4">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manualLayout>
          <c:layoutTarget val="inner"/>
          <c:xMode val="edge"/>
          <c:yMode val="edge"/>
          <c:x val="4.6182550554096445E-2"/>
          <c:y val="1.2035202730751354E-2"/>
          <c:w val="0.92272839197718792"/>
          <c:h val="0.92506479564741639"/>
        </c:manualLayout>
      </c:layout>
      <c:scatterChart>
        <c:scatterStyle val="lineMarker"/>
        <c:varyColors val="0"/>
        <c:ser>
          <c:idx val="0"/>
          <c:order val="0"/>
          <c:tx>
            <c:v>RF</c:v>
          </c:tx>
          <c:spPr>
            <a:ln w="19050" cap="rnd">
              <a:solidFill>
                <a:schemeClr val="accent1"/>
              </a:solidFill>
              <a:round/>
            </a:ln>
            <a:effectLst/>
          </c:spPr>
          <c:marker>
            <c:symbol val="circle"/>
            <c:size val="5"/>
            <c:spPr>
              <a:solidFill>
                <a:schemeClr val="accent1"/>
              </a:solidFill>
              <a:ln w="9525">
                <a:solidFill>
                  <a:schemeClr val="accent1"/>
                </a:solidFill>
              </a:ln>
              <a:effectLst/>
            </c:spPr>
          </c:marker>
          <c:xVal>
            <c:numRef>
              <c:f>CAPM!$D$115:$D$119</c:f>
              <c:numCache>
                <c:formatCode>General</c:formatCode>
                <c:ptCount val="5"/>
                <c:pt idx="0">
                  <c:v>0</c:v>
                </c:pt>
                <c:pt idx="1">
                  <c:v>0.5</c:v>
                </c:pt>
                <c:pt idx="2">
                  <c:v>1</c:v>
                </c:pt>
                <c:pt idx="3">
                  <c:v>1.5</c:v>
                </c:pt>
                <c:pt idx="4">
                  <c:v>2</c:v>
                </c:pt>
              </c:numCache>
            </c:numRef>
          </c:xVal>
          <c:yVal>
            <c:numRef>
              <c:f>CAPM!$F$115:$F$119</c:f>
              <c:numCache>
                <c:formatCode>0.0%</c:formatCode>
                <c:ptCount val="5"/>
                <c:pt idx="0">
                  <c:v>0.03</c:v>
                </c:pt>
                <c:pt idx="1">
                  <c:v>0.03</c:v>
                </c:pt>
                <c:pt idx="2">
                  <c:v>0.03</c:v>
                </c:pt>
                <c:pt idx="3">
                  <c:v>0.03</c:v>
                </c:pt>
                <c:pt idx="4">
                  <c:v>0.03</c:v>
                </c:pt>
              </c:numCache>
            </c:numRef>
          </c:yVal>
          <c:smooth val="0"/>
          <c:extLst>
            <c:ext xmlns:c16="http://schemas.microsoft.com/office/drawing/2014/chart" uri="{C3380CC4-5D6E-409C-BE32-E72D297353CC}">
              <c16:uniqueId val="{00000000-A1F7-4F17-9DD6-BEB3A04C26A4}"/>
            </c:ext>
          </c:extLst>
        </c:ser>
        <c:ser>
          <c:idx val="1"/>
          <c:order val="1"/>
          <c:tx>
            <c:v>Rend. Requerido</c:v>
          </c:tx>
          <c:spPr>
            <a:ln w="19050" cap="rnd">
              <a:solidFill>
                <a:schemeClr val="accent2"/>
              </a:solidFill>
              <a:round/>
            </a:ln>
            <a:effectLst/>
          </c:spPr>
          <c:marker>
            <c:symbol val="circle"/>
            <c:size val="5"/>
            <c:spPr>
              <a:solidFill>
                <a:schemeClr val="accent2"/>
              </a:solidFill>
              <a:ln w="25400">
                <a:noFill/>
              </a:ln>
              <a:effectLst/>
            </c:spPr>
          </c:marker>
          <c:xVal>
            <c:numRef>
              <c:f>CAPM!$D$115:$D$119</c:f>
              <c:numCache>
                <c:formatCode>General</c:formatCode>
                <c:ptCount val="5"/>
                <c:pt idx="0">
                  <c:v>0</c:v>
                </c:pt>
                <c:pt idx="1">
                  <c:v>0.5</c:v>
                </c:pt>
                <c:pt idx="2">
                  <c:v>1</c:v>
                </c:pt>
                <c:pt idx="3">
                  <c:v>1.5</c:v>
                </c:pt>
                <c:pt idx="4">
                  <c:v>2</c:v>
                </c:pt>
              </c:numCache>
            </c:numRef>
          </c:xVal>
          <c:yVal>
            <c:numRef>
              <c:f>CAPM!$E$115:$E$119</c:f>
              <c:numCache>
                <c:formatCode>0.0%</c:formatCode>
                <c:ptCount val="5"/>
                <c:pt idx="0">
                  <c:v>0.03</c:v>
                </c:pt>
                <c:pt idx="1">
                  <c:v>5.5E-2</c:v>
                </c:pt>
                <c:pt idx="2">
                  <c:v>0.08</c:v>
                </c:pt>
                <c:pt idx="3">
                  <c:v>0.10500000000000001</c:v>
                </c:pt>
                <c:pt idx="4">
                  <c:v>0.13</c:v>
                </c:pt>
              </c:numCache>
            </c:numRef>
          </c:yVal>
          <c:smooth val="0"/>
          <c:extLst>
            <c:ext xmlns:c16="http://schemas.microsoft.com/office/drawing/2014/chart" uri="{C3380CC4-5D6E-409C-BE32-E72D297353CC}">
              <c16:uniqueId val="{00000001-A1F7-4F17-9DD6-BEB3A04C26A4}"/>
            </c:ext>
          </c:extLst>
        </c:ser>
        <c:ser>
          <c:idx val="2"/>
          <c:order val="2"/>
          <c:tx>
            <c:v>Aumento Aversión</c:v>
          </c:tx>
          <c:spPr>
            <a:ln w="19050" cap="rnd">
              <a:solidFill>
                <a:schemeClr val="accent3"/>
              </a:solidFill>
              <a:round/>
            </a:ln>
            <a:effectLst/>
          </c:spPr>
          <c:marker>
            <c:symbol val="circle"/>
            <c:size val="5"/>
            <c:spPr>
              <a:solidFill>
                <a:schemeClr val="accent3"/>
              </a:solidFill>
              <a:ln w="9525">
                <a:solidFill>
                  <a:schemeClr val="accent3"/>
                </a:solidFill>
              </a:ln>
              <a:effectLst/>
            </c:spPr>
          </c:marker>
          <c:xVal>
            <c:numRef>
              <c:f>CAPM!$D$137:$D$141</c:f>
              <c:numCache>
                <c:formatCode>General</c:formatCode>
                <c:ptCount val="5"/>
                <c:pt idx="0">
                  <c:v>0</c:v>
                </c:pt>
                <c:pt idx="1">
                  <c:v>0.5</c:v>
                </c:pt>
                <c:pt idx="2">
                  <c:v>1</c:v>
                </c:pt>
                <c:pt idx="3">
                  <c:v>1.5</c:v>
                </c:pt>
                <c:pt idx="4">
                  <c:v>2</c:v>
                </c:pt>
              </c:numCache>
            </c:numRef>
          </c:xVal>
          <c:yVal>
            <c:numRef>
              <c:f>CAPM!$E$137:$E$141</c:f>
              <c:numCache>
                <c:formatCode>0.0%</c:formatCode>
                <c:ptCount val="5"/>
                <c:pt idx="0">
                  <c:v>0.03</c:v>
                </c:pt>
                <c:pt idx="1">
                  <c:v>7.0000000000000007E-2</c:v>
                </c:pt>
                <c:pt idx="2">
                  <c:v>0.11</c:v>
                </c:pt>
                <c:pt idx="3">
                  <c:v>0.15</c:v>
                </c:pt>
                <c:pt idx="4">
                  <c:v>0.19</c:v>
                </c:pt>
              </c:numCache>
            </c:numRef>
          </c:yVal>
          <c:smooth val="0"/>
          <c:extLst>
            <c:ext xmlns:c16="http://schemas.microsoft.com/office/drawing/2014/chart" uri="{C3380CC4-5D6E-409C-BE32-E72D297353CC}">
              <c16:uniqueId val="{00000002-A1F7-4F17-9DD6-BEB3A04C26A4}"/>
            </c:ext>
          </c:extLst>
        </c:ser>
        <c:dLbls>
          <c:showLegendKey val="0"/>
          <c:showVal val="0"/>
          <c:showCatName val="0"/>
          <c:showSerName val="0"/>
          <c:showPercent val="0"/>
          <c:showBubbleSize val="0"/>
        </c:dLbls>
        <c:axId val="872699583"/>
        <c:axId val="872043935"/>
      </c:scatterChart>
      <c:valAx>
        <c:axId val="872699583"/>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S"/>
          </a:p>
        </c:txPr>
        <c:crossAx val="872043935"/>
        <c:crosses val="autoZero"/>
        <c:crossBetween val="midCat"/>
      </c:valAx>
      <c:valAx>
        <c:axId val="872043935"/>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S"/>
          </a:p>
        </c:txPr>
        <c:crossAx val="872699583"/>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ES"/>
    </a:p>
  </c:txPr>
  <c:externalData r:id="rId4">
    <c:autoUpdate val="0"/>
  </c:externalData>
  <c:userShapes r:id="rId5"/>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0.31222</cdr:x>
      <cdr:y>0.15301</cdr:y>
    </cdr:from>
    <cdr:to>
      <cdr:x>0.57435</cdr:x>
      <cdr:y>0.36848</cdr:y>
    </cdr:to>
    <cdr:sp macro="" textlink="">
      <cdr:nvSpPr>
        <cdr:cNvPr id="2" name="CuadroTexto 1">
          <a:extLst xmlns:a="http://schemas.openxmlformats.org/drawingml/2006/main">
            <a:ext uri="{FF2B5EF4-FFF2-40B4-BE49-F238E27FC236}">
              <a16:creationId xmlns:a16="http://schemas.microsoft.com/office/drawing/2014/main" id="{BA3F7E01-1BEF-8019-EB70-30CD39D742D3}"/>
            </a:ext>
          </a:extLst>
        </cdr:cNvPr>
        <cdr:cNvSpPr txBox="1"/>
      </cdr:nvSpPr>
      <cdr:spPr>
        <a:xfrm xmlns:a="http://schemas.openxmlformats.org/drawingml/2006/main">
          <a:off x="3283227" y="665784"/>
          <a:ext cx="2756452" cy="937591"/>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s-AR" sz="1500" dirty="0"/>
            <a:t>Buenas inversiones: el Rendimiento es suficiente para compensar el Riesgo PERCIBIDO</a:t>
          </a:r>
        </a:p>
      </cdr:txBody>
    </cdr:sp>
  </cdr:relSizeAnchor>
  <cdr:relSizeAnchor xmlns:cdr="http://schemas.openxmlformats.org/drawingml/2006/chartDrawing">
    <cdr:from>
      <cdr:x>0.7552</cdr:x>
      <cdr:y>0.14387</cdr:y>
    </cdr:from>
    <cdr:to>
      <cdr:x>1</cdr:x>
      <cdr:y>0.21696</cdr:y>
    </cdr:to>
    <cdr:sp macro="" textlink="">
      <cdr:nvSpPr>
        <cdr:cNvPr id="3" name="CuadroTexto 1">
          <a:extLst xmlns:a="http://schemas.openxmlformats.org/drawingml/2006/main">
            <a:ext uri="{FF2B5EF4-FFF2-40B4-BE49-F238E27FC236}">
              <a16:creationId xmlns:a16="http://schemas.microsoft.com/office/drawing/2014/main" id="{3AAF1189-0857-6D70-3050-18AA400091BF}"/>
            </a:ext>
          </a:extLst>
        </cdr:cNvPr>
        <cdr:cNvSpPr txBox="1"/>
      </cdr:nvSpPr>
      <cdr:spPr>
        <a:xfrm xmlns:a="http://schemas.openxmlformats.org/drawingml/2006/main">
          <a:off x="7941365" y="626025"/>
          <a:ext cx="2574235" cy="318052"/>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s-AR" sz="1500" dirty="0"/>
            <a:t>Recta de intercambio Riesgo - Rendimiento</a:t>
          </a:r>
        </a:p>
      </cdr:txBody>
    </cdr:sp>
  </cdr:relSizeAnchor>
  <cdr:relSizeAnchor xmlns:cdr="http://schemas.openxmlformats.org/drawingml/2006/chartDrawing">
    <cdr:from>
      <cdr:x>0.52121</cdr:x>
      <cdr:y>0.44487</cdr:y>
    </cdr:from>
    <cdr:to>
      <cdr:x>0.77095</cdr:x>
      <cdr:y>0.61288</cdr:y>
    </cdr:to>
    <cdr:sp macro="" textlink="">
      <cdr:nvSpPr>
        <cdr:cNvPr id="4" name="CuadroTexto 1">
          <a:extLst xmlns:a="http://schemas.openxmlformats.org/drawingml/2006/main">
            <a:ext uri="{FF2B5EF4-FFF2-40B4-BE49-F238E27FC236}">
              <a16:creationId xmlns:a16="http://schemas.microsoft.com/office/drawing/2014/main" id="{0679F9EE-D444-F49E-2C0A-3F4A8502CB16}"/>
            </a:ext>
          </a:extLst>
        </cdr:cNvPr>
        <cdr:cNvSpPr txBox="1"/>
      </cdr:nvSpPr>
      <cdr:spPr>
        <a:xfrm xmlns:a="http://schemas.openxmlformats.org/drawingml/2006/main">
          <a:off x="5480878" y="1935785"/>
          <a:ext cx="2626139" cy="731078"/>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s-AR" sz="1500" dirty="0"/>
            <a:t>Malas inversiones: el Rendimiento es insuficiente para compensar el Riesgo PERCIBIDO</a:t>
          </a:r>
        </a:p>
      </cdr:txBody>
    </cdr:sp>
  </cdr:relSizeAnchor>
  <cdr:relSizeAnchor xmlns:cdr="http://schemas.openxmlformats.org/drawingml/2006/chartDrawing">
    <cdr:from>
      <cdr:x>0.89394</cdr:x>
      <cdr:y>0.83658</cdr:y>
    </cdr:from>
    <cdr:to>
      <cdr:x>0.97694</cdr:x>
      <cdr:y>0.95377</cdr:y>
    </cdr:to>
    <cdr:sp macro="" textlink="">
      <cdr:nvSpPr>
        <cdr:cNvPr id="5" name="CuadroTexto 4">
          <a:extLst xmlns:a="http://schemas.openxmlformats.org/drawingml/2006/main">
            <a:ext uri="{FF2B5EF4-FFF2-40B4-BE49-F238E27FC236}">
              <a16:creationId xmlns:a16="http://schemas.microsoft.com/office/drawing/2014/main" id="{C3D6AE3B-9D17-52FF-77D9-F8ECE34078A2}"/>
            </a:ext>
          </a:extLst>
        </cdr:cNvPr>
        <cdr:cNvSpPr txBox="1"/>
      </cdr:nvSpPr>
      <cdr:spPr>
        <a:xfrm xmlns:a="http://schemas.openxmlformats.org/drawingml/2006/main">
          <a:off x="9400310" y="3640245"/>
          <a:ext cx="872836" cy="509951"/>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s-AR" sz="2000" dirty="0"/>
            <a:t>Riesgo</a:t>
          </a:r>
          <a:endParaRPr lang="es-ES" sz="2000" dirty="0"/>
        </a:p>
      </cdr:txBody>
    </cdr:sp>
  </cdr:relSizeAnchor>
  <cdr:relSizeAnchor xmlns:cdr="http://schemas.openxmlformats.org/drawingml/2006/chartDrawing">
    <cdr:from>
      <cdr:x>0.0751</cdr:x>
      <cdr:y>0.0867</cdr:y>
    </cdr:from>
    <cdr:to>
      <cdr:x>0.22925</cdr:x>
      <cdr:y>0.20389</cdr:y>
    </cdr:to>
    <cdr:sp macro="" textlink="">
      <cdr:nvSpPr>
        <cdr:cNvPr id="6" name="CuadroTexto 1">
          <a:extLst xmlns:a="http://schemas.openxmlformats.org/drawingml/2006/main">
            <a:ext uri="{FF2B5EF4-FFF2-40B4-BE49-F238E27FC236}">
              <a16:creationId xmlns:a16="http://schemas.microsoft.com/office/drawing/2014/main" id="{8A98D12F-34F9-D073-924E-BA624F5DDA7F}"/>
            </a:ext>
          </a:extLst>
        </cdr:cNvPr>
        <cdr:cNvSpPr txBox="1"/>
      </cdr:nvSpPr>
      <cdr:spPr>
        <a:xfrm xmlns:a="http://schemas.openxmlformats.org/drawingml/2006/main">
          <a:off x="789709" y="377248"/>
          <a:ext cx="1620982" cy="509951"/>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s-AR" sz="2000" dirty="0"/>
            <a:t>Rendimiento</a:t>
          </a:r>
          <a:endParaRPr lang="es-ES" sz="2000" dirty="0"/>
        </a:p>
      </cdr:txBody>
    </cdr:sp>
  </cdr:relSizeAnchor>
</c:userShapes>
</file>

<file path=ppt/drawings/drawing2.xml><?xml version="1.0" encoding="utf-8"?>
<c:userShapes xmlns:c="http://schemas.openxmlformats.org/drawingml/2006/chart">
  <cdr:relSizeAnchor xmlns:cdr="http://schemas.openxmlformats.org/drawingml/2006/chartDrawing">
    <cdr:from>
      <cdr:x>0.31222</cdr:x>
      <cdr:y>0.15301</cdr:y>
    </cdr:from>
    <cdr:to>
      <cdr:x>0.57435</cdr:x>
      <cdr:y>0.36848</cdr:y>
    </cdr:to>
    <cdr:sp macro="" textlink="">
      <cdr:nvSpPr>
        <cdr:cNvPr id="2" name="CuadroTexto 1">
          <a:extLst xmlns:a="http://schemas.openxmlformats.org/drawingml/2006/main">
            <a:ext uri="{FF2B5EF4-FFF2-40B4-BE49-F238E27FC236}">
              <a16:creationId xmlns:a16="http://schemas.microsoft.com/office/drawing/2014/main" id="{BA3F7E01-1BEF-8019-EB70-30CD39D742D3}"/>
            </a:ext>
          </a:extLst>
        </cdr:cNvPr>
        <cdr:cNvSpPr txBox="1"/>
      </cdr:nvSpPr>
      <cdr:spPr>
        <a:xfrm xmlns:a="http://schemas.openxmlformats.org/drawingml/2006/main">
          <a:off x="3283227" y="665784"/>
          <a:ext cx="2756452" cy="937591"/>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s-AR" sz="1500" dirty="0"/>
            <a:t>Buenas inversiones: el Rendimiento del proyecto excede el costo del Capital</a:t>
          </a:r>
        </a:p>
      </cdr:txBody>
    </cdr:sp>
  </cdr:relSizeAnchor>
  <cdr:relSizeAnchor xmlns:cdr="http://schemas.openxmlformats.org/drawingml/2006/chartDrawing">
    <cdr:from>
      <cdr:x>0.7552</cdr:x>
      <cdr:y>0.14387</cdr:y>
    </cdr:from>
    <cdr:to>
      <cdr:x>1</cdr:x>
      <cdr:y>0.21696</cdr:y>
    </cdr:to>
    <cdr:sp macro="" textlink="">
      <cdr:nvSpPr>
        <cdr:cNvPr id="3" name="CuadroTexto 1">
          <a:extLst xmlns:a="http://schemas.openxmlformats.org/drawingml/2006/main">
            <a:ext uri="{FF2B5EF4-FFF2-40B4-BE49-F238E27FC236}">
              <a16:creationId xmlns:a16="http://schemas.microsoft.com/office/drawing/2014/main" id="{3AAF1189-0857-6D70-3050-18AA400091BF}"/>
            </a:ext>
          </a:extLst>
        </cdr:cNvPr>
        <cdr:cNvSpPr txBox="1"/>
      </cdr:nvSpPr>
      <cdr:spPr>
        <a:xfrm xmlns:a="http://schemas.openxmlformats.org/drawingml/2006/main">
          <a:off x="7941365" y="626025"/>
          <a:ext cx="2574235" cy="318052"/>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s-AR" sz="1500" dirty="0"/>
            <a:t>Recta Costo de Capital</a:t>
          </a:r>
        </a:p>
      </cdr:txBody>
    </cdr:sp>
  </cdr:relSizeAnchor>
  <cdr:relSizeAnchor xmlns:cdr="http://schemas.openxmlformats.org/drawingml/2006/chartDrawing">
    <cdr:from>
      <cdr:x>0.52121</cdr:x>
      <cdr:y>0.44487</cdr:y>
    </cdr:from>
    <cdr:to>
      <cdr:x>0.77095</cdr:x>
      <cdr:y>0.61288</cdr:y>
    </cdr:to>
    <cdr:sp macro="" textlink="">
      <cdr:nvSpPr>
        <cdr:cNvPr id="4" name="CuadroTexto 1">
          <a:extLst xmlns:a="http://schemas.openxmlformats.org/drawingml/2006/main">
            <a:ext uri="{FF2B5EF4-FFF2-40B4-BE49-F238E27FC236}">
              <a16:creationId xmlns:a16="http://schemas.microsoft.com/office/drawing/2014/main" id="{0679F9EE-D444-F49E-2C0A-3F4A8502CB16}"/>
            </a:ext>
          </a:extLst>
        </cdr:cNvPr>
        <cdr:cNvSpPr txBox="1"/>
      </cdr:nvSpPr>
      <cdr:spPr>
        <a:xfrm xmlns:a="http://schemas.openxmlformats.org/drawingml/2006/main">
          <a:off x="5480878" y="1935785"/>
          <a:ext cx="2626139" cy="731078"/>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s-AR" sz="1500" dirty="0"/>
            <a:t>Malas inversiones: el Rendimiento del proyecto no excede al costo del Capital</a:t>
          </a:r>
        </a:p>
      </cdr:txBody>
    </cdr:sp>
  </cdr:relSizeAnchor>
</c:userShapes>
</file>

<file path=ppt/drawings/drawing3.xml><?xml version="1.0" encoding="utf-8"?>
<c:userShapes xmlns:c="http://schemas.openxmlformats.org/drawingml/2006/chart">
  <cdr:relSizeAnchor xmlns:cdr="http://schemas.openxmlformats.org/drawingml/2006/chartDrawing">
    <cdr:from>
      <cdr:x>0.24138</cdr:x>
      <cdr:y>0.48028</cdr:y>
    </cdr:from>
    <cdr:to>
      <cdr:x>0.25421</cdr:x>
      <cdr:y>0.92546</cdr:y>
    </cdr:to>
    <cdr:sp macro="" textlink="">
      <cdr:nvSpPr>
        <cdr:cNvPr id="2" name="Cerrar llave 1">
          <a:extLst xmlns:a="http://schemas.openxmlformats.org/drawingml/2006/main">
            <a:ext uri="{FF2B5EF4-FFF2-40B4-BE49-F238E27FC236}">
              <a16:creationId xmlns:a16="http://schemas.microsoft.com/office/drawing/2014/main" id="{9E97DD56-FCFD-A537-950A-3A57383CC903}"/>
            </a:ext>
          </a:extLst>
        </cdr:cNvPr>
        <cdr:cNvSpPr/>
      </cdr:nvSpPr>
      <cdr:spPr>
        <a:xfrm xmlns:a="http://schemas.openxmlformats.org/drawingml/2006/main">
          <a:off x="1994455" y="2130288"/>
          <a:ext cx="106017" cy="1974574"/>
        </a:xfrm>
        <a:prstGeom xmlns:a="http://schemas.openxmlformats.org/drawingml/2006/main" prst="rightBrace">
          <a:avLst/>
        </a:prstGeom>
        <a:ln xmlns:a="http://schemas.openxmlformats.org/drawingml/2006/main" w="38100"/>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txBody>
        <a:bodyPr xmlns:a="http://schemas.openxmlformats.org/drawingml/2006/main" vertOverflow="clip"/>
        <a:lstStyle xmlns:a="http://schemas.openxmlformats.org/drawingml/2006/main"/>
        <a:p xmlns:a="http://schemas.openxmlformats.org/drawingml/2006/main">
          <a:endParaRPr lang="es-AR"/>
        </a:p>
      </cdr:txBody>
    </cdr:sp>
  </cdr:relSizeAnchor>
  <cdr:relSizeAnchor xmlns:cdr="http://schemas.openxmlformats.org/drawingml/2006/chartDrawing">
    <cdr:from>
      <cdr:x>0.24592</cdr:x>
      <cdr:y>0.28795</cdr:y>
    </cdr:from>
    <cdr:to>
      <cdr:x>0.25146</cdr:x>
      <cdr:y>0.49186</cdr:y>
    </cdr:to>
    <cdr:sp macro="" textlink="">
      <cdr:nvSpPr>
        <cdr:cNvPr id="3" name="Cerrar llave 2">
          <a:extLst xmlns:a="http://schemas.openxmlformats.org/drawingml/2006/main">
            <a:ext uri="{FF2B5EF4-FFF2-40B4-BE49-F238E27FC236}">
              <a16:creationId xmlns:a16="http://schemas.microsoft.com/office/drawing/2014/main" id="{841A4413-36C1-7E43-BB3D-72FD337D4053}"/>
            </a:ext>
          </a:extLst>
        </cdr:cNvPr>
        <cdr:cNvSpPr/>
      </cdr:nvSpPr>
      <cdr:spPr>
        <a:xfrm xmlns:a="http://schemas.openxmlformats.org/drawingml/2006/main">
          <a:off x="2032004" y="1277180"/>
          <a:ext cx="45719" cy="904459"/>
        </a:xfrm>
        <a:prstGeom xmlns:a="http://schemas.openxmlformats.org/drawingml/2006/main" prst="rightBrace">
          <a:avLst/>
        </a:prstGeom>
        <a:ln xmlns:a="http://schemas.openxmlformats.org/drawingml/2006/main"/>
      </cdr:spPr>
      <cdr:style>
        <a:lnRef xmlns:a="http://schemas.openxmlformats.org/drawingml/2006/main" idx="2">
          <a:schemeClr val="accent2"/>
        </a:lnRef>
        <a:fillRef xmlns:a="http://schemas.openxmlformats.org/drawingml/2006/main" idx="0">
          <a:schemeClr val="accent2"/>
        </a:fillRef>
        <a:effectRef xmlns:a="http://schemas.openxmlformats.org/drawingml/2006/main" idx="1">
          <a:schemeClr val="accent2"/>
        </a:effectRef>
        <a:fontRef xmlns:a="http://schemas.openxmlformats.org/drawingml/2006/main" idx="minor">
          <a:schemeClr val="tx1"/>
        </a:fontRef>
      </cdr:style>
      <cdr:txBody>
        <a:bodyPr xmlns:a="http://schemas.openxmlformats.org/drawingml/2006/main"/>
        <a:lstStyle xmlns:a="http://schemas.openxmlformats.org/drawingml/2006/main">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xmlns:a="http://schemas.openxmlformats.org/drawingml/2006/main">
          <a:endParaRPr lang="es-AR"/>
        </a:p>
      </cdr:txBody>
    </cdr:sp>
  </cdr:relSizeAnchor>
  <cdr:relSizeAnchor xmlns:cdr="http://schemas.openxmlformats.org/drawingml/2006/chartDrawing">
    <cdr:from>
      <cdr:x>0.1676</cdr:x>
      <cdr:y>0.25023</cdr:y>
    </cdr:from>
    <cdr:to>
      <cdr:x>0.18524</cdr:x>
      <cdr:y>0.92247</cdr:y>
    </cdr:to>
    <cdr:sp macro="" textlink="">
      <cdr:nvSpPr>
        <cdr:cNvPr id="4" name="Abrir llave 3">
          <a:extLst xmlns:a="http://schemas.openxmlformats.org/drawingml/2006/main">
            <a:ext uri="{FF2B5EF4-FFF2-40B4-BE49-F238E27FC236}">
              <a16:creationId xmlns:a16="http://schemas.microsoft.com/office/drawing/2014/main" id="{9BF279AD-889C-4BF5-6AAE-20A14793E71B}"/>
            </a:ext>
          </a:extLst>
        </cdr:cNvPr>
        <cdr:cNvSpPr/>
      </cdr:nvSpPr>
      <cdr:spPr>
        <a:xfrm xmlns:a="http://schemas.openxmlformats.org/drawingml/2006/main">
          <a:off x="1384854" y="1109871"/>
          <a:ext cx="145774" cy="2981739"/>
        </a:xfrm>
        <a:prstGeom xmlns:a="http://schemas.openxmlformats.org/drawingml/2006/main" prst="leftBrace">
          <a:avLst/>
        </a:prstGeom>
      </cdr:spPr>
      <cdr:style>
        <a:lnRef xmlns:a="http://schemas.openxmlformats.org/drawingml/2006/main" idx="2">
          <a:schemeClr val="dk1"/>
        </a:lnRef>
        <a:fillRef xmlns:a="http://schemas.openxmlformats.org/drawingml/2006/main" idx="0">
          <a:schemeClr val="dk1"/>
        </a:fillRef>
        <a:effectRef xmlns:a="http://schemas.openxmlformats.org/drawingml/2006/main" idx="1">
          <a:schemeClr val="dk1"/>
        </a:effectRef>
        <a:fontRef xmlns:a="http://schemas.openxmlformats.org/drawingml/2006/main" idx="minor">
          <a:schemeClr val="tx1"/>
        </a:fontRef>
      </cdr:style>
      <cdr:txBody>
        <a:bodyPr xmlns:a="http://schemas.openxmlformats.org/drawingml/2006/main" vertOverflow="clip"/>
        <a:lstStyle xmlns:a="http://schemas.openxmlformats.org/drawingml/2006/main"/>
        <a:p xmlns:a="http://schemas.openxmlformats.org/drawingml/2006/main">
          <a:endParaRPr lang="es-AR"/>
        </a:p>
      </cdr:txBody>
    </cdr:sp>
  </cdr:relSizeAnchor>
  <cdr:relSizeAnchor xmlns:cdr="http://schemas.openxmlformats.org/drawingml/2006/chartDrawing">
    <cdr:from>
      <cdr:x>0.47233</cdr:x>
      <cdr:y>0.09785</cdr:y>
    </cdr:from>
    <cdr:to>
      <cdr:x>0.7915</cdr:x>
      <cdr:y>0.19346</cdr:y>
    </cdr:to>
    <cdr:sp macro="" textlink="">
      <cdr:nvSpPr>
        <cdr:cNvPr id="5" name="CuadroTexto 4">
          <a:extLst xmlns:a="http://schemas.openxmlformats.org/drawingml/2006/main">
            <a:ext uri="{FF2B5EF4-FFF2-40B4-BE49-F238E27FC236}">
              <a16:creationId xmlns:a16="http://schemas.microsoft.com/office/drawing/2014/main" id="{EF07A67E-E0AE-AC82-12E3-EDB48A11A016}"/>
            </a:ext>
          </a:extLst>
        </cdr:cNvPr>
        <cdr:cNvSpPr txBox="1"/>
      </cdr:nvSpPr>
      <cdr:spPr>
        <a:xfrm xmlns:a="http://schemas.openxmlformats.org/drawingml/2006/main">
          <a:off x="3902768" y="434010"/>
          <a:ext cx="2637182" cy="42407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s-AR" sz="1800" dirty="0"/>
            <a:t>Riesgo de Cartera, </a:t>
          </a:r>
          <a:r>
            <a:rPr lang="es-AR" sz="1800" b="0" i="0" dirty="0">
              <a:latin typeface="Cambria Math" panose="02040503050406030204" pitchFamily="18" charset="0"/>
            </a:rPr>
            <a:t>𝜎_𝑝</a:t>
          </a:r>
          <a:endParaRPr lang="es-AR" sz="1800" dirty="0"/>
        </a:p>
      </cdr:txBody>
    </cdr:sp>
  </cdr:relSizeAnchor>
  <cdr:relSizeAnchor xmlns:cdr="http://schemas.openxmlformats.org/drawingml/2006/chartDrawing">
    <cdr:from>
      <cdr:x>0.29872</cdr:x>
      <cdr:y>0.57154</cdr:y>
    </cdr:from>
    <cdr:to>
      <cdr:x>0.4595</cdr:x>
      <cdr:y>0.84778</cdr:y>
    </cdr:to>
    <cdr:sp macro="" textlink="">
      <cdr:nvSpPr>
        <cdr:cNvPr id="6" name="CuadroTexto 1">
          <a:extLst xmlns:a="http://schemas.openxmlformats.org/drawingml/2006/main">
            <a:ext uri="{FF2B5EF4-FFF2-40B4-BE49-F238E27FC236}">
              <a16:creationId xmlns:a16="http://schemas.microsoft.com/office/drawing/2014/main" id="{6933152F-5657-DFED-216B-3E082E7506AA}"/>
            </a:ext>
          </a:extLst>
        </cdr:cNvPr>
        <cdr:cNvSpPr txBox="1"/>
      </cdr:nvSpPr>
      <cdr:spPr>
        <a:xfrm xmlns:a="http://schemas.openxmlformats.org/drawingml/2006/main">
          <a:off x="2468219" y="2535031"/>
          <a:ext cx="1328531" cy="1225274"/>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s-AR" sz="1400" dirty="0"/>
            <a:t>Riesgo de Mercado de la Cartera, permanece constante</a:t>
          </a:r>
        </a:p>
      </cdr:txBody>
    </cdr:sp>
  </cdr:relSizeAnchor>
  <cdr:relSizeAnchor xmlns:cdr="http://schemas.openxmlformats.org/drawingml/2006/chartDrawing">
    <cdr:from>
      <cdr:x>0.63887</cdr:x>
      <cdr:y>0.52161</cdr:y>
    </cdr:from>
    <cdr:to>
      <cdr:x>0.95803</cdr:x>
      <cdr:y>0.61722</cdr:y>
    </cdr:to>
    <cdr:sp macro="" textlink="">
      <cdr:nvSpPr>
        <cdr:cNvPr id="7" name="CuadroTexto 1">
          <a:extLst xmlns:a="http://schemas.openxmlformats.org/drawingml/2006/main">
            <a:ext uri="{FF2B5EF4-FFF2-40B4-BE49-F238E27FC236}">
              <a16:creationId xmlns:a16="http://schemas.microsoft.com/office/drawing/2014/main" id="{FA9FBE91-83BE-8FBD-803E-CAC550EE3926}"/>
            </a:ext>
          </a:extLst>
        </cdr:cNvPr>
        <cdr:cNvSpPr txBox="1"/>
      </cdr:nvSpPr>
      <cdr:spPr>
        <a:xfrm xmlns:a="http://schemas.openxmlformats.org/drawingml/2006/main">
          <a:off x="5278785" y="2313610"/>
          <a:ext cx="2637182" cy="424070"/>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s-AR" sz="1400" dirty="0"/>
            <a:t>Riesgo mínimo alcanzable</a:t>
          </a:r>
        </a:p>
      </cdr:txBody>
    </cdr:sp>
  </cdr:relSizeAnchor>
  <cdr:relSizeAnchor xmlns:cdr="http://schemas.openxmlformats.org/drawingml/2006/chartDrawing">
    <cdr:from>
      <cdr:x>0.03208</cdr:x>
      <cdr:y>0.44331</cdr:y>
    </cdr:from>
    <cdr:to>
      <cdr:x>0.15317</cdr:x>
      <cdr:y>0.77981</cdr:y>
    </cdr:to>
    <cdr:sp macro="" textlink="">
      <cdr:nvSpPr>
        <cdr:cNvPr id="8" name="CuadroTexto 1">
          <a:extLst xmlns:a="http://schemas.openxmlformats.org/drawingml/2006/main">
            <a:ext uri="{FF2B5EF4-FFF2-40B4-BE49-F238E27FC236}">
              <a16:creationId xmlns:a16="http://schemas.microsoft.com/office/drawing/2014/main" id="{1C95644E-3323-8E11-9CAA-8B998616C0F9}"/>
            </a:ext>
          </a:extLst>
        </cdr:cNvPr>
        <cdr:cNvSpPr txBox="1"/>
      </cdr:nvSpPr>
      <cdr:spPr>
        <a:xfrm xmlns:a="http://schemas.openxmlformats.org/drawingml/2006/main">
          <a:off x="265044" y="1966294"/>
          <a:ext cx="1000541" cy="1492526"/>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s-AR" sz="1400" dirty="0"/>
            <a:t>Riesgo Total de la Cartera, disminuye al agregar Acciones</a:t>
          </a:r>
        </a:p>
      </cdr:txBody>
    </cdr:sp>
  </cdr:relSizeAnchor>
  <cdr:relSizeAnchor xmlns:cdr="http://schemas.openxmlformats.org/drawingml/2006/chartDrawing">
    <cdr:from>
      <cdr:x>0.26918</cdr:x>
      <cdr:y>0.2984</cdr:y>
    </cdr:from>
    <cdr:to>
      <cdr:x>0.41139</cdr:x>
      <cdr:y>0.41157</cdr:y>
    </cdr:to>
    <cdr:sp macro="" textlink="">
      <cdr:nvSpPr>
        <cdr:cNvPr id="9" name="CuadroTexto 1">
          <a:extLst xmlns:a="http://schemas.openxmlformats.org/drawingml/2006/main">
            <a:ext uri="{FF2B5EF4-FFF2-40B4-BE49-F238E27FC236}">
              <a16:creationId xmlns:a16="http://schemas.microsoft.com/office/drawing/2014/main" id="{7098FD37-401C-1368-58C4-E857BF268860}"/>
            </a:ext>
          </a:extLst>
        </cdr:cNvPr>
        <cdr:cNvSpPr txBox="1"/>
      </cdr:nvSpPr>
      <cdr:spPr>
        <a:xfrm xmlns:a="http://schemas.openxmlformats.org/drawingml/2006/main">
          <a:off x="2224157" y="1323562"/>
          <a:ext cx="1175028" cy="501926"/>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s-AR" sz="1400" dirty="0"/>
            <a:t>Riesgo diversificable</a:t>
          </a:r>
        </a:p>
      </cdr:txBody>
    </cdr:sp>
  </cdr:relSizeAnchor>
  <cdr:relSizeAnchor xmlns:cdr="http://schemas.openxmlformats.org/drawingml/2006/chartDrawing">
    <cdr:from>
      <cdr:x>0.43224</cdr:x>
      <cdr:y>0.18748</cdr:y>
    </cdr:from>
    <cdr:to>
      <cdr:x>0.5</cdr:x>
      <cdr:y>0.29803</cdr:y>
    </cdr:to>
    <cdr:cxnSp macro="">
      <cdr:nvCxnSpPr>
        <cdr:cNvPr id="11" name="Conector recto de flecha 10">
          <a:extLst xmlns:a="http://schemas.openxmlformats.org/drawingml/2006/main">
            <a:ext uri="{FF2B5EF4-FFF2-40B4-BE49-F238E27FC236}">
              <a16:creationId xmlns:a16="http://schemas.microsoft.com/office/drawing/2014/main" id="{05E7A9DA-7234-3991-5BFA-4CB9457D9FEF}"/>
            </a:ext>
          </a:extLst>
        </cdr:cNvPr>
        <cdr:cNvCxnSpPr/>
      </cdr:nvCxnSpPr>
      <cdr:spPr>
        <a:xfrm xmlns:a="http://schemas.openxmlformats.org/drawingml/2006/main" flipH="1">
          <a:off x="3571463" y="831575"/>
          <a:ext cx="559903" cy="490331"/>
        </a:xfrm>
        <a:prstGeom xmlns:a="http://schemas.openxmlformats.org/drawingml/2006/main" prst="straightConnector1">
          <a:avLst/>
        </a:prstGeom>
        <a:ln xmlns:a="http://schemas.openxmlformats.org/drawingml/2006/main">
          <a:tailEnd type="triangle"/>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0.63272</cdr:x>
      <cdr:y>0.5</cdr:y>
    </cdr:from>
    <cdr:to>
      <cdr:x>0.65196</cdr:x>
      <cdr:y>0.53406</cdr:y>
    </cdr:to>
    <cdr:cxnSp macro="">
      <cdr:nvCxnSpPr>
        <cdr:cNvPr id="15" name="Conector recto de flecha 14">
          <a:extLst xmlns:a="http://schemas.openxmlformats.org/drawingml/2006/main">
            <a:ext uri="{FF2B5EF4-FFF2-40B4-BE49-F238E27FC236}">
              <a16:creationId xmlns:a16="http://schemas.microsoft.com/office/drawing/2014/main" id="{E8BD35C9-F5E5-F515-7FE2-4C80F58585E0}"/>
            </a:ext>
          </a:extLst>
        </cdr:cNvPr>
        <cdr:cNvCxnSpPr/>
      </cdr:nvCxnSpPr>
      <cdr:spPr>
        <a:xfrm xmlns:a="http://schemas.openxmlformats.org/drawingml/2006/main" flipH="1" flipV="1">
          <a:off x="5227985" y="2217738"/>
          <a:ext cx="159026" cy="151089"/>
        </a:xfrm>
        <a:prstGeom xmlns:a="http://schemas.openxmlformats.org/drawingml/2006/main" prst="straightConnector1">
          <a:avLst/>
        </a:prstGeom>
        <a:ln xmlns:a="http://schemas.openxmlformats.org/drawingml/2006/main">
          <a:tailEnd type="triangle"/>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0.26477</cdr:x>
      <cdr:y>0.70437</cdr:y>
    </cdr:from>
    <cdr:to>
      <cdr:x>0.28856</cdr:x>
      <cdr:y>0.74047</cdr:y>
    </cdr:to>
    <cdr:cxnSp macro="">
      <cdr:nvCxnSpPr>
        <cdr:cNvPr id="16" name="Conector recto de flecha 15">
          <a:extLst xmlns:a="http://schemas.openxmlformats.org/drawingml/2006/main">
            <a:ext uri="{FF2B5EF4-FFF2-40B4-BE49-F238E27FC236}">
              <a16:creationId xmlns:a16="http://schemas.microsoft.com/office/drawing/2014/main" id="{C32818DD-FD6C-F4CE-3E96-3FB7B224062D}"/>
            </a:ext>
          </a:extLst>
        </cdr:cNvPr>
        <cdr:cNvCxnSpPr/>
      </cdr:nvCxnSpPr>
      <cdr:spPr>
        <a:xfrm xmlns:a="http://schemas.openxmlformats.org/drawingml/2006/main" flipH="1" flipV="1">
          <a:off x="2187715" y="3124201"/>
          <a:ext cx="196574" cy="160131"/>
        </a:xfrm>
        <a:prstGeom xmlns:a="http://schemas.openxmlformats.org/drawingml/2006/main" prst="straightConnector1">
          <a:avLst/>
        </a:prstGeom>
        <a:ln xmlns:a="http://schemas.openxmlformats.org/drawingml/2006/main">
          <a:tailEnd type="triangle"/>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0.14034</cdr:x>
      <cdr:y>0.59979</cdr:y>
    </cdr:from>
    <cdr:to>
      <cdr:x>0.15958</cdr:x>
      <cdr:y>0.65955</cdr:y>
    </cdr:to>
    <cdr:cxnSp macro="">
      <cdr:nvCxnSpPr>
        <cdr:cNvPr id="20" name="Conector recto de flecha 19">
          <a:extLst xmlns:a="http://schemas.openxmlformats.org/drawingml/2006/main">
            <a:ext uri="{FF2B5EF4-FFF2-40B4-BE49-F238E27FC236}">
              <a16:creationId xmlns:a16="http://schemas.microsoft.com/office/drawing/2014/main" id="{E221D9B2-1590-C377-026A-70E70DF7E8C9}"/>
            </a:ext>
          </a:extLst>
        </cdr:cNvPr>
        <cdr:cNvCxnSpPr/>
      </cdr:nvCxnSpPr>
      <cdr:spPr>
        <a:xfrm xmlns:a="http://schemas.openxmlformats.org/drawingml/2006/main" flipV="1">
          <a:off x="1159568" y="2660375"/>
          <a:ext cx="159026" cy="265044"/>
        </a:xfrm>
        <a:prstGeom xmlns:a="http://schemas.openxmlformats.org/drawingml/2006/main" prst="straightConnector1">
          <a:avLst/>
        </a:prstGeom>
        <a:ln xmlns:a="http://schemas.openxmlformats.org/drawingml/2006/main">
          <a:tailEnd type="triangle"/>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drawings/drawing4.xml><?xml version="1.0" encoding="utf-8"?>
<c:userShapes xmlns:c="http://schemas.openxmlformats.org/drawingml/2006/chart">
  <cdr:relSizeAnchor xmlns:cdr="http://schemas.openxmlformats.org/drawingml/2006/chartDrawing">
    <cdr:from>
      <cdr:x>0.50417</cdr:x>
      <cdr:y>0.08482</cdr:y>
    </cdr:from>
    <cdr:to>
      <cdr:x>0.80746</cdr:x>
      <cdr:y>0.14731</cdr:y>
    </cdr:to>
    <cdr:sp macro="" textlink="">
      <cdr:nvSpPr>
        <cdr:cNvPr id="2" name="CuadroTexto 1">
          <a:extLst xmlns:a="http://schemas.openxmlformats.org/drawingml/2006/main">
            <a:ext uri="{FF2B5EF4-FFF2-40B4-BE49-F238E27FC236}">
              <a16:creationId xmlns:a16="http://schemas.microsoft.com/office/drawing/2014/main" id="{ABC4D63C-000A-F96E-E581-2D6779559432}"/>
            </a:ext>
          </a:extLst>
        </cdr:cNvPr>
        <cdr:cNvSpPr txBox="1"/>
      </cdr:nvSpPr>
      <cdr:spPr>
        <a:xfrm xmlns:a="http://schemas.openxmlformats.org/drawingml/2006/main">
          <a:off x="3034753" y="444432"/>
          <a:ext cx="1825603" cy="327393"/>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s-AR" sz="1100" dirty="0"/>
            <a:t>SML = 3% + 8%*b</a:t>
          </a:r>
          <a:endParaRPr lang="es-ES" sz="1100" dirty="0"/>
        </a:p>
      </cdr:txBody>
    </cdr:sp>
  </cdr:relSizeAnchor>
  <cdr:relSizeAnchor xmlns:cdr="http://schemas.openxmlformats.org/drawingml/2006/chartDrawing">
    <cdr:from>
      <cdr:x>0.69671</cdr:x>
      <cdr:y>0.40918</cdr:y>
    </cdr:from>
    <cdr:to>
      <cdr:x>1</cdr:x>
      <cdr:y>0.47166</cdr:y>
    </cdr:to>
    <cdr:sp macro="" textlink="">
      <cdr:nvSpPr>
        <cdr:cNvPr id="3" name="CuadroTexto 1">
          <a:extLst xmlns:a="http://schemas.openxmlformats.org/drawingml/2006/main">
            <a:ext uri="{FF2B5EF4-FFF2-40B4-BE49-F238E27FC236}">
              <a16:creationId xmlns:a16="http://schemas.microsoft.com/office/drawing/2014/main" id="{AF7ABA23-2E69-A8A2-15B7-9C15AA75A553}"/>
            </a:ext>
          </a:extLst>
        </cdr:cNvPr>
        <cdr:cNvSpPr txBox="1"/>
      </cdr:nvSpPr>
      <cdr:spPr>
        <a:xfrm xmlns:a="http://schemas.openxmlformats.org/drawingml/2006/main">
          <a:off x="4193728" y="2143923"/>
          <a:ext cx="1825603" cy="327393"/>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s-AR" sz="1100" dirty="0"/>
            <a:t>SML = 3% + 5%*b</a:t>
          </a:r>
          <a:endParaRPr lang="es-ES" sz="1100" dirty="0"/>
        </a:p>
      </cdr:txBody>
    </cdr:sp>
  </cdr:relSizeAnchor>
  <cdr:relSizeAnchor xmlns:cdr="http://schemas.openxmlformats.org/drawingml/2006/chartDrawing">
    <cdr:from>
      <cdr:x>0.16227</cdr:x>
      <cdr:y>0.70063</cdr:y>
    </cdr:from>
    <cdr:to>
      <cdr:x>0.48301</cdr:x>
      <cdr:y>0.75898</cdr:y>
    </cdr:to>
    <cdr:sp macro="" textlink="">
      <cdr:nvSpPr>
        <cdr:cNvPr id="4" name="CuadroTexto 3">
          <a:extLst xmlns:a="http://schemas.openxmlformats.org/drawingml/2006/main">
            <a:ext uri="{FF2B5EF4-FFF2-40B4-BE49-F238E27FC236}">
              <a16:creationId xmlns:a16="http://schemas.microsoft.com/office/drawing/2014/main" id="{9F024AE0-9E4C-797B-49DE-26F269ABD5AB}"/>
            </a:ext>
          </a:extLst>
        </cdr:cNvPr>
        <cdr:cNvSpPr txBox="1"/>
      </cdr:nvSpPr>
      <cdr:spPr>
        <a:xfrm xmlns:a="http://schemas.openxmlformats.org/drawingml/2006/main">
          <a:off x="1269813" y="3892335"/>
          <a:ext cx="2509889" cy="324161"/>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s-AR" sz="1100" dirty="0"/>
            <a:t>Prima original de Riesgo del Mercado </a:t>
          </a:r>
          <a:r>
            <a:rPr lang="es-AR" sz="1100" b="0" i="0" dirty="0">
              <a:latin typeface="Cambria Math" panose="02040503050406030204" pitchFamily="18" charset="0"/>
            </a:rPr>
            <a:t>𝑟_𝑀1</a:t>
          </a:r>
          <a:endParaRPr lang="es-ES" sz="1100" dirty="0"/>
        </a:p>
      </cdr:txBody>
    </cdr:sp>
  </cdr:relSizeAnchor>
  <cdr:relSizeAnchor xmlns:cdr="http://schemas.openxmlformats.org/drawingml/2006/chartDrawing">
    <cdr:from>
      <cdr:x>0.51931</cdr:x>
      <cdr:y>0.58309</cdr:y>
    </cdr:from>
    <cdr:to>
      <cdr:x>0.84005</cdr:x>
      <cdr:y>0.64144</cdr:y>
    </cdr:to>
    <cdr:sp macro="" textlink="">
      <cdr:nvSpPr>
        <cdr:cNvPr id="5" name="CuadroTexto 1">
          <a:extLst xmlns:a="http://schemas.openxmlformats.org/drawingml/2006/main">
            <a:ext uri="{FF2B5EF4-FFF2-40B4-BE49-F238E27FC236}">
              <a16:creationId xmlns:a16="http://schemas.microsoft.com/office/drawing/2014/main" id="{8642DB93-3A33-F592-E52A-D693179A695D}"/>
            </a:ext>
          </a:extLst>
        </cdr:cNvPr>
        <cdr:cNvSpPr txBox="1"/>
      </cdr:nvSpPr>
      <cdr:spPr>
        <a:xfrm xmlns:a="http://schemas.openxmlformats.org/drawingml/2006/main">
          <a:off x="4063706" y="3239349"/>
          <a:ext cx="2509864" cy="324162"/>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s-AR" sz="1100" dirty="0"/>
            <a:t>Nueva Prima de Riesgo del Mercado </a:t>
          </a:r>
          <a:r>
            <a:rPr lang="es-AR" sz="1100" b="0" i="0" dirty="0">
              <a:latin typeface="Cambria Math" panose="02040503050406030204" pitchFamily="18" charset="0"/>
            </a:rPr>
            <a:t>𝑟_𝑀2</a:t>
          </a:r>
          <a:endParaRPr lang="es-ES" sz="1100" dirty="0"/>
        </a:p>
      </cdr:txBody>
    </cdr:sp>
  </cdr:relSizeAnchor>
</c:userShap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A70DE0-4B97-CC8B-DA2B-D60A2C0FB91B}"/>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A1CE1EAE-CFDC-004A-8AD0-B51F2403A0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FE0B6E68-C188-7EEF-0E02-F4E288897831}"/>
              </a:ext>
            </a:extLst>
          </p:cNvPr>
          <p:cNvSpPr>
            <a:spLocks noGrp="1"/>
          </p:cNvSpPr>
          <p:nvPr>
            <p:ph type="dt" sz="half" idx="10"/>
          </p:nvPr>
        </p:nvSpPr>
        <p:spPr/>
        <p:txBody>
          <a:bodyPr/>
          <a:lstStyle/>
          <a:p>
            <a:fld id="{6D4528C1-82C9-4445-A848-4CBA9F23312B}" type="datetimeFigureOut">
              <a:rPr lang="es-ES" smtClean="0"/>
              <a:t>14/04/2024</a:t>
            </a:fld>
            <a:endParaRPr lang="es-ES"/>
          </a:p>
        </p:txBody>
      </p:sp>
      <p:sp>
        <p:nvSpPr>
          <p:cNvPr id="5" name="Marcador de pie de página 4">
            <a:extLst>
              <a:ext uri="{FF2B5EF4-FFF2-40B4-BE49-F238E27FC236}">
                <a16:creationId xmlns:a16="http://schemas.microsoft.com/office/drawing/2014/main" id="{F7066B6E-0635-0E1F-4379-C36A419EE8E2}"/>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1F0A89BD-292B-7733-6B8D-EB945709119F}"/>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41088043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855550-A5A3-28B0-87A6-8BFA8585B8FD}"/>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BBD66766-5859-4C0F-EE4B-095181ED33E1}"/>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80B49D55-9129-2BCB-CC58-BE8A5A02F695}"/>
              </a:ext>
            </a:extLst>
          </p:cNvPr>
          <p:cNvSpPr>
            <a:spLocks noGrp="1"/>
          </p:cNvSpPr>
          <p:nvPr>
            <p:ph type="dt" sz="half" idx="10"/>
          </p:nvPr>
        </p:nvSpPr>
        <p:spPr/>
        <p:txBody>
          <a:bodyPr/>
          <a:lstStyle/>
          <a:p>
            <a:fld id="{6D4528C1-82C9-4445-A848-4CBA9F23312B}" type="datetimeFigureOut">
              <a:rPr lang="es-ES" smtClean="0"/>
              <a:t>14/04/2024</a:t>
            </a:fld>
            <a:endParaRPr lang="es-ES"/>
          </a:p>
        </p:txBody>
      </p:sp>
      <p:sp>
        <p:nvSpPr>
          <p:cNvPr id="5" name="Marcador de pie de página 4">
            <a:extLst>
              <a:ext uri="{FF2B5EF4-FFF2-40B4-BE49-F238E27FC236}">
                <a16:creationId xmlns:a16="http://schemas.microsoft.com/office/drawing/2014/main" id="{8178981B-655E-868D-A913-990DA313B7FB}"/>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2FE03A5C-2E50-F104-6EF2-328548C6ACC5}"/>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592859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B39DAC-2954-AAC3-037A-EE7F5657CF78}"/>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2138DAC5-5A1D-5565-6BE0-F8F9CBDC3A6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133658DC-F3F3-6928-E77C-724A8CE3D717}"/>
              </a:ext>
            </a:extLst>
          </p:cNvPr>
          <p:cNvSpPr>
            <a:spLocks noGrp="1"/>
          </p:cNvSpPr>
          <p:nvPr>
            <p:ph type="dt" sz="half" idx="10"/>
          </p:nvPr>
        </p:nvSpPr>
        <p:spPr/>
        <p:txBody>
          <a:bodyPr/>
          <a:lstStyle/>
          <a:p>
            <a:fld id="{6D4528C1-82C9-4445-A848-4CBA9F23312B}" type="datetimeFigureOut">
              <a:rPr lang="es-ES" smtClean="0"/>
              <a:t>14/04/2024</a:t>
            </a:fld>
            <a:endParaRPr lang="es-ES"/>
          </a:p>
        </p:txBody>
      </p:sp>
      <p:sp>
        <p:nvSpPr>
          <p:cNvPr id="5" name="Marcador de pie de página 4">
            <a:extLst>
              <a:ext uri="{FF2B5EF4-FFF2-40B4-BE49-F238E27FC236}">
                <a16:creationId xmlns:a16="http://schemas.microsoft.com/office/drawing/2014/main" id="{C6F300DF-7CC3-8B85-E0CB-780F59CDA4B3}"/>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2DA390DF-3D5D-2441-8768-0FF172747768}"/>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4927577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0FF108A-B6FD-4DD3-E57D-35251CCA8CDB}"/>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71ED3077-0282-9BA1-9647-34DCFFE91B3E}"/>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9F063130-158D-0337-1366-179AEC517586}"/>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C3EA4455-1040-78B0-9A83-CCFB496E4222}"/>
              </a:ext>
            </a:extLst>
          </p:cNvPr>
          <p:cNvSpPr>
            <a:spLocks noGrp="1"/>
          </p:cNvSpPr>
          <p:nvPr>
            <p:ph type="dt" sz="half" idx="10"/>
          </p:nvPr>
        </p:nvSpPr>
        <p:spPr/>
        <p:txBody>
          <a:bodyPr/>
          <a:lstStyle/>
          <a:p>
            <a:fld id="{6D4528C1-82C9-4445-A848-4CBA9F23312B}" type="datetimeFigureOut">
              <a:rPr lang="es-ES" smtClean="0"/>
              <a:t>14/04/2024</a:t>
            </a:fld>
            <a:endParaRPr lang="es-ES"/>
          </a:p>
        </p:txBody>
      </p:sp>
      <p:sp>
        <p:nvSpPr>
          <p:cNvPr id="6" name="Marcador de pie de página 5">
            <a:extLst>
              <a:ext uri="{FF2B5EF4-FFF2-40B4-BE49-F238E27FC236}">
                <a16:creationId xmlns:a16="http://schemas.microsoft.com/office/drawing/2014/main" id="{42995CC5-9BF9-C25B-E551-617C0C741D3B}"/>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A3C6B983-CC89-87A7-83C5-E8A9302FAFA4}"/>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32182459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4C3BB85-25AE-B83A-CCC5-5CA70BF95792}"/>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32508F49-1586-2659-B704-8505E996442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3C781A51-2B5A-F1EE-3EDC-384ADF465F93}"/>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DE8D3E41-1105-8E60-E088-8DDD261F58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45DB2382-0414-A436-50DA-DA2406F4292F}"/>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257C37DA-8221-6D56-EC43-58433E468377}"/>
              </a:ext>
            </a:extLst>
          </p:cNvPr>
          <p:cNvSpPr>
            <a:spLocks noGrp="1"/>
          </p:cNvSpPr>
          <p:nvPr>
            <p:ph type="dt" sz="half" idx="10"/>
          </p:nvPr>
        </p:nvSpPr>
        <p:spPr/>
        <p:txBody>
          <a:bodyPr/>
          <a:lstStyle/>
          <a:p>
            <a:fld id="{6D4528C1-82C9-4445-A848-4CBA9F23312B}" type="datetimeFigureOut">
              <a:rPr lang="es-ES" smtClean="0"/>
              <a:t>14/04/2024</a:t>
            </a:fld>
            <a:endParaRPr lang="es-ES"/>
          </a:p>
        </p:txBody>
      </p:sp>
      <p:sp>
        <p:nvSpPr>
          <p:cNvPr id="8" name="Marcador de pie de página 7">
            <a:extLst>
              <a:ext uri="{FF2B5EF4-FFF2-40B4-BE49-F238E27FC236}">
                <a16:creationId xmlns:a16="http://schemas.microsoft.com/office/drawing/2014/main" id="{7D2644E8-DD3F-D216-6AA3-E589B5767C73}"/>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D2884065-FAAE-BDB4-32F3-248B22010F12}"/>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36402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86098B-B84A-5C8C-354A-8F8F9A6BD0E7}"/>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7ED87682-7DDD-B19E-DDA9-A7CE4E324285}"/>
              </a:ext>
            </a:extLst>
          </p:cNvPr>
          <p:cNvSpPr>
            <a:spLocks noGrp="1"/>
          </p:cNvSpPr>
          <p:nvPr>
            <p:ph type="dt" sz="half" idx="10"/>
          </p:nvPr>
        </p:nvSpPr>
        <p:spPr/>
        <p:txBody>
          <a:bodyPr/>
          <a:lstStyle/>
          <a:p>
            <a:fld id="{6D4528C1-82C9-4445-A848-4CBA9F23312B}" type="datetimeFigureOut">
              <a:rPr lang="es-ES" smtClean="0"/>
              <a:t>14/04/2024</a:t>
            </a:fld>
            <a:endParaRPr lang="es-ES"/>
          </a:p>
        </p:txBody>
      </p:sp>
      <p:sp>
        <p:nvSpPr>
          <p:cNvPr id="4" name="Marcador de pie de página 3">
            <a:extLst>
              <a:ext uri="{FF2B5EF4-FFF2-40B4-BE49-F238E27FC236}">
                <a16:creationId xmlns:a16="http://schemas.microsoft.com/office/drawing/2014/main" id="{0589A9E0-1E31-1CF9-9385-98ABD95ADFC6}"/>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6EC26854-C66C-13B9-DDBA-65127106A903}"/>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28623106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54BDD1B5-8696-85E6-0336-67B2AFAA156B}"/>
              </a:ext>
            </a:extLst>
          </p:cNvPr>
          <p:cNvSpPr>
            <a:spLocks noGrp="1"/>
          </p:cNvSpPr>
          <p:nvPr>
            <p:ph type="dt" sz="half" idx="10"/>
          </p:nvPr>
        </p:nvSpPr>
        <p:spPr/>
        <p:txBody>
          <a:bodyPr/>
          <a:lstStyle/>
          <a:p>
            <a:fld id="{6D4528C1-82C9-4445-A848-4CBA9F23312B}" type="datetimeFigureOut">
              <a:rPr lang="es-ES" smtClean="0"/>
              <a:t>14/04/2024</a:t>
            </a:fld>
            <a:endParaRPr lang="es-ES"/>
          </a:p>
        </p:txBody>
      </p:sp>
      <p:sp>
        <p:nvSpPr>
          <p:cNvPr id="3" name="Marcador de pie de página 2">
            <a:extLst>
              <a:ext uri="{FF2B5EF4-FFF2-40B4-BE49-F238E27FC236}">
                <a16:creationId xmlns:a16="http://schemas.microsoft.com/office/drawing/2014/main" id="{22484739-613F-8753-FA98-4D103CB30D0A}"/>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C0D31B71-6907-91D9-EF05-792F513E347A}"/>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26900085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F6FB5C3-3275-A698-026C-886DC55FF40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50BCABC4-5D18-3E27-6A44-FC26838C2F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45E40746-4F71-7DE0-F012-7DDD0883FC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4EC19EE-490E-414E-CA52-E77AFF261BC8}"/>
              </a:ext>
            </a:extLst>
          </p:cNvPr>
          <p:cNvSpPr>
            <a:spLocks noGrp="1"/>
          </p:cNvSpPr>
          <p:nvPr>
            <p:ph type="dt" sz="half" idx="10"/>
          </p:nvPr>
        </p:nvSpPr>
        <p:spPr/>
        <p:txBody>
          <a:bodyPr/>
          <a:lstStyle/>
          <a:p>
            <a:fld id="{6D4528C1-82C9-4445-A848-4CBA9F23312B}" type="datetimeFigureOut">
              <a:rPr lang="es-ES" smtClean="0"/>
              <a:t>14/04/2024</a:t>
            </a:fld>
            <a:endParaRPr lang="es-ES"/>
          </a:p>
        </p:txBody>
      </p:sp>
      <p:sp>
        <p:nvSpPr>
          <p:cNvPr id="6" name="Marcador de pie de página 5">
            <a:extLst>
              <a:ext uri="{FF2B5EF4-FFF2-40B4-BE49-F238E27FC236}">
                <a16:creationId xmlns:a16="http://schemas.microsoft.com/office/drawing/2014/main" id="{AD5E8014-1302-B4C8-7D17-5F4C8787FE92}"/>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BB6F6371-277E-CA55-1C44-DF90C0B487EA}"/>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30419553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8F3D7D-6DB8-5CA8-33D8-A03C43B3A891}"/>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B64D5670-BFC0-3DB3-A109-81380518AD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CB36B38D-9A81-E64C-CE8E-3AEE8BAC02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D13425C7-DE0E-64F8-F3F8-B160236A6DAB}"/>
              </a:ext>
            </a:extLst>
          </p:cNvPr>
          <p:cNvSpPr>
            <a:spLocks noGrp="1"/>
          </p:cNvSpPr>
          <p:nvPr>
            <p:ph type="dt" sz="half" idx="10"/>
          </p:nvPr>
        </p:nvSpPr>
        <p:spPr/>
        <p:txBody>
          <a:bodyPr/>
          <a:lstStyle/>
          <a:p>
            <a:fld id="{6D4528C1-82C9-4445-A848-4CBA9F23312B}" type="datetimeFigureOut">
              <a:rPr lang="es-ES" smtClean="0"/>
              <a:t>14/04/2024</a:t>
            </a:fld>
            <a:endParaRPr lang="es-ES"/>
          </a:p>
        </p:txBody>
      </p:sp>
      <p:sp>
        <p:nvSpPr>
          <p:cNvPr id="6" name="Marcador de pie de página 5">
            <a:extLst>
              <a:ext uri="{FF2B5EF4-FFF2-40B4-BE49-F238E27FC236}">
                <a16:creationId xmlns:a16="http://schemas.microsoft.com/office/drawing/2014/main" id="{2E301EDD-7F0A-9740-3332-CBB88123C046}"/>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7B3BE84C-6D96-5ADC-F3AA-6D44DAE245CB}"/>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4431174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767BA53-C170-1009-035B-6DF474E71D27}"/>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D91F61C2-014C-A45F-EB74-9AE786E3CC1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85AA3C9E-EE3D-1DC0-EA4A-7F73CAC9D3E8}"/>
              </a:ext>
            </a:extLst>
          </p:cNvPr>
          <p:cNvSpPr>
            <a:spLocks noGrp="1"/>
          </p:cNvSpPr>
          <p:nvPr>
            <p:ph type="dt" sz="half" idx="10"/>
          </p:nvPr>
        </p:nvSpPr>
        <p:spPr/>
        <p:txBody>
          <a:bodyPr/>
          <a:lstStyle/>
          <a:p>
            <a:fld id="{6D4528C1-82C9-4445-A848-4CBA9F23312B}" type="datetimeFigureOut">
              <a:rPr lang="es-ES" smtClean="0"/>
              <a:t>14/04/2024</a:t>
            </a:fld>
            <a:endParaRPr lang="es-ES"/>
          </a:p>
        </p:txBody>
      </p:sp>
      <p:sp>
        <p:nvSpPr>
          <p:cNvPr id="5" name="Marcador de pie de página 4">
            <a:extLst>
              <a:ext uri="{FF2B5EF4-FFF2-40B4-BE49-F238E27FC236}">
                <a16:creationId xmlns:a16="http://schemas.microsoft.com/office/drawing/2014/main" id="{8334C08C-24E9-70D6-53B2-5821E4F41124}"/>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E1E8F520-0506-EC10-69F1-4C13CCE99709}"/>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33189329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3DCA22DF-B559-E639-75C9-BC3D422A0418}"/>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D854BBD4-C434-4B35-66A5-AFBBAD652C9C}"/>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39FE2F62-687B-D702-F79B-AC39487E9DA1}"/>
              </a:ext>
            </a:extLst>
          </p:cNvPr>
          <p:cNvSpPr>
            <a:spLocks noGrp="1"/>
          </p:cNvSpPr>
          <p:nvPr>
            <p:ph type="dt" sz="half" idx="10"/>
          </p:nvPr>
        </p:nvSpPr>
        <p:spPr/>
        <p:txBody>
          <a:bodyPr/>
          <a:lstStyle/>
          <a:p>
            <a:fld id="{6D4528C1-82C9-4445-A848-4CBA9F23312B}" type="datetimeFigureOut">
              <a:rPr lang="es-ES" smtClean="0"/>
              <a:t>14/04/2024</a:t>
            </a:fld>
            <a:endParaRPr lang="es-ES"/>
          </a:p>
        </p:txBody>
      </p:sp>
      <p:sp>
        <p:nvSpPr>
          <p:cNvPr id="5" name="Marcador de pie de página 4">
            <a:extLst>
              <a:ext uri="{FF2B5EF4-FFF2-40B4-BE49-F238E27FC236}">
                <a16:creationId xmlns:a16="http://schemas.microsoft.com/office/drawing/2014/main" id="{5226CF39-33C2-9BF3-544B-2B7B14464656}"/>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40C9EBFF-3268-DB30-71CF-0042D24CE203}"/>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8073385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F340DA5B-4F04-5E8A-6DE3-71F150CEDA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45B4A1CE-C411-332B-579B-A08B8F347E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D0A8FEF5-8DEC-BE49-ED2C-FC43B05D4DA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4528C1-82C9-4445-A848-4CBA9F23312B}" type="datetimeFigureOut">
              <a:rPr lang="es-ES" smtClean="0"/>
              <a:t>14/04/2024</a:t>
            </a:fld>
            <a:endParaRPr lang="es-ES"/>
          </a:p>
        </p:txBody>
      </p:sp>
      <p:sp>
        <p:nvSpPr>
          <p:cNvPr id="5" name="Marcador de pie de página 4">
            <a:extLst>
              <a:ext uri="{FF2B5EF4-FFF2-40B4-BE49-F238E27FC236}">
                <a16:creationId xmlns:a16="http://schemas.microsoft.com/office/drawing/2014/main" id="{EF70E8C6-1AE4-42A3-03D5-549133C6FF6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a:extLst>
              <a:ext uri="{FF2B5EF4-FFF2-40B4-BE49-F238E27FC236}">
                <a16:creationId xmlns:a16="http://schemas.microsoft.com/office/drawing/2014/main" id="{6A2F828B-082D-E8A8-31BA-02F0F7F041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04C4F5-1195-4895-81EB-16EC24AC6F40}" type="slidenum">
              <a:rPr lang="es-ES" smtClean="0"/>
              <a:t>‹Nº›</a:t>
            </a:fld>
            <a:endParaRPr lang="es-ES"/>
          </a:p>
        </p:txBody>
      </p:sp>
    </p:spTree>
    <p:extLst>
      <p:ext uri="{BB962C8B-B14F-4D97-AF65-F5344CB8AC3E}">
        <p14:creationId xmlns:p14="http://schemas.microsoft.com/office/powerpoint/2010/main" val="12012740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chart" Target="../charts/chart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chart" Target="../charts/chart7.xml"/><Relationship Id="rId1" Type="http://schemas.openxmlformats.org/officeDocument/2006/relationships/slideLayout" Target="../slideLayouts/slideLayout2.xml"/><Relationship Id="rId5" Type="http://schemas.openxmlformats.org/officeDocument/2006/relationships/image" Target="../media/image12.emf"/><Relationship Id="rId4" Type="http://schemas.openxmlformats.org/officeDocument/2006/relationships/image" Target="../media/image150.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chart" Target="../charts/chart8.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B82140-08D3-08F1-4D09-A0DA1C925D1F}"/>
              </a:ext>
            </a:extLst>
          </p:cNvPr>
          <p:cNvSpPr>
            <a:spLocks noGrp="1"/>
          </p:cNvSpPr>
          <p:nvPr>
            <p:ph type="ctrTitle"/>
          </p:nvPr>
        </p:nvSpPr>
        <p:spPr/>
        <p:txBody>
          <a:bodyPr/>
          <a:lstStyle/>
          <a:p>
            <a:r>
              <a:rPr lang="es-ES" sz="1800" b="1" dirty="0">
                <a:effectLst/>
                <a:latin typeface="Times New Roman" panose="02020603050405020304" pitchFamily="18" charset="0"/>
                <a:ea typeface="Times New Roman" panose="02020603050405020304" pitchFamily="18" charset="0"/>
              </a:rPr>
              <a:t>MAESTRIA EN GESTION ECONOMICA Y FINANCIERA DE RIESGOS</a:t>
            </a:r>
            <a:endParaRPr lang="es-AR" dirty="0"/>
          </a:p>
        </p:txBody>
      </p:sp>
      <p:sp>
        <p:nvSpPr>
          <p:cNvPr id="3" name="Subtítulo 2">
            <a:extLst>
              <a:ext uri="{FF2B5EF4-FFF2-40B4-BE49-F238E27FC236}">
                <a16:creationId xmlns:a16="http://schemas.microsoft.com/office/drawing/2014/main" id="{C8DE824A-985B-6EFE-79BC-73F2093AD114}"/>
              </a:ext>
            </a:extLst>
          </p:cNvPr>
          <p:cNvSpPr>
            <a:spLocks noGrp="1"/>
          </p:cNvSpPr>
          <p:nvPr>
            <p:ph type="subTitle" idx="1"/>
          </p:nvPr>
        </p:nvSpPr>
        <p:spPr/>
        <p:txBody>
          <a:bodyPr/>
          <a:lstStyle/>
          <a:p>
            <a:endParaRPr lang="es-ES" sz="1800" b="1" dirty="0">
              <a:effectLst/>
              <a:latin typeface="Arial" panose="020B0604020202020204" pitchFamily="34" charset="0"/>
              <a:ea typeface="Times New Roman" panose="02020603050405020304" pitchFamily="18" charset="0"/>
            </a:endParaRPr>
          </a:p>
          <a:p>
            <a:r>
              <a:rPr lang="es-ES" sz="1800" b="1" dirty="0">
                <a:effectLst/>
                <a:latin typeface="Arial" panose="020B0604020202020204" pitchFamily="34" charset="0"/>
                <a:ea typeface="Times New Roman" panose="02020603050405020304" pitchFamily="18" charset="0"/>
              </a:rPr>
              <a:t>ASIGNATURA:  TÓPICOS DE FINANZAS CORPORATIVAS</a:t>
            </a:r>
          </a:p>
          <a:p>
            <a:endParaRPr lang="es-ES" sz="1800" b="1" dirty="0">
              <a:effectLst/>
              <a:latin typeface="Arial" panose="020B0604020202020204" pitchFamily="34" charset="0"/>
              <a:ea typeface="Times New Roman" panose="02020603050405020304" pitchFamily="18" charset="0"/>
            </a:endParaRPr>
          </a:p>
          <a:p>
            <a:r>
              <a:rPr lang="es-ES" sz="1800" b="1" dirty="0">
                <a:effectLst/>
                <a:latin typeface="Arial" panose="020B0604020202020204" pitchFamily="34" charset="0"/>
                <a:ea typeface="Times New Roman" panose="02020603050405020304" pitchFamily="18" charset="0"/>
              </a:rPr>
              <a:t>DOCENTE:</a:t>
            </a:r>
            <a:r>
              <a:rPr lang="es-ES" sz="1800" dirty="0">
                <a:effectLst/>
                <a:latin typeface="Arial" panose="020B0604020202020204" pitchFamily="34" charset="0"/>
                <a:ea typeface="Times New Roman" panose="02020603050405020304" pitchFamily="18" charset="0"/>
              </a:rPr>
              <a:t> ACT. GUSTAVO GABRIEL GRINBLAT</a:t>
            </a:r>
            <a:endParaRPr lang="es-AR" dirty="0"/>
          </a:p>
        </p:txBody>
      </p:sp>
      <p:pic>
        <p:nvPicPr>
          <p:cNvPr id="4" name="1 Imagen">
            <a:extLst>
              <a:ext uri="{FF2B5EF4-FFF2-40B4-BE49-F238E27FC236}">
                <a16:creationId xmlns:a16="http://schemas.microsoft.com/office/drawing/2014/main" id="{03ECD9A0-F9B9-1F21-C435-4F8087292C62}"/>
              </a:ext>
            </a:extLst>
          </p:cNvPr>
          <p:cNvPicPr/>
          <p:nvPr/>
        </p:nvPicPr>
        <p:blipFill>
          <a:blip r:embed="rId2"/>
          <a:stretch>
            <a:fillRect/>
          </a:stretch>
        </p:blipFill>
        <p:spPr>
          <a:xfrm>
            <a:off x="4009707" y="1764030"/>
            <a:ext cx="4172585" cy="1104265"/>
          </a:xfrm>
          <a:prstGeom prst="rect">
            <a:avLst/>
          </a:prstGeom>
        </p:spPr>
      </p:pic>
    </p:spTree>
    <p:extLst>
      <p:ext uri="{BB962C8B-B14F-4D97-AF65-F5344CB8AC3E}">
        <p14:creationId xmlns:p14="http://schemas.microsoft.com/office/powerpoint/2010/main" val="38476950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Riesgo y tasas de Rendimiento</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92500" lnSpcReduction="10000"/>
          </a:bodyPr>
          <a:lstStyle/>
          <a:p>
            <a:r>
              <a:rPr lang="es-AR" dirty="0"/>
              <a:t>Control de Riesgos en tiempos difíciles</a:t>
            </a:r>
          </a:p>
          <a:p>
            <a:r>
              <a:rPr lang="es-AR" dirty="0"/>
              <a:t>En abril de 1993 el índice S&amp;P tenía un valor de 440, para alcanzar 7 años después los 1.516, pero luego del ataque a las Torres y la recesión subsecuente había perdido casi el 50% de su valor. En 2007 alcanzó nuevamente los 1.500 puntos. La crisis financiera luego lo llevó debajo de los 700, para alcanzar en mayo de 2017 un récord cercano a los 2.400. Hoy está pisando los 4.000</a:t>
            </a:r>
          </a:p>
          <a:p>
            <a:r>
              <a:rPr lang="es-AR" dirty="0"/>
              <a:t>Netflix del 2009 al 2011 aumentó más del 500% desde los USD 6, para luego desplomarse a USD 8 en un año. En mayo 2017 valían USD 156 y hoy cotizan a USD 325</a:t>
            </a:r>
          </a:p>
          <a:p>
            <a:r>
              <a:rPr lang="es-AR" dirty="0"/>
              <a:t>Reducción de riesgos mediante la diversificación de la Cartera, incluyendo Acciones, bonos, materias primas, bienes raíces, Activos extranjeros</a:t>
            </a:r>
          </a:p>
          <a:p>
            <a:endParaRPr lang="es-AR" dirty="0"/>
          </a:p>
        </p:txBody>
      </p:sp>
    </p:spTree>
    <p:extLst>
      <p:ext uri="{BB962C8B-B14F-4D97-AF65-F5344CB8AC3E}">
        <p14:creationId xmlns:p14="http://schemas.microsoft.com/office/powerpoint/2010/main" val="16558132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Riesgo y tasas de Rendimiento</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92500" lnSpcReduction="20000"/>
          </a:bodyPr>
          <a:lstStyle/>
          <a:p>
            <a:pPr marL="0" indent="0">
              <a:buNone/>
            </a:pPr>
            <a:r>
              <a:rPr lang="es-AR" dirty="0"/>
              <a:t>Control de Riesgos en tiempos difíciles</a:t>
            </a:r>
          </a:p>
          <a:p>
            <a:r>
              <a:rPr lang="es-AR" dirty="0"/>
              <a:t>Según el Profesor </a:t>
            </a:r>
            <a:r>
              <a:rPr lang="es-AR" dirty="0" err="1"/>
              <a:t>Nassim</a:t>
            </a:r>
            <a:r>
              <a:rPr lang="es-AR" dirty="0"/>
              <a:t> Taleb (“El cisne negro, el impacto de lo altamente improbable”) un suceso cisne negro tiene tres características</a:t>
            </a:r>
          </a:p>
          <a:p>
            <a:pPr lvl="1"/>
            <a:r>
              <a:rPr lang="es-AR" dirty="0"/>
              <a:t>Es impredecible</a:t>
            </a:r>
          </a:p>
          <a:p>
            <a:pPr lvl="1"/>
            <a:r>
              <a:rPr lang="es-AR" dirty="0"/>
              <a:t>Tiene un impacto enorme</a:t>
            </a:r>
          </a:p>
          <a:p>
            <a:pPr lvl="1"/>
            <a:r>
              <a:rPr lang="es-AR" dirty="0"/>
              <a:t>Una vez ocurrido, inventamos explicaciones para que parezca menos casual y más predecible  </a:t>
            </a:r>
          </a:p>
          <a:p>
            <a:r>
              <a:rPr lang="es-AR" dirty="0"/>
              <a:t>Sucesos Cisne Negro</a:t>
            </a:r>
          </a:p>
          <a:p>
            <a:pPr lvl="1"/>
            <a:r>
              <a:rPr lang="es-AR" dirty="0"/>
              <a:t>Caída de las Punto.com 2000</a:t>
            </a:r>
          </a:p>
          <a:p>
            <a:pPr lvl="1"/>
            <a:r>
              <a:rPr lang="es-AR" dirty="0"/>
              <a:t>Ataque terrorista a las Torres Gemelas 2001</a:t>
            </a:r>
          </a:p>
          <a:p>
            <a:pPr lvl="1"/>
            <a:r>
              <a:rPr lang="es-AR" dirty="0"/>
              <a:t>Crisis Financiera 2008</a:t>
            </a:r>
          </a:p>
          <a:p>
            <a:pPr lvl="1"/>
            <a:r>
              <a:rPr lang="es-AR" dirty="0"/>
              <a:t>Tsunami en Japón 2011</a:t>
            </a:r>
          </a:p>
          <a:p>
            <a:pPr lvl="1"/>
            <a:r>
              <a:rPr lang="es-AR" dirty="0"/>
              <a:t>Coronavirus 2020</a:t>
            </a:r>
          </a:p>
        </p:txBody>
      </p:sp>
    </p:spTree>
    <p:extLst>
      <p:ext uri="{BB962C8B-B14F-4D97-AF65-F5344CB8AC3E}">
        <p14:creationId xmlns:p14="http://schemas.microsoft.com/office/powerpoint/2010/main" val="16242873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Riesgo y tasas de Rendimiento</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a:bodyPr>
          <a:lstStyle/>
          <a:p>
            <a:pPr marL="0" indent="0">
              <a:buNone/>
            </a:pPr>
            <a:r>
              <a:rPr lang="es-AR" dirty="0"/>
              <a:t>Control de Riesgos en tiempos difíciles</a:t>
            </a:r>
          </a:p>
          <a:p>
            <a:pPr marL="0" indent="0">
              <a:buNone/>
            </a:pPr>
            <a:endParaRPr lang="es-AR" dirty="0"/>
          </a:p>
          <a:p>
            <a:pPr marL="0" indent="0">
              <a:buNone/>
            </a:pPr>
            <a:r>
              <a:rPr lang="es-AR" dirty="0"/>
              <a:t>Los sucesos Cisne Negro</a:t>
            </a:r>
          </a:p>
          <a:p>
            <a:r>
              <a:rPr lang="es-AR" dirty="0"/>
              <a:t>Contribuyeron fuertemente a la alta volatilidad</a:t>
            </a:r>
          </a:p>
          <a:p>
            <a:r>
              <a:rPr lang="es-AR" dirty="0"/>
              <a:t>Aun Inversionistas muy diversificados tuvieron grandes pérdidas. Vuelco a Carteras con más efectivo y otros Activos seguros</a:t>
            </a:r>
          </a:p>
        </p:txBody>
      </p:sp>
    </p:spTree>
    <p:extLst>
      <p:ext uri="{BB962C8B-B14F-4D97-AF65-F5344CB8AC3E}">
        <p14:creationId xmlns:p14="http://schemas.microsoft.com/office/powerpoint/2010/main" val="3522439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A10EDB-34B8-1DCF-97C9-12F302BC8DF6}"/>
              </a:ext>
            </a:extLst>
          </p:cNvPr>
          <p:cNvSpPr>
            <a:spLocks noGrp="1"/>
          </p:cNvSpPr>
          <p:nvPr>
            <p:ph type="title"/>
          </p:nvPr>
        </p:nvSpPr>
        <p:spPr/>
        <p:txBody>
          <a:bodyPr/>
          <a:lstStyle/>
          <a:p>
            <a:r>
              <a:rPr lang="es-AR" sz="4400" dirty="0"/>
              <a:t>Riesgo y tasas de Rendimiento</a:t>
            </a:r>
            <a:endParaRPr lang="es-AR" dirty="0"/>
          </a:p>
        </p:txBody>
      </p:sp>
      <p:sp>
        <p:nvSpPr>
          <p:cNvPr id="3" name="Marcador de contenido 2">
            <a:extLst>
              <a:ext uri="{FF2B5EF4-FFF2-40B4-BE49-F238E27FC236}">
                <a16:creationId xmlns:a16="http://schemas.microsoft.com/office/drawing/2014/main" id="{E112CCEE-05C9-5957-23ED-4C2E145EB3E7}"/>
              </a:ext>
            </a:extLst>
          </p:cNvPr>
          <p:cNvSpPr>
            <a:spLocks noGrp="1"/>
          </p:cNvSpPr>
          <p:nvPr>
            <p:ph idx="1"/>
          </p:nvPr>
        </p:nvSpPr>
        <p:spPr/>
        <p:txBody>
          <a:bodyPr/>
          <a:lstStyle/>
          <a:p>
            <a:pPr marL="0" indent="0">
              <a:buNone/>
            </a:pPr>
            <a:r>
              <a:rPr lang="es-AR" dirty="0"/>
              <a:t>El intercambio Riesgo – Rendimiento</a:t>
            </a:r>
          </a:p>
          <a:p>
            <a:pPr marL="0" indent="0">
              <a:buNone/>
            </a:pPr>
            <a:endParaRPr lang="es-AR" dirty="0"/>
          </a:p>
          <a:p>
            <a:r>
              <a:rPr lang="es-AR" dirty="0"/>
              <a:t>Partimos de la premisa que a los Inversionistas les agrada los Rendimientos y les desagradan los riesgos</a:t>
            </a:r>
          </a:p>
          <a:p>
            <a:r>
              <a:rPr lang="es-AR" dirty="0"/>
              <a:t>Para tomar mayor Riesgo exigirán mayores Rendimientos</a:t>
            </a:r>
          </a:p>
          <a:p>
            <a:endParaRPr lang="es-AR" dirty="0"/>
          </a:p>
          <a:p>
            <a:pPr marL="0" indent="0">
              <a:buNone/>
            </a:pPr>
            <a:r>
              <a:rPr lang="es-AR" dirty="0"/>
              <a:t>Veamos el siguiente cuadro de Intercambio entre Riesgo y Rendimiento</a:t>
            </a:r>
          </a:p>
        </p:txBody>
      </p:sp>
    </p:spTree>
    <p:extLst>
      <p:ext uri="{BB962C8B-B14F-4D97-AF65-F5344CB8AC3E}">
        <p14:creationId xmlns:p14="http://schemas.microsoft.com/office/powerpoint/2010/main" val="42172409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A10EDB-34B8-1DCF-97C9-12F302BC8DF6}"/>
              </a:ext>
            </a:extLst>
          </p:cNvPr>
          <p:cNvSpPr>
            <a:spLocks noGrp="1"/>
          </p:cNvSpPr>
          <p:nvPr>
            <p:ph type="title"/>
          </p:nvPr>
        </p:nvSpPr>
        <p:spPr/>
        <p:txBody>
          <a:bodyPr/>
          <a:lstStyle/>
          <a:p>
            <a:r>
              <a:rPr lang="es-AR" sz="4400" dirty="0"/>
              <a:t>Riesgo y tasas de Rendimiento</a:t>
            </a:r>
            <a:endParaRPr lang="es-AR" dirty="0"/>
          </a:p>
        </p:txBody>
      </p:sp>
      <p:graphicFrame>
        <p:nvGraphicFramePr>
          <p:cNvPr id="4" name="Marcador de contenido 3">
            <a:extLst>
              <a:ext uri="{FF2B5EF4-FFF2-40B4-BE49-F238E27FC236}">
                <a16:creationId xmlns:a16="http://schemas.microsoft.com/office/drawing/2014/main" id="{733F7940-2F8B-4A96-8FAA-AA37A7D62D87}"/>
              </a:ext>
            </a:extLst>
          </p:cNvPr>
          <p:cNvGraphicFramePr>
            <a:graphicFrameLocks noGrp="1"/>
          </p:cNvGraphicFramePr>
          <p:nvPr>
            <p:ph idx="1"/>
            <p:extLst>
              <p:ext uri="{D42A27DB-BD31-4B8C-83A1-F6EECF244321}">
                <p14:modId xmlns:p14="http://schemas.microsoft.com/office/powerpoint/2010/main" val="1404852184"/>
              </p:ext>
            </p:extLst>
          </p:nvPr>
        </p:nvGraphicFramePr>
        <p:xfrm>
          <a:off x="838200" y="1825625"/>
          <a:ext cx="10515600" cy="4351338"/>
        </p:xfrm>
        <a:graphic>
          <a:graphicData uri="http://schemas.openxmlformats.org/drawingml/2006/chart">
            <c:chart xmlns:c="http://schemas.openxmlformats.org/drawingml/2006/chart" xmlns:r="http://schemas.openxmlformats.org/officeDocument/2006/relationships" r:id="rId2"/>
          </a:graphicData>
        </a:graphic>
      </p:graphicFrame>
      <p:sp>
        <p:nvSpPr>
          <p:cNvPr id="5" name="CuadroTexto 4">
            <a:extLst>
              <a:ext uri="{FF2B5EF4-FFF2-40B4-BE49-F238E27FC236}">
                <a16:creationId xmlns:a16="http://schemas.microsoft.com/office/drawing/2014/main" id="{E4D92BE6-62F0-7852-E861-24611C1E105D}"/>
              </a:ext>
            </a:extLst>
          </p:cNvPr>
          <p:cNvSpPr txBox="1"/>
          <p:nvPr/>
        </p:nvSpPr>
        <p:spPr>
          <a:xfrm>
            <a:off x="2438400" y="1484243"/>
            <a:ext cx="6387548" cy="369332"/>
          </a:xfrm>
          <a:prstGeom prst="rect">
            <a:avLst/>
          </a:prstGeom>
          <a:noFill/>
        </p:spPr>
        <p:txBody>
          <a:bodyPr wrap="square" rtlCol="0">
            <a:spAutoFit/>
          </a:bodyPr>
          <a:lstStyle/>
          <a:p>
            <a:pPr algn="ctr"/>
            <a:r>
              <a:rPr lang="es-AR" dirty="0"/>
              <a:t>Perspectiva del inversionista individual</a:t>
            </a:r>
          </a:p>
        </p:txBody>
      </p:sp>
      <p:cxnSp>
        <p:nvCxnSpPr>
          <p:cNvPr id="6" name="Conector recto de flecha 5">
            <a:extLst>
              <a:ext uri="{FF2B5EF4-FFF2-40B4-BE49-F238E27FC236}">
                <a16:creationId xmlns:a16="http://schemas.microsoft.com/office/drawing/2014/main" id="{7AACAC6C-463C-16D7-2EE8-B6CF7584B0D5}"/>
              </a:ext>
            </a:extLst>
          </p:cNvPr>
          <p:cNvCxnSpPr/>
          <p:nvPr/>
        </p:nvCxnSpPr>
        <p:spPr>
          <a:xfrm flipV="1">
            <a:off x="3366655" y="2202873"/>
            <a:ext cx="0" cy="290945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 name="Conector recto de flecha 6">
            <a:extLst>
              <a:ext uri="{FF2B5EF4-FFF2-40B4-BE49-F238E27FC236}">
                <a16:creationId xmlns:a16="http://schemas.microsoft.com/office/drawing/2014/main" id="{0D2DF6DE-243F-9354-7498-42A29121582C}"/>
              </a:ext>
            </a:extLst>
          </p:cNvPr>
          <p:cNvCxnSpPr>
            <a:cxnSpLocks/>
          </p:cNvCxnSpPr>
          <p:nvPr/>
        </p:nvCxnSpPr>
        <p:spPr>
          <a:xfrm>
            <a:off x="3519055" y="5264727"/>
            <a:ext cx="703810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2859556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A10EDB-34B8-1DCF-97C9-12F302BC8DF6}"/>
              </a:ext>
            </a:extLst>
          </p:cNvPr>
          <p:cNvSpPr>
            <a:spLocks noGrp="1"/>
          </p:cNvSpPr>
          <p:nvPr>
            <p:ph type="title"/>
          </p:nvPr>
        </p:nvSpPr>
        <p:spPr/>
        <p:txBody>
          <a:bodyPr/>
          <a:lstStyle/>
          <a:p>
            <a:r>
              <a:rPr lang="es-AR" sz="4400" dirty="0"/>
              <a:t>Riesgo y tasas de Rendimiento</a:t>
            </a:r>
            <a:endParaRPr lang="es-AR" dirty="0"/>
          </a:p>
        </p:txBody>
      </p:sp>
      <p:sp>
        <p:nvSpPr>
          <p:cNvPr id="3" name="Marcador de contenido 2">
            <a:extLst>
              <a:ext uri="{FF2B5EF4-FFF2-40B4-BE49-F238E27FC236}">
                <a16:creationId xmlns:a16="http://schemas.microsoft.com/office/drawing/2014/main" id="{E112CCEE-05C9-5957-23ED-4C2E145EB3E7}"/>
              </a:ext>
            </a:extLst>
          </p:cNvPr>
          <p:cNvSpPr>
            <a:spLocks noGrp="1"/>
          </p:cNvSpPr>
          <p:nvPr>
            <p:ph idx="1"/>
          </p:nvPr>
        </p:nvSpPr>
        <p:spPr/>
        <p:txBody>
          <a:bodyPr>
            <a:normAutofit fontScale="85000" lnSpcReduction="20000"/>
          </a:bodyPr>
          <a:lstStyle/>
          <a:p>
            <a:endParaRPr lang="es-AR" dirty="0"/>
          </a:p>
          <a:p>
            <a:endParaRPr lang="es-AR" dirty="0"/>
          </a:p>
          <a:p>
            <a:endParaRPr lang="es-AR" dirty="0"/>
          </a:p>
          <a:p>
            <a:endParaRPr lang="es-AR" dirty="0"/>
          </a:p>
          <a:p>
            <a:endParaRPr lang="es-AR" dirty="0"/>
          </a:p>
          <a:p>
            <a:endParaRPr lang="es-AR" dirty="0"/>
          </a:p>
          <a:p>
            <a:endParaRPr lang="es-AR" dirty="0"/>
          </a:p>
          <a:p>
            <a:endParaRPr lang="es-AR" dirty="0"/>
          </a:p>
          <a:p>
            <a:endParaRPr lang="es-AR" dirty="0"/>
          </a:p>
          <a:p>
            <a:r>
              <a:rPr lang="es-AR" dirty="0"/>
              <a:t>La pendiente de la recta de Riesgo – Rendimiento depende de la disposición del inversionista individual a asumir riesgos. </a:t>
            </a:r>
            <a:r>
              <a:rPr lang="es-AR" sz="2800" dirty="0"/>
              <a:t>Una pendiente más pronunciada indicaría que el inversionista promedio tiene más aversión al Riesgo</a:t>
            </a:r>
          </a:p>
          <a:p>
            <a:endParaRPr lang="es-AR" dirty="0"/>
          </a:p>
        </p:txBody>
      </p:sp>
      <p:graphicFrame>
        <p:nvGraphicFramePr>
          <p:cNvPr id="4" name="Gráfico 3">
            <a:extLst>
              <a:ext uri="{FF2B5EF4-FFF2-40B4-BE49-F238E27FC236}">
                <a16:creationId xmlns:a16="http://schemas.microsoft.com/office/drawing/2014/main" id="{B955FE25-D95E-A3E3-A491-0A30A6CB5633}"/>
              </a:ext>
            </a:extLst>
          </p:cNvPr>
          <p:cNvGraphicFramePr>
            <a:graphicFrameLocks/>
          </p:cNvGraphicFramePr>
          <p:nvPr>
            <p:extLst>
              <p:ext uri="{D42A27DB-BD31-4B8C-83A1-F6EECF244321}">
                <p14:modId xmlns:p14="http://schemas.microsoft.com/office/powerpoint/2010/main" val="2137281697"/>
              </p:ext>
            </p:extLst>
          </p:nvPr>
        </p:nvGraphicFramePr>
        <p:xfrm>
          <a:off x="2445026" y="1752597"/>
          <a:ext cx="6977270" cy="3137453"/>
        </p:xfrm>
        <a:graphic>
          <a:graphicData uri="http://schemas.openxmlformats.org/drawingml/2006/chart">
            <c:chart xmlns:c="http://schemas.openxmlformats.org/drawingml/2006/chart" xmlns:r="http://schemas.openxmlformats.org/officeDocument/2006/relationships" r:id="rId2"/>
          </a:graphicData>
        </a:graphic>
      </p:graphicFrame>
      <p:cxnSp>
        <p:nvCxnSpPr>
          <p:cNvPr id="6" name="Conector recto de flecha 5">
            <a:extLst>
              <a:ext uri="{FF2B5EF4-FFF2-40B4-BE49-F238E27FC236}">
                <a16:creationId xmlns:a16="http://schemas.microsoft.com/office/drawing/2014/main" id="{72852E2D-DF37-2046-9370-26F5156480A0}"/>
              </a:ext>
            </a:extLst>
          </p:cNvPr>
          <p:cNvCxnSpPr/>
          <p:nvPr/>
        </p:nvCxnSpPr>
        <p:spPr>
          <a:xfrm flipV="1">
            <a:off x="2992578" y="1773373"/>
            <a:ext cx="0" cy="290945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 name="Conector recto de flecha 6">
            <a:extLst>
              <a:ext uri="{FF2B5EF4-FFF2-40B4-BE49-F238E27FC236}">
                <a16:creationId xmlns:a16="http://schemas.microsoft.com/office/drawing/2014/main" id="{5385AED2-0B9F-4908-6CC8-A5F72EE782E4}"/>
              </a:ext>
            </a:extLst>
          </p:cNvPr>
          <p:cNvCxnSpPr>
            <a:cxnSpLocks/>
          </p:cNvCxnSpPr>
          <p:nvPr/>
        </p:nvCxnSpPr>
        <p:spPr>
          <a:xfrm>
            <a:off x="3144978" y="4835227"/>
            <a:ext cx="703810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 name="CuadroTexto 7">
            <a:extLst>
              <a:ext uri="{FF2B5EF4-FFF2-40B4-BE49-F238E27FC236}">
                <a16:creationId xmlns:a16="http://schemas.microsoft.com/office/drawing/2014/main" id="{8C85C5B0-8592-0421-A4FF-070F1BC53EE6}"/>
              </a:ext>
            </a:extLst>
          </p:cNvPr>
          <p:cNvSpPr txBox="1"/>
          <p:nvPr/>
        </p:nvSpPr>
        <p:spPr>
          <a:xfrm>
            <a:off x="2438400" y="1484243"/>
            <a:ext cx="6387548" cy="646331"/>
          </a:xfrm>
          <a:prstGeom prst="rect">
            <a:avLst/>
          </a:prstGeom>
          <a:noFill/>
        </p:spPr>
        <p:txBody>
          <a:bodyPr wrap="square" rtlCol="0">
            <a:spAutoFit/>
          </a:bodyPr>
          <a:lstStyle/>
          <a:p>
            <a:pPr algn="ctr"/>
            <a:r>
              <a:rPr lang="es-AR" dirty="0"/>
              <a:t>Perspectiva del inversionista individual – Intercambio Riesgo Rendimiento</a:t>
            </a:r>
          </a:p>
        </p:txBody>
      </p:sp>
      <p:sp>
        <p:nvSpPr>
          <p:cNvPr id="9" name="CuadroTexto 1">
            <a:extLst>
              <a:ext uri="{FF2B5EF4-FFF2-40B4-BE49-F238E27FC236}">
                <a16:creationId xmlns:a16="http://schemas.microsoft.com/office/drawing/2014/main" id="{2A1712A7-7EE8-7565-00D6-7A74E22B3EB8}"/>
              </a:ext>
            </a:extLst>
          </p:cNvPr>
          <p:cNvSpPr txBox="1"/>
          <p:nvPr/>
        </p:nvSpPr>
        <p:spPr>
          <a:xfrm>
            <a:off x="9964882" y="4805523"/>
            <a:ext cx="872836" cy="509951"/>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s-AR" sz="2000" dirty="0"/>
              <a:t>Riesgo</a:t>
            </a:r>
            <a:endParaRPr lang="es-ES" sz="2000" dirty="0"/>
          </a:p>
        </p:txBody>
      </p:sp>
      <p:sp>
        <p:nvSpPr>
          <p:cNvPr id="10" name="CuadroTexto 1">
            <a:extLst>
              <a:ext uri="{FF2B5EF4-FFF2-40B4-BE49-F238E27FC236}">
                <a16:creationId xmlns:a16="http://schemas.microsoft.com/office/drawing/2014/main" id="{30F463C8-8B06-D50D-EEF3-74F439E83F16}"/>
              </a:ext>
            </a:extLst>
          </p:cNvPr>
          <p:cNvSpPr txBox="1"/>
          <p:nvPr/>
        </p:nvSpPr>
        <p:spPr>
          <a:xfrm>
            <a:off x="1354281" y="1542526"/>
            <a:ext cx="1620982" cy="509951"/>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s-AR" sz="2000" dirty="0"/>
              <a:t>Rendimiento</a:t>
            </a:r>
            <a:endParaRPr lang="es-ES" sz="2000" dirty="0"/>
          </a:p>
        </p:txBody>
      </p:sp>
    </p:spTree>
    <p:extLst>
      <p:ext uri="{BB962C8B-B14F-4D97-AF65-F5344CB8AC3E}">
        <p14:creationId xmlns:p14="http://schemas.microsoft.com/office/powerpoint/2010/main" val="218040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A10EDB-34B8-1DCF-97C9-12F302BC8DF6}"/>
              </a:ext>
            </a:extLst>
          </p:cNvPr>
          <p:cNvSpPr>
            <a:spLocks noGrp="1"/>
          </p:cNvSpPr>
          <p:nvPr>
            <p:ph type="title"/>
          </p:nvPr>
        </p:nvSpPr>
        <p:spPr/>
        <p:txBody>
          <a:bodyPr/>
          <a:lstStyle/>
          <a:p>
            <a:r>
              <a:rPr lang="es-AR" sz="4400" dirty="0"/>
              <a:t>Riesgo y tasas de Rendimiento</a:t>
            </a:r>
            <a:endParaRPr lang="es-AR" dirty="0"/>
          </a:p>
        </p:txBody>
      </p:sp>
      <p:graphicFrame>
        <p:nvGraphicFramePr>
          <p:cNvPr id="4" name="Marcador de contenido 3">
            <a:extLst>
              <a:ext uri="{FF2B5EF4-FFF2-40B4-BE49-F238E27FC236}">
                <a16:creationId xmlns:a16="http://schemas.microsoft.com/office/drawing/2014/main" id="{733F7940-2F8B-4A96-8FAA-AA37A7D62D87}"/>
              </a:ext>
            </a:extLst>
          </p:cNvPr>
          <p:cNvGraphicFramePr>
            <a:graphicFrameLocks noGrp="1"/>
          </p:cNvGraphicFramePr>
          <p:nvPr>
            <p:ph idx="1"/>
            <p:extLst>
              <p:ext uri="{D42A27DB-BD31-4B8C-83A1-F6EECF244321}">
                <p14:modId xmlns:p14="http://schemas.microsoft.com/office/powerpoint/2010/main" val="1176290360"/>
              </p:ext>
            </p:extLst>
          </p:nvPr>
        </p:nvGraphicFramePr>
        <p:xfrm>
          <a:off x="838200" y="1825625"/>
          <a:ext cx="10515600" cy="4351338"/>
        </p:xfrm>
        <a:graphic>
          <a:graphicData uri="http://schemas.openxmlformats.org/drawingml/2006/chart">
            <c:chart xmlns:c="http://schemas.openxmlformats.org/drawingml/2006/chart" xmlns:r="http://schemas.openxmlformats.org/officeDocument/2006/relationships" r:id="rId2"/>
          </a:graphicData>
        </a:graphic>
      </p:graphicFrame>
      <p:sp>
        <p:nvSpPr>
          <p:cNvPr id="5" name="CuadroTexto 4">
            <a:extLst>
              <a:ext uri="{FF2B5EF4-FFF2-40B4-BE49-F238E27FC236}">
                <a16:creationId xmlns:a16="http://schemas.microsoft.com/office/drawing/2014/main" id="{E4D92BE6-62F0-7852-E861-24611C1E105D}"/>
              </a:ext>
            </a:extLst>
          </p:cNvPr>
          <p:cNvSpPr txBox="1"/>
          <p:nvPr/>
        </p:nvSpPr>
        <p:spPr>
          <a:xfrm>
            <a:off x="2438400" y="1484243"/>
            <a:ext cx="6387548" cy="769441"/>
          </a:xfrm>
          <a:prstGeom prst="rect">
            <a:avLst/>
          </a:prstGeom>
          <a:noFill/>
        </p:spPr>
        <p:txBody>
          <a:bodyPr wrap="square" rtlCol="0">
            <a:spAutoFit/>
          </a:bodyPr>
          <a:lstStyle/>
          <a:p>
            <a:pPr algn="ctr"/>
            <a:r>
              <a:rPr lang="es-AR" sz="2200" dirty="0"/>
              <a:t>Perspectiva de una compañía que reúne dinero para invertir en proyectos riesgosos</a:t>
            </a:r>
          </a:p>
        </p:txBody>
      </p:sp>
      <p:sp>
        <p:nvSpPr>
          <p:cNvPr id="3" name="CuadroTexto 2">
            <a:extLst>
              <a:ext uri="{FF2B5EF4-FFF2-40B4-BE49-F238E27FC236}">
                <a16:creationId xmlns:a16="http://schemas.microsoft.com/office/drawing/2014/main" id="{F036B797-EF7E-F95E-842D-A309A4B78941}"/>
              </a:ext>
            </a:extLst>
          </p:cNvPr>
          <p:cNvSpPr txBox="1"/>
          <p:nvPr/>
        </p:nvSpPr>
        <p:spPr>
          <a:xfrm>
            <a:off x="1169199" y="5448456"/>
            <a:ext cx="9462053" cy="1107996"/>
          </a:xfrm>
          <a:prstGeom prst="rect">
            <a:avLst/>
          </a:prstGeom>
          <a:noFill/>
        </p:spPr>
        <p:txBody>
          <a:bodyPr wrap="square" rtlCol="0">
            <a:spAutoFit/>
          </a:bodyPr>
          <a:lstStyle/>
          <a:p>
            <a:pPr algn="ctr"/>
            <a:r>
              <a:rPr lang="es-AR" sz="2200" dirty="0"/>
              <a:t>La pendiente de la recta del Costo de Capital depende de la disposición del inversionista promedio en el Mercado a asumir riesgos. Una pendiente más pronunciada indicaría que el inversionista promedio tiene más aversión al Riesgo</a:t>
            </a:r>
          </a:p>
        </p:txBody>
      </p:sp>
      <p:cxnSp>
        <p:nvCxnSpPr>
          <p:cNvPr id="6" name="Conector recto de flecha 5">
            <a:extLst>
              <a:ext uri="{FF2B5EF4-FFF2-40B4-BE49-F238E27FC236}">
                <a16:creationId xmlns:a16="http://schemas.microsoft.com/office/drawing/2014/main" id="{75F4E415-8A9B-9C7F-9DE3-BA195C0C6C5F}"/>
              </a:ext>
            </a:extLst>
          </p:cNvPr>
          <p:cNvCxnSpPr/>
          <p:nvPr/>
        </p:nvCxnSpPr>
        <p:spPr>
          <a:xfrm flipV="1">
            <a:off x="2992578" y="1828786"/>
            <a:ext cx="0" cy="290945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 name="Conector recto de flecha 6">
            <a:extLst>
              <a:ext uri="{FF2B5EF4-FFF2-40B4-BE49-F238E27FC236}">
                <a16:creationId xmlns:a16="http://schemas.microsoft.com/office/drawing/2014/main" id="{B3DDA80E-6468-BC3A-E752-473D6342134D}"/>
              </a:ext>
            </a:extLst>
          </p:cNvPr>
          <p:cNvCxnSpPr>
            <a:cxnSpLocks/>
          </p:cNvCxnSpPr>
          <p:nvPr/>
        </p:nvCxnSpPr>
        <p:spPr>
          <a:xfrm>
            <a:off x="3144978" y="4890640"/>
            <a:ext cx="703810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 name="CuadroTexto 1">
            <a:extLst>
              <a:ext uri="{FF2B5EF4-FFF2-40B4-BE49-F238E27FC236}">
                <a16:creationId xmlns:a16="http://schemas.microsoft.com/office/drawing/2014/main" id="{5E44901F-2D54-C04D-9FE4-C46D49C192C1}"/>
              </a:ext>
            </a:extLst>
          </p:cNvPr>
          <p:cNvSpPr txBox="1"/>
          <p:nvPr/>
        </p:nvSpPr>
        <p:spPr>
          <a:xfrm>
            <a:off x="9964881" y="4860936"/>
            <a:ext cx="1468431" cy="509951"/>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s-AR" sz="2000" dirty="0"/>
              <a:t>Riesgo del Proyecto</a:t>
            </a:r>
            <a:endParaRPr lang="es-ES" sz="2000" dirty="0"/>
          </a:p>
        </p:txBody>
      </p:sp>
      <p:sp>
        <p:nvSpPr>
          <p:cNvPr id="9" name="CuadroTexto 1">
            <a:extLst>
              <a:ext uri="{FF2B5EF4-FFF2-40B4-BE49-F238E27FC236}">
                <a16:creationId xmlns:a16="http://schemas.microsoft.com/office/drawing/2014/main" id="{4CEC3DD8-CC97-C570-684F-4CC9802F529C}"/>
              </a:ext>
            </a:extLst>
          </p:cNvPr>
          <p:cNvSpPr txBox="1"/>
          <p:nvPr/>
        </p:nvSpPr>
        <p:spPr>
          <a:xfrm>
            <a:off x="1201878" y="2152125"/>
            <a:ext cx="1620982" cy="509951"/>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s-AR" sz="2000" dirty="0"/>
              <a:t>Rendimiento del Proyecto</a:t>
            </a:r>
            <a:endParaRPr lang="es-ES" sz="2000" dirty="0"/>
          </a:p>
        </p:txBody>
      </p:sp>
    </p:spTree>
    <p:extLst>
      <p:ext uri="{BB962C8B-B14F-4D97-AF65-F5344CB8AC3E}">
        <p14:creationId xmlns:p14="http://schemas.microsoft.com/office/powerpoint/2010/main" val="22483952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A10EDB-34B8-1DCF-97C9-12F302BC8DF6}"/>
              </a:ext>
            </a:extLst>
          </p:cNvPr>
          <p:cNvSpPr>
            <a:spLocks noGrp="1"/>
          </p:cNvSpPr>
          <p:nvPr>
            <p:ph type="title"/>
          </p:nvPr>
        </p:nvSpPr>
        <p:spPr/>
        <p:txBody>
          <a:bodyPr/>
          <a:lstStyle/>
          <a:p>
            <a:r>
              <a:rPr lang="es-AR" sz="4400" dirty="0"/>
              <a:t>Riesgo y tasas de Rendimiento</a:t>
            </a:r>
            <a:endParaRPr lang="es-AR" dirty="0"/>
          </a:p>
        </p:txBody>
      </p:sp>
      <p:sp>
        <p:nvSpPr>
          <p:cNvPr id="3" name="Marcador de contenido 2">
            <a:extLst>
              <a:ext uri="{FF2B5EF4-FFF2-40B4-BE49-F238E27FC236}">
                <a16:creationId xmlns:a16="http://schemas.microsoft.com/office/drawing/2014/main" id="{E112CCEE-05C9-5957-23ED-4C2E145EB3E7}"/>
              </a:ext>
            </a:extLst>
          </p:cNvPr>
          <p:cNvSpPr>
            <a:spLocks noGrp="1"/>
          </p:cNvSpPr>
          <p:nvPr>
            <p:ph idx="1"/>
          </p:nvPr>
        </p:nvSpPr>
        <p:spPr/>
        <p:txBody>
          <a:bodyPr>
            <a:normAutofit lnSpcReduction="10000"/>
          </a:bodyPr>
          <a:lstStyle/>
          <a:p>
            <a:r>
              <a:rPr lang="es-AR" dirty="0"/>
              <a:t>No es de sorprender que el inversionista más averso al Riesgo tienda a formar Carteras de inversiones de menor Riesgo y Rendimiento, mientras que aquellos con más apetito por el Riesgo tiendan a destinar mayor porcentaje de su dinero a inversiones riesgosas con Rendimientos esperados más elevados</a:t>
            </a:r>
          </a:p>
          <a:p>
            <a:endParaRPr lang="es-AR" dirty="0"/>
          </a:p>
          <a:p>
            <a:r>
              <a:rPr lang="es-AR" dirty="0"/>
              <a:t>La disposición del inversionista promedio varía con el tiempo</a:t>
            </a:r>
          </a:p>
          <a:p>
            <a:endParaRPr lang="es-AR" dirty="0"/>
          </a:p>
          <a:p>
            <a:r>
              <a:rPr lang="es-AR" dirty="0"/>
              <a:t>Antes de la crisis 2008, mayores inversiones en Acciones de alto crecimiento, bonos basura y mercados emergentes</a:t>
            </a:r>
          </a:p>
        </p:txBody>
      </p:sp>
    </p:spTree>
    <p:extLst>
      <p:ext uri="{BB962C8B-B14F-4D97-AF65-F5344CB8AC3E}">
        <p14:creationId xmlns:p14="http://schemas.microsoft.com/office/powerpoint/2010/main" val="37516755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A10EDB-34B8-1DCF-97C9-12F302BC8DF6}"/>
              </a:ext>
            </a:extLst>
          </p:cNvPr>
          <p:cNvSpPr>
            <a:spLocks noGrp="1"/>
          </p:cNvSpPr>
          <p:nvPr>
            <p:ph type="title"/>
          </p:nvPr>
        </p:nvSpPr>
        <p:spPr/>
        <p:txBody>
          <a:bodyPr/>
          <a:lstStyle/>
          <a:p>
            <a:r>
              <a:rPr lang="es-AR" sz="4400" dirty="0"/>
              <a:t>Riesgo y tasas de Rendimiento</a:t>
            </a:r>
            <a:endParaRPr lang="es-AR" dirty="0"/>
          </a:p>
        </p:txBody>
      </p:sp>
      <p:sp>
        <p:nvSpPr>
          <p:cNvPr id="3" name="Marcador de contenido 2">
            <a:extLst>
              <a:ext uri="{FF2B5EF4-FFF2-40B4-BE49-F238E27FC236}">
                <a16:creationId xmlns:a16="http://schemas.microsoft.com/office/drawing/2014/main" id="{E112CCEE-05C9-5957-23ED-4C2E145EB3E7}"/>
              </a:ext>
            </a:extLst>
          </p:cNvPr>
          <p:cNvSpPr>
            <a:spLocks noGrp="1"/>
          </p:cNvSpPr>
          <p:nvPr>
            <p:ph idx="1"/>
          </p:nvPr>
        </p:nvSpPr>
        <p:spPr/>
        <p:txBody>
          <a:bodyPr>
            <a:normAutofit/>
          </a:bodyPr>
          <a:lstStyle/>
          <a:p>
            <a:r>
              <a:rPr lang="es-AR" dirty="0"/>
              <a:t>Después de la crisis, hubo una notoria “estampida a la calidad”, Bonos del Tesoro y Fondos de Mercado de Dinero</a:t>
            </a:r>
          </a:p>
          <a:p>
            <a:endParaRPr lang="es-AR" dirty="0"/>
          </a:p>
          <a:p>
            <a:r>
              <a:rPr lang="es-AR" dirty="0"/>
              <a:t>En todo momento, el objetivo del inversionista debiera ser obtener Rendimientos que compensen el Riesgo percibido, es decir, ubicarse por encima de la recta de Riesgo Rendimiento</a:t>
            </a:r>
          </a:p>
        </p:txBody>
      </p:sp>
    </p:spTree>
    <p:extLst>
      <p:ext uri="{BB962C8B-B14F-4D97-AF65-F5344CB8AC3E}">
        <p14:creationId xmlns:p14="http://schemas.microsoft.com/office/powerpoint/2010/main" val="1415676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A10EDB-34B8-1DCF-97C9-12F302BC8DF6}"/>
              </a:ext>
            </a:extLst>
          </p:cNvPr>
          <p:cNvSpPr>
            <a:spLocks noGrp="1"/>
          </p:cNvSpPr>
          <p:nvPr>
            <p:ph type="title"/>
          </p:nvPr>
        </p:nvSpPr>
        <p:spPr/>
        <p:txBody>
          <a:bodyPr/>
          <a:lstStyle/>
          <a:p>
            <a:r>
              <a:rPr lang="es-AR" sz="4400" dirty="0"/>
              <a:t>Riesgo y tasas de Rendimiento</a:t>
            </a:r>
            <a:endParaRPr lang="es-AR" dirty="0"/>
          </a:p>
        </p:txBody>
      </p:sp>
      <p:sp>
        <p:nvSpPr>
          <p:cNvPr id="3" name="Marcador de contenido 2">
            <a:extLst>
              <a:ext uri="{FF2B5EF4-FFF2-40B4-BE49-F238E27FC236}">
                <a16:creationId xmlns:a16="http://schemas.microsoft.com/office/drawing/2014/main" id="{E112CCEE-05C9-5957-23ED-4C2E145EB3E7}"/>
              </a:ext>
            </a:extLst>
          </p:cNvPr>
          <p:cNvSpPr>
            <a:spLocks noGrp="1"/>
          </p:cNvSpPr>
          <p:nvPr>
            <p:ph idx="1"/>
          </p:nvPr>
        </p:nvSpPr>
        <p:spPr/>
        <p:txBody>
          <a:bodyPr>
            <a:normAutofit fontScale="92500"/>
          </a:bodyPr>
          <a:lstStyle/>
          <a:p>
            <a:pPr marL="0" indent="0">
              <a:buNone/>
            </a:pPr>
            <a:r>
              <a:rPr lang="es-AR" dirty="0"/>
              <a:t>Mirada desde la Gerencia para crear valor para sus accionistas</a:t>
            </a:r>
          </a:p>
          <a:p>
            <a:r>
              <a:rPr lang="es-AR" dirty="0"/>
              <a:t>Si se invierte en proyectos más riesgosos, se debe ofrecer a los Inversionistas (tenedores de bonos y accionistas) Rendimientos esperados más elevados.</a:t>
            </a:r>
          </a:p>
          <a:p>
            <a:r>
              <a:rPr lang="es-AR" dirty="0"/>
              <a:t>A mayor Riesgo de incumplimiento -&gt; mayores tasas por DRP</a:t>
            </a:r>
          </a:p>
          <a:p>
            <a:r>
              <a:rPr lang="es-AR" dirty="0"/>
              <a:t>Del mismo modo, entrar en Inversiones más riesgosas -&gt; mayores Rendimientos para sus accionistas para aumentar el valor de las Acciones</a:t>
            </a:r>
          </a:p>
          <a:p>
            <a:r>
              <a:rPr lang="es-AR" dirty="0"/>
              <a:t>El Rendimiento a ofrecer, recta Riesgo – Rendimiento, es el costo de obtención de Capital del proyecto. Su pendiente indica la disposición del inversionista promedio para asumir riesgos</a:t>
            </a:r>
          </a:p>
          <a:p>
            <a:endParaRPr lang="es-AR" dirty="0"/>
          </a:p>
        </p:txBody>
      </p:sp>
    </p:spTree>
    <p:extLst>
      <p:ext uri="{BB962C8B-B14F-4D97-AF65-F5344CB8AC3E}">
        <p14:creationId xmlns:p14="http://schemas.microsoft.com/office/powerpoint/2010/main" val="25003102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A10EDB-34B8-1DCF-97C9-12F302BC8DF6}"/>
              </a:ext>
            </a:extLst>
          </p:cNvPr>
          <p:cNvSpPr>
            <a:spLocks noGrp="1"/>
          </p:cNvSpPr>
          <p:nvPr>
            <p:ph type="title"/>
          </p:nvPr>
        </p:nvSpPr>
        <p:spPr/>
        <p:txBody>
          <a:bodyPr/>
          <a:lstStyle/>
          <a:p>
            <a:r>
              <a:rPr lang="es-AR" sz="4400" dirty="0"/>
              <a:t>Riesgo y tasas de Rendimiento</a:t>
            </a:r>
            <a:endParaRPr lang="es-AR" dirty="0"/>
          </a:p>
        </p:txBody>
      </p:sp>
      <p:sp>
        <p:nvSpPr>
          <p:cNvPr id="3" name="Marcador de contenido 2">
            <a:extLst>
              <a:ext uri="{FF2B5EF4-FFF2-40B4-BE49-F238E27FC236}">
                <a16:creationId xmlns:a16="http://schemas.microsoft.com/office/drawing/2014/main" id="{E112CCEE-05C9-5957-23ED-4C2E145EB3E7}"/>
              </a:ext>
            </a:extLst>
          </p:cNvPr>
          <p:cNvSpPr>
            <a:spLocks noGrp="1"/>
          </p:cNvSpPr>
          <p:nvPr>
            <p:ph idx="1"/>
          </p:nvPr>
        </p:nvSpPr>
        <p:spPr/>
        <p:txBody>
          <a:bodyPr>
            <a:normAutofit/>
          </a:bodyPr>
          <a:lstStyle/>
          <a:p>
            <a:pPr marL="0" indent="0">
              <a:buNone/>
            </a:pPr>
            <a:r>
              <a:rPr lang="es-AR" dirty="0"/>
              <a:t>Mirada desde la Gerencia para crear valor para sus accionistas</a:t>
            </a:r>
          </a:p>
          <a:p>
            <a:r>
              <a:rPr lang="es-AR" dirty="0"/>
              <a:t>Como veremos más adelante, las compañías crean valor cuando invierten en proyectos en donde los Rendimientos de las inversiones exceden sus Costos de Capital</a:t>
            </a:r>
          </a:p>
          <a:p>
            <a:r>
              <a:rPr lang="es-AR" dirty="0"/>
              <a:t>Nuevamente, esto implica operar por encima de la recta de Riesgo - Rendimiento</a:t>
            </a:r>
          </a:p>
          <a:p>
            <a:endParaRPr lang="es-AR" dirty="0"/>
          </a:p>
          <a:p>
            <a:pPr marL="0" indent="0">
              <a:buNone/>
            </a:pPr>
            <a:r>
              <a:rPr lang="es-AR" dirty="0"/>
              <a:t>Veremos entonces en forma más detallada el concepto de Riesgo, el de Rendimiento y un modelo para estimar el intercambio entre ambos</a:t>
            </a:r>
          </a:p>
        </p:txBody>
      </p:sp>
    </p:spTree>
    <p:extLst>
      <p:ext uri="{BB962C8B-B14F-4D97-AF65-F5344CB8AC3E}">
        <p14:creationId xmlns:p14="http://schemas.microsoft.com/office/powerpoint/2010/main" val="18109756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A10EDB-34B8-1DCF-97C9-12F302BC8DF6}"/>
              </a:ext>
            </a:extLst>
          </p:cNvPr>
          <p:cNvSpPr>
            <a:spLocks noGrp="1"/>
          </p:cNvSpPr>
          <p:nvPr>
            <p:ph type="title"/>
          </p:nvPr>
        </p:nvSpPr>
        <p:spPr/>
        <p:txBody>
          <a:bodyPr/>
          <a:lstStyle/>
          <a:p>
            <a:r>
              <a:rPr lang="es-AR" sz="4400" dirty="0"/>
              <a:t>Riesgo y tasas de Rendimiento</a:t>
            </a:r>
            <a:endParaRPr lang="es-AR" dirty="0"/>
          </a:p>
        </p:txBody>
      </p:sp>
      <p:sp>
        <p:nvSpPr>
          <p:cNvPr id="3" name="Marcador de contenido 2">
            <a:extLst>
              <a:ext uri="{FF2B5EF4-FFF2-40B4-BE49-F238E27FC236}">
                <a16:creationId xmlns:a16="http://schemas.microsoft.com/office/drawing/2014/main" id="{E112CCEE-05C9-5957-23ED-4C2E145EB3E7}"/>
              </a:ext>
            </a:extLst>
          </p:cNvPr>
          <p:cNvSpPr>
            <a:spLocks noGrp="1"/>
          </p:cNvSpPr>
          <p:nvPr>
            <p:ph idx="1"/>
          </p:nvPr>
        </p:nvSpPr>
        <p:spPr/>
        <p:txBody>
          <a:bodyPr/>
          <a:lstStyle/>
          <a:p>
            <a:pPr marL="0" indent="0">
              <a:buNone/>
            </a:pPr>
            <a:r>
              <a:rPr lang="es-AR" dirty="0"/>
              <a:t>Riesgo Individual</a:t>
            </a:r>
          </a:p>
          <a:p>
            <a:r>
              <a:rPr lang="es-AR" dirty="0"/>
              <a:t>Un inconveniente, un peligro, exposición a pérdidas o lesiones</a:t>
            </a:r>
          </a:p>
          <a:p>
            <a:pPr lvl="1"/>
            <a:r>
              <a:rPr lang="es-AR" dirty="0"/>
              <a:t>Paracaidismo, Riesgo de vida</a:t>
            </a:r>
          </a:p>
          <a:p>
            <a:pPr lvl="1"/>
            <a:r>
              <a:rPr lang="es-AR" dirty="0"/>
              <a:t>Apuestas, se arriesga a perder dinero</a:t>
            </a:r>
          </a:p>
          <a:p>
            <a:r>
              <a:rPr lang="es-AR" dirty="0"/>
              <a:t>Invertimos –individuos y empresas- con la expectativa de recibir fondos adicionales en el futuro</a:t>
            </a:r>
          </a:p>
          <a:p>
            <a:pPr lvl="1"/>
            <a:r>
              <a:rPr lang="es-AR" dirty="0"/>
              <a:t>Bonos de bajo Riesgo y bajo Rendimiento</a:t>
            </a:r>
          </a:p>
          <a:p>
            <a:pPr lvl="1"/>
            <a:r>
              <a:rPr lang="es-AR" dirty="0"/>
              <a:t>Acciones especulativas (y no especulativas también), alto Riesgo con la esperanza de obtener mayores Rendimientos </a:t>
            </a:r>
          </a:p>
        </p:txBody>
      </p:sp>
    </p:spTree>
    <p:extLst>
      <p:ext uri="{BB962C8B-B14F-4D97-AF65-F5344CB8AC3E}">
        <p14:creationId xmlns:p14="http://schemas.microsoft.com/office/powerpoint/2010/main" val="26671607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A10EDB-34B8-1DCF-97C9-12F302BC8DF6}"/>
              </a:ext>
            </a:extLst>
          </p:cNvPr>
          <p:cNvSpPr>
            <a:spLocks noGrp="1"/>
          </p:cNvSpPr>
          <p:nvPr>
            <p:ph type="title"/>
          </p:nvPr>
        </p:nvSpPr>
        <p:spPr/>
        <p:txBody>
          <a:bodyPr/>
          <a:lstStyle/>
          <a:p>
            <a:r>
              <a:rPr lang="es-AR" sz="4400" dirty="0"/>
              <a:t>Riesgo y tasas de Rendimiento</a:t>
            </a:r>
            <a:endParaRPr lang="es-AR" dirty="0"/>
          </a:p>
        </p:txBody>
      </p:sp>
      <p:sp>
        <p:nvSpPr>
          <p:cNvPr id="3" name="Marcador de contenido 2">
            <a:extLst>
              <a:ext uri="{FF2B5EF4-FFF2-40B4-BE49-F238E27FC236}">
                <a16:creationId xmlns:a16="http://schemas.microsoft.com/office/drawing/2014/main" id="{E112CCEE-05C9-5957-23ED-4C2E145EB3E7}"/>
              </a:ext>
            </a:extLst>
          </p:cNvPr>
          <p:cNvSpPr>
            <a:spLocks noGrp="1"/>
          </p:cNvSpPr>
          <p:nvPr>
            <p:ph idx="1"/>
          </p:nvPr>
        </p:nvSpPr>
        <p:spPr/>
        <p:txBody>
          <a:bodyPr>
            <a:normAutofit/>
          </a:bodyPr>
          <a:lstStyle/>
          <a:p>
            <a:r>
              <a:rPr lang="es-AR" sz="2400" dirty="0"/>
              <a:t>Riesgo Individual</a:t>
            </a:r>
          </a:p>
          <a:p>
            <a:r>
              <a:rPr lang="es-AR" sz="2400" dirty="0"/>
              <a:t>El Riesgo de un Activo puede analizarse de dos maneras</a:t>
            </a:r>
          </a:p>
          <a:p>
            <a:pPr marL="914400" lvl="1" indent="-457200">
              <a:buFont typeface="+mj-lt"/>
              <a:buAutoNum type="arabicPeriod"/>
            </a:pPr>
            <a:r>
              <a:rPr lang="es-AR" sz="2000" dirty="0"/>
              <a:t>En forma autónoma, donde el Activo se considera por sí solo</a:t>
            </a:r>
          </a:p>
          <a:p>
            <a:pPr marL="914400" lvl="1" indent="-457200">
              <a:buFont typeface="+mj-lt"/>
              <a:buAutoNum type="arabicPeriod"/>
            </a:pPr>
            <a:r>
              <a:rPr lang="es-AR" sz="2000" dirty="0"/>
              <a:t>En el contexto de una Cartera, donde el Activo forma parte de una Cartera junto a varios Activos más</a:t>
            </a:r>
          </a:p>
          <a:p>
            <a:pPr marL="914400" lvl="1" indent="-457200">
              <a:buFont typeface="+mj-lt"/>
              <a:buAutoNum type="arabicPeriod"/>
            </a:pPr>
            <a:endParaRPr lang="es-AR" sz="2000" dirty="0"/>
          </a:p>
          <a:p>
            <a:r>
              <a:rPr lang="es-AR" sz="2400" dirty="0"/>
              <a:t>El Riesgo individual de un Activo es el Riesgo que un inversionista enfrentaría si SÓLO posee ese Activo. No es lo habitual, pero es necesario comprender este Riesgo individual para luego entender el Riesgo en un contexto de Cartera</a:t>
            </a:r>
          </a:p>
          <a:p>
            <a:pPr marL="0" indent="0">
              <a:buNone/>
            </a:pPr>
            <a:endParaRPr lang="es-AR" sz="2400" dirty="0"/>
          </a:p>
          <a:p>
            <a:pPr marL="0" indent="0">
              <a:buNone/>
            </a:pPr>
            <a:r>
              <a:rPr lang="es-AR" sz="2400" dirty="0"/>
              <a:t>Veamos un Ejemplo</a:t>
            </a:r>
          </a:p>
          <a:p>
            <a:endParaRPr lang="es-AR" sz="2400" dirty="0"/>
          </a:p>
        </p:txBody>
      </p:sp>
    </p:spTree>
    <p:extLst>
      <p:ext uri="{BB962C8B-B14F-4D97-AF65-F5344CB8AC3E}">
        <p14:creationId xmlns:p14="http://schemas.microsoft.com/office/powerpoint/2010/main" val="21249798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A10EDB-34B8-1DCF-97C9-12F302BC8DF6}"/>
              </a:ext>
            </a:extLst>
          </p:cNvPr>
          <p:cNvSpPr>
            <a:spLocks noGrp="1"/>
          </p:cNvSpPr>
          <p:nvPr>
            <p:ph type="title"/>
          </p:nvPr>
        </p:nvSpPr>
        <p:spPr/>
        <p:txBody>
          <a:bodyPr/>
          <a:lstStyle/>
          <a:p>
            <a:r>
              <a:rPr lang="es-AR" sz="4400" dirty="0"/>
              <a:t>Riesgo y tasas de Rendimiento</a:t>
            </a:r>
            <a:endParaRPr lang="es-AR" dirty="0"/>
          </a:p>
        </p:txBody>
      </p:sp>
      <p:sp>
        <p:nvSpPr>
          <p:cNvPr id="3" name="Marcador de contenido 2">
            <a:extLst>
              <a:ext uri="{FF2B5EF4-FFF2-40B4-BE49-F238E27FC236}">
                <a16:creationId xmlns:a16="http://schemas.microsoft.com/office/drawing/2014/main" id="{E112CCEE-05C9-5957-23ED-4C2E145EB3E7}"/>
              </a:ext>
            </a:extLst>
          </p:cNvPr>
          <p:cNvSpPr>
            <a:spLocks noGrp="1"/>
          </p:cNvSpPr>
          <p:nvPr>
            <p:ph idx="1"/>
          </p:nvPr>
        </p:nvSpPr>
        <p:spPr/>
        <p:txBody>
          <a:bodyPr>
            <a:normAutofit/>
          </a:bodyPr>
          <a:lstStyle/>
          <a:p>
            <a:pPr marL="0" indent="0">
              <a:buNone/>
            </a:pPr>
            <a:r>
              <a:rPr lang="es-AR" sz="2400" dirty="0"/>
              <a:t>Riesgo Individual</a:t>
            </a:r>
          </a:p>
          <a:p>
            <a:pPr marL="0" indent="0">
              <a:buNone/>
            </a:pPr>
            <a:r>
              <a:rPr lang="es-AR" sz="2400" dirty="0"/>
              <a:t>Ejemplo</a:t>
            </a:r>
          </a:p>
          <a:p>
            <a:r>
              <a:rPr lang="es-AR" sz="2400" dirty="0"/>
              <a:t>Compro un bono del tesoro a corto plazo, con un Rendimiento esperado del 5% ¿Cuáles son los posibles resultados de esta inversión? Asumimos que es libre de Riesgo y por ende es muy sencillo estimar su Rendimiento: 5%</a:t>
            </a:r>
          </a:p>
          <a:p>
            <a:r>
              <a:rPr lang="es-AR" sz="2400" dirty="0"/>
              <a:t>Acciones de una empresa que va a realizar prospectación de petróleo en el Atlántico.</a:t>
            </a:r>
          </a:p>
          <a:p>
            <a:pPr lvl="1"/>
            <a:r>
              <a:rPr lang="es-AR" sz="2000" dirty="0"/>
              <a:t>Podría perder todo su Capital invertido</a:t>
            </a:r>
          </a:p>
          <a:p>
            <a:pPr lvl="1"/>
            <a:r>
              <a:rPr lang="es-AR" sz="2000" dirty="0"/>
              <a:t>Podría obtener un Rendimiento del 1.000% si la empresa es exitosa</a:t>
            </a:r>
          </a:p>
          <a:p>
            <a:pPr lvl="1"/>
            <a:r>
              <a:rPr lang="es-AR" sz="2000" dirty="0"/>
              <a:t>Se podría estimar que, estadísticamente, el Rendimiento esperado es del 20%, aunque podría ir del +1.000 al -100%. O sea que se trata de una Acción muy riesgosa</a:t>
            </a:r>
          </a:p>
          <a:p>
            <a:endParaRPr lang="es-AR" sz="2400" dirty="0"/>
          </a:p>
        </p:txBody>
      </p:sp>
    </p:spTree>
    <p:extLst>
      <p:ext uri="{BB962C8B-B14F-4D97-AF65-F5344CB8AC3E}">
        <p14:creationId xmlns:p14="http://schemas.microsoft.com/office/powerpoint/2010/main" val="13540659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A10EDB-34B8-1DCF-97C9-12F302BC8DF6}"/>
              </a:ext>
            </a:extLst>
          </p:cNvPr>
          <p:cNvSpPr>
            <a:spLocks noGrp="1"/>
          </p:cNvSpPr>
          <p:nvPr>
            <p:ph type="title"/>
          </p:nvPr>
        </p:nvSpPr>
        <p:spPr/>
        <p:txBody>
          <a:bodyPr/>
          <a:lstStyle/>
          <a:p>
            <a:r>
              <a:rPr lang="es-AR" sz="4400" dirty="0"/>
              <a:t>Riesgo y tasas de Rendimiento</a:t>
            </a:r>
            <a:endParaRPr lang="es-AR" dirty="0"/>
          </a:p>
        </p:txBody>
      </p:sp>
      <p:sp>
        <p:nvSpPr>
          <p:cNvPr id="3" name="Marcador de contenido 2">
            <a:extLst>
              <a:ext uri="{FF2B5EF4-FFF2-40B4-BE49-F238E27FC236}">
                <a16:creationId xmlns:a16="http://schemas.microsoft.com/office/drawing/2014/main" id="{E112CCEE-05C9-5957-23ED-4C2E145EB3E7}"/>
              </a:ext>
            </a:extLst>
          </p:cNvPr>
          <p:cNvSpPr>
            <a:spLocks noGrp="1"/>
          </p:cNvSpPr>
          <p:nvPr>
            <p:ph idx="1"/>
          </p:nvPr>
        </p:nvSpPr>
        <p:spPr/>
        <p:txBody>
          <a:bodyPr>
            <a:normAutofit/>
          </a:bodyPr>
          <a:lstStyle/>
          <a:p>
            <a:r>
              <a:rPr lang="es-AR" dirty="0"/>
              <a:t>No debieran emprenderse inversiones donde el retorno esperado no sea lo suficientemente alto como para compensar el Riesgo percibido</a:t>
            </a:r>
          </a:p>
          <a:p>
            <a:endParaRPr lang="es-AR" dirty="0"/>
          </a:p>
          <a:p>
            <a:r>
              <a:rPr lang="es-AR" dirty="0"/>
              <a:t>¿Usted invertiría en estas Acciones si su Rendimiento esperado fuera el mismo que el de los bonos del Tesoro?</a:t>
            </a:r>
          </a:p>
          <a:p>
            <a:endParaRPr lang="es-AR" dirty="0"/>
          </a:p>
          <a:p>
            <a:r>
              <a:rPr lang="es-AR" dirty="0"/>
              <a:t>¿En cuánto tiene que exceder al Rendimiento esperado de los BT para que sea atractivo para usted?</a:t>
            </a:r>
          </a:p>
        </p:txBody>
      </p:sp>
    </p:spTree>
    <p:extLst>
      <p:ext uri="{BB962C8B-B14F-4D97-AF65-F5344CB8AC3E}">
        <p14:creationId xmlns:p14="http://schemas.microsoft.com/office/powerpoint/2010/main" val="28541827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A10EDB-34B8-1DCF-97C9-12F302BC8DF6}"/>
              </a:ext>
            </a:extLst>
          </p:cNvPr>
          <p:cNvSpPr>
            <a:spLocks noGrp="1"/>
          </p:cNvSpPr>
          <p:nvPr>
            <p:ph type="title"/>
          </p:nvPr>
        </p:nvSpPr>
        <p:spPr/>
        <p:txBody>
          <a:bodyPr/>
          <a:lstStyle/>
          <a:p>
            <a:r>
              <a:rPr lang="es-AR" sz="4400" dirty="0"/>
              <a:t>Riesgo y tasas de Rendimiento</a:t>
            </a:r>
            <a:endParaRPr lang="es-AR" dirty="0"/>
          </a:p>
        </p:txBody>
      </p:sp>
      <p:sp>
        <p:nvSpPr>
          <p:cNvPr id="3" name="Marcador de contenido 2">
            <a:extLst>
              <a:ext uri="{FF2B5EF4-FFF2-40B4-BE49-F238E27FC236}">
                <a16:creationId xmlns:a16="http://schemas.microsoft.com/office/drawing/2014/main" id="{E112CCEE-05C9-5957-23ED-4C2E145EB3E7}"/>
              </a:ext>
            </a:extLst>
          </p:cNvPr>
          <p:cNvSpPr>
            <a:spLocks noGrp="1"/>
          </p:cNvSpPr>
          <p:nvPr>
            <p:ph idx="1"/>
          </p:nvPr>
        </p:nvSpPr>
        <p:spPr/>
        <p:txBody>
          <a:bodyPr>
            <a:normAutofit/>
          </a:bodyPr>
          <a:lstStyle/>
          <a:p>
            <a:r>
              <a:rPr lang="es-AR" dirty="0"/>
              <a:t>Necesitamos –entonces- definir el Riesgo con más precisión</a:t>
            </a:r>
          </a:p>
          <a:p>
            <a:endParaRPr lang="es-AR" dirty="0"/>
          </a:p>
          <a:p>
            <a:r>
              <a:rPr lang="es-AR" dirty="0"/>
              <a:t>Veremos también que el Riesgo de un Activo es diferente cuando el mismo se tiene solo, que cuando se tiene formando parte de un grupo o Cartera de Activos</a:t>
            </a:r>
          </a:p>
          <a:p>
            <a:endParaRPr lang="es-AR" dirty="0"/>
          </a:p>
          <a:p>
            <a:r>
              <a:rPr lang="es-AR" dirty="0"/>
              <a:t>Primero evaluaremos el Riesgo individual, y luego aprenderemos a analizar el Riesgo de una Cartera.</a:t>
            </a:r>
          </a:p>
        </p:txBody>
      </p:sp>
    </p:spTree>
    <p:extLst>
      <p:ext uri="{BB962C8B-B14F-4D97-AF65-F5344CB8AC3E}">
        <p14:creationId xmlns:p14="http://schemas.microsoft.com/office/powerpoint/2010/main" val="7777276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A10EDB-34B8-1DCF-97C9-12F302BC8DF6}"/>
              </a:ext>
            </a:extLst>
          </p:cNvPr>
          <p:cNvSpPr>
            <a:spLocks noGrp="1"/>
          </p:cNvSpPr>
          <p:nvPr>
            <p:ph type="title"/>
          </p:nvPr>
        </p:nvSpPr>
        <p:spPr/>
        <p:txBody>
          <a:bodyPr/>
          <a:lstStyle/>
          <a:p>
            <a:r>
              <a:rPr lang="es-AR" sz="4400" dirty="0"/>
              <a:t>Riesgo y tasas de Rendimiento</a:t>
            </a:r>
            <a:endParaRPr lang="es-AR" dirty="0"/>
          </a:p>
        </p:txBody>
      </p:sp>
      <p:sp>
        <p:nvSpPr>
          <p:cNvPr id="3" name="Marcador de contenido 2">
            <a:extLst>
              <a:ext uri="{FF2B5EF4-FFF2-40B4-BE49-F238E27FC236}">
                <a16:creationId xmlns:a16="http://schemas.microsoft.com/office/drawing/2014/main" id="{E112CCEE-05C9-5957-23ED-4C2E145EB3E7}"/>
              </a:ext>
            </a:extLst>
          </p:cNvPr>
          <p:cNvSpPr>
            <a:spLocks noGrp="1"/>
          </p:cNvSpPr>
          <p:nvPr>
            <p:ph idx="1"/>
          </p:nvPr>
        </p:nvSpPr>
        <p:spPr/>
        <p:txBody>
          <a:bodyPr>
            <a:normAutofit/>
          </a:bodyPr>
          <a:lstStyle/>
          <a:p>
            <a:r>
              <a:rPr lang="es-AR" dirty="0"/>
              <a:t>Pero es importante destacar que el Riesgo individual es importante para los dueños de pequeñas empresas</a:t>
            </a:r>
          </a:p>
          <a:p>
            <a:r>
              <a:rPr lang="es-AR" dirty="0"/>
              <a:t>También lo será para nuestro examen de Activos físicos cuando encaremos la presupuestación de Capital</a:t>
            </a:r>
          </a:p>
          <a:p>
            <a:r>
              <a:rPr lang="es-AR" dirty="0"/>
              <a:t>En cuanto a las Acciones y la mayoría de los demás Activos financieros, sin embargo, el Riesgo de una Cartera es el más importante</a:t>
            </a:r>
          </a:p>
          <a:p>
            <a:r>
              <a:rPr lang="es-AR" dirty="0"/>
              <a:t>Pero debemos conocer los elementos clave de ambos tipos de Riesgo </a:t>
            </a:r>
          </a:p>
        </p:txBody>
      </p:sp>
    </p:spTree>
    <p:extLst>
      <p:ext uri="{BB962C8B-B14F-4D97-AF65-F5344CB8AC3E}">
        <p14:creationId xmlns:p14="http://schemas.microsoft.com/office/powerpoint/2010/main" val="16748198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A10EDB-34B8-1DCF-97C9-12F302BC8DF6}"/>
              </a:ext>
            </a:extLst>
          </p:cNvPr>
          <p:cNvSpPr>
            <a:spLocks noGrp="1"/>
          </p:cNvSpPr>
          <p:nvPr>
            <p:ph type="title"/>
          </p:nvPr>
        </p:nvSpPr>
        <p:spPr/>
        <p:txBody>
          <a:bodyPr/>
          <a:lstStyle/>
          <a:p>
            <a:r>
              <a:rPr lang="es-AR" sz="4400" dirty="0"/>
              <a:t>Riesgo y tasas de Rendimiento</a:t>
            </a:r>
            <a:endParaRPr lang="es-AR"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E112CCEE-05C9-5957-23ED-4C2E145EB3E7}"/>
                  </a:ext>
                </a:extLst>
              </p:cNvPr>
              <p:cNvSpPr>
                <a:spLocks noGrp="1"/>
              </p:cNvSpPr>
              <p:nvPr>
                <p:ph idx="1"/>
              </p:nvPr>
            </p:nvSpPr>
            <p:spPr/>
            <p:txBody>
              <a:bodyPr/>
              <a:lstStyle/>
              <a:p>
                <a:r>
                  <a:rPr lang="es-AR" dirty="0"/>
                  <a:t>Medidas estadísticas del Riesgo individual</a:t>
                </a:r>
              </a:p>
              <a:p>
                <a:r>
                  <a:rPr lang="es-AR" dirty="0"/>
                  <a:t>Analizaremos</a:t>
                </a:r>
              </a:p>
              <a:p>
                <a:pPr lvl="1"/>
                <a:r>
                  <a:rPr lang="es-AR" dirty="0"/>
                  <a:t>Distribuciones de Probabilidad</a:t>
                </a:r>
              </a:p>
              <a:p>
                <a:pPr lvl="1"/>
                <a:r>
                  <a:rPr lang="es-AR" dirty="0"/>
                  <a:t>Tasas esperadas de Rendimiento </a:t>
                </a:r>
                <a14:m>
                  <m:oMath xmlns:m="http://schemas.openxmlformats.org/officeDocument/2006/math">
                    <m:acc>
                      <m:accPr>
                        <m:chr m:val="̂"/>
                        <m:ctrlPr>
                          <a:rPr lang="es-AR" i="1" smtClean="0">
                            <a:latin typeface="Cambria Math" panose="02040503050406030204" pitchFamily="18" charset="0"/>
                          </a:rPr>
                        </m:ctrlPr>
                      </m:accPr>
                      <m:e>
                        <m:r>
                          <a:rPr lang="es-AR" b="0" i="1" smtClean="0">
                            <a:latin typeface="Cambria Math" panose="02040503050406030204" pitchFamily="18" charset="0"/>
                          </a:rPr>
                          <m:t>𝑟</m:t>
                        </m:r>
                      </m:e>
                    </m:acc>
                  </m:oMath>
                </a14:m>
                <a:r>
                  <a:rPr lang="es-AR" dirty="0"/>
                  <a:t> (sombrero significa estimación)</a:t>
                </a:r>
              </a:p>
              <a:p>
                <a:pPr lvl="1"/>
                <a:r>
                  <a:rPr lang="es-AR" dirty="0"/>
                  <a:t>Tasas históricas de Rendimiento, </a:t>
                </a:r>
                <a14:m>
                  <m:oMath xmlns:m="http://schemas.openxmlformats.org/officeDocument/2006/math">
                    <m:acc>
                      <m:accPr>
                        <m:chr m:val="̅"/>
                        <m:ctrlPr>
                          <a:rPr lang="es-AR" i="1" smtClean="0">
                            <a:latin typeface="Cambria Math" panose="02040503050406030204" pitchFamily="18" charset="0"/>
                          </a:rPr>
                        </m:ctrlPr>
                      </m:accPr>
                      <m:e>
                        <m:r>
                          <a:rPr lang="es-AR" b="0" i="1" smtClean="0">
                            <a:latin typeface="Cambria Math" panose="02040503050406030204" pitchFamily="18" charset="0"/>
                          </a:rPr>
                          <m:t>𝑟</m:t>
                        </m:r>
                      </m:e>
                    </m:acc>
                  </m:oMath>
                </a14:m>
                <a:r>
                  <a:rPr lang="es-AR" dirty="0"/>
                  <a:t> </a:t>
                </a:r>
                <a14:m>
                  <m:oMath xmlns:m="http://schemas.openxmlformats.org/officeDocument/2006/math">
                    <m:r>
                      <a:rPr lang="es-AR">
                        <a:latin typeface="Cambria Math" panose="02040503050406030204" pitchFamily="18" charset="0"/>
                      </a:rPr>
                      <m:t>(</m:t>
                    </m:r>
                    <m:r>
                      <m:rPr>
                        <m:sty m:val="p"/>
                      </m:rPr>
                      <a:rPr lang="es-AR">
                        <a:latin typeface="Cambria Math" panose="02040503050406030204" pitchFamily="18" charset="0"/>
                      </a:rPr>
                      <m:t>la</m:t>
                    </m:r>
                    <m:r>
                      <a:rPr lang="es-AR">
                        <a:latin typeface="Cambria Math" panose="02040503050406030204" pitchFamily="18" charset="0"/>
                      </a:rPr>
                      <m:t> </m:t>
                    </m:r>
                    <m:r>
                      <m:rPr>
                        <m:sty m:val="p"/>
                      </m:rPr>
                      <a:rPr lang="es-AR">
                        <a:latin typeface="Cambria Math" panose="02040503050406030204" pitchFamily="18" charset="0"/>
                      </a:rPr>
                      <m:t>barra</m:t>
                    </m:r>
                    <m:r>
                      <a:rPr lang="es-AR">
                        <a:latin typeface="Cambria Math" panose="02040503050406030204" pitchFamily="18" charset="0"/>
                      </a:rPr>
                      <m:t> </m:t>
                    </m:r>
                    <m:r>
                      <m:rPr>
                        <m:sty m:val="p"/>
                      </m:rPr>
                      <a:rPr lang="es-AR">
                        <a:latin typeface="Cambria Math" panose="02040503050406030204" pitchFamily="18" charset="0"/>
                      </a:rPr>
                      <m:t>implica</m:t>
                    </m:r>
                    <m:r>
                      <a:rPr lang="es-AR">
                        <a:latin typeface="Cambria Math" panose="02040503050406030204" pitchFamily="18" charset="0"/>
                      </a:rPr>
                      <m:t> </m:t>
                    </m:r>
                    <m:r>
                      <m:rPr>
                        <m:sty m:val="p"/>
                      </m:rPr>
                      <a:rPr lang="es-AR">
                        <a:latin typeface="Cambria Math" panose="02040503050406030204" pitchFamily="18" charset="0"/>
                      </a:rPr>
                      <m:t>promedio</m:t>
                    </m:r>
                    <m:r>
                      <a:rPr lang="es-AR">
                        <a:latin typeface="Cambria Math" panose="02040503050406030204" pitchFamily="18" charset="0"/>
                      </a:rPr>
                      <m:t>)</m:t>
                    </m:r>
                  </m:oMath>
                </a14:m>
                <a:endParaRPr lang="es-AR" dirty="0"/>
              </a:p>
              <a:p>
                <a:pPr lvl="1"/>
                <a:r>
                  <a:rPr lang="es-AR" dirty="0"/>
                  <a:t>Desvío estándar, σ (Sigma)</a:t>
                </a:r>
              </a:p>
              <a:p>
                <a:pPr lvl="1"/>
                <a:r>
                  <a:rPr lang="es-AR" dirty="0"/>
                  <a:t>Coeficiente de Variación (CV)</a:t>
                </a:r>
              </a:p>
              <a:p>
                <a:pPr lvl="1"/>
                <a:r>
                  <a:rPr lang="es-AR" dirty="0"/>
                  <a:t>Razón de Sharpe</a:t>
                </a:r>
              </a:p>
            </p:txBody>
          </p:sp>
        </mc:Choice>
        <mc:Fallback xmlns="">
          <p:sp>
            <p:nvSpPr>
              <p:cNvPr id="3" name="Marcador de contenido 2">
                <a:extLst>
                  <a:ext uri="{FF2B5EF4-FFF2-40B4-BE49-F238E27FC236}">
                    <a16:creationId xmlns:a16="http://schemas.microsoft.com/office/drawing/2014/main" id="{E112CCEE-05C9-5957-23ED-4C2E145EB3E7}"/>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s-ES">
                    <a:noFill/>
                  </a:rPr>
                  <a:t> </a:t>
                </a:r>
              </a:p>
            </p:txBody>
          </p:sp>
        </mc:Fallback>
      </mc:AlternateContent>
    </p:spTree>
    <p:extLst>
      <p:ext uri="{BB962C8B-B14F-4D97-AF65-F5344CB8AC3E}">
        <p14:creationId xmlns:p14="http://schemas.microsoft.com/office/powerpoint/2010/main" val="20573255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A10EDB-34B8-1DCF-97C9-12F302BC8DF6}"/>
              </a:ext>
            </a:extLst>
          </p:cNvPr>
          <p:cNvSpPr>
            <a:spLocks noGrp="1"/>
          </p:cNvSpPr>
          <p:nvPr>
            <p:ph type="title"/>
          </p:nvPr>
        </p:nvSpPr>
        <p:spPr/>
        <p:txBody>
          <a:bodyPr/>
          <a:lstStyle/>
          <a:p>
            <a:r>
              <a:rPr lang="es-AR" sz="4400" dirty="0"/>
              <a:t>Riesgo y tasas de Rendimiento</a:t>
            </a:r>
            <a:endParaRPr lang="es-AR"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E112CCEE-05C9-5957-23ED-4C2E145EB3E7}"/>
                  </a:ext>
                </a:extLst>
              </p:cNvPr>
              <p:cNvSpPr>
                <a:spLocks noGrp="1"/>
              </p:cNvSpPr>
              <p:nvPr>
                <p:ph idx="1"/>
              </p:nvPr>
            </p:nvSpPr>
            <p:spPr/>
            <p:txBody>
              <a:bodyPr>
                <a:normAutofit lnSpcReduction="10000"/>
              </a:bodyPr>
              <a:lstStyle/>
              <a:p>
                <a:r>
                  <a:rPr lang="es-AR" dirty="0"/>
                  <a:t>Medición del Riesgo individual: El desvío estándar </a:t>
                </a:r>
              </a:p>
              <a:p>
                <a:r>
                  <a:rPr lang="es-AR" dirty="0"/>
                  <a:t>Es útil medir el Riesgo para comparar</a:t>
                </a:r>
              </a:p>
              <a:p>
                <a:r>
                  <a:rPr lang="es-AR" dirty="0"/>
                  <a:t>Hay distintas formas de medir el Riesgo</a:t>
                </a:r>
              </a:p>
              <a:p>
                <a:r>
                  <a:rPr lang="es-AR" dirty="0"/>
                  <a:t>Usaremos el desvío estándar como medida</a:t>
                </a:r>
              </a:p>
              <a:p>
                <a:pPr lvl="1"/>
                <a:endParaRPr lang="es-AR" dirty="0"/>
              </a:p>
              <a:p>
                <a:pPr marL="0" indent="0">
                  <a:buNone/>
                </a:pPr>
                <a:r>
                  <a:rPr lang="es-AR" sz="2600" dirty="0"/>
                  <a:t>Desvío estándar, distribución. σ=</a:t>
                </a:r>
                <a14:m>
                  <m:oMath xmlns:m="http://schemas.openxmlformats.org/officeDocument/2006/math">
                    <m:rad>
                      <m:radPr>
                        <m:degHide m:val="on"/>
                        <m:ctrlPr>
                          <a:rPr lang="es-AR" sz="2600" i="1" smtClean="0">
                            <a:latin typeface="Cambria Math" panose="02040503050406030204" pitchFamily="18" charset="0"/>
                          </a:rPr>
                        </m:ctrlPr>
                      </m:radPr>
                      <m:deg/>
                      <m:e>
                        <m:nary>
                          <m:naryPr>
                            <m:chr m:val="∑"/>
                            <m:ctrlPr>
                              <a:rPr lang="es-AR" sz="2600" i="1" smtClean="0">
                                <a:latin typeface="Cambria Math" panose="02040503050406030204" pitchFamily="18" charset="0"/>
                              </a:rPr>
                            </m:ctrlPr>
                          </m:naryPr>
                          <m:sub>
                            <m:r>
                              <m:rPr>
                                <m:brk m:alnAt="23"/>
                              </m:rPr>
                              <a:rPr lang="es-AR" sz="2600" b="0" i="1" smtClean="0">
                                <a:latin typeface="Cambria Math" panose="02040503050406030204" pitchFamily="18" charset="0"/>
                              </a:rPr>
                              <m:t>𝑖</m:t>
                            </m:r>
                            <m:r>
                              <a:rPr lang="es-AR" sz="2600" b="0" i="1" smtClean="0">
                                <a:latin typeface="Cambria Math" panose="02040503050406030204" pitchFamily="18" charset="0"/>
                              </a:rPr>
                              <m:t>=</m:t>
                            </m:r>
                            <m:r>
                              <a:rPr lang="es-AR" sz="2600" b="0" i="1" smtClean="0">
                                <a:latin typeface="Cambria Math" panose="02040503050406030204" pitchFamily="18" charset="0"/>
                              </a:rPr>
                              <m:t>1</m:t>
                            </m:r>
                          </m:sub>
                          <m:sup>
                            <m:r>
                              <a:rPr lang="es-AR" sz="2600" b="0" i="1" smtClean="0">
                                <a:latin typeface="Cambria Math" panose="02040503050406030204" pitchFamily="18" charset="0"/>
                              </a:rPr>
                              <m:t>𝑁</m:t>
                            </m:r>
                          </m:sup>
                          <m:e>
                            <m:sSup>
                              <m:sSupPr>
                                <m:ctrlPr>
                                  <a:rPr lang="es-AR" sz="2600" i="1" smtClean="0">
                                    <a:latin typeface="Cambria Math" panose="02040503050406030204" pitchFamily="18" charset="0"/>
                                  </a:rPr>
                                </m:ctrlPr>
                              </m:sSupPr>
                              <m:e>
                                <m:r>
                                  <a:rPr lang="es-AR" sz="2600" b="0" i="1" smtClean="0">
                                    <a:latin typeface="Cambria Math" panose="02040503050406030204" pitchFamily="18" charset="0"/>
                                  </a:rPr>
                                  <m:t>(</m:t>
                                </m:r>
                                <m:sSub>
                                  <m:sSubPr>
                                    <m:ctrlPr>
                                      <a:rPr lang="es-AR" sz="2600" b="0" i="1" smtClean="0">
                                        <a:latin typeface="Cambria Math" panose="02040503050406030204" pitchFamily="18" charset="0"/>
                                      </a:rPr>
                                    </m:ctrlPr>
                                  </m:sSubPr>
                                  <m:e>
                                    <m:r>
                                      <a:rPr lang="es-AR" sz="2600" b="0" i="1" smtClean="0">
                                        <a:latin typeface="Cambria Math" panose="02040503050406030204" pitchFamily="18" charset="0"/>
                                      </a:rPr>
                                      <m:t>𝑟</m:t>
                                    </m:r>
                                  </m:e>
                                  <m:sub>
                                    <m:r>
                                      <a:rPr lang="es-AR" sz="2600" b="0" i="1" smtClean="0">
                                        <a:latin typeface="Cambria Math" panose="02040503050406030204" pitchFamily="18" charset="0"/>
                                      </a:rPr>
                                      <m:t>𝑖</m:t>
                                    </m:r>
                                    <m:r>
                                      <a:rPr lang="es-AR" sz="2600" b="0" i="1" smtClean="0">
                                        <a:latin typeface="Cambria Math" panose="02040503050406030204" pitchFamily="18" charset="0"/>
                                      </a:rPr>
                                      <m:t>−</m:t>
                                    </m:r>
                                  </m:sub>
                                </m:sSub>
                                <m:acc>
                                  <m:accPr>
                                    <m:chr m:val="̅"/>
                                    <m:ctrlPr>
                                      <a:rPr lang="es-AR" sz="2600" b="0" i="1" smtClean="0">
                                        <a:latin typeface="Cambria Math" panose="02040503050406030204" pitchFamily="18" charset="0"/>
                                      </a:rPr>
                                    </m:ctrlPr>
                                  </m:accPr>
                                  <m:e>
                                    <m:r>
                                      <a:rPr lang="es-AR" sz="2600" b="0" i="1" smtClean="0">
                                        <a:latin typeface="Cambria Math" panose="02040503050406030204" pitchFamily="18" charset="0"/>
                                      </a:rPr>
                                      <m:t>𝑟</m:t>
                                    </m:r>
                                  </m:e>
                                </m:acc>
                                <m:r>
                                  <a:rPr lang="es-AR" sz="2600" b="0" i="0" smtClean="0">
                                    <a:latin typeface="Cambria Math" panose="02040503050406030204" pitchFamily="18" charset="0"/>
                                  </a:rPr>
                                  <m:t>) ̂</m:t>
                                </m:r>
                              </m:e>
                              <m:sup>
                                <m:r>
                                  <a:rPr lang="es-AR" sz="2600" b="0" i="1" smtClean="0">
                                    <a:latin typeface="Cambria Math" panose="02040503050406030204" pitchFamily="18" charset="0"/>
                                  </a:rPr>
                                  <m:t>2</m:t>
                                </m:r>
                              </m:sup>
                            </m:sSup>
                            <m:r>
                              <a:rPr lang="es-AR" sz="2600" b="0" i="1" smtClean="0">
                                <a:latin typeface="Cambria Math" panose="02040503050406030204" pitchFamily="18" charset="0"/>
                              </a:rPr>
                              <m:t>∗</m:t>
                            </m:r>
                            <m:sSub>
                              <m:sSubPr>
                                <m:ctrlPr>
                                  <a:rPr lang="es-AR" sz="2600" b="0" i="1" smtClean="0">
                                    <a:latin typeface="Cambria Math" panose="02040503050406030204" pitchFamily="18" charset="0"/>
                                  </a:rPr>
                                </m:ctrlPr>
                              </m:sSubPr>
                              <m:e>
                                <m:r>
                                  <a:rPr lang="es-AR" sz="2600" b="0" i="1" smtClean="0">
                                    <a:latin typeface="Cambria Math" panose="02040503050406030204" pitchFamily="18" charset="0"/>
                                  </a:rPr>
                                  <m:t>𝑃𝑟𝑜𝑏</m:t>
                                </m:r>
                              </m:e>
                              <m:sub>
                                <m:r>
                                  <a:rPr lang="es-AR" sz="2600" b="0" i="1" smtClean="0">
                                    <a:latin typeface="Cambria Math" panose="02040503050406030204" pitchFamily="18" charset="0"/>
                                  </a:rPr>
                                  <m:t>𝑖</m:t>
                                </m:r>
                              </m:sub>
                            </m:sSub>
                          </m:e>
                        </m:nary>
                      </m:e>
                    </m:rad>
                  </m:oMath>
                </a14:m>
                <a:endParaRPr lang="es-AR" sz="2600" dirty="0"/>
              </a:p>
              <a:p>
                <a:pPr marL="0" indent="0">
                  <a:buNone/>
                </a:pPr>
                <a:endParaRPr lang="es-AR" sz="2600" dirty="0"/>
              </a:p>
              <a:p>
                <a:pPr marL="0" indent="0">
                  <a:buNone/>
                </a:pPr>
                <a:r>
                  <a:rPr lang="es-AR" sz="2400" dirty="0"/>
                  <a:t>Estimación del desvío estándar, muestra</a:t>
                </a:r>
                <a14:m>
                  <m:oMath xmlns:m="http://schemas.openxmlformats.org/officeDocument/2006/math">
                    <m:r>
                      <a:rPr lang="es-AR" sz="2600" b="0" i="0" smtClean="0">
                        <a:latin typeface="Cambria Math" panose="02040503050406030204" pitchFamily="18" charset="0"/>
                      </a:rPr>
                      <m:t>. </m:t>
                    </m:r>
                    <m:r>
                      <m:rPr>
                        <m:sty m:val="p"/>
                      </m:rPr>
                      <a:rPr lang="es-AR" sz="2600" b="0" i="0" smtClean="0">
                        <a:latin typeface="Cambria Math" panose="02040503050406030204" pitchFamily="18" charset="0"/>
                      </a:rPr>
                      <m:t>σ</m:t>
                    </m:r>
                    <m:r>
                      <a:rPr lang="es-AR" sz="2600" b="0" i="0" smtClean="0">
                        <a:latin typeface="Cambria Math" panose="02040503050406030204" pitchFamily="18" charset="0"/>
                      </a:rPr>
                      <m:t>=</m:t>
                    </m:r>
                    <m:rad>
                      <m:radPr>
                        <m:degHide m:val="on"/>
                        <m:ctrlPr>
                          <a:rPr lang="es-AR" sz="2600" i="1" smtClean="0">
                            <a:latin typeface="Cambria Math" panose="02040503050406030204" pitchFamily="18" charset="0"/>
                          </a:rPr>
                        </m:ctrlPr>
                      </m:radPr>
                      <m:deg/>
                      <m:e>
                        <m:f>
                          <m:fPr>
                            <m:ctrlPr>
                              <a:rPr lang="es-AR" sz="2600" i="1" smtClean="0">
                                <a:latin typeface="Cambria Math" panose="02040503050406030204" pitchFamily="18" charset="0"/>
                              </a:rPr>
                            </m:ctrlPr>
                          </m:fPr>
                          <m:num>
                            <m:nary>
                              <m:naryPr>
                                <m:chr m:val="∑"/>
                                <m:ctrlPr>
                                  <a:rPr lang="es-AR" sz="2600" i="1">
                                    <a:latin typeface="Cambria Math" panose="02040503050406030204" pitchFamily="18" charset="0"/>
                                  </a:rPr>
                                </m:ctrlPr>
                              </m:naryPr>
                              <m:sub>
                                <m:r>
                                  <m:rPr>
                                    <m:brk m:alnAt="23"/>
                                  </m:rPr>
                                  <a:rPr lang="es-AR" sz="2600" i="1">
                                    <a:latin typeface="Cambria Math" panose="02040503050406030204" pitchFamily="18" charset="0"/>
                                  </a:rPr>
                                  <m:t>𝑖</m:t>
                                </m:r>
                                <m:r>
                                  <a:rPr lang="es-AR" sz="2600" i="1">
                                    <a:latin typeface="Cambria Math" panose="02040503050406030204" pitchFamily="18" charset="0"/>
                                  </a:rPr>
                                  <m:t>=</m:t>
                                </m:r>
                                <m:r>
                                  <a:rPr lang="es-AR" sz="2600" i="1">
                                    <a:latin typeface="Cambria Math" panose="02040503050406030204" pitchFamily="18" charset="0"/>
                                  </a:rPr>
                                  <m:t>1</m:t>
                                </m:r>
                              </m:sub>
                              <m:sup>
                                <m:r>
                                  <a:rPr lang="es-AR" sz="2600" i="1">
                                    <a:latin typeface="Cambria Math" panose="02040503050406030204" pitchFamily="18" charset="0"/>
                                  </a:rPr>
                                  <m:t>𝑁</m:t>
                                </m:r>
                              </m:sup>
                              <m:e>
                                <m:sSup>
                                  <m:sSupPr>
                                    <m:ctrlPr>
                                      <a:rPr lang="es-AR" sz="2600" i="1" smtClean="0">
                                        <a:latin typeface="Cambria Math" panose="02040503050406030204" pitchFamily="18" charset="0"/>
                                      </a:rPr>
                                    </m:ctrlPr>
                                  </m:sSupPr>
                                  <m:e>
                                    <m:r>
                                      <a:rPr lang="es-AR" sz="2600" b="0" i="1" smtClean="0">
                                        <a:latin typeface="Cambria Math" panose="02040503050406030204" pitchFamily="18" charset="0"/>
                                      </a:rPr>
                                      <m:t>(</m:t>
                                    </m:r>
                                    <m:acc>
                                      <m:accPr>
                                        <m:chr m:val="̅"/>
                                        <m:ctrlPr>
                                          <a:rPr lang="es-AR" sz="2600" b="0" i="1" smtClean="0">
                                            <a:latin typeface="Cambria Math" panose="02040503050406030204" pitchFamily="18" charset="0"/>
                                          </a:rPr>
                                        </m:ctrlPr>
                                      </m:accPr>
                                      <m:e>
                                        <m:sSub>
                                          <m:sSubPr>
                                            <m:ctrlPr>
                                              <a:rPr lang="es-AR" sz="2600" b="0" i="1" smtClean="0">
                                                <a:latin typeface="Cambria Math" panose="02040503050406030204" pitchFamily="18" charset="0"/>
                                              </a:rPr>
                                            </m:ctrlPr>
                                          </m:sSubPr>
                                          <m:e>
                                            <m:r>
                                              <a:rPr lang="es-AR" sz="2600" b="0" i="1" smtClean="0">
                                                <a:latin typeface="Cambria Math" panose="02040503050406030204" pitchFamily="18" charset="0"/>
                                              </a:rPr>
                                              <m:t>𝑟</m:t>
                                            </m:r>
                                          </m:e>
                                          <m:sub>
                                            <m:r>
                                              <a:rPr lang="es-AR" sz="2600" b="0" i="1" smtClean="0">
                                                <a:latin typeface="Cambria Math" panose="02040503050406030204" pitchFamily="18" charset="0"/>
                                              </a:rPr>
                                              <m:t>𝑡</m:t>
                                            </m:r>
                                          </m:sub>
                                        </m:sSub>
                                      </m:e>
                                    </m:acc>
                                    <m:r>
                                      <a:rPr lang="es-AR" sz="2600" b="0" i="1" smtClean="0">
                                        <a:latin typeface="Cambria Math" panose="02040503050406030204" pitchFamily="18" charset="0"/>
                                      </a:rPr>
                                      <m:t> − </m:t>
                                    </m:r>
                                    <m:acc>
                                      <m:accPr>
                                        <m:chr m:val="̅"/>
                                        <m:ctrlPr>
                                          <a:rPr lang="es-AR" sz="2600" b="0" i="1" smtClean="0">
                                            <a:latin typeface="Cambria Math" panose="02040503050406030204" pitchFamily="18" charset="0"/>
                                          </a:rPr>
                                        </m:ctrlPr>
                                      </m:accPr>
                                      <m:e>
                                        <m:sSub>
                                          <m:sSubPr>
                                            <m:ctrlPr>
                                              <a:rPr lang="es-AR" sz="2600" b="0" i="1" smtClean="0">
                                                <a:latin typeface="Cambria Math" panose="02040503050406030204" pitchFamily="18" charset="0"/>
                                              </a:rPr>
                                            </m:ctrlPr>
                                          </m:sSubPr>
                                          <m:e>
                                            <m:r>
                                              <a:rPr lang="es-AR" sz="2600" b="0" i="1" smtClean="0">
                                                <a:latin typeface="Cambria Math" panose="02040503050406030204" pitchFamily="18" charset="0"/>
                                              </a:rPr>
                                              <m:t>𝑟</m:t>
                                            </m:r>
                                          </m:e>
                                          <m:sub>
                                            <m:r>
                                              <a:rPr lang="es-AR" sz="2600" b="0" i="1" smtClean="0">
                                                <a:latin typeface="Cambria Math" panose="02040503050406030204" pitchFamily="18" charset="0"/>
                                              </a:rPr>
                                              <m:t>𝑝𝑟𝑜𝑚</m:t>
                                            </m:r>
                                          </m:sub>
                                        </m:sSub>
                                      </m:e>
                                    </m:acc>
                                    <m:r>
                                      <a:rPr lang="es-AR" sz="2600" b="0" i="1" smtClean="0">
                                        <a:latin typeface="Cambria Math" panose="02040503050406030204" pitchFamily="18" charset="0"/>
                                      </a:rPr>
                                      <m:t>)</m:t>
                                    </m:r>
                                  </m:e>
                                  <m:sup>
                                    <m:r>
                                      <a:rPr lang="es-AR" sz="2600" b="0" i="1" smtClean="0">
                                        <a:latin typeface="Cambria Math" panose="02040503050406030204" pitchFamily="18" charset="0"/>
                                      </a:rPr>
                                      <m:t>2</m:t>
                                    </m:r>
                                  </m:sup>
                                </m:sSup>
                              </m:e>
                            </m:nary>
                          </m:num>
                          <m:den>
                            <m:r>
                              <a:rPr lang="es-AR" sz="2600" b="0" i="1" smtClean="0">
                                <a:latin typeface="Cambria Math" panose="02040503050406030204" pitchFamily="18" charset="0"/>
                              </a:rPr>
                              <m:t>𝑁</m:t>
                            </m:r>
                            <m:r>
                              <a:rPr lang="es-AR" sz="2600" b="0" i="1" smtClean="0">
                                <a:latin typeface="Cambria Math" panose="02040503050406030204" pitchFamily="18" charset="0"/>
                              </a:rPr>
                              <m:t>−</m:t>
                            </m:r>
                            <m:r>
                              <a:rPr lang="es-AR" sz="2600" b="0" i="1" smtClean="0">
                                <a:latin typeface="Cambria Math" panose="02040503050406030204" pitchFamily="18" charset="0"/>
                              </a:rPr>
                              <m:t>1</m:t>
                            </m:r>
                          </m:den>
                        </m:f>
                      </m:e>
                    </m:rad>
                  </m:oMath>
                </a14:m>
                <a:endParaRPr lang="es-AR" sz="2600" dirty="0"/>
              </a:p>
            </p:txBody>
          </p:sp>
        </mc:Choice>
        <mc:Fallback xmlns="">
          <p:sp>
            <p:nvSpPr>
              <p:cNvPr id="3" name="Marcador de contenido 2">
                <a:extLst>
                  <a:ext uri="{FF2B5EF4-FFF2-40B4-BE49-F238E27FC236}">
                    <a16:creationId xmlns:a16="http://schemas.microsoft.com/office/drawing/2014/main" id="{E112CCEE-05C9-5957-23ED-4C2E145EB3E7}"/>
                  </a:ext>
                </a:extLst>
              </p:cNvPr>
              <p:cNvSpPr>
                <a:spLocks noGrp="1" noRot="1" noChangeAspect="1" noMove="1" noResize="1" noEditPoints="1" noAdjustHandles="1" noChangeArrowheads="1" noChangeShapeType="1" noTextEdit="1"/>
              </p:cNvSpPr>
              <p:nvPr>
                <p:ph idx="1"/>
              </p:nvPr>
            </p:nvSpPr>
            <p:spPr>
              <a:blipFill>
                <a:blip r:embed="rId2"/>
                <a:stretch>
                  <a:fillRect l="-1043" t="-3081"/>
                </a:stretch>
              </a:blipFill>
            </p:spPr>
            <p:txBody>
              <a:bodyPr/>
              <a:lstStyle/>
              <a:p>
                <a:r>
                  <a:rPr lang="es-ES">
                    <a:noFill/>
                  </a:rPr>
                  <a:t> </a:t>
                </a:r>
              </a:p>
            </p:txBody>
          </p:sp>
        </mc:Fallback>
      </mc:AlternateContent>
    </p:spTree>
    <p:extLst>
      <p:ext uri="{BB962C8B-B14F-4D97-AF65-F5344CB8AC3E}">
        <p14:creationId xmlns:p14="http://schemas.microsoft.com/office/powerpoint/2010/main" val="34825485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A10EDB-34B8-1DCF-97C9-12F302BC8DF6}"/>
              </a:ext>
            </a:extLst>
          </p:cNvPr>
          <p:cNvSpPr>
            <a:spLocks noGrp="1"/>
          </p:cNvSpPr>
          <p:nvPr>
            <p:ph type="title"/>
          </p:nvPr>
        </p:nvSpPr>
        <p:spPr/>
        <p:txBody>
          <a:bodyPr/>
          <a:lstStyle/>
          <a:p>
            <a:r>
              <a:rPr lang="es-AR" sz="4400" dirty="0"/>
              <a:t>Riesgo y tasas de Rendimiento</a:t>
            </a:r>
            <a:endParaRPr lang="es-AR" dirty="0"/>
          </a:p>
        </p:txBody>
      </p:sp>
      <p:pic>
        <p:nvPicPr>
          <p:cNvPr id="4" name="Marcador de contenido 3">
            <a:extLst>
              <a:ext uri="{FF2B5EF4-FFF2-40B4-BE49-F238E27FC236}">
                <a16:creationId xmlns:a16="http://schemas.microsoft.com/office/drawing/2014/main" id="{ABA4128A-123C-B95B-02CE-AFD74359F980}"/>
              </a:ext>
            </a:extLst>
          </p:cNvPr>
          <p:cNvPicPr>
            <a:picLocks noGrp="1" noChangeAspect="1"/>
          </p:cNvPicPr>
          <p:nvPr>
            <p:ph idx="1"/>
          </p:nvPr>
        </p:nvPicPr>
        <p:blipFill>
          <a:blip r:embed="rId2"/>
          <a:stretch>
            <a:fillRect/>
          </a:stretch>
        </p:blipFill>
        <p:spPr>
          <a:xfrm>
            <a:off x="938660" y="2237428"/>
            <a:ext cx="9576941" cy="2306341"/>
          </a:xfrm>
          <a:prstGeom prst="rect">
            <a:avLst/>
          </a:prstGeom>
        </p:spPr>
      </p:pic>
      <p:sp>
        <p:nvSpPr>
          <p:cNvPr id="5" name="CuadroTexto 4">
            <a:extLst>
              <a:ext uri="{FF2B5EF4-FFF2-40B4-BE49-F238E27FC236}">
                <a16:creationId xmlns:a16="http://schemas.microsoft.com/office/drawing/2014/main" id="{FDD289A8-28FD-1BFB-9F81-4D5C4BE3057F}"/>
              </a:ext>
            </a:extLst>
          </p:cNvPr>
          <p:cNvSpPr txBox="1"/>
          <p:nvPr/>
        </p:nvSpPr>
        <p:spPr>
          <a:xfrm>
            <a:off x="543339" y="4779220"/>
            <a:ext cx="10654748" cy="1477328"/>
          </a:xfrm>
          <a:prstGeom prst="rect">
            <a:avLst/>
          </a:prstGeom>
          <a:noFill/>
        </p:spPr>
        <p:txBody>
          <a:bodyPr wrap="square" rtlCol="0">
            <a:spAutoFit/>
          </a:bodyPr>
          <a:lstStyle/>
          <a:p>
            <a:pPr marL="285750" indent="-285750">
              <a:buFont typeface="Arial" panose="020B0604020202020204" pitchFamily="34" charset="0"/>
              <a:buChar char="•"/>
            </a:pPr>
            <a:r>
              <a:rPr lang="es-AR" dirty="0"/>
              <a:t>¿por qué es poco realista? ¿Cómo pasamos a uno más realista? Con Curvas (continuas)</a:t>
            </a:r>
          </a:p>
          <a:p>
            <a:pPr marL="285750" indent="-285750">
              <a:buFont typeface="Arial" panose="020B0604020202020204" pitchFamily="34" charset="0"/>
              <a:buChar char="•"/>
            </a:pPr>
            <a:r>
              <a:rPr lang="es-AR" dirty="0"/>
              <a:t>¿Normales? Podría ser</a:t>
            </a:r>
          </a:p>
          <a:p>
            <a:pPr marL="285750" indent="-285750">
              <a:buFont typeface="Arial" panose="020B0604020202020204" pitchFamily="34" charset="0"/>
              <a:buChar char="•"/>
            </a:pPr>
            <a:r>
              <a:rPr lang="es-AR" dirty="0"/>
              <a:t>Dispersión, curtosis, ¿cuándo es más probable que el Rendimiento observado se aleje poco del Rendimiento esperado? </a:t>
            </a:r>
          </a:p>
          <a:p>
            <a:pPr marL="285750" indent="-285750">
              <a:buFont typeface="Arial" panose="020B0604020202020204" pitchFamily="34" charset="0"/>
              <a:buChar char="•"/>
            </a:pPr>
            <a:r>
              <a:rPr lang="es-AR" dirty="0"/>
              <a:t>Rendimiento esperado como promedio ponderado. Coinciden en ambas empresas</a:t>
            </a:r>
          </a:p>
        </p:txBody>
      </p:sp>
      <p:sp>
        <p:nvSpPr>
          <p:cNvPr id="3" name="CuadroTexto 2">
            <a:extLst>
              <a:ext uri="{FF2B5EF4-FFF2-40B4-BE49-F238E27FC236}">
                <a16:creationId xmlns:a16="http://schemas.microsoft.com/office/drawing/2014/main" id="{CDC86F9A-62AB-4D0F-3708-8FE3BCE0AEA6}"/>
              </a:ext>
            </a:extLst>
          </p:cNvPr>
          <p:cNvSpPr txBox="1"/>
          <p:nvPr/>
        </p:nvSpPr>
        <p:spPr>
          <a:xfrm>
            <a:off x="955956" y="1676099"/>
            <a:ext cx="5036956" cy="369332"/>
          </a:xfrm>
          <a:prstGeom prst="rect">
            <a:avLst/>
          </a:prstGeom>
          <a:noFill/>
        </p:spPr>
        <p:txBody>
          <a:bodyPr wrap="none" rtlCol="0">
            <a:spAutoFit/>
          </a:bodyPr>
          <a:lstStyle/>
          <a:p>
            <a:r>
              <a:rPr lang="es-AR" dirty="0"/>
              <a:t>Ejemplo simplificado – Sólo tres escenarios posibles</a:t>
            </a:r>
            <a:endParaRPr lang="es-ES" dirty="0"/>
          </a:p>
        </p:txBody>
      </p:sp>
    </p:spTree>
    <p:extLst>
      <p:ext uri="{BB962C8B-B14F-4D97-AF65-F5344CB8AC3E}">
        <p14:creationId xmlns:p14="http://schemas.microsoft.com/office/powerpoint/2010/main" val="27506700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A10EDB-34B8-1DCF-97C9-12F302BC8DF6}"/>
              </a:ext>
            </a:extLst>
          </p:cNvPr>
          <p:cNvSpPr>
            <a:spLocks noGrp="1"/>
          </p:cNvSpPr>
          <p:nvPr>
            <p:ph type="title"/>
          </p:nvPr>
        </p:nvSpPr>
        <p:spPr/>
        <p:txBody>
          <a:bodyPr/>
          <a:lstStyle/>
          <a:p>
            <a:r>
              <a:rPr lang="es-AR" sz="4400" dirty="0"/>
              <a:t>Riesgo y tasas de Rendimiento</a:t>
            </a:r>
            <a:endParaRPr lang="es-AR" dirty="0"/>
          </a:p>
        </p:txBody>
      </p:sp>
      <p:sp>
        <p:nvSpPr>
          <p:cNvPr id="6" name="Marcador de contenido 5">
            <a:extLst>
              <a:ext uri="{FF2B5EF4-FFF2-40B4-BE49-F238E27FC236}">
                <a16:creationId xmlns:a16="http://schemas.microsoft.com/office/drawing/2014/main" id="{FF2693A8-3874-AE6A-476E-9FF772E55322}"/>
              </a:ext>
            </a:extLst>
          </p:cNvPr>
          <p:cNvSpPr>
            <a:spLocks noGrp="1"/>
          </p:cNvSpPr>
          <p:nvPr>
            <p:ph idx="1"/>
          </p:nvPr>
        </p:nvSpPr>
        <p:spPr/>
        <p:txBody>
          <a:bodyPr>
            <a:normAutofit fontScale="92500" lnSpcReduction="20000"/>
          </a:bodyPr>
          <a:lstStyle/>
          <a:p>
            <a:pPr marL="0" indent="0">
              <a:buNone/>
            </a:pPr>
            <a:r>
              <a:rPr lang="es-AR" dirty="0"/>
              <a:t>Uso de datos históricos para medir el Riesgo</a:t>
            </a:r>
          </a:p>
          <a:p>
            <a:endParaRPr lang="es-AR" dirty="0"/>
          </a:p>
          <a:p>
            <a:r>
              <a:rPr lang="es-AR" dirty="0"/>
              <a:t>No nos basamos en una distribución, sino que en datos históricos</a:t>
            </a:r>
          </a:p>
          <a:p>
            <a:endParaRPr lang="es-AR" dirty="0"/>
          </a:p>
          <a:p>
            <a:r>
              <a:rPr lang="es-AR" dirty="0"/>
              <a:t>Como es esperable que los resultados del pasado se repitan, se suele usar la σ histórica como una estimación del Riesgo futuro</a:t>
            </a:r>
          </a:p>
          <a:p>
            <a:endParaRPr lang="es-AR" dirty="0"/>
          </a:p>
          <a:p>
            <a:r>
              <a:rPr lang="es-AR" dirty="0"/>
              <a:t>¿Es siempre esta afirmación válida, cuántos años para atrás debemos considerar? Ventajas y desventajas</a:t>
            </a:r>
          </a:p>
          <a:p>
            <a:pPr lvl="1"/>
            <a:r>
              <a:rPr lang="es-AR" dirty="0"/>
              <a:t>Pocos años</a:t>
            </a:r>
          </a:p>
          <a:p>
            <a:pPr lvl="1"/>
            <a:r>
              <a:rPr lang="es-AR" dirty="0"/>
              <a:t>Muchos años</a:t>
            </a:r>
          </a:p>
          <a:p>
            <a:endParaRPr lang="es-AR" dirty="0"/>
          </a:p>
        </p:txBody>
      </p:sp>
    </p:spTree>
    <p:extLst>
      <p:ext uri="{BB962C8B-B14F-4D97-AF65-F5344CB8AC3E}">
        <p14:creationId xmlns:p14="http://schemas.microsoft.com/office/powerpoint/2010/main" val="21710849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A10EDB-34B8-1DCF-97C9-12F302BC8DF6}"/>
              </a:ext>
            </a:extLst>
          </p:cNvPr>
          <p:cNvSpPr>
            <a:spLocks noGrp="1"/>
          </p:cNvSpPr>
          <p:nvPr>
            <p:ph type="title"/>
          </p:nvPr>
        </p:nvSpPr>
        <p:spPr/>
        <p:txBody>
          <a:bodyPr/>
          <a:lstStyle/>
          <a:p>
            <a:r>
              <a:rPr lang="es-AR" sz="4400" dirty="0"/>
              <a:t>Riesgo y tasas de Rendimiento</a:t>
            </a:r>
            <a:endParaRPr lang="es-AR" dirty="0"/>
          </a:p>
        </p:txBody>
      </p:sp>
      <p:sp>
        <p:nvSpPr>
          <p:cNvPr id="6" name="Marcador de contenido 5">
            <a:extLst>
              <a:ext uri="{FF2B5EF4-FFF2-40B4-BE49-F238E27FC236}">
                <a16:creationId xmlns:a16="http://schemas.microsoft.com/office/drawing/2014/main" id="{FF2693A8-3874-AE6A-476E-9FF772E55322}"/>
              </a:ext>
            </a:extLst>
          </p:cNvPr>
          <p:cNvSpPr>
            <a:spLocks noGrp="1"/>
          </p:cNvSpPr>
          <p:nvPr>
            <p:ph idx="1"/>
          </p:nvPr>
        </p:nvSpPr>
        <p:spPr/>
        <p:txBody>
          <a:bodyPr/>
          <a:lstStyle/>
          <a:p>
            <a:pPr marL="0" indent="0">
              <a:buNone/>
            </a:pPr>
            <a:r>
              <a:rPr lang="es-AR" dirty="0"/>
              <a:t>Uso de datos históricos para medir el Riesgo</a:t>
            </a:r>
          </a:p>
          <a:p>
            <a:endParaRPr lang="es-AR" dirty="0"/>
          </a:p>
        </p:txBody>
      </p:sp>
      <p:pic>
        <p:nvPicPr>
          <p:cNvPr id="3" name="Imagen 2">
            <a:extLst>
              <a:ext uri="{FF2B5EF4-FFF2-40B4-BE49-F238E27FC236}">
                <a16:creationId xmlns:a16="http://schemas.microsoft.com/office/drawing/2014/main" id="{31D4B470-3471-39C5-1A17-21A4C1CA74F4}"/>
              </a:ext>
            </a:extLst>
          </p:cNvPr>
          <p:cNvPicPr>
            <a:picLocks noChangeAspect="1"/>
          </p:cNvPicPr>
          <p:nvPr/>
        </p:nvPicPr>
        <p:blipFill>
          <a:blip r:embed="rId2"/>
          <a:stretch>
            <a:fillRect/>
          </a:stretch>
        </p:blipFill>
        <p:spPr>
          <a:xfrm>
            <a:off x="1339298" y="2537586"/>
            <a:ext cx="9191550" cy="2670518"/>
          </a:xfrm>
          <a:prstGeom prst="rect">
            <a:avLst/>
          </a:prstGeom>
        </p:spPr>
      </p:pic>
    </p:spTree>
    <p:extLst>
      <p:ext uri="{BB962C8B-B14F-4D97-AF65-F5344CB8AC3E}">
        <p14:creationId xmlns:p14="http://schemas.microsoft.com/office/powerpoint/2010/main" val="18742898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C375AB-917C-B810-964F-BFD48CB7FE16}"/>
              </a:ext>
            </a:extLst>
          </p:cNvPr>
          <p:cNvSpPr>
            <a:spLocks noGrp="1"/>
          </p:cNvSpPr>
          <p:nvPr>
            <p:ph type="title"/>
          </p:nvPr>
        </p:nvSpPr>
        <p:spPr/>
        <p:txBody>
          <a:bodyPr/>
          <a:lstStyle/>
          <a:p>
            <a:r>
              <a:rPr lang="es-AR" sz="4400" dirty="0"/>
              <a:t>Riesgo y tasas de Rendimiento</a:t>
            </a:r>
            <a:endParaRPr lang="es-AR"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EC93BF8D-4EFA-3C0F-D0B5-B21E4702A567}"/>
                  </a:ext>
                </a:extLst>
              </p:cNvPr>
              <p:cNvSpPr>
                <a:spLocks noGrp="1"/>
              </p:cNvSpPr>
              <p:nvPr>
                <p:ph idx="1"/>
              </p:nvPr>
            </p:nvSpPr>
            <p:spPr/>
            <p:txBody>
              <a:bodyPr>
                <a:normAutofit fontScale="92500" lnSpcReduction="10000"/>
              </a:bodyPr>
              <a:lstStyle/>
              <a:p>
                <a:pPr marL="0" indent="0">
                  <a:buNone/>
                </a:pPr>
                <a:r>
                  <a:rPr lang="es-AR" dirty="0"/>
                  <a:t>Otras medidas de Riesgo individual: CV y Razón de Sharpe</a:t>
                </a:r>
              </a:p>
              <a:p>
                <a:r>
                  <a:rPr lang="es-AR" sz="2200" dirty="0"/>
                  <a:t>Entre dos inversiones con igual Rendimiento esperado, elegiremos la que tenga menor Riesgo, menor σ y entre dos con igual Riesgo elegiremos la de mayor Rendimiento esperado. Nuevamente, menor Riesgo y mayor Rendimiento esperados</a:t>
                </a:r>
              </a:p>
              <a:p>
                <a:r>
                  <a:rPr lang="es-AR" sz="2200" dirty="0"/>
                  <a:t>¿Y si difieren tanto Rendimiento como Riesgo esperado? Evaluaremos otras medidas</a:t>
                </a:r>
              </a:p>
              <a:p>
                <a:pPr marL="0" indent="0" algn="ctr">
                  <a:buNone/>
                </a:pPr>
                <a:endParaRPr lang="es-AR" sz="2200" dirty="0"/>
              </a:p>
              <a:p>
                <a:pPr marL="0" indent="0" algn="ctr">
                  <a:buNone/>
                </a:pPr>
                <a:r>
                  <a:rPr lang="es-AR" sz="2200" dirty="0"/>
                  <a:t>Coeficiente de Variación (CV) = </a:t>
                </a:r>
                <a14:m>
                  <m:oMath xmlns:m="http://schemas.openxmlformats.org/officeDocument/2006/math">
                    <m:f>
                      <m:fPr>
                        <m:ctrlPr>
                          <a:rPr lang="es-AR" sz="2200" i="1" smtClean="0">
                            <a:latin typeface="Cambria Math" panose="02040503050406030204" pitchFamily="18" charset="0"/>
                          </a:rPr>
                        </m:ctrlPr>
                      </m:fPr>
                      <m:num>
                        <m:r>
                          <a:rPr lang="es-AR" sz="2200" b="0" i="1" smtClean="0">
                            <a:latin typeface="Cambria Math" panose="02040503050406030204" pitchFamily="18" charset="0"/>
                          </a:rPr>
                          <m:t>𝜎</m:t>
                        </m:r>
                      </m:num>
                      <m:den>
                        <m:acc>
                          <m:accPr>
                            <m:chr m:val="̂"/>
                            <m:ctrlPr>
                              <a:rPr lang="es-AR" sz="2200" i="1" smtClean="0">
                                <a:latin typeface="Cambria Math" panose="02040503050406030204" pitchFamily="18" charset="0"/>
                              </a:rPr>
                            </m:ctrlPr>
                          </m:accPr>
                          <m:e>
                            <m:r>
                              <a:rPr lang="es-AR" sz="2200" b="0" i="1" smtClean="0">
                                <a:latin typeface="Cambria Math" panose="02040503050406030204" pitchFamily="18" charset="0"/>
                              </a:rPr>
                              <m:t>𝑟</m:t>
                            </m:r>
                          </m:e>
                        </m:acc>
                      </m:den>
                    </m:f>
                  </m:oMath>
                </a14:m>
                <a:r>
                  <a:rPr lang="es-AR" sz="2200" dirty="0"/>
                  <a:t> </a:t>
                </a:r>
              </a:p>
              <a:p>
                <a:r>
                  <a:rPr lang="es-AR" sz="2200" dirty="0"/>
                  <a:t>Es una medida de Riesgo por cada unidad de Rendimiento esperado</a:t>
                </a:r>
              </a:p>
              <a:p>
                <a:r>
                  <a:rPr lang="es-AR" sz="2200" dirty="0"/>
                  <a:t>Casos obvios donde no necesitaremos el cálculo, iguales </a:t>
                </a:r>
                <a14:m>
                  <m:oMath xmlns:m="http://schemas.openxmlformats.org/officeDocument/2006/math">
                    <m:acc>
                      <m:accPr>
                        <m:chr m:val="̂"/>
                        <m:ctrlPr>
                          <a:rPr lang="es-AR" sz="2200" i="1">
                            <a:latin typeface="Cambria Math" panose="02040503050406030204" pitchFamily="18" charset="0"/>
                          </a:rPr>
                        </m:ctrlPr>
                      </m:accPr>
                      <m:e>
                        <m:r>
                          <a:rPr lang="es-AR" sz="2200" i="1">
                            <a:latin typeface="Cambria Math" panose="02040503050406030204" pitchFamily="18" charset="0"/>
                          </a:rPr>
                          <m:t>𝑟</m:t>
                        </m:r>
                      </m:e>
                    </m:acc>
                  </m:oMath>
                </a14:m>
                <a:r>
                  <a:rPr lang="es-AR" sz="2200" dirty="0"/>
                  <a:t> o iguales </a:t>
                </a:r>
                <a14:m>
                  <m:oMath xmlns:m="http://schemas.openxmlformats.org/officeDocument/2006/math">
                    <m:r>
                      <a:rPr lang="es-AR" sz="2200" i="1">
                        <a:latin typeface="Cambria Math" panose="02040503050406030204" pitchFamily="18" charset="0"/>
                      </a:rPr>
                      <m:t>𝜎</m:t>
                    </m:r>
                  </m:oMath>
                </a14:m>
                <a:endParaRPr lang="es-AR" sz="2200" dirty="0"/>
              </a:p>
              <a:p>
                <a:pPr marL="0" indent="0">
                  <a:buNone/>
                </a:pPr>
                <a:endParaRPr lang="es-AR" dirty="0"/>
              </a:p>
              <a:p>
                <a:pPr marL="0" indent="0">
                  <a:buNone/>
                </a:pPr>
                <a:r>
                  <a:rPr lang="es-AR" dirty="0"/>
                  <a:t>Razón de Sharpe = </a:t>
                </a:r>
                <a14:m>
                  <m:oMath xmlns:m="http://schemas.openxmlformats.org/officeDocument/2006/math">
                    <m:f>
                      <m:fPr>
                        <m:ctrlPr>
                          <a:rPr lang="es-AR" i="1" smtClean="0">
                            <a:latin typeface="Cambria Math" panose="02040503050406030204" pitchFamily="18" charset="0"/>
                          </a:rPr>
                        </m:ctrlPr>
                      </m:fPr>
                      <m:num>
                        <m:r>
                          <a:rPr lang="es-AR" b="0" i="1" smtClean="0">
                            <a:latin typeface="Cambria Math" panose="02040503050406030204" pitchFamily="18" charset="0"/>
                          </a:rPr>
                          <m:t>𝑅𝑒𝑛𝑑𝑖𝑚𝑖𝑒𝑛𝑡𝑜</m:t>
                        </m:r>
                        <m:r>
                          <a:rPr lang="es-AR" b="0" i="1" smtClean="0">
                            <a:latin typeface="Cambria Math" panose="02040503050406030204" pitchFamily="18" charset="0"/>
                          </a:rPr>
                          <m:t> −</m:t>
                        </m:r>
                        <m:r>
                          <a:rPr lang="es-AR" b="0" i="1" smtClean="0">
                            <a:latin typeface="Cambria Math" panose="02040503050406030204" pitchFamily="18" charset="0"/>
                          </a:rPr>
                          <m:t>𝑇𝑎𝑠𝑎</m:t>
                        </m:r>
                        <m:r>
                          <a:rPr lang="es-AR" b="0" i="1" smtClean="0">
                            <a:latin typeface="Cambria Math" panose="02040503050406030204" pitchFamily="18" charset="0"/>
                          </a:rPr>
                          <m:t> </m:t>
                        </m:r>
                        <m:r>
                          <a:rPr lang="es-AR" b="0" i="1" smtClean="0">
                            <a:latin typeface="Cambria Math" panose="02040503050406030204" pitchFamily="18" charset="0"/>
                          </a:rPr>
                          <m:t>𝑙𝑖𝑏𝑟𝑒</m:t>
                        </m:r>
                        <m:r>
                          <a:rPr lang="es-AR" b="0" i="1" smtClean="0">
                            <a:latin typeface="Cambria Math" panose="02040503050406030204" pitchFamily="18" charset="0"/>
                          </a:rPr>
                          <m:t> </m:t>
                        </m:r>
                        <m:r>
                          <a:rPr lang="es-AR" b="0" i="1" smtClean="0">
                            <a:latin typeface="Cambria Math" panose="02040503050406030204" pitchFamily="18" charset="0"/>
                          </a:rPr>
                          <m:t>𝑑𝑒</m:t>
                        </m:r>
                        <m:r>
                          <a:rPr lang="es-AR" b="0" i="1" smtClean="0">
                            <a:latin typeface="Cambria Math" panose="02040503050406030204" pitchFamily="18" charset="0"/>
                          </a:rPr>
                          <m:t> </m:t>
                        </m:r>
                        <m:r>
                          <a:rPr lang="es-AR" b="0" i="1" smtClean="0">
                            <a:latin typeface="Cambria Math" panose="02040503050406030204" pitchFamily="18" charset="0"/>
                          </a:rPr>
                          <m:t>𝑟𝑖𝑒𝑠𝑔𝑜</m:t>
                        </m:r>
                      </m:num>
                      <m:den>
                        <m:r>
                          <a:rPr lang="es-AR" b="0" i="1" smtClean="0">
                            <a:latin typeface="Cambria Math" panose="02040503050406030204" pitchFamily="18" charset="0"/>
                          </a:rPr>
                          <m:t>𝜎</m:t>
                        </m:r>
                      </m:den>
                    </m:f>
                  </m:oMath>
                </a14:m>
                <a:endParaRPr lang="es-AR" dirty="0"/>
              </a:p>
              <a:p>
                <a:endParaRPr lang="es-AR" dirty="0"/>
              </a:p>
            </p:txBody>
          </p:sp>
        </mc:Choice>
        <mc:Fallback xmlns="">
          <p:sp>
            <p:nvSpPr>
              <p:cNvPr id="3" name="Marcador de contenido 2">
                <a:extLst>
                  <a:ext uri="{FF2B5EF4-FFF2-40B4-BE49-F238E27FC236}">
                    <a16:creationId xmlns:a16="http://schemas.microsoft.com/office/drawing/2014/main" id="{EC93BF8D-4EFA-3C0F-D0B5-B21E4702A567}"/>
                  </a:ext>
                </a:extLst>
              </p:cNvPr>
              <p:cNvSpPr>
                <a:spLocks noGrp="1" noRot="1" noChangeAspect="1" noMove="1" noResize="1" noEditPoints="1" noAdjustHandles="1" noChangeArrowheads="1" noChangeShapeType="1" noTextEdit="1"/>
              </p:cNvSpPr>
              <p:nvPr>
                <p:ph idx="1"/>
              </p:nvPr>
            </p:nvSpPr>
            <p:spPr>
              <a:blipFill>
                <a:blip r:embed="rId2"/>
                <a:stretch>
                  <a:fillRect l="-1043" t="-2801"/>
                </a:stretch>
              </a:blipFill>
            </p:spPr>
            <p:txBody>
              <a:bodyPr/>
              <a:lstStyle/>
              <a:p>
                <a:r>
                  <a:rPr lang="es-ES">
                    <a:noFill/>
                  </a:rPr>
                  <a:t> </a:t>
                </a:r>
              </a:p>
            </p:txBody>
          </p:sp>
        </mc:Fallback>
      </mc:AlternateContent>
    </p:spTree>
    <p:extLst>
      <p:ext uri="{BB962C8B-B14F-4D97-AF65-F5344CB8AC3E}">
        <p14:creationId xmlns:p14="http://schemas.microsoft.com/office/powerpoint/2010/main" val="32405008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C375AB-917C-B810-964F-BFD48CB7FE16}"/>
              </a:ext>
            </a:extLst>
          </p:cNvPr>
          <p:cNvSpPr>
            <a:spLocks noGrp="1"/>
          </p:cNvSpPr>
          <p:nvPr>
            <p:ph type="title"/>
          </p:nvPr>
        </p:nvSpPr>
        <p:spPr/>
        <p:txBody>
          <a:bodyPr/>
          <a:lstStyle/>
          <a:p>
            <a:r>
              <a:rPr lang="es-AR" sz="4400" dirty="0"/>
              <a:t>Riesgo y tasas de Rendimiento</a:t>
            </a:r>
            <a:endParaRPr lang="es-AR" dirty="0"/>
          </a:p>
        </p:txBody>
      </p:sp>
      <p:sp>
        <p:nvSpPr>
          <p:cNvPr id="3" name="Marcador de contenido 2">
            <a:extLst>
              <a:ext uri="{FF2B5EF4-FFF2-40B4-BE49-F238E27FC236}">
                <a16:creationId xmlns:a16="http://schemas.microsoft.com/office/drawing/2014/main" id="{EC93BF8D-4EFA-3C0F-D0B5-B21E4702A567}"/>
              </a:ext>
            </a:extLst>
          </p:cNvPr>
          <p:cNvSpPr>
            <a:spLocks noGrp="1"/>
          </p:cNvSpPr>
          <p:nvPr>
            <p:ph idx="1"/>
          </p:nvPr>
        </p:nvSpPr>
        <p:spPr/>
        <p:txBody>
          <a:bodyPr>
            <a:normAutofit fontScale="92500" lnSpcReduction="20000"/>
          </a:bodyPr>
          <a:lstStyle/>
          <a:p>
            <a:pPr marL="0" indent="0">
              <a:buNone/>
            </a:pPr>
            <a:r>
              <a:rPr lang="es-AR" dirty="0"/>
              <a:t>Aversión al Riesgo y Rendimientos requeridos</a:t>
            </a:r>
          </a:p>
          <a:p>
            <a:r>
              <a:rPr lang="es-AR" dirty="0"/>
              <a:t>Supongamos una inversión por USD 1.000.000 que puede resultar en un fracaso y usted perder todo su Capital, o ser un éxito y convertirse en USD 2.100.000 en un año, con probabilidades 50/50. Rendimiento esperado 5%, al igual que un Bono del Tesoro</a:t>
            </a:r>
          </a:p>
          <a:p>
            <a:r>
              <a:rPr lang="es-AR" dirty="0"/>
              <a:t>¿Qué elegiría? La mayoría buscaría evitar semejante nivel de Riesgo e iría por la opción más segura. Aversión al Riesgo. Es el comportamiento que asumiremos en el resto del curso que tendrán los inversores, salvo que expresamente digamos lo contrario. ¿Siempre es así?</a:t>
            </a:r>
          </a:p>
          <a:p>
            <a:r>
              <a:rPr lang="es-AR" dirty="0"/>
              <a:t>¿Qué implica en el precio de los Activos y en el Rendimiento requerido que el inversionista sea averso al Riesgo?</a:t>
            </a:r>
          </a:p>
          <a:p>
            <a:pPr lvl="1"/>
            <a:r>
              <a:rPr lang="es-AR" dirty="0" err="1"/>
              <a:t>Ceteris</a:t>
            </a:r>
            <a:r>
              <a:rPr lang="es-AR" dirty="0"/>
              <a:t> </a:t>
            </a:r>
            <a:r>
              <a:rPr lang="es-AR" dirty="0" err="1"/>
              <a:t>Paribus</a:t>
            </a:r>
            <a:r>
              <a:rPr lang="es-AR" dirty="0"/>
              <a:t>, a mayor Riesgo mayor Rendimiento requerido; si esta situación no se presentara, los precios cambiarán para que se cumpla</a:t>
            </a:r>
          </a:p>
        </p:txBody>
      </p:sp>
    </p:spTree>
    <p:extLst>
      <p:ext uri="{BB962C8B-B14F-4D97-AF65-F5344CB8AC3E}">
        <p14:creationId xmlns:p14="http://schemas.microsoft.com/office/powerpoint/2010/main" val="33182495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C375AB-917C-B810-964F-BFD48CB7FE16}"/>
              </a:ext>
            </a:extLst>
          </p:cNvPr>
          <p:cNvSpPr>
            <a:spLocks noGrp="1"/>
          </p:cNvSpPr>
          <p:nvPr>
            <p:ph type="title"/>
          </p:nvPr>
        </p:nvSpPr>
        <p:spPr/>
        <p:txBody>
          <a:bodyPr/>
          <a:lstStyle/>
          <a:p>
            <a:r>
              <a:rPr lang="es-AR" sz="4400" dirty="0"/>
              <a:t>Riesgo y tasas de Rendimiento</a:t>
            </a:r>
            <a:endParaRPr lang="es-AR" dirty="0"/>
          </a:p>
        </p:txBody>
      </p:sp>
      <p:sp>
        <p:nvSpPr>
          <p:cNvPr id="3" name="Marcador de contenido 2">
            <a:extLst>
              <a:ext uri="{FF2B5EF4-FFF2-40B4-BE49-F238E27FC236}">
                <a16:creationId xmlns:a16="http://schemas.microsoft.com/office/drawing/2014/main" id="{EC93BF8D-4EFA-3C0F-D0B5-B21E4702A567}"/>
              </a:ext>
            </a:extLst>
          </p:cNvPr>
          <p:cNvSpPr>
            <a:spLocks noGrp="1"/>
          </p:cNvSpPr>
          <p:nvPr>
            <p:ph idx="1"/>
          </p:nvPr>
        </p:nvSpPr>
        <p:spPr/>
        <p:txBody>
          <a:bodyPr>
            <a:noAutofit/>
          </a:bodyPr>
          <a:lstStyle/>
          <a:p>
            <a:r>
              <a:rPr lang="es-AR" sz="2000" dirty="0"/>
              <a:t>Volvamos a nuestro ejemplo</a:t>
            </a:r>
          </a:p>
          <a:p>
            <a:endParaRPr lang="es-AR" sz="2000" dirty="0"/>
          </a:p>
          <a:p>
            <a:endParaRPr lang="es-AR" sz="2000" dirty="0"/>
          </a:p>
          <a:p>
            <a:endParaRPr lang="es-AR" sz="2000" dirty="0"/>
          </a:p>
          <a:p>
            <a:endParaRPr lang="es-AR" sz="2000" dirty="0"/>
          </a:p>
          <a:p>
            <a:endParaRPr lang="es-AR" sz="2000" dirty="0"/>
          </a:p>
          <a:p>
            <a:r>
              <a:rPr lang="es-AR" sz="2000" dirty="0"/>
              <a:t>Si las Acciones de ambas empresas valieran lo mismo, digamos USD100.-, la aversión al Riesgo haría que los accionistas de la de mayor Riesgo quisieran vender sus Acciones y comprar las de bajo Riesgo que tiene igual Rendimiento esperado</a:t>
            </a:r>
          </a:p>
          <a:p>
            <a:r>
              <a:rPr lang="es-AR" sz="2000" dirty="0"/>
              <a:t>Sube el precio de las de bajo Riesgo, </a:t>
            </a:r>
            <a:r>
              <a:rPr lang="es-AR" sz="2000" dirty="0" err="1"/>
              <a:t>p.e</a:t>
            </a:r>
            <a:r>
              <a:rPr lang="es-AR" sz="2000" dirty="0"/>
              <a:t>. 125 y baja el precio de las de alto Riesgo, </a:t>
            </a:r>
            <a:r>
              <a:rPr lang="es-AR" sz="2000" dirty="0" err="1"/>
              <a:t>p.e</a:t>
            </a:r>
            <a:r>
              <a:rPr lang="es-AR" sz="2000" dirty="0"/>
              <a:t>. 77, haciendo que los Rendimientos esperados pasen del 10% original a 10/125=8% y 10/77=13%</a:t>
            </a:r>
          </a:p>
          <a:p>
            <a:r>
              <a:rPr lang="es-AR" sz="2000" dirty="0"/>
              <a:t>La diferencia 13%-8%=5% sería una prima de Riesgo que representa la compensación adicional que los Inversionistas requieren para tomar mayor Riesgo</a:t>
            </a:r>
          </a:p>
          <a:p>
            <a:endParaRPr lang="es-AR" sz="2000" dirty="0"/>
          </a:p>
        </p:txBody>
      </p:sp>
      <p:pic>
        <p:nvPicPr>
          <p:cNvPr id="4" name="Marcador de contenido 3">
            <a:extLst>
              <a:ext uri="{FF2B5EF4-FFF2-40B4-BE49-F238E27FC236}">
                <a16:creationId xmlns:a16="http://schemas.microsoft.com/office/drawing/2014/main" id="{5645B23D-517E-E70E-FB3E-F8C72C685551}"/>
              </a:ext>
            </a:extLst>
          </p:cNvPr>
          <p:cNvPicPr>
            <a:picLocks noChangeAspect="1"/>
          </p:cNvPicPr>
          <p:nvPr/>
        </p:nvPicPr>
        <p:blipFill>
          <a:blip r:embed="rId2"/>
          <a:stretch>
            <a:fillRect/>
          </a:stretch>
        </p:blipFill>
        <p:spPr>
          <a:xfrm>
            <a:off x="1743429" y="2228984"/>
            <a:ext cx="6777720" cy="1632226"/>
          </a:xfrm>
          <a:prstGeom prst="rect">
            <a:avLst/>
          </a:prstGeom>
        </p:spPr>
      </p:pic>
    </p:spTree>
    <p:extLst>
      <p:ext uri="{BB962C8B-B14F-4D97-AF65-F5344CB8AC3E}">
        <p14:creationId xmlns:p14="http://schemas.microsoft.com/office/powerpoint/2010/main" val="10149269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C375AB-917C-B810-964F-BFD48CB7FE16}"/>
              </a:ext>
            </a:extLst>
          </p:cNvPr>
          <p:cNvSpPr>
            <a:spLocks noGrp="1"/>
          </p:cNvSpPr>
          <p:nvPr>
            <p:ph type="title"/>
          </p:nvPr>
        </p:nvSpPr>
        <p:spPr/>
        <p:txBody>
          <a:bodyPr/>
          <a:lstStyle/>
          <a:p>
            <a:r>
              <a:rPr lang="es-AR" sz="4400" dirty="0"/>
              <a:t>Riesgo y tasas de Rendimiento</a:t>
            </a:r>
            <a:endParaRPr lang="es-AR" dirty="0"/>
          </a:p>
        </p:txBody>
      </p:sp>
      <p:sp>
        <p:nvSpPr>
          <p:cNvPr id="3" name="Marcador de contenido 2">
            <a:extLst>
              <a:ext uri="{FF2B5EF4-FFF2-40B4-BE49-F238E27FC236}">
                <a16:creationId xmlns:a16="http://schemas.microsoft.com/office/drawing/2014/main" id="{EC93BF8D-4EFA-3C0F-D0B5-B21E4702A567}"/>
              </a:ext>
            </a:extLst>
          </p:cNvPr>
          <p:cNvSpPr>
            <a:spLocks noGrp="1"/>
          </p:cNvSpPr>
          <p:nvPr>
            <p:ph idx="1"/>
          </p:nvPr>
        </p:nvSpPr>
        <p:spPr/>
        <p:txBody>
          <a:bodyPr/>
          <a:lstStyle/>
          <a:p>
            <a:r>
              <a:rPr lang="es-AR" dirty="0"/>
              <a:t>Si existe mayoría de Inversionistas aversos al Riesgo, los Activos más riesgosos deberán tener Rendimientos esperados más elevados estimados por el inversionista marginal. Existirían compraventas hasta que ocurra</a:t>
            </a:r>
          </a:p>
          <a:p>
            <a:r>
              <a:rPr lang="es-AR" dirty="0"/>
              <a:t>Todavía no llegamos a definir cuánto más alto debe ser el Rendimiento, cosa que analizaremos luego de estudiar cómo afecta la diversificación al modo en que debe medirse el Riesgo</a:t>
            </a:r>
          </a:p>
        </p:txBody>
      </p:sp>
    </p:spTree>
    <p:extLst>
      <p:ext uri="{BB962C8B-B14F-4D97-AF65-F5344CB8AC3E}">
        <p14:creationId xmlns:p14="http://schemas.microsoft.com/office/powerpoint/2010/main" val="33666162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C375AB-917C-B810-964F-BFD48CB7FE16}"/>
              </a:ext>
            </a:extLst>
          </p:cNvPr>
          <p:cNvSpPr>
            <a:spLocks noGrp="1"/>
          </p:cNvSpPr>
          <p:nvPr>
            <p:ph type="title"/>
          </p:nvPr>
        </p:nvSpPr>
        <p:spPr/>
        <p:txBody>
          <a:bodyPr/>
          <a:lstStyle/>
          <a:p>
            <a:r>
              <a:rPr lang="es-AR" sz="4400" dirty="0"/>
              <a:t>Riesgo y tasas de Rendimiento</a:t>
            </a:r>
            <a:endParaRPr lang="es-AR" dirty="0"/>
          </a:p>
        </p:txBody>
      </p:sp>
      <p:sp>
        <p:nvSpPr>
          <p:cNvPr id="3" name="Marcador de contenido 2">
            <a:extLst>
              <a:ext uri="{FF2B5EF4-FFF2-40B4-BE49-F238E27FC236}">
                <a16:creationId xmlns:a16="http://schemas.microsoft.com/office/drawing/2014/main" id="{EC93BF8D-4EFA-3C0F-D0B5-B21E4702A567}"/>
              </a:ext>
            </a:extLst>
          </p:cNvPr>
          <p:cNvSpPr>
            <a:spLocks noGrp="1"/>
          </p:cNvSpPr>
          <p:nvPr>
            <p:ph idx="1"/>
          </p:nvPr>
        </p:nvSpPr>
        <p:spPr/>
        <p:txBody>
          <a:bodyPr>
            <a:normAutofit fontScale="77500" lnSpcReduction="20000"/>
          </a:bodyPr>
          <a:lstStyle/>
          <a:p>
            <a:pPr marL="0" indent="0">
              <a:buNone/>
            </a:pPr>
            <a:r>
              <a:rPr lang="es-AR" dirty="0"/>
              <a:t>Riesgo en un contexto de Carteras: el CAPM</a:t>
            </a:r>
          </a:p>
          <a:p>
            <a:r>
              <a:rPr lang="es-AR" dirty="0"/>
              <a:t>Pasaremos del análisis individual al análisis de Acciones dentro de una Cartera con el Modelo de Asignación de Precios a los Activos de Capital, el CAPM que fuera desarrollado en la década de 1960.</a:t>
            </a:r>
          </a:p>
          <a:p>
            <a:r>
              <a:rPr lang="es-AR" dirty="0"/>
              <a:t>No iremos a fondo en su estudio, nos centraremos en sus intuiciones para explicar cómo debería considerarse el Riesgo en un mundo en que las Acciones y demás Activos forman parte de Carteras.</a:t>
            </a:r>
          </a:p>
          <a:p>
            <a:r>
              <a:rPr lang="es-AR" dirty="0"/>
              <a:t>Hasta aquí hemos analizado el Riesgo individual, cuando el Activo se posee en aislamiento. Esto suele ser apropiado para pequeñas empresas, muchas inversiones en Bienes Raíces y proyectos de presupuestación de Capital</a:t>
            </a:r>
          </a:p>
          <a:p>
            <a:r>
              <a:rPr lang="es-AR" dirty="0"/>
              <a:t>Sin embargo, el Riesgo de una Acción dentro de una Cartera suele  ser menor que el Riesgo de la misma en forma aislada</a:t>
            </a:r>
          </a:p>
          <a:p>
            <a:r>
              <a:rPr lang="es-AR" dirty="0"/>
              <a:t>Aversión al Riesgo -&gt; Acciones dentro de Carteras como forma de reducir el Riesgo</a:t>
            </a:r>
          </a:p>
          <a:p>
            <a:r>
              <a:rPr lang="es-AR" dirty="0"/>
              <a:t>Muchas instituciones financieras están obligadas por ley a diversificar</a:t>
            </a:r>
          </a:p>
          <a:p>
            <a:endParaRPr lang="es-AR" dirty="0"/>
          </a:p>
        </p:txBody>
      </p:sp>
    </p:spTree>
    <p:extLst>
      <p:ext uri="{BB962C8B-B14F-4D97-AF65-F5344CB8AC3E}">
        <p14:creationId xmlns:p14="http://schemas.microsoft.com/office/powerpoint/2010/main" val="2469276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C375AB-917C-B810-964F-BFD48CB7FE16}"/>
              </a:ext>
            </a:extLst>
          </p:cNvPr>
          <p:cNvSpPr>
            <a:spLocks noGrp="1"/>
          </p:cNvSpPr>
          <p:nvPr>
            <p:ph type="title"/>
          </p:nvPr>
        </p:nvSpPr>
        <p:spPr/>
        <p:txBody>
          <a:bodyPr/>
          <a:lstStyle/>
          <a:p>
            <a:r>
              <a:rPr lang="es-AR" sz="4400" dirty="0"/>
              <a:t>Riesgo y tasas de Rendimiento</a:t>
            </a:r>
            <a:endParaRPr lang="es-AR" dirty="0"/>
          </a:p>
        </p:txBody>
      </p:sp>
      <p:sp>
        <p:nvSpPr>
          <p:cNvPr id="3" name="Marcador de contenido 2">
            <a:extLst>
              <a:ext uri="{FF2B5EF4-FFF2-40B4-BE49-F238E27FC236}">
                <a16:creationId xmlns:a16="http://schemas.microsoft.com/office/drawing/2014/main" id="{EC93BF8D-4EFA-3C0F-D0B5-B21E4702A567}"/>
              </a:ext>
            </a:extLst>
          </p:cNvPr>
          <p:cNvSpPr>
            <a:spLocks noGrp="1"/>
          </p:cNvSpPr>
          <p:nvPr>
            <p:ph idx="1"/>
          </p:nvPr>
        </p:nvSpPr>
        <p:spPr/>
        <p:txBody>
          <a:bodyPr>
            <a:normAutofit fontScale="92500" lnSpcReduction="20000"/>
          </a:bodyPr>
          <a:lstStyle/>
          <a:p>
            <a:pPr marL="0" indent="0">
              <a:buNone/>
            </a:pPr>
            <a:r>
              <a:rPr lang="es-AR" dirty="0"/>
              <a:t>Riesgo en un contexto de Carteras: el CAPM</a:t>
            </a:r>
          </a:p>
          <a:p>
            <a:r>
              <a:rPr lang="es-AR" dirty="0"/>
              <a:t>El inversionista que posee porciones significativas de su patrimonio en Acciones suele tener Carteras</a:t>
            </a:r>
          </a:p>
          <a:p>
            <a:r>
              <a:rPr lang="es-AR" dirty="0"/>
              <a:t>Así, el hecho de que el precio de una Acción en particular aumente o disminuya no es importante; lo importante es el Rendimiento de la Cartera y el Riesgo de la Cartera</a:t>
            </a:r>
          </a:p>
          <a:p>
            <a:r>
              <a:rPr lang="es-AR" dirty="0"/>
              <a:t>Lógicamente, entonces, el Riesgo y Rendimiento de una Acción particular deberían analizarse en términos de cómo este título afecta al Riesgo y Rendimiento de la Cartera a la que pertenece</a:t>
            </a:r>
          </a:p>
          <a:p>
            <a:r>
              <a:rPr lang="es-AR" dirty="0"/>
              <a:t>Vemos, por ejemplo, </a:t>
            </a:r>
            <a:r>
              <a:rPr lang="es-AR" dirty="0" err="1"/>
              <a:t>Pay</a:t>
            </a:r>
            <a:r>
              <a:rPr lang="es-AR" dirty="0"/>
              <a:t> Up, empresa de cobranzas, poco líquida y con ganancias fluctuantes, tiene (y tuvo) Rendimientos requeridos, r, muy bajos comparados con la mayoría de las demás compañías. </a:t>
            </a:r>
          </a:p>
          <a:p>
            <a:endParaRPr lang="es-AR" dirty="0"/>
          </a:p>
        </p:txBody>
      </p:sp>
    </p:spTree>
    <p:extLst>
      <p:ext uri="{BB962C8B-B14F-4D97-AF65-F5344CB8AC3E}">
        <p14:creationId xmlns:p14="http://schemas.microsoft.com/office/powerpoint/2010/main" val="2730856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C375AB-917C-B810-964F-BFD48CB7FE16}"/>
              </a:ext>
            </a:extLst>
          </p:cNvPr>
          <p:cNvSpPr>
            <a:spLocks noGrp="1"/>
          </p:cNvSpPr>
          <p:nvPr>
            <p:ph type="title"/>
          </p:nvPr>
        </p:nvSpPr>
        <p:spPr/>
        <p:txBody>
          <a:bodyPr/>
          <a:lstStyle/>
          <a:p>
            <a:r>
              <a:rPr lang="es-AR" sz="4400" dirty="0"/>
              <a:t>Riesgo y tasas de Rendimiento</a:t>
            </a:r>
            <a:endParaRPr lang="es-AR" dirty="0"/>
          </a:p>
        </p:txBody>
      </p:sp>
      <p:sp>
        <p:nvSpPr>
          <p:cNvPr id="3" name="Marcador de contenido 2">
            <a:extLst>
              <a:ext uri="{FF2B5EF4-FFF2-40B4-BE49-F238E27FC236}">
                <a16:creationId xmlns:a16="http://schemas.microsoft.com/office/drawing/2014/main" id="{EC93BF8D-4EFA-3C0F-D0B5-B21E4702A567}"/>
              </a:ext>
            </a:extLst>
          </p:cNvPr>
          <p:cNvSpPr>
            <a:spLocks noGrp="1"/>
          </p:cNvSpPr>
          <p:nvPr>
            <p:ph idx="1"/>
          </p:nvPr>
        </p:nvSpPr>
        <p:spPr/>
        <p:txBody>
          <a:bodyPr>
            <a:normAutofit/>
          </a:bodyPr>
          <a:lstStyle/>
          <a:p>
            <a:pPr marL="0" indent="0">
              <a:buNone/>
            </a:pPr>
            <a:r>
              <a:rPr lang="es-AR" dirty="0"/>
              <a:t>Riesgo en un contexto de Carteras: el CAPM</a:t>
            </a:r>
          </a:p>
          <a:p>
            <a:r>
              <a:rPr lang="es-AR" dirty="0"/>
              <a:t>Esto indica que los Inversionistas la ven como una compañía de bajo Riesgo pese a sus ganancias inciertas. Este hallazgo contraintuitivo tiene que ver con la diversificación y es efecto del Riesgo</a:t>
            </a:r>
          </a:p>
          <a:p>
            <a:r>
              <a:rPr lang="es-AR" dirty="0"/>
              <a:t>Las ganancias de </a:t>
            </a:r>
            <a:r>
              <a:rPr lang="es-AR" dirty="0" err="1"/>
              <a:t>Pay</a:t>
            </a:r>
            <a:r>
              <a:rPr lang="es-AR" dirty="0"/>
              <a:t> Up aumentan durante las recesiones y por lo tanto sus Acciones son como un “seguro”</a:t>
            </a:r>
          </a:p>
          <a:p>
            <a:r>
              <a:rPr lang="es-AR" dirty="0"/>
              <a:t>Incluir a </a:t>
            </a:r>
            <a:r>
              <a:rPr lang="es-AR" dirty="0" err="1"/>
              <a:t>Pay</a:t>
            </a:r>
            <a:r>
              <a:rPr lang="es-AR" dirty="0"/>
              <a:t> Up entre Acciones “regulares” estabiliza los Rendimientos de la Cartera y la vuelve menos riesgosa</a:t>
            </a:r>
          </a:p>
          <a:p>
            <a:endParaRPr lang="es-AR" dirty="0"/>
          </a:p>
        </p:txBody>
      </p:sp>
    </p:spTree>
    <p:extLst>
      <p:ext uri="{BB962C8B-B14F-4D97-AF65-F5344CB8AC3E}">
        <p14:creationId xmlns:p14="http://schemas.microsoft.com/office/powerpoint/2010/main" val="23312588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C375AB-917C-B810-964F-BFD48CB7FE16}"/>
              </a:ext>
            </a:extLst>
          </p:cNvPr>
          <p:cNvSpPr>
            <a:spLocks noGrp="1"/>
          </p:cNvSpPr>
          <p:nvPr>
            <p:ph type="title"/>
          </p:nvPr>
        </p:nvSpPr>
        <p:spPr/>
        <p:txBody>
          <a:bodyPr/>
          <a:lstStyle/>
          <a:p>
            <a:r>
              <a:rPr lang="es-AR" sz="4400" dirty="0"/>
              <a:t>Riesgo y tasas de Rendimiento</a:t>
            </a:r>
            <a:endParaRPr lang="es-AR"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EC93BF8D-4EFA-3C0F-D0B5-B21E4702A567}"/>
                  </a:ext>
                </a:extLst>
              </p:cNvPr>
              <p:cNvSpPr>
                <a:spLocks noGrp="1"/>
              </p:cNvSpPr>
              <p:nvPr>
                <p:ph idx="1"/>
              </p:nvPr>
            </p:nvSpPr>
            <p:spPr>
              <a:xfrm>
                <a:off x="838200" y="1414807"/>
                <a:ext cx="10717696" cy="5078068"/>
              </a:xfrm>
            </p:spPr>
            <p:txBody>
              <a:bodyPr>
                <a:normAutofit/>
              </a:bodyPr>
              <a:lstStyle/>
              <a:p>
                <a:pPr marL="0" indent="0">
                  <a:buNone/>
                </a:pPr>
                <a:r>
                  <a:rPr lang="es-AR" sz="2400" dirty="0"/>
                  <a:t>Rendimientos esperados de Carteras, </a:t>
                </a:r>
                <a14:m>
                  <m:oMath xmlns:m="http://schemas.openxmlformats.org/officeDocument/2006/math">
                    <m:acc>
                      <m:accPr>
                        <m:chr m:val="̂"/>
                        <m:ctrlPr>
                          <a:rPr lang="es-AR" sz="2400" i="1" smtClean="0">
                            <a:latin typeface="Cambria Math" panose="02040503050406030204" pitchFamily="18" charset="0"/>
                          </a:rPr>
                        </m:ctrlPr>
                      </m:accPr>
                      <m:e>
                        <m:sSub>
                          <m:sSubPr>
                            <m:ctrlPr>
                              <a:rPr lang="es-AR" sz="2400" i="1" smtClean="0">
                                <a:latin typeface="Cambria Math" panose="02040503050406030204" pitchFamily="18" charset="0"/>
                              </a:rPr>
                            </m:ctrlPr>
                          </m:sSubPr>
                          <m:e>
                            <m:r>
                              <a:rPr lang="es-AR" sz="2400" b="0" i="1" smtClean="0">
                                <a:latin typeface="Cambria Math" panose="02040503050406030204" pitchFamily="18" charset="0"/>
                              </a:rPr>
                              <m:t>𝑟</m:t>
                            </m:r>
                          </m:e>
                          <m:sub>
                            <m:r>
                              <a:rPr lang="es-AR" sz="2400" b="0" i="1" smtClean="0">
                                <a:latin typeface="Cambria Math" panose="02040503050406030204" pitchFamily="18" charset="0"/>
                              </a:rPr>
                              <m:t>𝑝</m:t>
                            </m:r>
                          </m:sub>
                        </m:sSub>
                      </m:e>
                    </m:acc>
                  </m:oMath>
                </a14:m>
                <a:r>
                  <a:rPr lang="es-AR" sz="2400" dirty="0"/>
                  <a:t> o </a:t>
                </a:r>
                <a14:m>
                  <m:oMath xmlns:m="http://schemas.openxmlformats.org/officeDocument/2006/math">
                    <m:acc>
                      <m:accPr>
                        <m:chr m:val="̂"/>
                        <m:ctrlPr>
                          <a:rPr lang="es-AR" sz="2400" i="1">
                            <a:latin typeface="Cambria Math" panose="02040503050406030204" pitchFamily="18" charset="0"/>
                          </a:rPr>
                        </m:ctrlPr>
                      </m:accPr>
                      <m:e>
                        <m:sSub>
                          <m:sSubPr>
                            <m:ctrlPr>
                              <a:rPr lang="es-AR" sz="2400" i="1">
                                <a:latin typeface="Cambria Math" panose="02040503050406030204" pitchFamily="18" charset="0"/>
                              </a:rPr>
                            </m:ctrlPr>
                          </m:sSubPr>
                          <m:e>
                            <m:r>
                              <a:rPr lang="es-AR" sz="2400" i="1">
                                <a:latin typeface="Cambria Math" panose="02040503050406030204" pitchFamily="18" charset="0"/>
                              </a:rPr>
                              <m:t>𝑟</m:t>
                            </m:r>
                          </m:e>
                          <m:sub>
                            <m:r>
                              <a:rPr lang="es-AR" sz="2400" i="1">
                                <a:latin typeface="Cambria Math" panose="02040503050406030204" pitchFamily="18" charset="0"/>
                              </a:rPr>
                              <m:t>𝑝</m:t>
                            </m:r>
                            <m:r>
                              <a:rPr lang="es-AR" sz="2400" b="0" i="1" smtClean="0">
                                <a:latin typeface="Cambria Math" panose="02040503050406030204" pitchFamily="18" charset="0"/>
                              </a:rPr>
                              <m:t>𝑜𝑟𝑡𝑎𝑓𝑜𝑙𝑖𝑜</m:t>
                            </m:r>
                          </m:sub>
                        </m:sSub>
                      </m:e>
                    </m:acc>
                  </m:oMath>
                </a14:m>
                <a:endParaRPr lang="es-AR" sz="2400" dirty="0"/>
              </a:p>
              <a:p>
                <a:r>
                  <a:rPr lang="es-AR" sz="2400" dirty="0"/>
                  <a:t>Es el promedio ponderado de los Rendimientos esperados ¿cuál es el ponderador?</a:t>
                </a:r>
              </a:p>
              <a:p>
                <a:pPr marL="0" indent="0">
                  <a:buNone/>
                </a:pPr>
                <a:endParaRPr lang="es-AR" sz="2400" dirty="0"/>
              </a:p>
              <a:p>
                <a:pPr marL="0" indent="0" algn="ctr">
                  <a:buNone/>
                </a:pPr>
                <a14:m>
                  <m:oMath xmlns:m="http://schemas.openxmlformats.org/officeDocument/2006/math">
                    <m:acc>
                      <m:accPr>
                        <m:chr m:val="̂"/>
                        <m:ctrlPr>
                          <a:rPr lang="es-AR" sz="2400" i="1">
                            <a:latin typeface="Cambria Math" panose="02040503050406030204" pitchFamily="18" charset="0"/>
                          </a:rPr>
                        </m:ctrlPr>
                      </m:accPr>
                      <m:e>
                        <m:sSub>
                          <m:sSubPr>
                            <m:ctrlPr>
                              <a:rPr lang="es-AR" sz="2400" i="1">
                                <a:latin typeface="Cambria Math" panose="02040503050406030204" pitchFamily="18" charset="0"/>
                              </a:rPr>
                            </m:ctrlPr>
                          </m:sSubPr>
                          <m:e>
                            <m:r>
                              <a:rPr lang="es-AR" sz="2400" i="1">
                                <a:latin typeface="Cambria Math" panose="02040503050406030204" pitchFamily="18" charset="0"/>
                              </a:rPr>
                              <m:t>𝑟</m:t>
                            </m:r>
                          </m:e>
                          <m:sub>
                            <m:r>
                              <a:rPr lang="es-AR" sz="2400" i="1">
                                <a:latin typeface="Cambria Math" panose="02040503050406030204" pitchFamily="18" charset="0"/>
                              </a:rPr>
                              <m:t>𝑝</m:t>
                            </m:r>
                          </m:sub>
                        </m:sSub>
                      </m:e>
                    </m:acc>
                    <m:r>
                      <a:rPr lang="es-AR" sz="2400" b="0" i="1" smtClean="0">
                        <a:latin typeface="Cambria Math" panose="02040503050406030204" pitchFamily="18" charset="0"/>
                      </a:rPr>
                      <m:t>=</m:t>
                    </m:r>
                    <m:sSub>
                      <m:sSubPr>
                        <m:ctrlPr>
                          <a:rPr lang="es-AR" sz="2400" b="0" i="1" smtClean="0">
                            <a:latin typeface="Cambria Math" panose="02040503050406030204" pitchFamily="18" charset="0"/>
                          </a:rPr>
                        </m:ctrlPr>
                      </m:sSubPr>
                      <m:e>
                        <m:r>
                          <a:rPr lang="es-AR" sz="2400" b="0" i="1" smtClean="0">
                            <a:latin typeface="Cambria Math" panose="02040503050406030204" pitchFamily="18" charset="0"/>
                          </a:rPr>
                          <m:t>𝑤</m:t>
                        </m:r>
                      </m:e>
                      <m:sub>
                        <m:r>
                          <a:rPr lang="es-AR" sz="2400" b="0" i="1" smtClean="0">
                            <a:latin typeface="Cambria Math" panose="02040503050406030204" pitchFamily="18" charset="0"/>
                          </a:rPr>
                          <m:t>1</m:t>
                        </m:r>
                      </m:sub>
                    </m:sSub>
                    <m:acc>
                      <m:accPr>
                        <m:chr m:val="̂"/>
                        <m:ctrlPr>
                          <a:rPr lang="es-AR" sz="2400" i="1">
                            <a:latin typeface="Cambria Math" panose="02040503050406030204" pitchFamily="18" charset="0"/>
                          </a:rPr>
                        </m:ctrlPr>
                      </m:accPr>
                      <m:e>
                        <m:sSub>
                          <m:sSubPr>
                            <m:ctrlPr>
                              <a:rPr lang="es-AR" sz="2400" i="1">
                                <a:latin typeface="Cambria Math" panose="02040503050406030204" pitchFamily="18" charset="0"/>
                              </a:rPr>
                            </m:ctrlPr>
                          </m:sSubPr>
                          <m:e>
                            <m:r>
                              <a:rPr lang="es-AR" sz="2400" i="1">
                                <a:latin typeface="Cambria Math" panose="02040503050406030204" pitchFamily="18" charset="0"/>
                              </a:rPr>
                              <m:t>𝑟</m:t>
                            </m:r>
                          </m:e>
                          <m:sub>
                            <m:r>
                              <a:rPr lang="es-AR" sz="2400" b="0" i="1" smtClean="0">
                                <a:latin typeface="Cambria Math" panose="02040503050406030204" pitchFamily="18" charset="0"/>
                              </a:rPr>
                              <m:t>1</m:t>
                            </m:r>
                          </m:sub>
                        </m:sSub>
                      </m:e>
                    </m:acc>
                  </m:oMath>
                </a14:m>
                <a:r>
                  <a:rPr lang="es-AR" sz="2400" dirty="0"/>
                  <a:t>+ </a:t>
                </a:r>
                <a14:m>
                  <m:oMath xmlns:m="http://schemas.openxmlformats.org/officeDocument/2006/math">
                    <m:sSub>
                      <m:sSubPr>
                        <m:ctrlPr>
                          <a:rPr lang="es-AR" sz="2400" i="1">
                            <a:latin typeface="Cambria Math" panose="02040503050406030204" pitchFamily="18" charset="0"/>
                          </a:rPr>
                        </m:ctrlPr>
                      </m:sSubPr>
                      <m:e>
                        <m:r>
                          <a:rPr lang="es-AR" sz="2400" b="0" i="1" smtClean="0">
                            <a:latin typeface="Cambria Math" panose="02040503050406030204" pitchFamily="18" charset="0"/>
                          </a:rPr>
                          <m:t>𝑤</m:t>
                        </m:r>
                      </m:e>
                      <m:sub>
                        <m:r>
                          <a:rPr lang="es-AR" sz="2400" b="0" i="1" smtClean="0">
                            <a:latin typeface="Cambria Math" panose="02040503050406030204" pitchFamily="18" charset="0"/>
                          </a:rPr>
                          <m:t>2</m:t>
                        </m:r>
                      </m:sub>
                    </m:sSub>
                    <m:acc>
                      <m:accPr>
                        <m:chr m:val="̂"/>
                        <m:ctrlPr>
                          <a:rPr lang="es-AR" sz="2400" i="1">
                            <a:latin typeface="Cambria Math" panose="02040503050406030204" pitchFamily="18" charset="0"/>
                          </a:rPr>
                        </m:ctrlPr>
                      </m:accPr>
                      <m:e>
                        <m:sSub>
                          <m:sSubPr>
                            <m:ctrlPr>
                              <a:rPr lang="es-AR" sz="2400" i="1">
                                <a:latin typeface="Cambria Math" panose="02040503050406030204" pitchFamily="18" charset="0"/>
                              </a:rPr>
                            </m:ctrlPr>
                          </m:sSubPr>
                          <m:e>
                            <m:r>
                              <a:rPr lang="es-AR" sz="2400" i="1">
                                <a:latin typeface="Cambria Math" panose="02040503050406030204" pitchFamily="18" charset="0"/>
                              </a:rPr>
                              <m:t>𝑟</m:t>
                            </m:r>
                          </m:e>
                          <m:sub>
                            <m:r>
                              <a:rPr lang="es-AR" sz="2400" b="0" i="1" smtClean="0">
                                <a:latin typeface="Cambria Math" panose="02040503050406030204" pitchFamily="18" charset="0"/>
                              </a:rPr>
                              <m:t>2</m:t>
                            </m:r>
                          </m:sub>
                        </m:sSub>
                      </m:e>
                    </m:acc>
                  </m:oMath>
                </a14:m>
                <a:r>
                  <a:rPr lang="es-AR" sz="2400" dirty="0"/>
                  <a:t>+… +</a:t>
                </a:r>
                <a14:m>
                  <m:oMath xmlns:m="http://schemas.openxmlformats.org/officeDocument/2006/math">
                    <m:sSub>
                      <m:sSubPr>
                        <m:ctrlPr>
                          <a:rPr lang="es-AR" sz="2400" i="1">
                            <a:latin typeface="Cambria Math" panose="02040503050406030204" pitchFamily="18" charset="0"/>
                          </a:rPr>
                        </m:ctrlPr>
                      </m:sSubPr>
                      <m:e>
                        <m:r>
                          <a:rPr lang="es-AR" sz="2400" b="0" i="1" smtClean="0">
                            <a:latin typeface="Cambria Math" panose="02040503050406030204" pitchFamily="18" charset="0"/>
                          </a:rPr>
                          <m:t>𝑤</m:t>
                        </m:r>
                      </m:e>
                      <m:sub>
                        <m:r>
                          <a:rPr lang="es-AR" sz="2400" b="0" i="1" smtClean="0">
                            <a:latin typeface="Cambria Math" panose="02040503050406030204" pitchFamily="18" charset="0"/>
                          </a:rPr>
                          <m:t>𝑁</m:t>
                        </m:r>
                      </m:sub>
                    </m:sSub>
                    <m:acc>
                      <m:accPr>
                        <m:chr m:val="̂"/>
                        <m:ctrlPr>
                          <a:rPr lang="es-AR" sz="2400" i="1">
                            <a:latin typeface="Cambria Math" panose="02040503050406030204" pitchFamily="18" charset="0"/>
                          </a:rPr>
                        </m:ctrlPr>
                      </m:accPr>
                      <m:e>
                        <m:sSub>
                          <m:sSubPr>
                            <m:ctrlPr>
                              <a:rPr lang="es-AR" sz="2400" i="1">
                                <a:latin typeface="Cambria Math" panose="02040503050406030204" pitchFamily="18" charset="0"/>
                              </a:rPr>
                            </m:ctrlPr>
                          </m:sSubPr>
                          <m:e>
                            <m:r>
                              <a:rPr lang="es-AR" sz="2400" i="1">
                                <a:latin typeface="Cambria Math" panose="02040503050406030204" pitchFamily="18" charset="0"/>
                              </a:rPr>
                              <m:t>𝑟</m:t>
                            </m:r>
                          </m:e>
                          <m:sub>
                            <m:r>
                              <a:rPr lang="es-AR" sz="2400" b="0" i="1" smtClean="0">
                                <a:latin typeface="Cambria Math" panose="02040503050406030204" pitchFamily="18" charset="0"/>
                              </a:rPr>
                              <m:t>𝑁</m:t>
                            </m:r>
                          </m:sub>
                        </m:sSub>
                      </m:e>
                    </m:acc>
                    <m:r>
                      <a:rPr lang="es-AR" sz="2400" b="0" i="0" smtClean="0">
                        <a:latin typeface="Cambria Math" panose="02040503050406030204" pitchFamily="18" charset="0"/>
                      </a:rPr>
                      <m:t>=</m:t>
                    </m:r>
                    <m:nary>
                      <m:naryPr>
                        <m:chr m:val="∑"/>
                        <m:ctrlPr>
                          <a:rPr lang="es-AR" sz="2400" b="0" i="1" smtClean="0">
                            <a:latin typeface="Cambria Math" panose="02040503050406030204" pitchFamily="18" charset="0"/>
                          </a:rPr>
                        </m:ctrlPr>
                      </m:naryPr>
                      <m:sub>
                        <m:r>
                          <m:rPr>
                            <m:brk m:alnAt="23"/>
                          </m:rPr>
                          <a:rPr lang="es-AR" sz="2400" b="0" i="1" smtClean="0">
                            <a:latin typeface="Cambria Math" panose="02040503050406030204" pitchFamily="18" charset="0"/>
                          </a:rPr>
                          <m:t>𝑖</m:t>
                        </m:r>
                        <m:r>
                          <a:rPr lang="es-AR" sz="2400" b="0" i="1" smtClean="0">
                            <a:latin typeface="Cambria Math" panose="02040503050406030204" pitchFamily="18" charset="0"/>
                          </a:rPr>
                          <m:t>=1</m:t>
                        </m:r>
                      </m:sub>
                      <m:sup>
                        <m:r>
                          <a:rPr lang="es-AR" sz="2400" b="0" i="1" smtClean="0">
                            <a:latin typeface="Cambria Math" panose="02040503050406030204" pitchFamily="18" charset="0"/>
                          </a:rPr>
                          <m:t>𝑁</m:t>
                        </m:r>
                      </m:sup>
                      <m:e>
                        <m:sSub>
                          <m:sSubPr>
                            <m:ctrlPr>
                              <a:rPr lang="es-AR" sz="2400" i="1">
                                <a:latin typeface="Cambria Math" panose="02040503050406030204" pitchFamily="18" charset="0"/>
                              </a:rPr>
                            </m:ctrlPr>
                          </m:sSubPr>
                          <m:e>
                            <m:r>
                              <a:rPr lang="es-AR" sz="2400" b="0" i="1" smtClean="0">
                                <a:latin typeface="Cambria Math" panose="02040503050406030204" pitchFamily="18" charset="0"/>
                              </a:rPr>
                              <m:t>𝑤</m:t>
                            </m:r>
                          </m:e>
                          <m:sub>
                            <m:r>
                              <a:rPr lang="es-AR" sz="2400" b="0" i="1" smtClean="0">
                                <a:latin typeface="Cambria Math" panose="02040503050406030204" pitchFamily="18" charset="0"/>
                              </a:rPr>
                              <m:t>𝑖</m:t>
                            </m:r>
                          </m:sub>
                        </m:sSub>
                        <m:acc>
                          <m:accPr>
                            <m:chr m:val="̂"/>
                            <m:ctrlPr>
                              <a:rPr lang="es-AR" sz="2400" i="1">
                                <a:latin typeface="Cambria Math" panose="02040503050406030204" pitchFamily="18" charset="0"/>
                              </a:rPr>
                            </m:ctrlPr>
                          </m:accPr>
                          <m:e>
                            <m:sSub>
                              <m:sSubPr>
                                <m:ctrlPr>
                                  <a:rPr lang="es-AR" sz="2400" i="1">
                                    <a:latin typeface="Cambria Math" panose="02040503050406030204" pitchFamily="18" charset="0"/>
                                  </a:rPr>
                                </m:ctrlPr>
                              </m:sSubPr>
                              <m:e>
                                <m:r>
                                  <a:rPr lang="es-AR" sz="2400" i="1">
                                    <a:latin typeface="Cambria Math" panose="02040503050406030204" pitchFamily="18" charset="0"/>
                                  </a:rPr>
                                  <m:t>𝑟</m:t>
                                </m:r>
                              </m:e>
                              <m:sub>
                                <m:r>
                                  <a:rPr lang="es-AR" sz="2400" b="0" i="1" smtClean="0">
                                    <a:latin typeface="Cambria Math" panose="02040503050406030204" pitchFamily="18" charset="0"/>
                                  </a:rPr>
                                  <m:t>𝑖</m:t>
                                </m:r>
                              </m:sub>
                            </m:sSub>
                          </m:e>
                        </m:acc>
                      </m:e>
                    </m:nary>
                  </m:oMath>
                </a14:m>
                <a:endParaRPr lang="es-AR" sz="2400" dirty="0"/>
              </a:p>
              <a:p>
                <a:pPr marL="0" indent="0" algn="ctr">
                  <a:buNone/>
                </a:pPr>
                <a:endParaRPr lang="es-AR" sz="2400" dirty="0"/>
              </a:p>
              <a:p>
                <a:pPr marL="0" indent="0" algn="ctr">
                  <a:buNone/>
                </a:pPr>
                <a:endParaRPr lang="es-AR" sz="2400" dirty="0"/>
              </a:p>
              <a:p>
                <a:pPr marL="0" indent="0" algn="ctr">
                  <a:buNone/>
                </a:pPr>
                <a:endParaRPr lang="es-AR" sz="2400" dirty="0"/>
              </a:p>
              <a:p>
                <a:pPr marL="0" indent="0" algn="ctr">
                  <a:buNone/>
                </a:pPr>
                <a:endParaRPr lang="es-AR" sz="2400" dirty="0"/>
              </a:p>
              <a:p>
                <a:endParaRPr lang="es-AR" sz="2400" dirty="0"/>
              </a:p>
              <a:p>
                <a:endParaRPr lang="es-AR" sz="2400" dirty="0"/>
              </a:p>
              <a:p>
                <a:endParaRPr lang="es-AR" sz="2400" dirty="0"/>
              </a:p>
              <a:p>
                <a:endParaRPr lang="es-AR" sz="2400" dirty="0"/>
              </a:p>
            </p:txBody>
          </p:sp>
        </mc:Choice>
        <mc:Fallback xmlns="">
          <p:sp>
            <p:nvSpPr>
              <p:cNvPr id="3" name="Marcador de contenido 2">
                <a:extLst>
                  <a:ext uri="{FF2B5EF4-FFF2-40B4-BE49-F238E27FC236}">
                    <a16:creationId xmlns:a16="http://schemas.microsoft.com/office/drawing/2014/main" id="{EC93BF8D-4EFA-3C0F-D0B5-B21E4702A567}"/>
                  </a:ext>
                </a:extLst>
              </p:cNvPr>
              <p:cNvSpPr>
                <a:spLocks noGrp="1" noRot="1" noChangeAspect="1" noMove="1" noResize="1" noEditPoints="1" noAdjustHandles="1" noChangeArrowheads="1" noChangeShapeType="1" noTextEdit="1"/>
              </p:cNvSpPr>
              <p:nvPr>
                <p:ph idx="1"/>
              </p:nvPr>
            </p:nvSpPr>
            <p:spPr>
              <a:xfrm>
                <a:off x="838200" y="1414807"/>
                <a:ext cx="10717696" cy="5078068"/>
              </a:xfrm>
              <a:blipFill>
                <a:blip r:embed="rId2"/>
                <a:stretch>
                  <a:fillRect l="-910" t="-1441"/>
                </a:stretch>
              </a:blipFill>
            </p:spPr>
            <p:txBody>
              <a:bodyPr/>
              <a:lstStyle/>
              <a:p>
                <a:r>
                  <a:rPr lang="es-ES">
                    <a:noFill/>
                  </a:rPr>
                  <a:t> </a:t>
                </a:r>
              </a:p>
            </p:txBody>
          </p:sp>
        </mc:Fallback>
      </mc:AlternateContent>
      <p:pic>
        <p:nvPicPr>
          <p:cNvPr id="4" name="Imagen 3">
            <a:extLst>
              <a:ext uri="{FF2B5EF4-FFF2-40B4-BE49-F238E27FC236}">
                <a16:creationId xmlns:a16="http://schemas.microsoft.com/office/drawing/2014/main" id="{BB982281-5EEA-441E-9AF8-D7B131E9B69B}"/>
              </a:ext>
            </a:extLst>
          </p:cNvPr>
          <p:cNvPicPr>
            <a:picLocks noChangeAspect="1"/>
          </p:cNvPicPr>
          <p:nvPr/>
        </p:nvPicPr>
        <p:blipFill>
          <a:blip r:embed="rId3"/>
          <a:stretch>
            <a:fillRect/>
          </a:stretch>
        </p:blipFill>
        <p:spPr>
          <a:xfrm>
            <a:off x="2527586" y="3791972"/>
            <a:ext cx="5582007" cy="1971517"/>
          </a:xfrm>
          <a:prstGeom prst="rect">
            <a:avLst/>
          </a:prstGeom>
        </p:spPr>
      </p:pic>
    </p:spTree>
    <p:extLst>
      <p:ext uri="{BB962C8B-B14F-4D97-AF65-F5344CB8AC3E}">
        <p14:creationId xmlns:p14="http://schemas.microsoft.com/office/powerpoint/2010/main" val="21728058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C375AB-917C-B810-964F-BFD48CB7FE16}"/>
              </a:ext>
            </a:extLst>
          </p:cNvPr>
          <p:cNvSpPr>
            <a:spLocks noGrp="1"/>
          </p:cNvSpPr>
          <p:nvPr>
            <p:ph type="title"/>
          </p:nvPr>
        </p:nvSpPr>
        <p:spPr/>
        <p:txBody>
          <a:bodyPr/>
          <a:lstStyle/>
          <a:p>
            <a:r>
              <a:rPr lang="es-AR" sz="4400" dirty="0"/>
              <a:t>Riesgo y tasas de Rendimiento</a:t>
            </a:r>
            <a:endParaRPr lang="es-AR"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EC93BF8D-4EFA-3C0F-D0B5-B21E4702A567}"/>
                  </a:ext>
                </a:extLst>
              </p:cNvPr>
              <p:cNvSpPr>
                <a:spLocks noGrp="1"/>
              </p:cNvSpPr>
              <p:nvPr>
                <p:ph idx="1"/>
              </p:nvPr>
            </p:nvSpPr>
            <p:spPr>
              <a:xfrm>
                <a:off x="838200" y="1414807"/>
                <a:ext cx="10717696" cy="5078068"/>
              </a:xfrm>
            </p:spPr>
            <p:txBody>
              <a:bodyPr>
                <a:normAutofit lnSpcReduction="10000"/>
              </a:bodyPr>
              <a:lstStyle/>
              <a:p>
                <a:pPr marL="0" indent="0">
                  <a:buNone/>
                </a:pPr>
                <a:r>
                  <a:rPr lang="es-AR" sz="2400" dirty="0"/>
                  <a:t>Rendimientos esperados de Carteras, </a:t>
                </a:r>
                <a14:m>
                  <m:oMath xmlns:m="http://schemas.openxmlformats.org/officeDocument/2006/math">
                    <m:acc>
                      <m:accPr>
                        <m:chr m:val="̂"/>
                        <m:ctrlPr>
                          <a:rPr lang="es-AR" sz="2400" i="1" smtClean="0">
                            <a:latin typeface="Cambria Math" panose="02040503050406030204" pitchFamily="18" charset="0"/>
                          </a:rPr>
                        </m:ctrlPr>
                      </m:accPr>
                      <m:e>
                        <m:sSub>
                          <m:sSubPr>
                            <m:ctrlPr>
                              <a:rPr lang="es-AR" sz="2400" i="1" smtClean="0">
                                <a:latin typeface="Cambria Math" panose="02040503050406030204" pitchFamily="18" charset="0"/>
                              </a:rPr>
                            </m:ctrlPr>
                          </m:sSubPr>
                          <m:e>
                            <m:r>
                              <a:rPr lang="es-AR" sz="2400" b="0" i="1" smtClean="0">
                                <a:latin typeface="Cambria Math" panose="02040503050406030204" pitchFamily="18" charset="0"/>
                              </a:rPr>
                              <m:t>𝑟</m:t>
                            </m:r>
                          </m:e>
                          <m:sub>
                            <m:r>
                              <a:rPr lang="es-AR" sz="2400" b="0" i="1" smtClean="0">
                                <a:latin typeface="Cambria Math" panose="02040503050406030204" pitchFamily="18" charset="0"/>
                              </a:rPr>
                              <m:t>𝑝</m:t>
                            </m:r>
                          </m:sub>
                        </m:sSub>
                      </m:e>
                    </m:acc>
                  </m:oMath>
                </a14:m>
                <a:r>
                  <a:rPr lang="es-AR" sz="2400" dirty="0"/>
                  <a:t> o </a:t>
                </a:r>
                <a14:m>
                  <m:oMath xmlns:m="http://schemas.openxmlformats.org/officeDocument/2006/math">
                    <m:acc>
                      <m:accPr>
                        <m:chr m:val="̂"/>
                        <m:ctrlPr>
                          <a:rPr lang="es-AR" sz="2400" i="1">
                            <a:latin typeface="Cambria Math" panose="02040503050406030204" pitchFamily="18" charset="0"/>
                          </a:rPr>
                        </m:ctrlPr>
                      </m:accPr>
                      <m:e>
                        <m:sSub>
                          <m:sSubPr>
                            <m:ctrlPr>
                              <a:rPr lang="es-AR" sz="2400" i="1">
                                <a:latin typeface="Cambria Math" panose="02040503050406030204" pitchFamily="18" charset="0"/>
                              </a:rPr>
                            </m:ctrlPr>
                          </m:sSubPr>
                          <m:e>
                            <m:r>
                              <a:rPr lang="es-AR" sz="2400" i="1">
                                <a:latin typeface="Cambria Math" panose="02040503050406030204" pitchFamily="18" charset="0"/>
                              </a:rPr>
                              <m:t>𝑟</m:t>
                            </m:r>
                          </m:e>
                          <m:sub>
                            <m:r>
                              <a:rPr lang="es-AR" sz="2400" i="1">
                                <a:latin typeface="Cambria Math" panose="02040503050406030204" pitchFamily="18" charset="0"/>
                              </a:rPr>
                              <m:t>𝑝</m:t>
                            </m:r>
                            <m:r>
                              <a:rPr lang="es-AR" sz="2400" b="0" i="1" smtClean="0">
                                <a:latin typeface="Cambria Math" panose="02040503050406030204" pitchFamily="18" charset="0"/>
                              </a:rPr>
                              <m:t>𝑜𝑟𝑡𝑎𝑓𝑜𝑙𝑖𝑜</m:t>
                            </m:r>
                          </m:sub>
                        </m:sSub>
                      </m:e>
                    </m:acc>
                  </m:oMath>
                </a14:m>
                <a:endParaRPr lang="es-AR" sz="2400" dirty="0"/>
              </a:p>
              <a:p>
                <a:endParaRPr lang="es-AR" sz="2400" dirty="0"/>
              </a:p>
              <a:p>
                <a:pPr marL="0" indent="0" algn="ctr">
                  <a:buNone/>
                </a:pPr>
                <a:endParaRPr lang="es-AR" sz="2400" dirty="0"/>
              </a:p>
              <a:p>
                <a:pPr marL="0" indent="0" algn="ctr">
                  <a:buNone/>
                </a:pPr>
                <a:endParaRPr lang="es-AR" sz="2400" dirty="0"/>
              </a:p>
              <a:p>
                <a:pPr marL="0" indent="0" algn="ctr">
                  <a:buNone/>
                </a:pPr>
                <a:endParaRPr lang="es-AR" sz="2400" dirty="0"/>
              </a:p>
              <a:p>
                <a:pPr marL="0" indent="0">
                  <a:buNone/>
                </a:pPr>
                <a:endParaRPr lang="es-AR" sz="2400" dirty="0"/>
              </a:p>
              <a:p>
                <a:r>
                  <a:rPr lang="es-AR" sz="2400" dirty="0"/>
                  <a:t>Agregar una quinta Acción con una </a:t>
                </a:r>
                <a14:m>
                  <m:oMath xmlns:m="http://schemas.openxmlformats.org/officeDocument/2006/math">
                    <m:acc>
                      <m:accPr>
                        <m:chr m:val="̂"/>
                        <m:ctrlPr>
                          <a:rPr lang="es-AR" sz="2400" i="1" smtClean="0">
                            <a:latin typeface="Cambria Math" panose="02040503050406030204" pitchFamily="18" charset="0"/>
                          </a:rPr>
                        </m:ctrlPr>
                      </m:accPr>
                      <m:e>
                        <m:sSub>
                          <m:sSubPr>
                            <m:ctrlPr>
                              <a:rPr lang="es-AR" sz="2400" i="1" smtClean="0">
                                <a:latin typeface="Cambria Math" panose="02040503050406030204" pitchFamily="18" charset="0"/>
                              </a:rPr>
                            </m:ctrlPr>
                          </m:sSubPr>
                          <m:e>
                            <m:r>
                              <a:rPr lang="es-AR" sz="2400" b="0" i="1" smtClean="0">
                                <a:latin typeface="Cambria Math" panose="02040503050406030204" pitchFamily="18" charset="0"/>
                              </a:rPr>
                              <m:t>𝑟</m:t>
                            </m:r>
                          </m:e>
                          <m:sub>
                            <m:r>
                              <a:rPr lang="es-AR" sz="2400" b="0" i="1" smtClean="0">
                                <a:latin typeface="Cambria Math" panose="02040503050406030204" pitchFamily="18" charset="0"/>
                              </a:rPr>
                              <m:t>5</m:t>
                            </m:r>
                          </m:sub>
                        </m:sSub>
                      </m:e>
                    </m:acc>
                  </m:oMath>
                </a14:m>
                <a:r>
                  <a:rPr lang="es-AR" sz="2400" dirty="0"/>
                  <a:t> mayor o menor al 7,875% hará que el Rendimiento de la Cartera suba o baje, al ser un promedio ponderado</a:t>
                </a:r>
              </a:p>
              <a:p>
                <a:r>
                  <a:rPr lang="es-AR" sz="2400" dirty="0"/>
                  <a:t>¿De dónde salen los Rendimientos esperados? Analistas de Mercado. Es mejor que nada a la hora de tomar decisiones de inversión adecuadas</a:t>
                </a:r>
              </a:p>
              <a:p>
                <a:r>
                  <a:rPr lang="es-AR" sz="2400" dirty="0"/>
                  <a:t>¿Los Rendimientos realizados, </a:t>
                </a:r>
                <a14:m>
                  <m:oMath xmlns:m="http://schemas.openxmlformats.org/officeDocument/2006/math">
                    <m:acc>
                      <m:accPr>
                        <m:chr m:val="̅"/>
                        <m:ctrlPr>
                          <a:rPr lang="es-AR" sz="2400" i="1" smtClean="0">
                            <a:latin typeface="Cambria Math" panose="02040503050406030204" pitchFamily="18" charset="0"/>
                          </a:rPr>
                        </m:ctrlPr>
                      </m:accPr>
                      <m:e>
                        <m:sSub>
                          <m:sSubPr>
                            <m:ctrlPr>
                              <a:rPr lang="es-AR" sz="2400" i="1" smtClean="0">
                                <a:latin typeface="Cambria Math" panose="02040503050406030204" pitchFamily="18" charset="0"/>
                              </a:rPr>
                            </m:ctrlPr>
                          </m:sSubPr>
                          <m:e>
                            <m:r>
                              <a:rPr lang="es-AR" sz="2400" b="0" i="1" smtClean="0">
                                <a:latin typeface="Cambria Math" panose="02040503050406030204" pitchFamily="18" charset="0"/>
                              </a:rPr>
                              <m:t>𝑟</m:t>
                            </m:r>
                          </m:e>
                          <m:sub>
                            <m:r>
                              <a:rPr lang="es-AR" sz="2400" b="0" i="1" smtClean="0">
                                <a:latin typeface="Cambria Math" panose="02040503050406030204" pitchFamily="18" charset="0"/>
                              </a:rPr>
                              <m:t>𝑖</m:t>
                            </m:r>
                          </m:sub>
                        </m:sSub>
                      </m:e>
                    </m:acc>
                  </m:oMath>
                </a14:m>
                <a:r>
                  <a:rPr lang="es-AR" sz="2400" dirty="0"/>
                  <a:t> serán los esperados? ¿en cuánto podrán diferir de los esperados? ¿Y el </a:t>
                </a:r>
                <a14:m>
                  <m:oMath xmlns:m="http://schemas.openxmlformats.org/officeDocument/2006/math">
                    <m:acc>
                      <m:accPr>
                        <m:chr m:val="̅"/>
                        <m:ctrlPr>
                          <a:rPr lang="es-AR" sz="2400" i="1">
                            <a:latin typeface="Cambria Math" panose="02040503050406030204" pitchFamily="18" charset="0"/>
                          </a:rPr>
                        </m:ctrlPr>
                      </m:accPr>
                      <m:e>
                        <m:sSub>
                          <m:sSubPr>
                            <m:ctrlPr>
                              <a:rPr lang="es-AR" sz="2400" i="1">
                                <a:latin typeface="Cambria Math" panose="02040503050406030204" pitchFamily="18" charset="0"/>
                              </a:rPr>
                            </m:ctrlPr>
                          </m:sSubPr>
                          <m:e>
                            <m:r>
                              <a:rPr lang="es-AR" sz="2400" i="1">
                                <a:latin typeface="Cambria Math" panose="02040503050406030204" pitchFamily="18" charset="0"/>
                              </a:rPr>
                              <m:t>𝑟</m:t>
                            </m:r>
                          </m:e>
                          <m:sub>
                            <m:r>
                              <a:rPr lang="es-AR" sz="2400" b="0" i="1" smtClean="0">
                                <a:latin typeface="Cambria Math" panose="02040503050406030204" pitchFamily="18" charset="0"/>
                              </a:rPr>
                              <m:t>𝑝𝑜𝑟𝑡𝑓𝑜𝑙𝑖𝑜</m:t>
                            </m:r>
                          </m:sub>
                        </m:sSub>
                      </m:e>
                    </m:acc>
                  </m:oMath>
                </a14:m>
                <a:r>
                  <a:rPr lang="es-AR" sz="2400" dirty="0"/>
                  <a:t> se alejará más o menos de su Rendimiento esperado, por qué?</a:t>
                </a:r>
              </a:p>
              <a:p>
                <a:endParaRPr lang="es-AR" sz="2400" dirty="0"/>
              </a:p>
              <a:p>
                <a:endParaRPr lang="es-AR" sz="2400" dirty="0"/>
              </a:p>
              <a:p>
                <a:endParaRPr lang="es-AR" sz="2400" dirty="0"/>
              </a:p>
            </p:txBody>
          </p:sp>
        </mc:Choice>
        <mc:Fallback xmlns="">
          <p:sp>
            <p:nvSpPr>
              <p:cNvPr id="3" name="Marcador de contenido 2">
                <a:extLst>
                  <a:ext uri="{FF2B5EF4-FFF2-40B4-BE49-F238E27FC236}">
                    <a16:creationId xmlns:a16="http://schemas.microsoft.com/office/drawing/2014/main" id="{EC93BF8D-4EFA-3C0F-D0B5-B21E4702A567}"/>
                  </a:ext>
                </a:extLst>
              </p:cNvPr>
              <p:cNvSpPr>
                <a:spLocks noGrp="1" noRot="1" noChangeAspect="1" noMove="1" noResize="1" noEditPoints="1" noAdjustHandles="1" noChangeArrowheads="1" noChangeShapeType="1" noTextEdit="1"/>
              </p:cNvSpPr>
              <p:nvPr>
                <p:ph idx="1"/>
              </p:nvPr>
            </p:nvSpPr>
            <p:spPr>
              <a:xfrm>
                <a:off x="838200" y="1414807"/>
                <a:ext cx="10717696" cy="5078068"/>
              </a:xfrm>
              <a:blipFill>
                <a:blip r:embed="rId2"/>
                <a:stretch>
                  <a:fillRect l="-910" t="-2041" r="-739" b="-480"/>
                </a:stretch>
              </a:blipFill>
            </p:spPr>
            <p:txBody>
              <a:bodyPr/>
              <a:lstStyle/>
              <a:p>
                <a:r>
                  <a:rPr lang="es-ES">
                    <a:noFill/>
                  </a:rPr>
                  <a:t> </a:t>
                </a:r>
              </a:p>
            </p:txBody>
          </p:sp>
        </mc:Fallback>
      </mc:AlternateContent>
      <p:pic>
        <p:nvPicPr>
          <p:cNvPr id="4" name="Imagen 3">
            <a:extLst>
              <a:ext uri="{FF2B5EF4-FFF2-40B4-BE49-F238E27FC236}">
                <a16:creationId xmlns:a16="http://schemas.microsoft.com/office/drawing/2014/main" id="{BB982281-5EEA-441E-9AF8-D7B131E9B69B}"/>
              </a:ext>
            </a:extLst>
          </p:cNvPr>
          <p:cNvPicPr>
            <a:picLocks noChangeAspect="1"/>
          </p:cNvPicPr>
          <p:nvPr/>
        </p:nvPicPr>
        <p:blipFill>
          <a:blip r:embed="rId3"/>
          <a:stretch>
            <a:fillRect/>
          </a:stretch>
        </p:blipFill>
        <p:spPr>
          <a:xfrm>
            <a:off x="3857625" y="1990868"/>
            <a:ext cx="4226201" cy="1492658"/>
          </a:xfrm>
          <a:prstGeom prst="rect">
            <a:avLst/>
          </a:prstGeom>
        </p:spPr>
      </p:pic>
    </p:spTree>
    <p:extLst>
      <p:ext uri="{BB962C8B-B14F-4D97-AF65-F5344CB8AC3E}">
        <p14:creationId xmlns:p14="http://schemas.microsoft.com/office/powerpoint/2010/main" val="9391007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C375AB-917C-B810-964F-BFD48CB7FE16}"/>
              </a:ext>
            </a:extLst>
          </p:cNvPr>
          <p:cNvSpPr>
            <a:spLocks noGrp="1"/>
          </p:cNvSpPr>
          <p:nvPr>
            <p:ph type="title"/>
          </p:nvPr>
        </p:nvSpPr>
        <p:spPr/>
        <p:txBody>
          <a:bodyPr/>
          <a:lstStyle/>
          <a:p>
            <a:r>
              <a:rPr lang="es-AR" sz="4400" dirty="0"/>
              <a:t>Riesgo y tasas de Rendimiento</a:t>
            </a:r>
            <a:endParaRPr lang="es-AR"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EC93BF8D-4EFA-3C0F-D0B5-B21E4702A567}"/>
                  </a:ext>
                </a:extLst>
              </p:cNvPr>
              <p:cNvSpPr>
                <a:spLocks noGrp="1"/>
              </p:cNvSpPr>
              <p:nvPr>
                <p:ph idx="1"/>
              </p:nvPr>
            </p:nvSpPr>
            <p:spPr/>
            <p:txBody>
              <a:bodyPr>
                <a:normAutofit/>
              </a:bodyPr>
              <a:lstStyle/>
              <a:p>
                <a:r>
                  <a:rPr lang="es-AR" sz="2200" dirty="0"/>
                  <a:t>Riesgo de una Cartera</a:t>
                </a:r>
              </a:p>
              <a:p>
                <a:r>
                  <a:rPr lang="es-AR" sz="2200" dirty="0"/>
                  <a:t>El Rendimiento de la Cartera es el promedio ponderado de los Rendimientos, </a:t>
                </a:r>
                <a:r>
                  <a:rPr lang="es-AR" sz="2200" b="1" dirty="0"/>
                  <a:t>pero el Riesgo </a:t>
                </a:r>
                <a14:m>
                  <m:oMath xmlns:m="http://schemas.openxmlformats.org/officeDocument/2006/math">
                    <m:sSub>
                      <m:sSubPr>
                        <m:ctrlPr>
                          <a:rPr lang="es-AR" sz="2200" b="1" i="1" smtClean="0">
                            <a:latin typeface="Cambria Math" panose="02040503050406030204" pitchFamily="18" charset="0"/>
                          </a:rPr>
                        </m:ctrlPr>
                      </m:sSubPr>
                      <m:e>
                        <m:r>
                          <a:rPr lang="es-AR" sz="2200" b="1" i="1" smtClean="0">
                            <a:latin typeface="Cambria Math" panose="02040503050406030204" pitchFamily="18" charset="0"/>
                          </a:rPr>
                          <m:t>𝝈</m:t>
                        </m:r>
                      </m:e>
                      <m:sub>
                        <m:r>
                          <a:rPr lang="es-AR" sz="2200" b="1" i="1" smtClean="0">
                            <a:latin typeface="Cambria Math" panose="02040503050406030204" pitchFamily="18" charset="0"/>
                          </a:rPr>
                          <m:t>𝒑</m:t>
                        </m:r>
                      </m:sub>
                    </m:sSub>
                  </m:oMath>
                </a14:m>
                <a:r>
                  <a:rPr lang="es-AR" sz="2200" b="1" dirty="0"/>
                  <a:t> no es un promedio ponderado, es generalmente menor que el promedio de los σ de las Acciones porque la diversificación reduce el Riesgo de la Cartera</a:t>
                </a:r>
                <a:r>
                  <a:rPr lang="es-AR" sz="2200" dirty="0"/>
                  <a:t>. Veamos un caso límite que lo explicaría</a:t>
                </a:r>
              </a:p>
              <a:p>
                <a:endParaRPr lang="es-AR" sz="2200" dirty="0"/>
              </a:p>
              <a:p>
                <a:endParaRPr lang="es-AR" sz="2200" dirty="0"/>
              </a:p>
              <a:p>
                <a:endParaRPr lang="es-AR" sz="2200" dirty="0"/>
              </a:p>
              <a:p>
                <a:endParaRPr lang="es-AR" sz="2200" dirty="0"/>
              </a:p>
              <a:p>
                <a:endParaRPr lang="es-AR" sz="2200" dirty="0"/>
              </a:p>
              <a:p>
                <a:pPr marL="0" indent="0">
                  <a:buNone/>
                </a:pPr>
                <a:r>
                  <a:rPr lang="es-AR" sz="2200" dirty="0"/>
                  <a:t>Veámoslo en Excel</a:t>
                </a:r>
              </a:p>
              <a:p>
                <a:endParaRPr lang="es-AR" sz="2200" dirty="0"/>
              </a:p>
            </p:txBody>
          </p:sp>
        </mc:Choice>
        <mc:Fallback xmlns="">
          <p:sp>
            <p:nvSpPr>
              <p:cNvPr id="3" name="Marcador de contenido 2">
                <a:extLst>
                  <a:ext uri="{FF2B5EF4-FFF2-40B4-BE49-F238E27FC236}">
                    <a16:creationId xmlns:a16="http://schemas.microsoft.com/office/drawing/2014/main" id="{EC93BF8D-4EFA-3C0F-D0B5-B21E4702A567}"/>
                  </a:ext>
                </a:extLst>
              </p:cNvPr>
              <p:cNvSpPr>
                <a:spLocks noGrp="1" noRot="1" noChangeAspect="1" noMove="1" noResize="1" noEditPoints="1" noAdjustHandles="1" noChangeArrowheads="1" noChangeShapeType="1" noTextEdit="1"/>
              </p:cNvSpPr>
              <p:nvPr>
                <p:ph idx="1"/>
              </p:nvPr>
            </p:nvSpPr>
            <p:spPr>
              <a:blipFill>
                <a:blip r:embed="rId2"/>
                <a:stretch>
                  <a:fillRect l="-754" t="-1681" b="-2381"/>
                </a:stretch>
              </a:blipFill>
            </p:spPr>
            <p:txBody>
              <a:bodyPr/>
              <a:lstStyle/>
              <a:p>
                <a:r>
                  <a:rPr lang="es-ES">
                    <a:noFill/>
                  </a:rPr>
                  <a:t> </a:t>
                </a:r>
              </a:p>
            </p:txBody>
          </p:sp>
        </mc:Fallback>
      </mc:AlternateContent>
      <p:pic>
        <p:nvPicPr>
          <p:cNvPr id="4" name="Imagen 3">
            <a:extLst>
              <a:ext uri="{FF2B5EF4-FFF2-40B4-BE49-F238E27FC236}">
                <a16:creationId xmlns:a16="http://schemas.microsoft.com/office/drawing/2014/main" id="{19B1BAEF-FD84-2C32-6688-1DFA24FFB8B2}"/>
              </a:ext>
            </a:extLst>
          </p:cNvPr>
          <p:cNvPicPr>
            <a:picLocks noChangeAspect="1"/>
          </p:cNvPicPr>
          <p:nvPr/>
        </p:nvPicPr>
        <p:blipFill>
          <a:blip r:embed="rId3"/>
          <a:stretch>
            <a:fillRect/>
          </a:stretch>
        </p:blipFill>
        <p:spPr>
          <a:xfrm>
            <a:off x="3456273" y="3710015"/>
            <a:ext cx="4873430" cy="2466947"/>
          </a:xfrm>
          <a:prstGeom prst="rect">
            <a:avLst/>
          </a:prstGeom>
        </p:spPr>
      </p:pic>
    </p:spTree>
    <p:extLst>
      <p:ext uri="{BB962C8B-B14F-4D97-AF65-F5344CB8AC3E}">
        <p14:creationId xmlns:p14="http://schemas.microsoft.com/office/powerpoint/2010/main" val="35932780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C375AB-917C-B810-964F-BFD48CB7FE16}"/>
              </a:ext>
            </a:extLst>
          </p:cNvPr>
          <p:cNvSpPr>
            <a:spLocks noGrp="1"/>
          </p:cNvSpPr>
          <p:nvPr>
            <p:ph type="title"/>
          </p:nvPr>
        </p:nvSpPr>
        <p:spPr/>
        <p:txBody>
          <a:bodyPr/>
          <a:lstStyle/>
          <a:p>
            <a:r>
              <a:rPr lang="es-AR" sz="4400" dirty="0"/>
              <a:t>Riesgo y tasas de Rendimiento</a:t>
            </a:r>
            <a:endParaRPr lang="es-AR" dirty="0"/>
          </a:p>
        </p:txBody>
      </p:sp>
      <p:sp>
        <p:nvSpPr>
          <p:cNvPr id="3" name="Marcador de contenido 2">
            <a:extLst>
              <a:ext uri="{FF2B5EF4-FFF2-40B4-BE49-F238E27FC236}">
                <a16:creationId xmlns:a16="http://schemas.microsoft.com/office/drawing/2014/main" id="{EC93BF8D-4EFA-3C0F-D0B5-B21E4702A567}"/>
              </a:ext>
            </a:extLst>
          </p:cNvPr>
          <p:cNvSpPr>
            <a:spLocks noGrp="1"/>
          </p:cNvSpPr>
          <p:nvPr>
            <p:ph idx="1"/>
          </p:nvPr>
        </p:nvSpPr>
        <p:spPr/>
        <p:txBody>
          <a:bodyPr>
            <a:normAutofit/>
          </a:bodyPr>
          <a:lstStyle/>
          <a:p>
            <a:r>
              <a:rPr lang="es-AR" sz="2200" dirty="0"/>
              <a:t>Riesgo de una Cartera</a:t>
            </a:r>
          </a:p>
          <a:p>
            <a:endParaRPr lang="es-AR" sz="2200" dirty="0"/>
          </a:p>
          <a:p>
            <a:r>
              <a:rPr lang="es-AR" sz="2200" dirty="0"/>
              <a:t>Las Acciones individualmente son muy riesgosas, pero el Rendimiento de la Cartera es constante, no tiene Riesgo (si la historia siempre se repitiera)</a:t>
            </a:r>
          </a:p>
          <a:p>
            <a:r>
              <a:rPr lang="es-AR" sz="2200" dirty="0"/>
              <a:t>Cualquier inversor optaría por invertir 50% en cada una de las dos Acciones y eliminar totalmente el Riesgo</a:t>
            </a:r>
          </a:p>
          <a:p>
            <a:r>
              <a:rPr lang="es-AR" sz="2200" dirty="0"/>
              <a:t>Esto es sólo posible con Acciones con </a:t>
            </a:r>
            <a:r>
              <a:rPr lang="es-AR" sz="2200" b="1" u="sng" dirty="0"/>
              <a:t>perfecta correlación negativa</a:t>
            </a:r>
          </a:p>
        </p:txBody>
      </p:sp>
    </p:spTree>
    <p:extLst>
      <p:ext uri="{BB962C8B-B14F-4D97-AF65-F5344CB8AC3E}">
        <p14:creationId xmlns:p14="http://schemas.microsoft.com/office/powerpoint/2010/main" val="9249011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C375AB-917C-B810-964F-BFD48CB7FE16}"/>
              </a:ext>
            </a:extLst>
          </p:cNvPr>
          <p:cNvSpPr>
            <a:spLocks noGrp="1"/>
          </p:cNvSpPr>
          <p:nvPr>
            <p:ph type="title"/>
          </p:nvPr>
        </p:nvSpPr>
        <p:spPr/>
        <p:txBody>
          <a:bodyPr/>
          <a:lstStyle/>
          <a:p>
            <a:r>
              <a:rPr lang="es-AR" sz="4400" dirty="0"/>
              <a:t>Riesgo y tasas de Rendimiento</a:t>
            </a:r>
            <a:endParaRPr lang="es-AR" dirty="0"/>
          </a:p>
        </p:txBody>
      </p:sp>
      <p:sp>
        <p:nvSpPr>
          <p:cNvPr id="3" name="Marcador de contenido 2">
            <a:extLst>
              <a:ext uri="{FF2B5EF4-FFF2-40B4-BE49-F238E27FC236}">
                <a16:creationId xmlns:a16="http://schemas.microsoft.com/office/drawing/2014/main" id="{EC93BF8D-4EFA-3C0F-D0B5-B21E4702A567}"/>
              </a:ext>
            </a:extLst>
          </p:cNvPr>
          <p:cNvSpPr>
            <a:spLocks noGrp="1"/>
          </p:cNvSpPr>
          <p:nvPr>
            <p:ph idx="1"/>
          </p:nvPr>
        </p:nvSpPr>
        <p:spPr/>
        <p:txBody>
          <a:bodyPr>
            <a:normAutofit/>
          </a:bodyPr>
          <a:lstStyle/>
          <a:p>
            <a:r>
              <a:rPr lang="es-AR" sz="2000" dirty="0"/>
              <a:t>Dos Acciones </a:t>
            </a:r>
            <a:r>
              <a:rPr lang="es-AR" sz="2000" b="1" u="sng" dirty="0"/>
              <a:t>con correlación positiva perfecta </a:t>
            </a:r>
            <a:r>
              <a:rPr lang="es-AR" sz="2000" dirty="0"/>
              <a:t>e igual Rendimiento harían que la Cartera y cada Acción fueran igualmente riesgosas. La diversificación es inútil</a:t>
            </a:r>
          </a:p>
          <a:p>
            <a:r>
              <a:rPr lang="es-AR" sz="2000" dirty="0"/>
              <a:t>Lo habitual es que las Acciones tengan correlación positiva pero NO perfecta</a:t>
            </a:r>
          </a:p>
          <a:p>
            <a:r>
              <a:rPr lang="es-AR" sz="2000" dirty="0"/>
              <a:t>Estudios muestran que tomando al azar dos Acciones, éstas tienen una correlación promedio de 0,3. En estas condiciones, la combinación de Acciones en Carteras reduce el Riesgo, pero no lo elimina por completo.</a:t>
            </a:r>
          </a:p>
          <a:p>
            <a:r>
              <a:rPr lang="es-AR" sz="2000" dirty="0"/>
              <a:t>Veamos un ejemplo que muestra la mejora producto de la diversificación</a:t>
            </a:r>
          </a:p>
        </p:txBody>
      </p:sp>
      <p:pic>
        <p:nvPicPr>
          <p:cNvPr id="4" name="Imagen 3">
            <a:extLst>
              <a:ext uri="{FF2B5EF4-FFF2-40B4-BE49-F238E27FC236}">
                <a16:creationId xmlns:a16="http://schemas.microsoft.com/office/drawing/2014/main" id="{152B5EF6-693E-DA1F-999F-565CA4BCC15A}"/>
              </a:ext>
            </a:extLst>
          </p:cNvPr>
          <p:cNvPicPr>
            <a:picLocks noChangeAspect="1"/>
          </p:cNvPicPr>
          <p:nvPr/>
        </p:nvPicPr>
        <p:blipFill>
          <a:blip r:embed="rId2"/>
          <a:stretch>
            <a:fillRect/>
          </a:stretch>
        </p:blipFill>
        <p:spPr>
          <a:xfrm>
            <a:off x="4176712" y="4326007"/>
            <a:ext cx="3838575" cy="1943100"/>
          </a:xfrm>
          <a:prstGeom prst="rect">
            <a:avLst/>
          </a:prstGeom>
        </p:spPr>
      </p:pic>
    </p:spTree>
    <p:extLst>
      <p:ext uri="{BB962C8B-B14F-4D97-AF65-F5344CB8AC3E}">
        <p14:creationId xmlns:p14="http://schemas.microsoft.com/office/powerpoint/2010/main" val="28862768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C375AB-917C-B810-964F-BFD48CB7FE16}"/>
              </a:ext>
            </a:extLst>
          </p:cNvPr>
          <p:cNvSpPr>
            <a:spLocks noGrp="1"/>
          </p:cNvSpPr>
          <p:nvPr>
            <p:ph type="title"/>
          </p:nvPr>
        </p:nvSpPr>
        <p:spPr/>
        <p:txBody>
          <a:bodyPr/>
          <a:lstStyle/>
          <a:p>
            <a:r>
              <a:rPr lang="es-AR" sz="4400" dirty="0"/>
              <a:t>Riesgo y tasas de Rendimiento</a:t>
            </a:r>
            <a:endParaRPr lang="es-AR" dirty="0"/>
          </a:p>
        </p:txBody>
      </p:sp>
      <p:sp>
        <p:nvSpPr>
          <p:cNvPr id="3" name="Marcador de contenido 2">
            <a:extLst>
              <a:ext uri="{FF2B5EF4-FFF2-40B4-BE49-F238E27FC236}">
                <a16:creationId xmlns:a16="http://schemas.microsoft.com/office/drawing/2014/main" id="{EC93BF8D-4EFA-3C0F-D0B5-B21E4702A567}"/>
              </a:ext>
            </a:extLst>
          </p:cNvPr>
          <p:cNvSpPr>
            <a:spLocks noGrp="1"/>
          </p:cNvSpPr>
          <p:nvPr>
            <p:ph idx="1"/>
          </p:nvPr>
        </p:nvSpPr>
        <p:spPr/>
        <p:txBody>
          <a:bodyPr>
            <a:normAutofit/>
          </a:bodyPr>
          <a:lstStyle/>
          <a:p>
            <a:r>
              <a:rPr lang="es-AR" dirty="0"/>
              <a:t>Se puede afirmar que con correlaciones menores a 0,5 se obtienen beneficios de diversificar. Cuanto menor sea, mejor. Si logramos correlaciones negativas lograremos reducir más aun el Riesgo de nuestra Cartera.</a:t>
            </a:r>
          </a:p>
          <a:p>
            <a:r>
              <a:rPr lang="es-AR" dirty="0"/>
              <a:t>¿Qué ocurre si en lugar de dos Acciones tomamos un número mayor? A mayor número de Acciones, en general, el Riesgo disminuirá. Influyen los montos invertidos y las correlaciones de las nuevas Acciones </a:t>
            </a:r>
            <a:r>
              <a:rPr lang="es-AR" dirty="0" err="1"/>
              <a:t>inCorporadas</a:t>
            </a:r>
            <a:endParaRPr lang="es-AR" dirty="0"/>
          </a:p>
          <a:p>
            <a:r>
              <a:rPr lang="es-AR" dirty="0"/>
              <a:t>¿Podemos </a:t>
            </a:r>
            <a:r>
              <a:rPr lang="es-AR" b="1" dirty="0"/>
              <a:t>eliminar el Riesgo</a:t>
            </a:r>
            <a:r>
              <a:rPr lang="es-AR" dirty="0"/>
              <a:t> agregando suficiente cantidad de Acciones parcialmente correlacionadas? </a:t>
            </a:r>
            <a:r>
              <a:rPr lang="es-AR" b="1" dirty="0"/>
              <a:t>NO. </a:t>
            </a:r>
          </a:p>
        </p:txBody>
      </p:sp>
    </p:spTree>
    <p:extLst>
      <p:ext uri="{BB962C8B-B14F-4D97-AF65-F5344CB8AC3E}">
        <p14:creationId xmlns:p14="http://schemas.microsoft.com/office/powerpoint/2010/main" val="33763858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C375AB-917C-B810-964F-BFD48CB7FE16}"/>
              </a:ext>
            </a:extLst>
          </p:cNvPr>
          <p:cNvSpPr>
            <a:spLocks noGrp="1"/>
          </p:cNvSpPr>
          <p:nvPr>
            <p:ph type="title"/>
          </p:nvPr>
        </p:nvSpPr>
        <p:spPr/>
        <p:txBody>
          <a:bodyPr/>
          <a:lstStyle/>
          <a:p>
            <a:r>
              <a:rPr lang="es-AR" sz="4400" dirty="0"/>
              <a:t>Riesgo y tasas de Rendimiento</a:t>
            </a:r>
            <a:endParaRPr lang="es-AR" dirty="0"/>
          </a:p>
        </p:txBody>
      </p:sp>
      <p:sp>
        <p:nvSpPr>
          <p:cNvPr id="3" name="Marcador de contenido 2">
            <a:extLst>
              <a:ext uri="{FF2B5EF4-FFF2-40B4-BE49-F238E27FC236}">
                <a16:creationId xmlns:a16="http://schemas.microsoft.com/office/drawing/2014/main" id="{EC93BF8D-4EFA-3C0F-D0B5-B21E4702A567}"/>
              </a:ext>
            </a:extLst>
          </p:cNvPr>
          <p:cNvSpPr>
            <a:spLocks noGrp="1"/>
          </p:cNvSpPr>
          <p:nvPr>
            <p:ph idx="1"/>
          </p:nvPr>
        </p:nvSpPr>
        <p:spPr/>
        <p:txBody>
          <a:bodyPr>
            <a:normAutofit lnSpcReduction="10000"/>
          </a:bodyPr>
          <a:lstStyle/>
          <a:p>
            <a:r>
              <a:rPr lang="es-AR" sz="2400" dirty="0"/>
              <a:t>¿Qué pasa a medida que agregamos Acciones?</a:t>
            </a:r>
          </a:p>
          <a:p>
            <a:pPr marL="0" indent="0">
              <a:buNone/>
            </a:pPr>
            <a:endParaRPr lang="es-AR" sz="2400" dirty="0"/>
          </a:p>
          <a:p>
            <a:pPr marL="971550" lvl="1" indent="-514350">
              <a:buFont typeface="+mj-lt"/>
              <a:buAutoNum type="arabicPeriod"/>
            </a:pPr>
            <a:r>
              <a:rPr lang="es-AR" sz="2000" dirty="0"/>
              <a:t>La tasa de </a:t>
            </a:r>
            <a:r>
              <a:rPr lang="es-AR" sz="2000" b="1" dirty="0"/>
              <a:t>decrecimiento del Riesgo es decreciente</a:t>
            </a:r>
            <a:r>
              <a:rPr lang="es-AR" sz="2000" dirty="0"/>
              <a:t>, poco significativo a partir de 40 o 50 Acciones</a:t>
            </a:r>
          </a:p>
          <a:p>
            <a:pPr marL="971550" lvl="1" indent="-514350">
              <a:buFont typeface="+mj-lt"/>
              <a:buAutoNum type="arabicPeriod"/>
            </a:pPr>
            <a:r>
              <a:rPr lang="es-AR" sz="2000" dirty="0"/>
              <a:t>El Riesgo Total de una Cartera puede dividirse en dos partes: Riesgo diversificable y Riesgo de Mercado. El primero se reduce agregando </a:t>
            </a:r>
            <a:r>
              <a:rPr lang="es-AR" dirty="0"/>
              <a:t>Acciones</a:t>
            </a:r>
            <a:r>
              <a:rPr lang="es-AR" sz="2000" dirty="0"/>
              <a:t>, el segundo es el que permanece, aunque agregáramos todas las Acciones del Mercado</a:t>
            </a:r>
          </a:p>
          <a:p>
            <a:pPr marL="971550" lvl="1" indent="-514350">
              <a:buFont typeface="+mj-lt"/>
              <a:buAutoNum type="arabicPeriod"/>
            </a:pPr>
            <a:r>
              <a:rPr lang="es-AR" sz="2000" b="1" dirty="0"/>
              <a:t>El Riesgo diversificable es causado por eventos aleatorios</a:t>
            </a:r>
            <a:r>
              <a:rPr lang="es-AR" sz="2000" dirty="0"/>
              <a:t>, asistemáticos, (demandas, huelgas, programas exitosos y no exitosos, sucesos que son propios de cada empresa) que afectan positiva y negativamente a las empresas </a:t>
            </a:r>
            <a:r>
              <a:rPr lang="es-AR" sz="2000" b="1" dirty="0"/>
              <a:t>y se espera </a:t>
            </a:r>
            <a:r>
              <a:rPr lang="es-AR" sz="2000" dirty="0"/>
              <a:t>se compensen entre sí al diversificar.</a:t>
            </a:r>
          </a:p>
          <a:p>
            <a:pPr marL="971550" lvl="1" indent="-514350">
              <a:buFont typeface="+mj-lt"/>
              <a:buAutoNum type="arabicPeriod"/>
            </a:pPr>
            <a:r>
              <a:rPr lang="es-AR" sz="2000" b="1" dirty="0"/>
              <a:t>El Riesgo de Mercado </a:t>
            </a:r>
            <a:r>
              <a:rPr lang="es-AR" sz="2000" dirty="0"/>
              <a:t>se deriva de </a:t>
            </a:r>
            <a:r>
              <a:rPr lang="es-AR" sz="2000" b="1" dirty="0"/>
              <a:t>factores que afectan sistemáticamente a la mayoría </a:t>
            </a:r>
            <a:r>
              <a:rPr lang="es-AR" sz="2000" dirty="0"/>
              <a:t>de las empresas (guerras, inflación, recesión, altas tasas de interés, otros factores macro). Al afectar a la mayoría de las empresas, no puede eliminarse por diversificación</a:t>
            </a:r>
          </a:p>
        </p:txBody>
      </p:sp>
    </p:spTree>
    <p:extLst>
      <p:ext uri="{BB962C8B-B14F-4D97-AF65-F5344CB8AC3E}">
        <p14:creationId xmlns:p14="http://schemas.microsoft.com/office/powerpoint/2010/main" val="30848505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C375AB-917C-B810-964F-BFD48CB7FE16}"/>
              </a:ext>
            </a:extLst>
          </p:cNvPr>
          <p:cNvSpPr>
            <a:spLocks noGrp="1"/>
          </p:cNvSpPr>
          <p:nvPr>
            <p:ph type="title"/>
          </p:nvPr>
        </p:nvSpPr>
        <p:spPr/>
        <p:txBody>
          <a:bodyPr/>
          <a:lstStyle/>
          <a:p>
            <a:r>
              <a:rPr lang="es-AR" sz="4400" dirty="0"/>
              <a:t>Riesgo y tasas de Rendimiento</a:t>
            </a:r>
            <a:endParaRPr lang="es-AR" dirty="0"/>
          </a:p>
        </p:txBody>
      </p:sp>
      <p:sp>
        <p:nvSpPr>
          <p:cNvPr id="3" name="Marcador de contenido 2">
            <a:extLst>
              <a:ext uri="{FF2B5EF4-FFF2-40B4-BE49-F238E27FC236}">
                <a16:creationId xmlns:a16="http://schemas.microsoft.com/office/drawing/2014/main" id="{EC93BF8D-4EFA-3C0F-D0B5-B21E4702A567}"/>
              </a:ext>
            </a:extLst>
          </p:cNvPr>
          <p:cNvSpPr>
            <a:spLocks noGrp="1"/>
          </p:cNvSpPr>
          <p:nvPr>
            <p:ph idx="1"/>
          </p:nvPr>
        </p:nvSpPr>
        <p:spPr/>
        <p:txBody>
          <a:bodyPr>
            <a:normAutofit/>
          </a:bodyPr>
          <a:lstStyle/>
          <a:p>
            <a:r>
              <a:rPr lang="es-AR" sz="2400" dirty="0"/>
              <a:t>¿Qué pasa a medida que agregamos Acciones?</a:t>
            </a:r>
          </a:p>
          <a:p>
            <a:pPr marL="0" indent="0">
              <a:buNone/>
            </a:pPr>
            <a:endParaRPr lang="es-AR" sz="2400" dirty="0"/>
          </a:p>
          <a:p>
            <a:pPr marL="971550" lvl="1" indent="-514350">
              <a:buFont typeface="+mj-lt"/>
              <a:buAutoNum type="arabicPeriod" startAt="5"/>
            </a:pPr>
            <a:r>
              <a:rPr lang="es-AR" sz="2000" dirty="0"/>
              <a:t>Si seleccionamos las Acciones cuidadosamente, el Riesgo se reduciría más rápidamente que en nuestro siguiente gráfico ¿Cómo debiéramos elegirlas? ¿Qué NO debiéramos hacer, al incluir Acciones?</a:t>
            </a:r>
          </a:p>
          <a:p>
            <a:pPr marL="971550" lvl="1" indent="-514350">
              <a:buFont typeface="+mj-lt"/>
              <a:buAutoNum type="arabicPeriod" startAt="5"/>
            </a:pPr>
            <a:r>
              <a:rPr lang="es-AR" sz="2000" dirty="0"/>
              <a:t>Decisiones de los Inversionistas. Comisiones bajas, diversificación -&gt; Fondos de índice. ¿Y si creen que pueden “vencer” al Mercado qué debieran hacer?</a:t>
            </a:r>
          </a:p>
          <a:p>
            <a:pPr marL="971550" lvl="1" indent="-514350">
              <a:buFont typeface="+mj-lt"/>
              <a:buAutoNum type="arabicPeriod" startAt="5"/>
            </a:pPr>
            <a:r>
              <a:rPr lang="es-AR" sz="2000" dirty="0"/>
              <a:t>Si concluimos que una Acción debe ser analizada en el contexto de una Cartera ¿Cómo medimos entonces el Riesgo de una Acción en un mundo de Carteras de Acciones?</a:t>
            </a:r>
          </a:p>
        </p:txBody>
      </p:sp>
    </p:spTree>
    <p:extLst>
      <p:ext uri="{BB962C8B-B14F-4D97-AF65-F5344CB8AC3E}">
        <p14:creationId xmlns:p14="http://schemas.microsoft.com/office/powerpoint/2010/main" val="9297326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C375AB-917C-B810-964F-BFD48CB7FE16}"/>
              </a:ext>
            </a:extLst>
          </p:cNvPr>
          <p:cNvSpPr>
            <a:spLocks noGrp="1"/>
          </p:cNvSpPr>
          <p:nvPr>
            <p:ph type="title"/>
          </p:nvPr>
        </p:nvSpPr>
        <p:spPr/>
        <p:txBody>
          <a:bodyPr/>
          <a:lstStyle/>
          <a:p>
            <a:r>
              <a:rPr lang="es-AR" sz="4400" dirty="0"/>
              <a:t>Riesgo y tasas de Rendimiento</a:t>
            </a:r>
            <a:endParaRPr lang="es-AR" dirty="0"/>
          </a:p>
        </p:txBody>
      </p:sp>
      <p:graphicFrame>
        <p:nvGraphicFramePr>
          <p:cNvPr id="4" name="Gráfico 3">
            <a:extLst>
              <a:ext uri="{FF2B5EF4-FFF2-40B4-BE49-F238E27FC236}">
                <a16:creationId xmlns:a16="http://schemas.microsoft.com/office/drawing/2014/main" id="{D54180CC-6A5B-654F-4A73-7E7157128147}"/>
              </a:ext>
            </a:extLst>
          </p:cNvPr>
          <p:cNvGraphicFramePr>
            <a:graphicFrameLocks/>
          </p:cNvGraphicFramePr>
          <p:nvPr>
            <p:extLst>
              <p:ext uri="{D42A27DB-BD31-4B8C-83A1-F6EECF244321}">
                <p14:modId xmlns:p14="http://schemas.microsoft.com/office/powerpoint/2010/main" val="790320612"/>
              </p:ext>
            </p:extLst>
          </p:nvPr>
        </p:nvGraphicFramePr>
        <p:xfrm>
          <a:off x="1331841" y="1699590"/>
          <a:ext cx="8262733" cy="4435476"/>
        </p:xfrm>
        <a:graphic>
          <a:graphicData uri="http://schemas.openxmlformats.org/drawingml/2006/chart">
            <c:chart xmlns:c="http://schemas.openxmlformats.org/drawingml/2006/chart" xmlns:r="http://schemas.openxmlformats.org/officeDocument/2006/relationships" r:id="rId2"/>
          </a:graphicData>
        </a:graphic>
      </p:graphicFrame>
      <p:cxnSp>
        <p:nvCxnSpPr>
          <p:cNvPr id="6" name="Conector recto de flecha 5">
            <a:extLst>
              <a:ext uri="{FF2B5EF4-FFF2-40B4-BE49-F238E27FC236}">
                <a16:creationId xmlns:a16="http://schemas.microsoft.com/office/drawing/2014/main" id="{579F6023-FB11-9A98-C25C-832529FF721F}"/>
              </a:ext>
            </a:extLst>
          </p:cNvPr>
          <p:cNvCxnSpPr/>
          <p:nvPr/>
        </p:nvCxnSpPr>
        <p:spPr>
          <a:xfrm flipH="1">
            <a:off x="3472070" y="3429000"/>
            <a:ext cx="14577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9704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C375AB-917C-B810-964F-BFD48CB7FE16}"/>
              </a:ext>
            </a:extLst>
          </p:cNvPr>
          <p:cNvSpPr>
            <a:spLocks noGrp="1"/>
          </p:cNvSpPr>
          <p:nvPr>
            <p:ph type="title"/>
          </p:nvPr>
        </p:nvSpPr>
        <p:spPr/>
        <p:txBody>
          <a:bodyPr/>
          <a:lstStyle/>
          <a:p>
            <a:r>
              <a:rPr lang="es-AR" sz="4400" dirty="0"/>
              <a:t>Riesgo y tasas de Rendimiento</a:t>
            </a:r>
            <a:endParaRPr lang="es-AR" dirty="0"/>
          </a:p>
        </p:txBody>
      </p:sp>
      <p:sp>
        <p:nvSpPr>
          <p:cNvPr id="3" name="Marcador de contenido 2">
            <a:extLst>
              <a:ext uri="{FF2B5EF4-FFF2-40B4-BE49-F238E27FC236}">
                <a16:creationId xmlns:a16="http://schemas.microsoft.com/office/drawing/2014/main" id="{EC93BF8D-4EFA-3C0F-D0B5-B21E4702A567}"/>
              </a:ext>
            </a:extLst>
          </p:cNvPr>
          <p:cNvSpPr>
            <a:spLocks noGrp="1"/>
          </p:cNvSpPr>
          <p:nvPr>
            <p:ph idx="1"/>
          </p:nvPr>
        </p:nvSpPr>
        <p:spPr/>
        <p:txBody>
          <a:bodyPr>
            <a:normAutofit fontScale="85000" lnSpcReduction="10000"/>
          </a:bodyPr>
          <a:lstStyle/>
          <a:p>
            <a:r>
              <a:rPr lang="es-AR" dirty="0"/>
              <a:t>Riesgo en un contexto de Carteras: Coeficiente Beta</a:t>
            </a:r>
          </a:p>
          <a:p>
            <a:r>
              <a:rPr lang="es-AR" dirty="0"/>
              <a:t>¿Cómo medimos el Riesgo relevante de una Acción?</a:t>
            </a:r>
          </a:p>
          <a:p>
            <a:r>
              <a:rPr lang="es-AR" b="1" dirty="0"/>
              <a:t>El Riesgo relevante  </a:t>
            </a:r>
            <a:r>
              <a:rPr lang="es-AR" dirty="0"/>
              <a:t>es aquel que </a:t>
            </a:r>
            <a:r>
              <a:rPr lang="es-AR" b="1" dirty="0"/>
              <a:t>permanece una vez que la Acción se encuentra en una Cartera diversificada</a:t>
            </a:r>
            <a:r>
              <a:rPr lang="es-AR" dirty="0"/>
              <a:t>, es su contribución al Riesgo de Mercado de la Cartera. Se mide por el grado con que la Acción sube o baja junto con el Mercado</a:t>
            </a:r>
          </a:p>
          <a:p>
            <a:r>
              <a:rPr lang="es-AR" dirty="0"/>
              <a:t>Todo el Riesgo, salvo el relacionado con los movimientos del Mercado general o sistémico, puede ser diversificado por la mayoría de los accionistas agregando Acciones hasta que sólo permanezca el Riesgo de Mercado en sus Carteras</a:t>
            </a:r>
          </a:p>
          <a:p>
            <a:r>
              <a:rPr lang="es-AR" dirty="0"/>
              <a:t>La tendencia de una Acción a moverse junto con el Mercado se mide por su coeficiente Beta, b.</a:t>
            </a:r>
          </a:p>
          <a:p>
            <a:r>
              <a:rPr lang="es-AR" b="1" dirty="0"/>
              <a:t>Asumimos</a:t>
            </a:r>
            <a:r>
              <a:rPr lang="es-AR" dirty="0"/>
              <a:t> que la </a:t>
            </a:r>
            <a:r>
              <a:rPr lang="es-AR" b="1" dirty="0"/>
              <a:t>historia</a:t>
            </a:r>
            <a:r>
              <a:rPr lang="es-AR" dirty="0"/>
              <a:t> es </a:t>
            </a:r>
            <a:r>
              <a:rPr lang="es-AR" b="1" dirty="0"/>
              <a:t>buen reflejo a futuro</a:t>
            </a:r>
            <a:r>
              <a:rPr lang="es-AR" dirty="0"/>
              <a:t> de cómo se comportará la Acción en relación con el resto del Mercado</a:t>
            </a:r>
          </a:p>
          <a:p>
            <a:endParaRPr lang="es-AR" dirty="0"/>
          </a:p>
        </p:txBody>
      </p:sp>
    </p:spTree>
    <p:extLst>
      <p:ext uri="{BB962C8B-B14F-4D97-AF65-F5344CB8AC3E}">
        <p14:creationId xmlns:p14="http://schemas.microsoft.com/office/powerpoint/2010/main" val="6979749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C375AB-917C-B810-964F-BFD48CB7FE16}"/>
              </a:ext>
            </a:extLst>
          </p:cNvPr>
          <p:cNvSpPr>
            <a:spLocks noGrp="1"/>
          </p:cNvSpPr>
          <p:nvPr>
            <p:ph type="title"/>
          </p:nvPr>
        </p:nvSpPr>
        <p:spPr/>
        <p:txBody>
          <a:bodyPr/>
          <a:lstStyle/>
          <a:p>
            <a:r>
              <a:rPr lang="es-AR" sz="4400" dirty="0"/>
              <a:t>Riesgo y tasas de Rendimiento</a:t>
            </a:r>
            <a:endParaRPr lang="es-AR" dirty="0"/>
          </a:p>
        </p:txBody>
      </p:sp>
      <p:graphicFrame>
        <p:nvGraphicFramePr>
          <p:cNvPr id="4" name="Gráfico 3">
            <a:extLst>
              <a:ext uri="{FF2B5EF4-FFF2-40B4-BE49-F238E27FC236}">
                <a16:creationId xmlns:a16="http://schemas.microsoft.com/office/drawing/2014/main" id="{CC1FF2C9-8081-4AB5-81C1-2F38E2B90CC7}"/>
              </a:ext>
            </a:extLst>
          </p:cNvPr>
          <p:cNvGraphicFramePr>
            <a:graphicFrameLocks/>
          </p:cNvGraphicFramePr>
          <p:nvPr>
            <p:extLst>
              <p:ext uri="{D42A27DB-BD31-4B8C-83A1-F6EECF244321}">
                <p14:modId xmlns:p14="http://schemas.microsoft.com/office/powerpoint/2010/main" val="3943969863"/>
              </p:ext>
            </p:extLst>
          </p:nvPr>
        </p:nvGraphicFramePr>
        <p:xfrm>
          <a:off x="889760" y="1666044"/>
          <a:ext cx="4581526" cy="4400551"/>
        </p:xfrm>
        <a:graphic>
          <a:graphicData uri="http://schemas.openxmlformats.org/drawingml/2006/chart">
            <c:chart xmlns:c="http://schemas.openxmlformats.org/drawingml/2006/chart" xmlns:r="http://schemas.openxmlformats.org/officeDocument/2006/relationships" r:id="rId2"/>
          </a:graphicData>
        </a:graphic>
      </p:graphicFrame>
      <p:sp>
        <p:nvSpPr>
          <p:cNvPr id="7" name="CuadroTexto 6">
            <a:extLst>
              <a:ext uri="{FF2B5EF4-FFF2-40B4-BE49-F238E27FC236}">
                <a16:creationId xmlns:a16="http://schemas.microsoft.com/office/drawing/2014/main" id="{CB8C6E40-4A74-2512-7850-39BE7FBDBD4F}"/>
              </a:ext>
            </a:extLst>
          </p:cNvPr>
          <p:cNvSpPr txBox="1"/>
          <p:nvPr/>
        </p:nvSpPr>
        <p:spPr>
          <a:xfrm>
            <a:off x="6176961" y="2849219"/>
            <a:ext cx="5339177" cy="369332"/>
          </a:xfrm>
          <a:prstGeom prst="rect">
            <a:avLst/>
          </a:prstGeom>
          <a:noFill/>
        </p:spPr>
        <p:txBody>
          <a:bodyPr wrap="square" rtlCol="0">
            <a:spAutoFit/>
          </a:bodyPr>
          <a:lstStyle/>
          <a:p>
            <a:pPr algn="ctr"/>
            <a:r>
              <a:rPr lang="es-AR" b="1" dirty="0">
                <a:solidFill>
                  <a:srgbClr val="FF0000"/>
                </a:solidFill>
              </a:rPr>
              <a:t>Analicemos los Rendimientos</a:t>
            </a:r>
          </a:p>
        </p:txBody>
      </p:sp>
      <p:pic>
        <p:nvPicPr>
          <p:cNvPr id="8" name="Imagen 7">
            <a:extLst>
              <a:ext uri="{FF2B5EF4-FFF2-40B4-BE49-F238E27FC236}">
                <a16:creationId xmlns:a16="http://schemas.microsoft.com/office/drawing/2014/main" id="{367E7A32-EADF-B7BE-2762-54982726D771}"/>
              </a:ext>
            </a:extLst>
          </p:cNvPr>
          <p:cNvPicPr>
            <a:picLocks noChangeAspect="1"/>
          </p:cNvPicPr>
          <p:nvPr/>
        </p:nvPicPr>
        <p:blipFill>
          <a:blip r:embed="rId3"/>
          <a:stretch>
            <a:fillRect/>
          </a:stretch>
        </p:blipFill>
        <p:spPr>
          <a:xfrm>
            <a:off x="6977890" y="1280698"/>
            <a:ext cx="4324350" cy="1381125"/>
          </a:xfrm>
          <a:prstGeom prst="rect">
            <a:avLst/>
          </a:prstGeom>
        </p:spPr>
      </p:pic>
      <p:pic>
        <p:nvPicPr>
          <p:cNvPr id="10" name="Imagen 9">
            <a:extLst>
              <a:ext uri="{FF2B5EF4-FFF2-40B4-BE49-F238E27FC236}">
                <a16:creationId xmlns:a16="http://schemas.microsoft.com/office/drawing/2014/main" id="{D6701EA4-98D6-3F2D-A9B5-BF744378D1F0}"/>
              </a:ext>
            </a:extLst>
          </p:cNvPr>
          <p:cNvPicPr>
            <a:picLocks noChangeAspect="1"/>
          </p:cNvPicPr>
          <p:nvPr/>
        </p:nvPicPr>
        <p:blipFill>
          <a:blip r:embed="rId4"/>
          <a:stretch>
            <a:fillRect/>
          </a:stretch>
        </p:blipFill>
        <p:spPr>
          <a:xfrm>
            <a:off x="6977890" y="3292193"/>
            <a:ext cx="3982539" cy="1876128"/>
          </a:xfrm>
          <a:prstGeom prst="rect">
            <a:avLst/>
          </a:prstGeom>
        </p:spPr>
      </p:pic>
      <p:sp>
        <p:nvSpPr>
          <p:cNvPr id="11" name="CuadroTexto 10">
            <a:extLst>
              <a:ext uri="{FF2B5EF4-FFF2-40B4-BE49-F238E27FC236}">
                <a16:creationId xmlns:a16="http://schemas.microsoft.com/office/drawing/2014/main" id="{C2E1EBC3-247C-FF9C-D855-EECBB91F896A}"/>
              </a:ext>
            </a:extLst>
          </p:cNvPr>
          <p:cNvSpPr txBox="1"/>
          <p:nvPr/>
        </p:nvSpPr>
        <p:spPr>
          <a:xfrm>
            <a:off x="6237215" y="5446771"/>
            <a:ext cx="5448509" cy="646331"/>
          </a:xfrm>
          <a:prstGeom prst="rect">
            <a:avLst/>
          </a:prstGeom>
          <a:noFill/>
        </p:spPr>
        <p:txBody>
          <a:bodyPr wrap="square" rtlCol="0">
            <a:spAutoFit/>
          </a:bodyPr>
          <a:lstStyle/>
          <a:p>
            <a:r>
              <a:rPr lang="es-AR" dirty="0"/>
              <a:t>En Excel podemos usar la función SLOPE o PENDIENTE para determinar las betas</a:t>
            </a:r>
          </a:p>
        </p:txBody>
      </p:sp>
    </p:spTree>
    <p:extLst>
      <p:ext uri="{BB962C8B-B14F-4D97-AF65-F5344CB8AC3E}">
        <p14:creationId xmlns:p14="http://schemas.microsoft.com/office/powerpoint/2010/main" val="29204826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C375AB-917C-B810-964F-BFD48CB7FE16}"/>
              </a:ext>
            </a:extLst>
          </p:cNvPr>
          <p:cNvSpPr>
            <a:spLocks noGrp="1"/>
          </p:cNvSpPr>
          <p:nvPr>
            <p:ph type="title"/>
          </p:nvPr>
        </p:nvSpPr>
        <p:spPr/>
        <p:txBody>
          <a:bodyPr/>
          <a:lstStyle/>
          <a:p>
            <a:r>
              <a:rPr lang="es-AR" sz="4400" dirty="0"/>
              <a:t>Riesgo y tasas de Rendimiento</a:t>
            </a:r>
            <a:endParaRPr lang="es-AR" dirty="0"/>
          </a:p>
        </p:txBody>
      </p:sp>
      <p:graphicFrame>
        <p:nvGraphicFramePr>
          <p:cNvPr id="4" name="Gráfico 3">
            <a:extLst>
              <a:ext uri="{FF2B5EF4-FFF2-40B4-BE49-F238E27FC236}">
                <a16:creationId xmlns:a16="http://schemas.microsoft.com/office/drawing/2014/main" id="{CC1FF2C9-8081-4AB5-81C1-2F38E2B90CC7}"/>
              </a:ext>
            </a:extLst>
          </p:cNvPr>
          <p:cNvGraphicFramePr>
            <a:graphicFrameLocks/>
          </p:cNvGraphicFramePr>
          <p:nvPr/>
        </p:nvGraphicFramePr>
        <p:xfrm>
          <a:off x="889760" y="1666044"/>
          <a:ext cx="4581526" cy="4400551"/>
        </p:xfrm>
        <a:graphic>
          <a:graphicData uri="http://schemas.openxmlformats.org/drawingml/2006/chart">
            <c:chart xmlns:c="http://schemas.openxmlformats.org/drawingml/2006/chart" xmlns:r="http://schemas.openxmlformats.org/officeDocument/2006/relationships" r:id="rId2"/>
          </a:graphicData>
        </a:graphic>
      </p:graphicFrame>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C2E1EBC3-247C-FF9C-D855-EECBB91F896A}"/>
                  </a:ext>
                </a:extLst>
              </p:cNvPr>
              <p:cNvSpPr txBox="1"/>
              <p:nvPr/>
            </p:nvSpPr>
            <p:spPr>
              <a:xfrm>
                <a:off x="5853731" y="1828928"/>
                <a:ext cx="5448509" cy="3139321"/>
              </a:xfrm>
              <a:prstGeom prst="rect">
                <a:avLst/>
              </a:prstGeom>
              <a:noFill/>
            </p:spPr>
            <p:txBody>
              <a:bodyPr wrap="square" rtlCol="0">
                <a:spAutoFit/>
              </a:bodyPr>
              <a:lstStyle/>
              <a:p>
                <a:r>
                  <a:rPr lang="es-AR" dirty="0"/>
                  <a:t>Cuanto más inclinada es la pendiente, mayor la beta. Indica que pequeños movimientos en el Mercado tienen grandes efectos sobre la Acción</a:t>
                </a:r>
              </a:p>
              <a:p>
                <a:r>
                  <a:rPr lang="es-AR" dirty="0"/>
                  <a:t>La curva promedio está a 45° ya que responde exactamente a los movimientos del Mercado</a:t>
                </a:r>
              </a:p>
              <a:p>
                <a:endParaRPr lang="es-AR" dirty="0"/>
              </a:p>
              <a:p>
                <a:r>
                  <a:rPr lang="es-AR" dirty="0"/>
                  <a:t>Las pendientes de las rectas son las betas </a:t>
                </a:r>
              </a:p>
              <a:p>
                <a:endParaRPr lang="es-AR" dirty="0"/>
              </a:p>
              <a:p>
                <a:r>
                  <a:rPr lang="es-AR" dirty="0"/>
                  <a:t>Así, beta mide la volatilidad de una Acción dada en relación con el Mercado, y la beta promedio de una Acción con </a:t>
                </a:r>
                <a14:m>
                  <m:oMath xmlns:m="http://schemas.openxmlformats.org/officeDocument/2006/math">
                    <m:sSub>
                      <m:sSubPr>
                        <m:ctrlPr>
                          <a:rPr lang="es-AR" i="1" smtClean="0">
                            <a:latin typeface="Cambria Math" panose="02040503050406030204" pitchFamily="18" charset="0"/>
                          </a:rPr>
                        </m:ctrlPr>
                      </m:sSubPr>
                      <m:e>
                        <m:r>
                          <a:rPr lang="es-AR" b="0" i="1" smtClean="0">
                            <a:latin typeface="Cambria Math" panose="02040503050406030204" pitchFamily="18" charset="0"/>
                          </a:rPr>
                          <m:t>𝑏</m:t>
                        </m:r>
                      </m:e>
                      <m:sub>
                        <m:r>
                          <a:rPr lang="es-AR" b="0" i="1" smtClean="0">
                            <a:latin typeface="Cambria Math" panose="02040503050406030204" pitchFamily="18" charset="0"/>
                          </a:rPr>
                          <m:t>𝐴</m:t>
                        </m:r>
                      </m:sub>
                    </m:sSub>
                  </m:oMath>
                </a14:m>
                <a:r>
                  <a:rPr lang="es-AR" dirty="0"/>
                  <a:t>=1</a:t>
                </a:r>
              </a:p>
            </p:txBody>
          </p:sp>
        </mc:Choice>
        <mc:Fallback xmlns="">
          <p:sp>
            <p:nvSpPr>
              <p:cNvPr id="11" name="CuadroTexto 10">
                <a:extLst>
                  <a:ext uri="{FF2B5EF4-FFF2-40B4-BE49-F238E27FC236}">
                    <a16:creationId xmlns:a16="http://schemas.microsoft.com/office/drawing/2014/main" id="{C2E1EBC3-247C-FF9C-D855-EECBB91F896A}"/>
                  </a:ext>
                </a:extLst>
              </p:cNvPr>
              <p:cNvSpPr txBox="1">
                <a:spLocks noRot="1" noChangeAspect="1" noMove="1" noResize="1" noEditPoints="1" noAdjustHandles="1" noChangeArrowheads="1" noChangeShapeType="1" noTextEdit="1"/>
              </p:cNvSpPr>
              <p:nvPr/>
            </p:nvSpPr>
            <p:spPr>
              <a:xfrm>
                <a:off x="5853731" y="1828928"/>
                <a:ext cx="5448509" cy="3139321"/>
              </a:xfrm>
              <a:prstGeom prst="rect">
                <a:avLst/>
              </a:prstGeom>
              <a:blipFill>
                <a:blip r:embed="rId3"/>
                <a:stretch>
                  <a:fillRect l="-895" t="-971" r="-1454" b="-2136"/>
                </a:stretch>
              </a:blipFill>
            </p:spPr>
            <p:txBody>
              <a:bodyPr/>
              <a:lstStyle/>
              <a:p>
                <a:r>
                  <a:rPr lang="es-ES">
                    <a:noFill/>
                  </a:rPr>
                  <a:t> </a:t>
                </a:r>
              </a:p>
            </p:txBody>
          </p:sp>
        </mc:Fallback>
      </mc:AlternateContent>
    </p:spTree>
    <p:extLst>
      <p:ext uri="{BB962C8B-B14F-4D97-AF65-F5344CB8AC3E}">
        <p14:creationId xmlns:p14="http://schemas.microsoft.com/office/powerpoint/2010/main" val="8417451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C375AB-917C-B810-964F-BFD48CB7FE16}"/>
              </a:ext>
            </a:extLst>
          </p:cNvPr>
          <p:cNvSpPr>
            <a:spLocks noGrp="1"/>
          </p:cNvSpPr>
          <p:nvPr>
            <p:ph type="title"/>
          </p:nvPr>
        </p:nvSpPr>
        <p:spPr/>
        <p:txBody>
          <a:bodyPr/>
          <a:lstStyle/>
          <a:p>
            <a:r>
              <a:rPr lang="es-AR" sz="4400" dirty="0"/>
              <a:t>Riesgo y tasas de Rendimiento</a:t>
            </a:r>
            <a:endParaRPr lang="es-AR" dirty="0"/>
          </a:p>
        </p:txBody>
      </p:sp>
      <p:sp>
        <p:nvSpPr>
          <p:cNvPr id="3" name="Marcador de contenido 2">
            <a:extLst>
              <a:ext uri="{FF2B5EF4-FFF2-40B4-BE49-F238E27FC236}">
                <a16:creationId xmlns:a16="http://schemas.microsoft.com/office/drawing/2014/main" id="{EC93BF8D-4EFA-3C0F-D0B5-B21E4702A567}"/>
              </a:ext>
            </a:extLst>
          </p:cNvPr>
          <p:cNvSpPr>
            <a:spLocks noGrp="1"/>
          </p:cNvSpPr>
          <p:nvPr>
            <p:ph idx="1"/>
          </p:nvPr>
        </p:nvSpPr>
        <p:spPr/>
        <p:txBody>
          <a:bodyPr>
            <a:normAutofit lnSpcReduction="10000"/>
          </a:bodyPr>
          <a:lstStyle/>
          <a:p>
            <a:pPr marL="0" indent="0">
              <a:buNone/>
            </a:pPr>
            <a:r>
              <a:rPr lang="es-AR" sz="3200" dirty="0"/>
              <a:t>Más sobre las betas</a:t>
            </a:r>
          </a:p>
          <a:p>
            <a:r>
              <a:rPr lang="es-AR" sz="3200" dirty="0"/>
              <a:t>La Acción A, de Riesgo promedio, tiene una beta igual a 1</a:t>
            </a:r>
          </a:p>
          <a:p>
            <a:r>
              <a:rPr lang="es-AR" sz="3200" dirty="0"/>
              <a:t>Una Cartera grande con Acciones con b=1,0</a:t>
            </a:r>
          </a:p>
          <a:p>
            <a:pPr lvl="1"/>
            <a:r>
              <a:rPr lang="es-AR" sz="2800" dirty="0"/>
              <a:t>Eliminaría todo su Riesgo diversificable, pero</a:t>
            </a:r>
          </a:p>
          <a:p>
            <a:pPr lvl="1"/>
            <a:r>
              <a:rPr lang="es-AR" sz="2800" dirty="0"/>
              <a:t>Subiría y bajaría como el Mercado en su conjunto, manteniendo cierto grado de Riesgo</a:t>
            </a:r>
          </a:p>
          <a:p>
            <a:r>
              <a:rPr lang="es-AR" sz="3200" dirty="0"/>
              <a:t>Tener una Cartera conformada con Acciones con b=2,0 es el doble de riesgosa que el Mercado, y una con b=0,5, la mitad del Mercado general ¿qué significa esto?</a:t>
            </a:r>
          </a:p>
        </p:txBody>
      </p:sp>
    </p:spTree>
    <p:extLst>
      <p:ext uri="{BB962C8B-B14F-4D97-AF65-F5344CB8AC3E}">
        <p14:creationId xmlns:p14="http://schemas.microsoft.com/office/powerpoint/2010/main" val="41321540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C375AB-917C-B810-964F-BFD48CB7FE16}"/>
              </a:ext>
            </a:extLst>
          </p:cNvPr>
          <p:cNvSpPr>
            <a:spLocks noGrp="1"/>
          </p:cNvSpPr>
          <p:nvPr>
            <p:ph type="title"/>
          </p:nvPr>
        </p:nvSpPr>
        <p:spPr/>
        <p:txBody>
          <a:bodyPr/>
          <a:lstStyle/>
          <a:p>
            <a:r>
              <a:rPr lang="es-AR" sz="4400" dirty="0"/>
              <a:t>Riesgo y tasas de Rendimiento</a:t>
            </a:r>
            <a:endParaRPr lang="es-AR" dirty="0"/>
          </a:p>
        </p:txBody>
      </p:sp>
      <p:sp>
        <p:nvSpPr>
          <p:cNvPr id="3" name="Marcador de contenido 2">
            <a:extLst>
              <a:ext uri="{FF2B5EF4-FFF2-40B4-BE49-F238E27FC236}">
                <a16:creationId xmlns:a16="http://schemas.microsoft.com/office/drawing/2014/main" id="{EC93BF8D-4EFA-3C0F-D0B5-B21E4702A567}"/>
              </a:ext>
            </a:extLst>
          </p:cNvPr>
          <p:cNvSpPr>
            <a:spLocks noGrp="1"/>
          </p:cNvSpPr>
          <p:nvPr>
            <p:ph idx="1"/>
          </p:nvPr>
        </p:nvSpPr>
        <p:spPr/>
        <p:txBody>
          <a:bodyPr>
            <a:normAutofit/>
          </a:bodyPr>
          <a:lstStyle/>
          <a:p>
            <a:pPr marL="0" indent="0">
              <a:buNone/>
            </a:pPr>
            <a:r>
              <a:rPr lang="es-AR" dirty="0"/>
              <a:t>Más sobre las betas</a:t>
            </a:r>
          </a:p>
          <a:p>
            <a:r>
              <a:rPr lang="es-AR" dirty="0"/>
              <a:t>Las betas de miles de compañías son calculadas y publicadas (</a:t>
            </a:r>
            <a:r>
              <a:rPr lang="es-AR" dirty="0" err="1"/>
              <a:t>Value</a:t>
            </a:r>
            <a:r>
              <a:rPr lang="es-AR" dirty="0"/>
              <a:t> Line, </a:t>
            </a:r>
            <a:r>
              <a:rPr lang="es-AR" dirty="0" err="1"/>
              <a:t>Yahoo</a:t>
            </a:r>
            <a:r>
              <a:rPr lang="es-AR" dirty="0"/>
              <a:t>!, Google). La mayoría se encuentran entre 0,5 y 1,5</a:t>
            </a:r>
          </a:p>
          <a:p>
            <a:r>
              <a:rPr lang="es-AR" dirty="0"/>
              <a:t>Si agrego una Acción con beta=1,5 a una Cartera con beta=1,0, el Riesgo de la Cartera aumenta, y si agrego una con b=0,5, el Riesgo bajará</a:t>
            </a:r>
          </a:p>
          <a:p>
            <a:r>
              <a:rPr lang="es-AR" dirty="0"/>
              <a:t>Así, como la beta de una Acción refleja su contribución al Riesgo de una Cartera, beta es la medida teóricamente correcta del Riesgo de una Acción (y no su desvío standard)</a:t>
            </a:r>
          </a:p>
          <a:p>
            <a:endParaRPr lang="es-AR" dirty="0"/>
          </a:p>
        </p:txBody>
      </p:sp>
    </p:spTree>
    <p:extLst>
      <p:ext uri="{BB962C8B-B14F-4D97-AF65-F5344CB8AC3E}">
        <p14:creationId xmlns:p14="http://schemas.microsoft.com/office/powerpoint/2010/main" val="15707767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C375AB-917C-B810-964F-BFD48CB7FE16}"/>
              </a:ext>
            </a:extLst>
          </p:cNvPr>
          <p:cNvSpPr>
            <a:spLocks noGrp="1"/>
          </p:cNvSpPr>
          <p:nvPr>
            <p:ph type="title"/>
          </p:nvPr>
        </p:nvSpPr>
        <p:spPr/>
        <p:txBody>
          <a:bodyPr/>
          <a:lstStyle/>
          <a:p>
            <a:r>
              <a:rPr lang="es-AR" sz="4400" dirty="0"/>
              <a:t>Riesgo y tasas de Rendimiento</a:t>
            </a:r>
            <a:endParaRPr lang="es-AR" dirty="0"/>
          </a:p>
        </p:txBody>
      </p:sp>
      <p:sp>
        <p:nvSpPr>
          <p:cNvPr id="3" name="Marcador de contenido 2">
            <a:extLst>
              <a:ext uri="{FF2B5EF4-FFF2-40B4-BE49-F238E27FC236}">
                <a16:creationId xmlns:a16="http://schemas.microsoft.com/office/drawing/2014/main" id="{EC93BF8D-4EFA-3C0F-D0B5-B21E4702A567}"/>
              </a:ext>
            </a:extLst>
          </p:cNvPr>
          <p:cNvSpPr>
            <a:spLocks noGrp="1"/>
          </p:cNvSpPr>
          <p:nvPr>
            <p:ph idx="1"/>
          </p:nvPr>
        </p:nvSpPr>
        <p:spPr/>
        <p:txBody>
          <a:bodyPr>
            <a:normAutofit fontScale="92500"/>
          </a:bodyPr>
          <a:lstStyle/>
          <a:p>
            <a:r>
              <a:rPr lang="es-AR" dirty="0"/>
              <a:t>Hasta aquí podemos decir que:</a:t>
            </a:r>
          </a:p>
          <a:p>
            <a:pPr marL="514350" indent="-514350">
              <a:buFont typeface="+mj-lt"/>
              <a:buAutoNum type="arabicPeriod"/>
            </a:pPr>
            <a:r>
              <a:rPr lang="es-AR" dirty="0"/>
              <a:t>El Riesgo de una Acción tiene Riesgo diversificable y Riesgo de Mercado</a:t>
            </a:r>
          </a:p>
          <a:p>
            <a:pPr marL="514350" indent="-514350">
              <a:buFont typeface="+mj-lt"/>
              <a:buAutoNum type="arabicPeriod"/>
            </a:pPr>
            <a:r>
              <a:rPr lang="es-AR" dirty="0"/>
              <a:t>El diversificable se elimina teniendo Carteras grandes o comprando Acciones de un fondo de inversión. Resta el de Mercado o sistemático</a:t>
            </a:r>
          </a:p>
          <a:p>
            <a:pPr marL="514350" indent="-514350">
              <a:buFont typeface="+mj-lt"/>
              <a:buAutoNum type="arabicPeriod"/>
            </a:pPr>
            <a:r>
              <a:rPr lang="es-AR" dirty="0"/>
              <a:t>El Riesgo de Mercado es el único que debe importarle al accionista diversificado racional.</a:t>
            </a:r>
          </a:p>
          <a:p>
            <a:pPr marL="514350" indent="-514350">
              <a:buFont typeface="+mj-lt"/>
              <a:buAutoNum type="arabicPeriod"/>
            </a:pPr>
            <a:r>
              <a:rPr lang="es-AR" dirty="0"/>
              <a:t>Vimos el ejemplo de Netflix, que pese a su volatilidad tiene un bajo beta. Podemos reducir su Riesgo diversificable con Acciones con correlación negativa con ella.</a:t>
            </a:r>
          </a:p>
        </p:txBody>
      </p:sp>
    </p:spTree>
    <p:extLst>
      <p:ext uri="{BB962C8B-B14F-4D97-AF65-F5344CB8AC3E}">
        <p14:creationId xmlns:p14="http://schemas.microsoft.com/office/powerpoint/2010/main" val="8015727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C375AB-917C-B810-964F-BFD48CB7FE16}"/>
              </a:ext>
            </a:extLst>
          </p:cNvPr>
          <p:cNvSpPr>
            <a:spLocks noGrp="1"/>
          </p:cNvSpPr>
          <p:nvPr>
            <p:ph type="title"/>
          </p:nvPr>
        </p:nvSpPr>
        <p:spPr/>
        <p:txBody>
          <a:bodyPr/>
          <a:lstStyle/>
          <a:p>
            <a:r>
              <a:rPr lang="es-AR" sz="4400" dirty="0"/>
              <a:t>Riesgo y tasas de Rendimiento</a:t>
            </a:r>
            <a:endParaRPr lang="es-AR" dirty="0"/>
          </a:p>
        </p:txBody>
      </p:sp>
      <p:sp>
        <p:nvSpPr>
          <p:cNvPr id="3" name="Marcador de contenido 2">
            <a:extLst>
              <a:ext uri="{FF2B5EF4-FFF2-40B4-BE49-F238E27FC236}">
                <a16:creationId xmlns:a16="http://schemas.microsoft.com/office/drawing/2014/main" id="{EC93BF8D-4EFA-3C0F-D0B5-B21E4702A567}"/>
              </a:ext>
            </a:extLst>
          </p:cNvPr>
          <p:cNvSpPr>
            <a:spLocks noGrp="1"/>
          </p:cNvSpPr>
          <p:nvPr>
            <p:ph idx="1"/>
          </p:nvPr>
        </p:nvSpPr>
        <p:spPr/>
        <p:txBody>
          <a:bodyPr>
            <a:normAutofit/>
          </a:bodyPr>
          <a:lstStyle/>
          <a:p>
            <a:pPr marL="0" indent="0">
              <a:buNone/>
            </a:pPr>
            <a:r>
              <a:rPr lang="es-AR" dirty="0"/>
              <a:t>Hasta aquí podemos decir que:</a:t>
            </a:r>
          </a:p>
          <a:p>
            <a:pPr marL="514350" indent="-514350">
              <a:buFont typeface="+mj-lt"/>
              <a:buAutoNum type="arabicPeriod" startAt="5"/>
            </a:pPr>
            <a:r>
              <a:rPr lang="es-AR" dirty="0"/>
              <a:t>Los Inversionistas deben ser recompensados por asumir riesgos, pero sólo por el Riesgo que no puede eliminarse por diversificación. Caso contrario, para los Inversionistas muy diversificados, la prima de Riesgo de una Acción (por Riesgo diversificable) la volvería una ganga, precio muy bajo. Arbitraje, equilibrio y vuelta a un precio que sólo refleje su Riesgo de Mercado, su beta. ¿Qué pasaría si usted pretende un precio (menor) que compense el Riesgo diversificable por la acción de diversificar?</a:t>
            </a:r>
          </a:p>
          <a:p>
            <a:pPr marL="514350" indent="-514350">
              <a:buFont typeface="+mj-lt"/>
              <a:buAutoNum type="arabicPeriod" startAt="5"/>
            </a:pPr>
            <a:endParaRPr lang="es-AR" dirty="0"/>
          </a:p>
        </p:txBody>
      </p:sp>
    </p:spTree>
    <p:extLst>
      <p:ext uri="{BB962C8B-B14F-4D97-AF65-F5344CB8AC3E}">
        <p14:creationId xmlns:p14="http://schemas.microsoft.com/office/powerpoint/2010/main" val="249237937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C375AB-917C-B810-964F-BFD48CB7FE16}"/>
              </a:ext>
            </a:extLst>
          </p:cNvPr>
          <p:cNvSpPr>
            <a:spLocks noGrp="1"/>
          </p:cNvSpPr>
          <p:nvPr>
            <p:ph type="title"/>
          </p:nvPr>
        </p:nvSpPr>
        <p:spPr/>
        <p:txBody>
          <a:bodyPr/>
          <a:lstStyle/>
          <a:p>
            <a:r>
              <a:rPr lang="es-AR" sz="4400" dirty="0"/>
              <a:t>Riesgo y tasas de Rendimiento</a:t>
            </a:r>
            <a:endParaRPr lang="es-AR" dirty="0"/>
          </a:p>
        </p:txBody>
      </p:sp>
      <p:sp>
        <p:nvSpPr>
          <p:cNvPr id="3" name="Marcador de contenido 2">
            <a:extLst>
              <a:ext uri="{FF2B5EF4-FFF2-40B4-BE49-F238E27FC236}">
                <a16:creationId xmlns:a16="http://schemas.microsoft.com/office/drawing/2014/main" id="{EC93BF8D-4EFA-3C0F-D0B5-B21E4702A567}"/>
              </a:ext>
            </a:extLst>
          </p:cNvPr>
          <p:cNvSpPr>
            <a:spLocks noGrp="1"/>
          </p:cNvSpPr>
          <p:nvPr>
            <p:ph idx="1"/>
          </p:nvPr>
        </p:nvSpPr>
        <p:spPr/>
        <p:txBody>
          <a:bodyPr>
            <a:normAutofit fontScale="92500"/>
          </a:bodyPr>
          <a:lstStyle/>
          <a:p>
            <a:pPr marL="0" indent="0">
              <a:buNone/>
            </a:pPr>
            <a:r>
              <a:rPr lang="es-AR" dirty="0"/>
              <a:t>Hasta aquí podemos decir que:</a:t>
            </a:r>
          </a:p>
          <a:p>
            <a:pPr marL="514350" indent="-514350">
              <a:buFont typeface="+mj-lt"/>
              <a:buAutoNum type="arabicPeriod" startAt="6"/>
            </a:pPr>
            <a:r>
              <a:rPr lang="es-AR" dirty="0"/>
              <a:t>El Riesgo de Mercado de una Acción se mide por su beta, índice de volatilidad relativa de la Acción ¿Qué significaban betas de 2; 1 y 0,5?</a:t>
            </a:r>
          </a:p>
          <a:p>
            <a:pPr marL="514350" indent="-514350">
              <a:buFont typeface="+mj-lt"/>
              <a:buAutoNum type="arabicPeriod" startAt="6"/>
            </a:pPr>
            <a:r>
              <a:rPr lang="es-AR" dirty="0"/>
              <a:t>La beta de una Cartera es el promedio ponderado de las betas de las Acciones que la conforman. La ponderación es la participación porcentual (en USD del total de la Cartera) de cada Acción</a:t>
            </a:r>
          </a:p>
          <a:p>
            <a:pPr marL="514350" indent="-514350">
              <a:buFont typeface="+mj-lt"/>
              <a:buAutoNum type="arabicPeriod" startAt="6"/>
            </a:pPr>
            <a:r>
              <a:rPr lang="es-AR" dirty="0"/>
              <a:t>Una Cartera con una beta inferior a 1, tiene menos Riesgo que el Mercado en su conjunto</a:t>
            </a:r>
          </a:p>
          <a:p>
            <a:pPr marL="514350" indent="-514350">
              <a:buFont typeface="+mj-lt"/>
              <a:buAutoNum type="arabicPeriod" startAt="6"/>
            </a:pPr>
            <a:r>
              <a:rPr lang="es-AR" dirty="0"/>
              <a:t>Su beta se va modificando con la compra y venta de Acciones, que alteran el promedio ponderado</a:t>
            </a:r>
          </a:p>
        </p:txBody>
      </p:sp>
    </p:spTree>
    <p:extLst>
      <p:ext uri="{BB962C8B-B14F-4D97-AF65-F5344CB8AC3E}">
        <p14:creationId xmlns:p14="http://schemas.microsoft.com/office/powerpoint/2010/main" val="285435532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C375AB-917C-B810-964F-BFD48CB7FE16}"/>
              </a:ext>
            </a:extLst>
          </p:cNvPr>
          <p:cNvSpPr>
            <a:spLocks noGrp="1"/>
          </p:cNvSpPr>
          <p:nvPr>
            <p:ph type="title"/>
          </p:nvPr>
        </p:nvSpPr>
        <p:spPr/>
        <p:txBody>
          <a:bodyPr/>
          <a:lstStyle/>
          <a:p>
            <a:r>
              <a:rPr lang="es-AR" sz="4400" dirty="0"/>
              <a:t>Riesgo y tasas de Rendimiento</a:t>
            </a:r>
            <a:endParaRPr lang="es-AR" dirty="0"/>
          </a:p>
        </p:txBody>
      </p:sp>
      <p:sp>
        <p:nvSpPr>
          <p:cNvPr id="3" name="Marcador de contenido 2">
            <a:extLst>
              <a:ext uri="{FF2B5EF4-FFF2-40B4-BE49-F238E27FC236}">
                <a16:creationId xmlns:a16="http://schemas.microsoft.com/office/drawing/2014/main" id="{EC93BF8D-4EFA-3C0F-D0B5-B21E4702A567}"/>
              </a:ext>
            </a:extLst>
          </p:cNvPr>
          <p:cNvSpPr>
            <a:spLocks noGrp="1"/>
          </p:cNvSpPr>
          <p:nvPr>
            <p:ph idx="1"/>
          </p:nvPr>
        </p:nvSpPr>
        <p:spPr/>
        <p:txBody>
          <a:bodyPr>
            <a:normAutofit/>
          </a:bodyPr>
          <a:lstStyle/>
          <a:p>
            <a:pPr marL="0" indent="0">
              <a:buNone/>
            </a:pPr>
            <a:r>
              <a:rPr lang="es-AR" dirty="0"/>
              <a:t>Hasta aquí podemos decir que:</a:t>
            </a:r>
          </a:p>
          <a:p>
            <a:pPr marL="514350" indent="-514350">
              <a:buFont typeface="+mj-lt"/>
              <a:buAutoNum type="arabicPeriod" startAt="10"/>
            </a:pPr>
            <a:r>
              <a:rPr lang="es-AR" dirty="0"/>
              <a:t>Como el coeficiente beta de una Acción determina cómo afecta la Acción al Riesgo de una Cartera diversificada, beta es, en teoría, la medida más relevante del Riesgo de una Acción</a:t>
            </a:r>
          </a:p>
          <a:p>
            <a:pPr marL="514350" indent="-514350">
              <a:buFont typeface="+mj-lt"/>
              <a:buAutoNum type="arabicPeriod" startAt="10"/>
            </a:pPr>
            <a:r>
              <a:rPr lang="es-AR" dirty="0"/>
              <a:t>El desvío standard de una Cartera es menor que el promedio ponderado de sus Acciones salvo que tengan correlación positiva perfecta</a:t>
            </a:r>
          </a:p>
          <a:p>
            <a:pPr marL="514350" indent="-514350">
              <a:buFont typeface="+mj-lt"/>
              <a:buAutoNum type="arabicPeriod" startAt="10"/>
            </a:pPr>
            <a:r>
              <a:rPr lang="es-AR" dirty="0"/>
              <a:t>¿Cuál de estas dos Acciones es más riesgosa? A tiene σ = 25% y b=1,2; B tiene σ=35% y b=0,8</a:t>
            </a:r>
          </a:p>
        </p:txBody>
      </p:sp>
    </p:spTree>
    <p:extLst>
      <p:ext uri="{BB962C8B-B14F-4D97-AF65-F5344CB8AC3E}">
        <p14:creationId xmlns:p14="http://schemas.microsoft.com/office/powerpoint/2010/main" val="227320081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C375AB-917C-B810-964F-BFD48CB7FE16}"/>
              </a:ext>
            </a:extLst>
          </p:cNvPr>
          <p:cNvSpPr>
            <a:spLocks noGrp="1"/>
          </p:cNvSpPr>
          <p:nvPr>
            <p:ph type="title"/>
          </p:nvPr>
        </p:nvSpPr>
        <p:spPr/>
        <p:txBody>
          <a:bodyPr/>
          <a:lstStyle/>
          <a:p>
            <a:r>
              <a:rPr lang="es-AR" sz="4400" dirty="0"/>
              <a:t>Riesgo y tasas de Rendimiento</a:t>
            </a:r>
            <a:endParaRPr lang="es-AR" dirty="0"/>
          </a:p>
        </p:txBody>
      </p:sp>
      <p:sp>
        <p:nvSpPr>
          <p:cNvPr id="3" name="Marcador de contenido 2">
            <a:extLst>
              <a:ext uri="{FF2B5EF4-FFF2-40B4-BE49-F238E27FC236}">
                <a16:creationId xmlns:a16="http://schemas.microsoft.com/office/drawing/2014/main" id="{EC93BF8D-4EFA-3C0F-D0B5-B21E4702A567}"/>
              </a:ext>
            </a:extLst>
          </p:cNvPr>
          <p:cNvSpPr>
            <a:spLocks noGrp="1"/>
          </p:cNvSpPr>
          <p:nvPr>
            <p:ph idx="1"/>
          </p:nvPr>
        </p:nvSpPr>
        <p:spPr/>
        <p:txBody>
          <a:bodyPr>
            <a:normAutofit fontScale="92500" lnSpcReduction="20000"/>
          </a:bodyPr>
          <a:lstStyle/>
          <a:p>
            <a:pPr marL="0" indent="0">
              <a:buNone/>
            </a:pPr>
            <a:r>
              <a:rPr lang="es-AR" dirty="0"/>
              <a:t>Preguntas</a:t>
            </a:r>
          </a:p>
          <a:p>
            <a:r>
              <a:rPr lang="es-AR" dirty="0"/>
              <a:t>¿Por qué un Activo que forma parte de una Cartera es por lo general menos riesgoso que el mismo Activo conservado en aislamiento?</a:t>
            </a:r>
          </a:p>
          <a:p>
            <a:r>
              <a:rPr lang="es-AR" dirty="0"/>
              <a:t>¿Qué son las correlaciones perfectas positiva y negativa respectivamente, y la correlación nula? Veamos el Excel</a:t>
            </a:r>
          </a:p>
          <a:p>
            <a:r>
              <a:rPr lang="es-AR" dirty="0"/>
              <a:t>En general ¿el Riesgo de una Cartera puede reducirse a cero si aumenta el número de Acciones en la misma? Explique su respuesta</a:t>
            </a:r>
          </a:p>
          <a:p>
            <a:r>
              <a:rPr lang="es-AR" dirty="0"/>
              <a:t>¿Qué es una Acción de Riesgo promedio, cuál es su beta?</a:t>
            </a:r>
          </a:p>
          <a:p>
            <a:r>
              <a:rPr lang="es-AR" dirty="0"/>
              <a:t>¿Por qué decimos que la beta es la mejor medida del Riesgo de una Acción?</a:t>
            </a:r>
          </a:p>
          <a:p>
            <a:r>
              <a:rPr lang="es-AR" dirty="0"/>
              <a:t>Acción A tiene σ=35% y b=1,8 mientras que la Acción B tiene σ=25% y b=0,7. ¿Cuál es la beta de su Cartera con 50.000 en A y 150.000 en B?</a:t>
            </a:r>
          </a:p>
        </p:txBody>
      </p:sp>
    </p:spTree>
    <p:extLst>
      <p:ext uri="{BB962C8B-B14F-4D97-AF65-F5344CB8AC3E}">
        <p14:creationId xmlns:p14="http://schemas.microsoft.com/office/powerpoint/2010/main" val="10434539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C375AB-917C-B810-964F-BFD48CB7FE16}"/>
              </a:ext>
            </a:extLst>
          </p:cNvPr>
          <p:cNvSpPr>
            <a:spLocks noGrp="1"/>
          </p:cNvSpPr>
          <p:nvPr>
            <p:ph type="title"/>
          </p:nvPr>
        </p:nvSpPr>
        <p:spPr/>
        <p:txBody>
          <a:bodyPr/>
          <a:lstStyle/>
          <a:p>
            <a:r>
              <a:rPr lang="es-AR" sz="4400" dirty="0"/>
              <a:t>Riesgo y tasas de Rendimiento</a:t>
            </a:r>
            <a:endParaRPr lang="es-AR"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EC93BF8D-4EFA-3C0F-D0B5-B21E4702A567}"/>
                  </a:ext>
                </a:extLst>
              </p:cNvPr>
              <p:cNvSpPr>
                <a:spLocks noGrp="1"/>
              </p:cNvSpPr>
              <p:nvPr>
                <p:ph idx="1"/>
              </p:nvPr>
            </p:nvSpPr>
            <p:spPr/>
            <p:txBody>
              <a:bodyPr>
                <a:normAutofit fontScale="92500" lnSpcReduction="10000"/>
              </a:bodyPr>
              <a:lstStyle/>
              <a:p>
                <a:pPr marL="0" indent="0">
                  <a:buNone/>
                </a:pPr>
                <a:r>
                  <a:rPr lang="es-AR" sz="2400" dirty="0"/>
                  <a:t>Relación entre Riesgo y tasas de Rendimiento</a:t>
                </a:r>
              </a:p>
              <a:p>
                <a:r>
                  <a:rPr lang="es-AR" sz="2400" dirty="0"/>
                  <a:t>Hemos visto el Riesgo de las Acciones a través de sus betas, pero no hemos visto aún cuál es la compensación requerida para asumir un nivel de Riesgo determinado</a:t>
                </a:r>
              </a:p>
              <a:p>
                <a:r>
                  <a:rPr lang="es-AR" sz="2400" dirty="0"/>
                  <a:t>Definamos</a:t>
                </a:r>
              </a:p>
              <a:p>
                <a14:m>
                  <m:oMath xmlns:m="http://schemas.openxmlformats.org/officeDocument/2006/math">
                    <m:acc>
                      <m:accPr>
                        <m:chr m:val="̂"/>
                        <m:ctrlPr>
                          <a:rPr lang="es-AR" sz="2400" i="1" smtClean="0">
                            <a:latin typeface="Cambria Math" panose="02040503050406030204" pitchFamily="18" charset="0"/>
                          </a:rPr>
                        </m:ctrlPr>
                      </m:accPr>
                      <m:e>
                        <m:sSub>
                          <m:sSubPr>
                            <m:ctrlPr>
                              <a:rPr lang="es-AR" sz="2400" i="1" smtClean="0">
                                <a:latin typeface="Cambria Math" panose="02040503050406030204" pitchFamily="18" charset="0"/>
                              </a:rPr>
                            </m:ctrlPr>
                          </m:sSubPr>
                          <m:e>
                            <m:r>
                              <a:rPr lang="es-AR" sz="2400" b="0" i="1" smtClean="0">
                                <a:latin typeface="Cambria Math" panose="02040503050406030204" pitchFamily="18" charset="0"/>
                              </a:rPr>
                              <m:t>𝑟</m:t>
                            </m:r>
                          </m:e>
                          <m:sub>
                            <m:r>
                              <a:rPr lang="es-AR" sz="2400" b="0" i="1" smtClean="0">
                                <a:latin typeface="Cambria Math" panose="02040503050406030204" pitchFamily="18" charset="0"/>
                              </a:rPr>
                              <m:t>𝑖</m:t>
                            </m:r>
                          </m:sub>
                        </m:sSub>
                      </m:e>
                    </m:acc>
                  </m:oMath>
                </a14:m>
                <a:r>
                  <a:rPr lang="es-AR" sz="2400" dirty="0"/>
                  <a:t> es la </a:t>
                </a:r>
                <a:r>
                  <a:rPr lang="es-AR" sz="2400" b="1" dirty="0"/>
                  <a:t>tasa esperada </a:t>
                </a:r>
                <a:r>
                  <a:rPr lang="es-AR" sz="2400" dirty="0"/>
                  <a:t>de Rendimiento de la Acción “i”</a:t>
                </a:r>
              </a:p>
              <a:p>
                <a14:m>
                  <m:oMath xmlns:m="http://schemas.openxmlformats.org/officeDocument/2006/math">
                    <m:sSub>
                      <m:sSubPr>
                        <m:ctrlPr>
                          <a:rPr lang="es-AR" sz="2400" i="1" smtClean="0">
                            <a:latin typeface="Cambria Math" panose="02040503050406030204" pitchFamily="18" charset="0"/>
                          </a:rPr>
                        </m:ctrlPr>
                      </m:sSubPr>
                      <m:e>
                        <m:r>
                          <a:rPr lang="es-AR" sz="2400" b="0" i="1" smtClean="0">
                            <a:latin typeface="Cambria Math" panose="02040503050406030204" pitchFamily="18" charset="0"/>
                          </a:rPr>
                          <m:t>𝑟</m:t>
                        </m:r>
                      </m:e>
                      <m:sub>
                        <m:r>
                          <a:rPr lang="es-AR" sz="2400" b="0" i="1" smtClean="0">
                            <a:latin typeface="Cambria Math" panose="02040503050406030204" pitchFamily="18" charset="0"/>
                          </a:rPr>
                          <m:t>𝑖</m:t>
                        </m:r>
                      </m:sub>
                    </m:sSub>
                  </m:oMath>
                </a14:m>
                <a:r>
                  <a:rPr lang="es-AR" sz="2400" dirty="0"/>
                  <a:t> es la </a:t>
                </a:r>
                <a:r>
                  <a:rPr lang="es-AR" sz="2400" b="1" dirty="0"/>
                  <a:t>tasa requerida</a:t>
                </a:r>
                <a:r>
                  <a:rPr lang="es-AR" sz="2400" dirty="0"/>
                  <a:t> de Rendimiento de la Acción “i”. </a:t>
                </a:r>
              </a:p>
              <a:p>
                <a:pPr lvl="1"/>
                <a:r>
                  <a:rPr lang="es-AR" sz="2000" dirty="0"/>
                  <a:t>¿Qué pasa cuando difiere de </a:t>
                </a:r>
                <a14:m>
                  <m:oMath xmlns:m="http://schemas.openxmlformats.org/officeDocument/2006/math">
                    <m:acc>
                      <m:accPr>
                        <m:chr m:val="̂"/>
                        <m:ctrlPr>
                          <a:rPr lang="es-AR" sz="2000" i="1">
                            <a:latin typeface="Cambria Math" panose="02040503050406030204" pitchFamily="18" charset="0"/>
                          </a:rPr>
                        </m:ctrlPr>
                      </m:accPr>
                      <m:e>
                        <m:sSub>
                          <m:sSubPr>
                            <m:ctrlPr>
                              <a:rPr lang="es-AR" sz="2000" i="1">
                                <a:latin typeface="Cambria Math" panose="02040503050406030204" pitchFamily="18" charset="0"/>
                              </a:rPr>
                            </m:ctrlPr>
                          </m:sSubPr>
                          <m:e>
                            <m:r>
                              <a:rPr lang="es-AR" sz="2000" i="1">
                                <a:latin typeface="Cambria Math" panose="02040503050406030204" pitchFamily="18" charset="0"/>
                              </a:rPr>
                              <m:t>𝑟</m:t>
                            </m:r>
                          </m:e>
                          <m:sub>
                            <m:r>
                              <a:rPr lang="es-AR" sz="2000" i="1">
                                <a:latin typeface="Cambria Math" panose="02040503050406030204" pitchFamily="18" charset="0"/>
                              </a:rPr>
                              <m:t>𝑖</m:t>
                            </m:r>
                          </m:sub>
                        </m:sSub>
                      </m:e>
                    </m:acc>
                  </m:oMath>
                </a14:m>
                <a:r>
                  <a:rPr lang="es-AR" sz="2000" b="0" i="1" dirty="0">
                    <a:latin typeface="Cambria Math" panose="02040503050406030204" pitchFamily="18" charset="0"/>
                  </a:rPr>
                  <a:t> , </a:t>
                </a:r>
                <a:r>
                  <a:rPr lang="es-AR" sz="2000" b="0" dirty="0">
                    <a:latin typeface="Cambria Math" panose="02040503050406030204" pitchFamily="18" charset="0"/>
                  </a:rPr>
                  <a:t>cuando es más alta, cuando es más baja?</a:t>
                </a:r>
              </a:p>
              <a:p>
                <a:r>
                  <a:rPr lang="es-AR" sz="2400" b="0" i="1" dirty="0">
                    <a:latin typeface="Cambria Math" panose="02040503050406030204" pitchFamily="18" charset="0"/>
                  </a:rPr>
                  <a:t> </a:t>
                </a:r>
                <a14:m>
                  <m:oMath xmlns:m="http://schemas.openxmlformats.org/officeDocument/2006/math">
                    <m:acc>
                      <m:accPr>
                        <m:chr m:val="̅"/>
                        <m:ctrlPr>
                          <a:rPr lang="es-AR" sz="2400" b="0" i="1" smtClean="0">
                            <a:latin typeface="Cambria Math" panose="02040503050406030204" pitchFamily="18" charset="0"/>
                          </a:rPr>
                        </m:ctrlPr>
                      </m:accPr>
                      <m:e>
                        <m:sSub>
                          <m:sSubPr>
                            <m:ctrlPr>
                              <a:rPr lang="es-AR" sz="2400" b="0" i="1" smtClean="0">
                                <a:latin typeface="Cambria Math" panose="02040503050406030204" pitchFamily="18" charset="0"/>
                              </a:rPr>
                            </m:ctrlPr>
                          </m:sSubPr>
                          <m:e>
                            <m:r>
                              <a:rPr lang="es-AR" sz="2400" b="0" i="1" smtClean="0">
                                <a:latin typeface="Cambria Math" panose="02040503050406030204" pitchFamily="18" charset="0"/>
                              </a:rPr>
                              <m:t>𝑟</m:t>
                            </m:r>
                          </m:e>
                          <m:sub>
                            <m:r>
                              <a:rPr lang="es-AR" sz="2400" b="0" i="1" smtClean="0">
                                <a:latin typeface="Cambria Math" panose="02040503050406030204" pitchFamily="18" charset="0"/>
                              </a:rPr>
                              <m:t>𝑖</m:t>
                            </m:r>
                          </m:sub>
                        </m:sSub>
                      </m:e>
                    </m:acc>
                  </m:oMath>
                </a14:m>
                <a:r>
                  <a:rPr lang="es-AR" sz="2400" dirty="0"/>
                  <a:t> es el </a:t>
                </a:r>
                <a:r>
                  <a:rPr lang="es-AR" sz="2400" b="1" dirty="0"/>
                  <a:t>Rendimiento observado a posteriori</a:t>
                </a:r>
                <a:r>
                  <a:rPr lang="es-AR" sz="2400" dirty="0"/>
                  <a:t>. No se conoce al momento de considerar comprar o no una Acción</a:t>
                </a:r>
              </a:p>
              <a:p>
                <a14:m>
                  <m:oMath xmlns:m="http://schemas.openxmlformats.org/officeDocument/2006/math">
                    <m:sSub>
                      <m:sSubPr>
                        <m:ctrlPr>
                          <a:rPr lang="es-AR" sz="2400" i="1" smtClean="0">
                            <a:latin typeface="Cambria Math" panose="02040503050406030204" pitchFamily="18" charset="0"/>
                          </a:rPr>
                        </m:ctrlPr>
                      </m:sSubPr>
                      <m:e>
                        <m:r>
                          <a:rPr lang="es-AR" sz="2400" b="0" i="1" smtClean="0">
                            <a:latin typeface="Cambria Math" panose="02040503050406030204" pitchFamily="18" charset="0"/>
                          </a:rPr>
                          <m:t>𝑟</m:t>
                        </m:r>
                      </m:e>
                      <m:sub>
                        <m:r>
                          <a:rPr lang="es-AR" sz="2400" b="0" i="1" smtClean="0">
                            <a:latin typeface="Cambria Math" panose="02040503050406030204" pitchFamily="18" charset="0"/>
                          </a:rPr>
                          <m:t>𝑅𝐹</m:t>
                        </m:r>
                      </m:sub>
                    </m:sSub>
                  </m:oMath>
                </a14:m>
                <a:r>
                  <a:rPr lang="es-AR" sz="2400" dirty="0"/>
                  <a:t> es la </a:t>
                </a:r>
                <a:r>
                  <a:rPr lang="es-AR" sz="2400" b="1" dirty="0"/>
                  <a:t>tasa de Rendimiento libre de Riesgo </a:t>
                </a:r>
                <a:r>
                  <a:rPr lang="es-AR" sz="2400" dirty="0"/>
                  <a:t>¿Certificados de corto plazo del tesoro, bonos de mediano o largo plazo? Usaremos el que creemos refleja el tiempo en que el </a:t>
                </a:r>
                <a:r>
                  <a:rPr lang="es-AR" sz="2400" dirty="0" err="1"/>
                  <a:t>el</a:t>
                </a:r>
                <a:r>
                  <a:rPr lang="es-AR" sz="2400" dirty="0"/>
                  <a:t> inversionista promedio conservará su acción</a:t>
                </a:r>
              </a:p>
              <a:p>
                <a:endParaRPr lang="es-AR" sz="2400" b="1" dirty="0"/>
              </a:p>
              <a:p>
                <a:endParaRPr lang="es-AR" sz="2400" dirty="0"/>
              </a:p>
            </p:txBody>
          </p:sp>
        </mc:Choice>
        <mc:Fallback xmlns="">
          <p:sp>
            <p:nvSpPr>
              <p:cNvPr id="3" name="Marcador de contenido 2">
                <a:extLst>
                  <a:ext uri="{FF2B5EF4-FFF2-40B4-BE49-F238E27FC236}">
                    <a16:creationId xmlns:a16="http://schemas.microsoft.com/office/drawing/2014/main" id="{EC93BF8D-4EFA-3C0F-D0B5-B21E4702A567}"/>
                  </a:ext>
                </a:extLst>
              </p:cNvPr>
              <p:cNvSpPr>
                <a:spLocks noGrp="1" noRot="1" noChangeAspect="1" noMove="1" noResize="1" noEditPoints="1" noAdjustHandles="1" noChangeArrowheads="1" noChangeShapeType="1" noTextEdit="1"/>
              </p:cNvSpPr>
              <p:nvPr>
                <p:ph idx="1"/>
              </p:nvPr>
            </p:nvSpPr>
            <p:spPr>
              <a:blipFill>
                <a:blip r:embed="rId2"/>
                <a:stretch>
                  <a:fillRect l="-754" t="-2241" r="-174"/>
                </a:stretch>
              </a:blipFill>
            </p:spPr>
            <p:txBody>
              <a:bodyPr/>
              <a:lstStyle/>
              <a:p>
                <a:r>
                  <a:rPr lang="es-ES">
                    <a:noFill/>
                  </a:rPr>
                  <a:t> </a:t>
                </a:r>
              </a:p>
            </p:txBody>
          </p:sp>
        </mc:Fallback>
      </mc:AlternateContent>
    </p:spTree>
    <p:extLst>
      <p:ext uri="{BB962C8B-B14F-4D97-AF65-F5344CB8AC3E}">
        <p14:creationId xmlns:p14="http://schemas.microsoft.com/office/powerpoint/2010/main" val="11197546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C375AB-917C-B810-964F-BFD48CB7FE16}"/>
              </a:ext>
            </a:extLst>
          </p:cNvPr>
          <p:cNvSpPr>
            <a:spLocks noGrp="1"/>
          </p:cNvSpPr>
          <p:nvPr>
            <p:ph type="title"/>
          </p:nvPr>
        </p:nvSpPr>
        <p:spPr/>
        <p:txBody>
          <a:bodyPr/>
          <a:lstStyle/>
          <a:p>
            <a:r>
              <a:rPr lang="es-AR" sz="4400" dirty="0"/>
              <a:t>Riesgo y tasas de Rendimiento</a:t>
            </a:r>
            <a:endParaRPr lang="es-AR"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EC93BF8D-4EFA-3C0F-D0B5-B21E4702A567}"/>
                  </a:ext>
                </a:extLst>
              </p:cNvPr>
              <p:cNvSpPr>
                <a:spLocks noGrp="1"/>
              </p:cNvSpPr>
              <p:nvPr>
                <p:ph idx="1"/>
              </p:nvPr>
            </p:nvSpPr>
            <p:spPr/>
            <p:txBody>
              <a:bodyPr>
                <a:normAutofit/>
              </a:bodyPr>
              <a:lstStyle/>
              <a:p>
                <a:pPr marL="0" indent="0">
                  <a:buNone/>
                </a:pPr>
                <a:r>
                  <a:rPr lang="es-AR" sz="2400" dirty="0"/>
                  <a:t>Relación entre Riesgo y tasas de Rendimiento</a:t>
                </a:r>
              </a:p>
              <a:p>
                <a14:m>
                  <m:oMath xmlns:m="http://schemas.openxmlformats.org/officeDocument/2006/math">
                    <m:sSub>
                      <m:sSubPr>
                        <m:ctrlPr>
                          <a:rPr lang="es-AR" sz="2400" i="1" smtClean="0">
                            <a:latin typeface="Cambria Math" panose="02040503050406030204" pitchFamily="18" charset="0"/>
                          </a:rPr>
                        </m:ctrlPr>
                      </m:sSubPr>
                      <m:e>
                        <m:r>
                          <a:rPr lang="es-AR" sz="2400" b="0" i="1" smtClean="0">
                            <a:latin typeface="Cambria Math" panose="02040503050406030204" pitchFamily="18" charset="0"/>
                          </a:rPr>
                          <m:t>𝑏</m:t>
                        </m:r>
                      </m:e>
                      <m:sub>
                        <m:r>
                          <a:rPr lang="es-AR" sz="2400" b="0" i="1" smtClean="0">
                            <a:latin typeface="Cambria Math" panose="02040503050406030204" pitchFamily="18" charset="0"/>
                          </a:rPr>
                          <m:t>𝑖</m:t>
                        </m:r>
                      </m:sub>
                    </m:sSub>
                  </m:oMath>
                </a14:m>
                <a:r>
                  <a:rPr lang="es-AR" sz="2400" dirty="0"/>
                  <a:t> es el coeficiente b de la Acción “i”. La Acción promedio tiene </a:t>
                </a:r>
                <a14:m>
                  <m:oMath xmlns:m="http://schemas.openxmlformats.org/officeDocument/2006/math">
                    <m:sSub>
                      <m:sSubPr>
                        <m:ctrlPr>
                          <a:rPr lang="es-AR" sz="2400" i="1">
                            <a:latin typeface="Cambria Math" panose="02040503050406030204" pitchFamily="18" charset="0"/>
                          </a:rPr>
                        </m:ctrlPr>
                      </m:sSubPr>
                      <m:e>
                        <m:r>
                          <a:rPr lang="es-AR" sz="2400" i="1">
                            <a:latin typeface="Cambria Math" panose="02040503050406030204" pitchFamily="18" charset="0"/>
                          </a:rPr>
                          <m:t>𝑏</m:t>
                        </m:r>
                      </m:e>
                      <m:sub>
                        <m:r>
                          <a:rPr lang="es-AR" sz="2400" b="0" i="1" smtClean="0">
                            <a:latin typeface="Cambria Math" panose="02040503050406030204" pitchFamily="18" charset="0"/>
                          </a:rPr>
                          <m:t>𝐴</m:t>
                        </m:r>
                      </m:sub>
                    </m:sSub>
                  </m:oMath>
                </a14:m>
                <a:r>
                  <a:rPr lang="es-AR" sz="2400" dirty="0"/>
                  <a:t>=1,00 </a:t>
                </a:r>
              </a:p>
              <a:p>
                <a14:m>
                  <m:oMath xmlns:m="http://schemas.openxmlformats.org/officeDocument/2006/math">
                    <m:sSub>
                      <m:sSubPr>
                        <m:ctrlPr>
                          <a:rPr lang="es-AR" sz="2400" i="1" smtClean="0">
                            <a:latin typeface="Cambria Math" panose="02040503050406030204" pitchFamily="18" charset="0"/>
                          </a:rPr>
                        </m:ctrlPr>
                      </m:sSubPr>
                      <m:e>
                        <m:r>
                          <a:rPr lang="es-AR" sz="2400" b="0" i="1" smtClean="0">
                            <a:latin typeface="Cambria Math" panose="02040503050406030204" pitchFamily="18" charset="0"/>
                          </a:rPr>
                          <m:t>𝑟</m:t>
                        </m:r>
                      </m:e>
                      <m:sub>
                        <m:r>
                          <a:rPr lang="es-AR" sz="2400" b="0" i="1" smtClean="0">
                            <a:latin typeface="Cambria Math" panose="02040503050406030204" pitchFamily="18" charset="0"/>
                          </a:rPr>
                          <m:t>𝑀</m:t>
                        </m:r>
                      </m:sub>
                    </m:sSub>
                  </m:oMath>
                </a14:m>
                <a:r>
                  <a:rPr lang="es-AR" sz="2400" dirty="0"/>
                  <a:t> es la </a:t>
                </a:r>
                <a:r>
                  <a:rPr lang="es-AR" sz="2400" b="1" dirty="0"/>
                  <a:t>tasa requerida</a:t>
                </a:r>
                <a:r>
                  <a:rPr lang="es-AR" sz="2400" dirty="0"/>
                  <a:t> de Rendimiento de la </a:t>
                </a:r>
                <a:r>
                  <a:rPr lang="es-AR" sz="2400" b="1" dirty="0"/>
                  <a:t>Cartera de Mercado</a:t>
                </a:r>
                <a:r>
                  <a:rPr lang="es-AR" sz="2400" dirty="0"/>
                  <a:t>. </a:t>
                </a:r>
              </a:p>
              <a:p>
                <a14:m>
                  <m:oMath xmlns:m="http://schemas.openxmlformats.org/officeDocument/2006/math">
                    <m:sSub>
                      <m:sSubPr>
                        <m:ctrlPr>
                          <a:rPr lang="es-AR" sz="2400" i="1" smtClean="0">
                            <a:latin typeface="Cambria Math" panose="02040503050406030204" pitchFamily="18" charset="0"/>
                          </a:rPr>
                        </m:ctrlPr>
                      </m:sSubPr>
                      <m:e>
                        <m:r>
                          <a:rPr lang="es-AR" sz="2400" b="0" i="1" smtClean="0">
                            <a:latin typeface="Cambria Math" panose="02040503050406030204" pitchFamily="18" charset="0"/>
                          </a:rPr>
                          <m:t>𝑅𝑃</m:t>
                        </m:r>
                      </m:e>
                      <m:sub>
                        <m:r>
                          <a:rPr lang="es-AR" sz="2400" b="0" i="1" smtClean="0">
                            <a:latin typeface="Cambria Math" panose="02040503050406030204" pitchFamily="18" charset="0"/>
                          </a:rPr>
                          <m:t>𝑀</m:t>
                        </m:r>
                      </m:sub>
                    </m:sSub>
                    <m:r>
                      <a:rPr lang="es-AR" sz="2400" b="0" i="1" smtClean="0">
                        <a:latin typeface="Cambria Math" panose="02040503050406030204" pitchFamily="18" charset="0"/>
                      </a:rPr>
                      <m:t> </m:t>
                    </m:r>
                  </m:oMath>
                </a14:m>
                <a:r>
                  <a:rPr lang="es-AR" sz="2400" dirty="0"/>
                  <a:t>= (</a:t>
                </a:r>
                <a14:m>
                  <m:oMath xmlns:m="http://schemas.openxmlformats.org/officeDocument/2006/math">
                    <m:sSub>
                      <m:sSubPr>
                        <m:ctrlPr>
                          <a:rPr lang="es-AR" sz="2400" i="1">
                            <a:latin typeface="Cambria Math" panose="02040503050406030204" pitchFamily="18" charset="0"/>
                          </a:rPr>
                        </m:ctrlPr>
                      </m:sSubPr>
                      <m:e>
                        <m:r>
                          <a:rPr lang="es-AR" sz="2400" i="1">
                            <a:latin typeface="Cambria Math" panose="02040503050406030204" pitchFamily="18" charset="0"/>
                          </a:rPr>
                          <m:t>𝑟</m:t>
                        </m:r>
                      </m:e>
                      <m:sub>
                        <m:r>
                          <a:rPr lang="es-AR" sz="2400" i="1">
                            <a:latin typeface="Cambria Math" panose="02040503050406030204" pitchFamily="18" charset="0"/>
                          </a:rPr>
                          <m:t>𝑀</m:t>
                        </m:r>
                      </m:sub>
                    </m:sSub>
                    <m:r>
                      <a:rPr lang="es-AR" sz="2400" i="1">
                        <a:latin typeface="Cambria Math" panose="02040503050406030204" pitchFamily="18" charset="0"/>
                      </a:rPr>
                      <m:t> </m:t>
                    </m:r>
                  </m:oMath>
                </a14:m>
                <a:r>
                  <a:rPr lang="es-AR" sz="2400" dirty="0"/>
                  <a:t>- </a:t>
                </a:r>
                <a14:m>
                  <m:oMath xmlns:m="http://schemas.openxmlformats.org/officeDocument/2006/math">
                    <m:sSub>
                      <m:sSubPr>
                        <m:ctrlPr>
                          <a:rPr lang="es-AR" sz="2400" i="1">
                            <a:latin typeface="Cambria Math" panose="02040503050406030204" pitchFamily="18" charset="0"/>
                          </a:rPr>
                        </m:ctrlPr>
                      </m:sSubPr>
                      <m:e>
                        <m:r>
                          <a:rPr lang="es-AR" sz="2400" i="1">
                            <a:latin typeface="Cambria Math" panose="02040503050406030204" pitchFamily="18" charset="0"/>
                          </a:rPr>
                          <m:t>𝑟</m:t>
                        </m:r>
                      </m:e>
                      <m:sub>
                        <m:r>
                          <a:rPr lang="es-AR" sz="2400" b="0" i="1" smtClean="0">
                            <a:latin typeface="Cambria Math" panose="02040503050406030204" pitchFamily="18" charset="0"/>
                          </a:rPr>
                          <m:t>𝑅𝐹</m:t>
                        </m:r>
                      </m:sub>
                    </m:sSub>
                    <m:r>
                      <a:rPr lang="es-AR" sz="2400" i="1">
                        <a:latin typeface="Cambria Math" panose="02040503050406030204" pitchFamily="18" charset="0"/>
                      </a:rPr>
                      <m:t> </m:t>
                    </m:r>
                  </m:oMath>
                </a14:m>
                <a:r>
                  <a:rPr lang="es-AR" sz="2400" dirty="0"/>
                  <a:t>) es la </a:t>
                </a:r>
                <a:r>
                  <a:rPr lang="es-AR" sz="2400" b="1" dirty="0"/>
                  <a:t>Prima de Riesgo del Mercado, </a:t>
                </a:r>
                <a:r>
                  <a:rPr lang="es-AR" sz="2400" dirty="0"/>
                  <a:t>compensación para el accionista promedio por asumir un Riesgo promedio (b=1) en lugar de comprar bonos del tesoro.</a:t>
                </a:r>
              </a:p>
              <a:p>
                <a14:m>
                  <m:oMath xmlns:m="http://schemas.openxmlformats.org/officeDocument/2006/math">
                    <m:sSub>
                      <m:sSubPr>
                        <m:ctrlPr>
                          <a:rPr lang="es-AR" sz="2400" i="1" smtClean="0">
                            <a:latin typeface="Cambria Math" panose="02040503050406030204" pitchFamily="18" charset="0"/>
                          </a:rPr>
                        </m:ctrlPr>
                      </m:sSubPr>
                      <m:e>
                        <m:r>
                          <a:rPr lang="es-AR" sz="2400" b="0" i="1" smtClean="0">
                            <a:latin typeface="Cambria Math" panose="02040503050406030204" pitchFamily="18" charset="0"/>
                          </a:rPr>
                          <m:t>𝑅𝑃</m:t>
                        </m:r>
                      </m:e>
                      <m:sub>
                        <m:r>
                          <a:rPr lang="es-AR" sz="2400" b="0" i="1" smtClean="0">
                            <a:latin typeface="Cambria Math" panose="02040503050406030204" pitchFamily="18" charset="0"/>
                          </a:rPr>
                          <m:t>𝑖</m:t>
                        </m:r>
                      </m:sub>
                    </m:sSub>
                    <m:r>
                      <a:rPr lang="es-AR" sz="2400" b="0" i="1" smtClean="0">
                        <a:latin typeface="Cambria Math" panose="02040503050406030204" pitchFamily="18" charset="0"/>
                      </a:rPr>
                      <m:t> </m:t>
                    </m:r>
                  </m:oMath>
                </a14:m>
                <a:r>
                  <a:rPr lang="es-AR" sz="2400" dirty="0"/>
                  <a:t>= (</a:t>
                </a:r>
                <a14:m>
                  <m:oMath xmlns:m="http://schemas.openxmlformats.org/officeDocument/2006/math">
                    <m:sSub>
                      <m:sSubPr>
                        <m:ctrlPr>
                          <a:rPr lang="es-AR" sz="2400" i="1">
                            <a:latin typeface="Cambria Math" panose="02040503050406030204" pitchFamily="18" charset="0"/>
                          </a:rPr>
                        </m:ctrlPr>
                      </m:sSubPr>
                      <m:e>
                        <m:r>
                          <a:rPr lang="es-AR" sz="2400" i="1">
                            <a:latin typeface="Cambria Math" panose="02040503050406030204" pitchFamily="18" charset="0"/>
                          </a:rPr>
                          <m:t>𝑟</m:t>
                        </m:r>
                      </m:e>
                      <m:sub>
                        <m:r>
                          <a:rPr lang="es-AR" sz="2400" i="1">
                            <a:latin typeface="Cambria Math" panose="02040503050406030204" pitchFamily="18" charset="0"/>
                          </a:rPr>
                          <m:t>𝑀</m:t>
                        </m:r>
                      </m:sub>
                    </m:sSub>
                    <m:r>
                      <a:rPr lang="es-AR" sz="2400" i="1">
                        <a:latin typeface="Cambria Math" panose="02040503050406030204" pitchFamily="18" charset="0"/>
                      </a:rPr>
                      <m:t> </m:t>
                    </m:r>
                  </m:oMath>
                </a14:m>
                <a:r>
                  <a:rPr lang="es-AR" sz="2400" dirty="0"/>
                  <a:t>- </a:t>
                </a:r>
                <a14:m>
                  <m:oMath xmlns:m="http://schemas.openxmlformats.org/officeDocument/2006/math">
                    <m:sSub>
                      <m:sSubPr>
                        <m:ctrlPr>
                          <a:rPr lang="es-AR" sz="2400" i="1">
                            <a:latin typeface="Cambria Math" panose="02040503050406030204" pitchFamily="18" charset="0"/>
                          </a:rPr>
                        </m:ctrlPr>
                      </m:sSubPr>
                      <m:e>
                        <m:r>
                          <a:rPr lang="es-AR" sz="2400" i="1">
                            <a:latin typeface="Cambria Math" panose="02040503050406030204" pitchFamily="18" charset="0"/>
                          </a:rPr>
                          <m:t>𝑟</m:t>
                        </m:r>
                      </m:e>
                      <m:sub>
                        <m:r>
                          <a:rPr lang="es-AR" sz="2400" b="0" i="1" smtClean="0">
                            <a:latin typeface="Cambria Math" panose="02040503050406030204" pitchFamily="18" charset="0"/>
                          </a:rPr>
                          <m:t>𝑅𝐹</m:t>
                        </m:r>
                      </m:sub>
                    </m:sSub>
                    <m:r>
                      <a:rPr lang="es-AR" sz="2400" i="1">
                        <a:latin typeface="Cambria Math" panose="02040503050406030204" pitchFamily="18" charset="0"/>
                      </a:rPr>
                      <m:t> </m:t>
                    </m:r>
                  </m:oMath>
                </a14:m>
                <a:r>
                  <a:rPr lang="es-AR" sz="2400" dirty="0"/>
                  <a:t>)*b = </a:t>
                </a:r>
                <a14:m>
                  <m:oMath xmlns:m="http://schemas.openxmlformats.org/officeDocument/2006/math">
                    <m:sSub>
                      <m:sSubPr>
                        <m:ctrlPr>
                          <a:rPr lang="es-AR" sz="2400" i="1">
                            <a:latin typeface="Cambria Math" panose="02040503050406030204" pitchFamily="18" charset="0"/>
                          </a:rPr>
                        </m:ctrlPr>
                      </m:sSubPr>
                      <m:e>
                        <m:r>
                          <a:rPr lang="es-AR" sz="2400" i="1">
                            <a:latin typeface="Cambria Math" panose="02040503050406030204" pitchFamily="18" charset="0"/>
                          </a:rPr>
                          <m:t>𝑅𝑃</m:t>
                        </m:r>
                      </m:e>
                      <m:sub>
                        <m:r>
                          <a:rPr lang="es-AR" sz="2400" i="1">
                            <a:latin typeface="Cambria Math" panose="02040503050406030204" pitchFamily="18" charset="0"/>
                          </a:rPr>
                          <m:t>𝑀</m:t>
                        </m:r>
                      </m:sub>
                    </m:sSub>
                    <m:r>
                      <a:rPr lang="es-AR" sz="2400" i="1">
                        <a:latin typeface="Cambria Math" panose="02040503050406030204" pitchFamily="18" charset="0"/>
                      </a:rPr>
                      <m:t> </m:t>
                    </m:r>
                  </m:oMath>
                </a14:m>
                <a:r>
                  <a:rPr lang="es-AR" sz="2400" dirty="0"/>
                  <a:t>* b = </a:t>
                </a:r>
                <a:r>
                  <a:rPr lang="es-AR" sz="2400" b="1" dirty="0"/>
                  <a:t>Prima de Riesgo de la Acción “i”, </a:t>
                </a:r>
                <a:r>
                  <a:rPr lang="es-AR" sz="2400" dirty="0"/>
                  <a:t> que será menor, igual o mayor a la Prima de Riesgo del Mercado o de una Acción Promedio, </a:t>
                </a:r>
                <a14:m>
                  <m:oMath xmlns:m="http://schemas.openxmlformats.org/officeDocument/2006/math">
                    <m:sSub>
                      <m:sSubPr>
                        <m:ctrlPr>
                          <a:rPr lang="es-AR" sz="2400" i="1">
                            <a:latin typeface="Cambria Math" panose="02040503050406030204" pitchFamily="18" charset="0"/>
                          </a:rPr>
                        </m:ctrlPr>
                      </m:sSubPr>
                      <m:e>
                        <m:r>
                          <a:rPr lang="es-AR" sz="2400" i="1">
                            <a:latin typeface="Cambria Math" panose="02040503050406030204" pitchFamily="18" charset="0"/>
                          </a:rPr>
                          <m:t>𝑅𝑃</m:t>
                        </m:r>
                      </m:e>
                      <m:sub>
                        <m:r>
                          <a:rPr lang="es-AR" sz="2400" i="1">
                            <a:latin typeface="Cambria Math" panose="02040503050406030204" pitchFamily="18" charset="0"/>
                          </a:rPr>
                          <m:t>𝑀</m:t>
                        </m:r>
                      </m:sub>
                    </m:sSub>
                  </m:oMath>
                </a14:m>
                <a:r>
                  <a:rPr lang="es-AR" sz="2400" dirty="0"/>
                  <a:t>, dependiendo de la beta de la Acción “i”</a:t>
                </a:r>
              </a:p>
              <a:p>
                <a:r>
                  <a:rPr lang="es-AR" sz="2400" dirty="0"/>
                  <a:t>Si </a:t>
                </a:r>
                <a14:m>
                  <m:oMath xmlns:m="http://schemas.openxmlformats.org/officeDocument/2006/math">
                    <m:sSub>
                      <m:sSubPr>
                        <m:ctrlPr>
                          <a:rPr lang="es-AR" sz="2400" i="1" smtClean="0">
                            <a:latin typeface="Cambria Math" panose="02040503050406030204" pitchFamily="18" charset="0"/>
                          </a:rPr>
                        </m:ctrlPr>
                      </m:sSubPr>
                      <m:e>
                        <m:r>
                          <a:rPr lang="es-AR" sz="2400" b="0" i="1" smtClean="0">
                            <a:latin typeface="Cambria Math" panose="02040503050406030204" pitchFamily="18" charset="0"/>
                          </a:rPr>
                          <m:t>𝑏</m:t>
                        </m:r>
                      </m:e>
                      <m:sub>
                        <m:r>
                          <a:rPr lang="es-AR" sz="2400" b="0" i="1" smtClean="0">
                            <a:latin typeface="Cambria Math" panose="02040503050406030204" pitchFamily="18" charset="0"/>
                          </a:rPr>
                          <m:t>𝑖</m:t>
                        </m:r>
                      </m:sub>
                    </m:sSub>
                    <m:r>
                      <a:rPr lang="es-AR" sz="2400" b="0" i="1" smtClean="0">
                        <a:latin typeface="Cambria Math" panose="02040503050406030204" pitchFamily="18" charset="0"/>
                      </a:rPr>
                      <m:t>=</m:t>
                    </m:r>
                    <m:sSub>
                      <m:sSubPr>
                        <m:ctrlPr>
                          <a:rPr lang="es-AR" sz="2400" i="1">
                            <a:latin typeface="Cambria Math" panose="02040503050406030204" pitchFamily="18" charset="0"/>
                          </a:rPr>
                        </m:ctrlPr>
                      </m:sSubPr>
                      <m:e>
                        <m:r>
                          <a:rPr lang="es-AR" sz="2400" b="0" i="1" smtClean="0">
                            <a:latin typeface="Cambria Math" panose="02040503050406030204" pitchFamily="18" charset="0"/>
                          </a:rPr>
                          <m:t>𝑏</m:t>
                        </m:r>
                      </m:e>
                      <m:sub>
                        <m:r>
                          <a:rPr lang="es-AR" sz="2400" b="0" i="1" smtClean="0">
                            <a:latin typeface="Cambria Math" panose="02040503050406030204" pitchFamily="18" charset="0"/>
                          </a:rPr>
                          <m:t>𝐴</m:t>
                        </m:r>
                      </m:sub>
                    </m:sSub>
                  </m:oMath>
                </a14:m>
                <a:r>
                  <a:rPr lang="es-AR" sz="2400" dirty="0"/>
                  <a:t>= 1,00 entonces </a:t>
                </a:r>
                <a14:m>
                  <m:oMath xmlns:m="http://schemas.openxmlformats.org/officeDocument/2006/math">
                    <m:sSub>
                      <m:sSubPr>
                        <m:ctrlPr>
                          <a:rPr lang="es-AR" sz="2400" i="1">
                            <a:latin typeface="Cambria Math" panose="02040503050406030204" pitchFamily="18" charset="0"/>
                          </a:rPr>
                        </m:ctrlPr>
                      </m:sSubPr>
                      <m:e>
                        <m:r>
                          <a:rPr lang="es-AR" sz="2400" i="1">
                            <a:latin typeface="Cambria Math" panose="02040503050406030204" pitchFamily="18" charset="0"/>
                          </a:rPr>
                          <m:t>𝑅𝑃</m:t>
                        </m:r>
                      </m:e>
                      <m:sub>
                        <m:r>
                          <a:rPr lang="es-AR" sz="2400" b="0" i="1" smtClean="0">
                            <a:latin typeface="Cambria Math" panose="02040503050406030204" pitchFamily="18" charset="0"/>
                          </a:rPr>
                          <m:t>𝑖</m:t>
                        </m:r>
                      </m:sub>
                    </m:sSub>
                  </m:oMath>
                </a14:m>
                <a:r>
                  <a:rPr lang="es-AR" sz="2400" dirty="0"/>
                  <a:t> = </a:t>
                </a:r>
                <a14:m>
                  <m:oMath xmlns:m="http://schemas.openxmlformats.org/officeDocument/2006/math">
                    <m:sSub>
                      <m:sSubPr>
                        <m:ctrlPr>
                          <a:rPr lang="es-AR" sz="2400" i="1">
                            <a:latin typeface="Cambria Math" panose="02040503050406030204" pitchFamily="18" charset="0"/>
                          </a:rPr>
                        </m:ctrlPr>
                      </m:sSubPr>
                      <m:e>
                        <m:r>
                          <a:rPr lang="es-AR" sz="2400" i="1">
                            <a:latin typeface="Cambria Math" panose="02040503050406030204" pitchFamily="18" charset="0"/>
                          </a:rPr>
                          <m:t>𝑅𝑃</m:t>
                        </m:r>
                      </m:e>
                      <m:sub>
                        <m:r>
                          <a:rPr lang="es-AR" sz="2400" i="1">
                            <a:latin typeface="Cambria Math" panose="02040503050406030204" pitchFamily="18" charset="0"/>
                          </a:rPr>
                          <m:t>𝑀</m:t>
                        </m:r>
                      </m:sub>
                    </m:sSub>
                  </m:oMath>
                </a14:m>
                <a:endParaRPr lang="es-AR" sz="2400" dirty="0"/>
              </a:p>
              <a:p>
                <a:endParaRPr lang="es-AR" sz="2400" b="1" dirty="0"/>
              </a:p>
              <a:p>
                <a:endParaRPr lang="es-AR" sz="2400" b="1" dirty="0"/>
              </a:p>
              <a:p>
                <a:endParaRPr lang="es-AR" sz="2400" dirty="0"/>
              </a:p>
            </p:txBody>
          </p:sp>
        </mc:Choice>
        <mc:Fallback xmlns="">
          <p:sp>
            <p:nvSpPr>
              <p:cNvPr id="3" name="Marcador de contenido 2">
                <a:extLst>
                  <a:ext uri="{FF2B5EF4-FFF2-40B4-BE49-F238E27FC236}">
                    <a16:creationId xmlns:a16="http://schemas.microsoft.com/office/drawing/2014/main" id="{EC93BF8D-4EFA-3C0F-D0B5-B21E4702A567}"/>
                  </a:ext>
                </a:extLst>
              </p:cNvPr>
              <p:cNvSpPr>
                <a:spLocks noGrp="1" noRot="1" noChangeAspect="1" noMove="1" noResize="1" noEditPoints="1" noAdjustHandles="1" noChangeArrowheads="1" noChangeShapeType="1" noTextEdit="1"/>
              </p:cNvSpPr>
              <p:nvPr>
                <p:ph idx="1"/>
              </p:nvPr>
            </p:nvSpPr>
            <p:spPr>
              <a:blipFill>
                <a:blip r:embed="rId2"/>
                <a:stretch>
                  <a:fillRect l="-928" t="-1961" r="-1159"/>
                </a:stretch>
              </a:blipFill>
            </p:spPr>
            <p:txBody>
              <a:bodyPr/>
              <a:lstStyle/>
              <a:p>
                <a:r>
                  <a:rPr lang="es-ES">
                    <a:noFill/>
                  </a:rPr>
                  <a:t> </a:t>
                </a:r>
              </a:p>
            </p:txBody>
          </p:sp>
        </mc:Fallback>
      </mc:AlternateContent>
    </p:spTree>
    <p:extLst>
      <p:ext uri="{BB962C8B-B14F-4D97-AF65-F5344CB8AC3E}">
        <p14:creationId xmlns:p14="http://schemas.microsoft.com/office/powerpoint/2010/main" val="55684615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C375AB-917C-B810-964F-BFD48CB7FE16}"/>
              </a:ext>
            </a:extLst>
          </p:cNvPr>
          <p:cNvSpPr>
            <a:spLocks noGrp="1"/>
          </p:cNvSpPr>
          <p:nvPr>
            <p:ph type="title"/>
          </p:nvPr>
        </p:nvSpPr>
        <p:spPr/>
        <p:txBody>
          <a:bodyPr/>
          <a:lstStyle/>
          <a:p>
            <a:r>
              <a:rPr lang="es-AR" sz="4400" dirty="0"/>
              <a:t>Riesgo y tasas de Rendimiento</a:t>
            </a:r>
            <a:endParaRPr lang="es-AR" dirty="0"/>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EC93BF8D-4EFA-3C0F-D0B5-B21E4702A567}"/>
                  </a:ext>
                </a:extLst>
              </p:cNvPr>
              <p:cNvSpPr>
                <a:spLocks noGrp="1"/>
              </p:cNvSpPr>
              <p:nvPr>
                <p:ph idx="1"/>
              </p:nvPr>
            </p:nvSpPr>
            <p:spPr/>
            <p:txBody>
              <a:bodyPr>
                <a:normAutofit lnSpcReduction="10000"/>
              </a:bodyPr>
              <a:lstStyle/>
              <a:p>
                <a:r>
                  <a:rPr lang="es-AR" sz="2400" dirty="0"/>
                  <a:t>¿Qué representa la Prima de Riesgo del Mercado?</a:t>
                </a:r>
              </a:p>
              <a:p>
                <a:pPr lvl="1"/>
                <a:r>
                  <a:rPr lang="es-AR" sz="1800" dirty="0"/>
                  <a:t>Inversor promedio y lo que</a:t>
                </a:r>
              </a:p>
              <a:p>
                <a:pPr lvl="1"/>
                <a:r>
                  <a:rPr lang="es-AR" sz="1800" dirty="0"/>
                  <a:t>Requiere para asumir un Riesgo promedio y su nivel actual de</a:t>
                </a:r>
              </a:p>
              <a:p>
                <a:pPr lvl="1"/>
                <a:r>
                  <a:rPr lang="es-AR" sz="1800" dirty="0"/>
                  <a:t>Aversión al Riesgo</a:t>
                </a:r>
              </a:p>
              <a:p>
                <a:pPr marL="0" indent="0">
                  <a:buNone/>
                </a:pPr>
                <a:r>
                  <a:rPr lang="es-AR" sz="2400" dirty="0"/>
                  <a:t>			</a:t>
                </a:r>
                <a14:m>
                  <m:oMath xmlns:m="http://schemas.openxmlformats.org/officeDocument/2006/math">
                    <m:sSub>
                      <m:sSubPr>
                        <m:ctrlPr>
                          <a:rPr lang="es-AR" sz="2400" i="1" smtClean="0">
                            <a:latin typeface="Cambria Math" panose="02040503050406030204" pitchFamily="18" charset="0"/>
                          </a:rPr>
                        </m:ctrlPr>
                      </m:sSubPr>
                      <m:e>
                        <m:r>
                          <a:rPr lang="es-AR" sz="2400" b="0" i="1" smtClean="0">
                            <a:latin typeface="Cambria Math" panose="02040503050406030204" pitchFamily="18" charset="0"/>
                          </a:rPr>
                          <m:t>𝑅𝑃</m:t>
                        </m:r>
                      </m:e>
                      <m:sub>
                        <m:r>
                          <a:rPr lang="es-AR" sz="2400" b="0" i="1" smtClean="0">
                            <a:latin typeface="Cambria Math" panose="02040503050406030204" pitchFamily="18" charset="0"/>
                          </a:rPr>
                          <m:t>𝑀</m:t>
                        </m:r>
                      </m:sub>
                    </m:sSub>
                  </m:oMath>
                </a14:m>
                <a:r>
                  <a:rPr lang="es-AR" sz="2400" dirty="0"/>
                  <a:t> = </a:t>
                </a:r>
                <a14:m>
                  <m:oMath xmlns:m="http://schemas.openxmlformats.org/officeDocument/2006/math">
                    <m:sSub>
                      <m:sSubPr>
                        <m:ctrlPr>
                          <a:rPr lang="es-AR" sz="2400" i="1">
                            <a:latin typeface="Cambria Math" panose="02040503050406030204" pitchFamily="18" charset="0"/>
                          </a:rPr>
                        </m:ctrlPr>
                      </m:sSubPr>
                      <m:e>
                        <m:r>
                          <a:rPr lang="es-AR" sz="2400" b="0" i="1" smtClean="0">
                            <a:latin typeface="Cambria Math" panose="02040503050406030204" pitchFamily="18" charset="0"/>
                          </a:rPr>
                          <m:t>𝑟</m:t>
                        </m:r>
                      </m:e>
                      <m:sub>
                        <m:r>
                          <a:rPr lang="es-AR" sz="2400" i="1">
                            <a:latin typeface="Cambria Math" panose="02040503050406030204" pitchFamily="18" charset="0"/>
                          </a:rPr>
                          <m:t>𝑀</m:t>
                        </m:r>
                      </m:sub>
                    </m:sSub>
                  </m:oMath>
                </a14:m>
                <a:r>
                  <a:rPr lang="es-AR" sz="2400" dirty="0"/>
                  <a:t> - </a:t>
                </a:r>
                <a14:m>
                  <m:oMath xmlns:m="http://schemas.openxmlformats.org/officeDocument/2006/math">
                    <m:sSub>
                      <m:sSubPr>
                        <m:ctrlPr>
                          <a:rPr lang="es-AR" sz="2400" i="1">
                            <a:latin typeface="Cambria Math" panose="02040503050406030204" pitchFamily="18" charset="0"/>
                          </a:rPr>
                        </m:ctrlPr>
                      </m:sSubPr>
                      <m:e>
                        <m:r>
                          <a:rPr lang="es-AR" sz="2400" b="0" i="1" smtClean="0">
                            <a:latin typeface="Cambria Math" panose="02040503050406030204" pitchFamily="18" charset="0"/>
                          </a:rPr>
                          <m:t>𝑟</m:t>
                        </m:r>
                      </m:e>
                      <m:sub>
                        <m:r>
                          <a:rPr lang="es-AR" sz="2400" b="0" i="1" smtClean="0">
                            <a:latin typeface="Cambria Math" panose="02040503050406030204" pitchFamily="18" charset="0"/>
                          </a:rPr>
                          <m:t>𝑅𝐹</m:t>
                        </m:r>
                      </m:sub>
                    </m:sSub>
                  </m:oMath>
                </a14:m>
                <a:r>
                  <a:rPr lang="es-AR" sz="2400" dirty="0"/>
                  <a:t> = 8% - 3% = 5% si</a:t>
                </a:r>
              </a:p>
              <a:p>
                <a:endParaRPr lang="es-AR" sz="2000" dirty="0"/>
              </a:p>
              <a:p>
                <a:pPr marL="0" indent="0">
                  <a:buNone/>
                </a:pPr>
                <a14:m>
                  <m:oMathPara xmlns:m="http://schemas.openxmlformats.org/officeDocument/2006/math">
                    <m:oMathParaPr>
                      <m:jc m:val="left"/>
                    </m:oMathParaPr>
                    <m:oMath xmlns:m="http://schemas.openxmlformats.org/officeDocument/2006/math">
                      <m:sSub>
                        <m:sSubPr>
                          <m:ctrlPr>
                            <a:rPr lang="es-AR" sz="1700" i="1">
                              <a:latin typeface="Cambria Math" panose="02040503050406030204" pitchFamily="18" charset="0"/>
                            </a:rPr>
                          </m:ctrlPr>
                        </m:sSubPr>
                        <m:e>
                          <m:r>
                            <a:rPr lang="es-AR" sz="1700" i="1">
                              <a:latin typeface="Cambria Math" panose="02040503050406030204" pitchFamily="18" charset="0"/>
                            </a:rPr>
                            <m:t>𝑟</m:t>
                          </m:r>
                        </m:e>
                        <m:sub>
                          <m:r>
                            <a:rPr lang="es-AR" sz="1700" i="1">
                              <a:latin typeface="Cambria Math" panose="02040503050406030204" pitchFamily="18" charset="0"/>
                            </a:rPr>
                            <m:t>𝑀</m:t>
                          </m:r>
                        </m:sub>
                      </m:sSub>
                      <m:r>
                        <a:rPr lang="es-AR" sz="1700" b="0" i="0" smtClean="0">
                          <a:latin typeface="Cambria Math" panose="02040503050406030204" pitchFamily="18" charset="0"/>
                        </a:rPr>
                        <m:t>=</m:t>
                      </m:r>
                      <m:r>
                        <a:rPr lang="es-AR" sz="1700" b="0" i="0" smtClean="0">
                          <a:latin typeface="Cambria Math" panose="02040503050406030204" pitchFamily="18" charset="0"/>
                        </a:rPr>
                        <m:t>8</m:t>
                      </m:r>
                      <m:r>
                        <a:rPr lang="es-AR" sz="1700" b="0" i="0" smtClean="0">
                          <a:latin typeface="Cambria Math" panose="02040503050406030204" pitchFamily="18" charset="0"/>
                        </a:rPr>
                        <m:t>%, </m:t>
                      </m:r>
                      <m:r>
                        <m:rPr>
                          <m:sty m:val="p"/>
                        </m:rPr>
                        <a:rPr lang="es-AR" sz="1700" b="0" i="0" smtClean="0">
                          <a:latin typeface="Cambria Math" panose="02040503050406030204" pitchFamily="18" charset="0"/>
                        </a:rPr>
                        <m:t>vinculado</m:t>
                      </m:r>
                      <m:r>
                        <a:rPr lang="es-AR" sz="1700" b="0" i="0" smtClean="0">
                          <a:latin typeface="Cambria Math" panose="02040503050406030204" pitchFamily="18" charset="0"/>
                        </a:rPr>
                        <m:t> </m:t>
                      </m:r>
                      <m:r>
                        <m:rPr>
                          <m:sty m:val="p"/>
                        </m:rPr>
                        <a:rPr lang="es-AR" sz="1700" b="0" i="0" smtClean="0">
                          <a:latin typeface="Cambria Math" panose="02040503050406030204" pitchFamily="18" charset="0"/>
                        </a:rPr>
                        <m:t>a</m:t>
                      </m:r>
                      <m:r>
                        <a:rPr lang="es-AR" sz="1700" b="0" i="0" smtClean="0">
                          <a:latin typeface="Cambria Math" panose="02040503050406030204" pitchFamily="18" charset="0"/>
                        </a:rPr>
                        <m:t> </m:t>
                      </m:r>
                      <m:r>
                        <m:rPr>
                          <m:sty m:val="p"/>
                        </m:rPr>
                        <a:rPr lang="es-AR" sz="1700" b="0" i="0" smtClean="0">
                          <a:latin typeface="Cambria Math" panose="02040503050406030204" pitchFamily="18" charset="0"/>
                        </a:rPr>
                        <m:t>la</m:t>
                      </m:r>
                      <m:r>
                        <a:rPr lang="es-AR" sz="1700" b="0" i="0" smtClean="0">
                          <a:latin typeface="Cambria Math" panose="02040503050406030204" pitchFamily="18" charset="0"/>
                        </a:rPr>
                        <m:t> </m:t>
                      </m:r>
                      <m:r>
                        <m:rPr>
                          <m:sty m:val="p"/>
                        </m:rPr>
                        <a:rPr lang="es-AR" sz="1700" b="0" i="0" smtClean="0">
                          <a:latin typeface="Cambria Math" panose="02040503050406030204" pitchFamily="18" charset="0"/>
                        </a:rPr>
                        <m:t>aversi</m:t>
                      </m:r>
                      <m:r>
                        <a:rPr lang="es-AR" sz="1700" b="0" i="0" smtClean="0">
                          <a:latin typeface="Cambria Math" panose="02040503050406030204" pitchFamily="18" charset="0"/>
                        </a:rPr>
                        <m:t>ó</m:t>
                      </m:r>
                      <m:r>
                        <m:rPr>
                          <m:sty m:val="p"/>
                        </m:rPr>
                        <a:rPr lang="es-AR" sz="1700" b="0" i="0" smtClean="0">
                          <a:latin typeface="Cambria Math" panose="02040503050406030204" pitchFamily="18" charset="0"/>
                        </a:rPr>
                        <m:t>n</m:t>
                      </m:r>
                      <m:r>
                        <a:rPr lang="es-AR" sz="1700" b="0" i="0" smtClean="0">
                          <a:latin typeface="Cambria Math" panose="02040503050406030204" pitchFamily="18" charset="0"/>
                        </a:rPr>
                        <m:t> </m:t>
                      </m:r>
                      <m:r>
                        <m:rPr>
                          <m:sty m:val="p"/>
                        </m:rPr>
                        <a:rPr lang="es-AR" sz="1700" b="0" i="0" smtClean="0">
                          <a:latin typeface="Cambria Math" panose="02040503050406030204" pitchFamily="18" charset="0"/>
                        </a:rPr>
                        <m:t>al</m:t>
                      </m:r>
                      <m:r>
                        <a:rPr lang="es-AR" sz="1700" b="0" i="0" smtClean="0">
                          <a:latin typeface="Cambria Math" panose="02040503050406030204" pitchFamily="18" charset="0"/>
                        </a:rPr>
                        <m:t> </m:t>
                      </m:r>
                      <m:r>
                        <m:rPr>
                          <m:sty m:val="p"/>
                        </m:rPr>
                        <a:rPr lang="es-AR" sz="1700" b="0" i="1" smtClean="0">
                          <a:latin typeface="Cambria Math" panose="02040503050406030204" pitchFamily="18" charset="0"/>
                        </a:rPr>
                        <m:t>Riesgo</m:t>
                      </m:r>
                      <m:r>
                        <a:rPr lang="es-AR" sz="1700" b="0" i="0" smtClean="0">
                          <a:latin typeface="Cambria Math" panose="02040503050406030204" pitchFamily="18" charset="0"/>
                        </a:rPr>
                        <m:t> </m:t>
                      </m:r>
                      <m:r>
                        <m:rPr>
                          <m:sty m:val="p"/>
                        </m:rPr>
                        <a:rPr lang="es-AR" sz="1700" b="0" i="0" smtClean="0">
                          <a:latin typeface="Cambria Math" panose="02040503050406030204" pitchFamily="18" charset="0"/>
                        </a:rPr>
                        <m:t>del</m:t>
                      </m:r>
                      <m:r>
                        <a:rPr lang="es-AR" sz="1700" b="0" i="0" smtClean="0">
                          <a:latin typeface="Cambria Math" panose="02040503050406030204" pitchFamily="18" charset="0"/>
                        </a:rPr>
                        <m:t> </m:t>
                      </m:r>
                      <m:r>
                        <m:rPr>
                          <m:sty m:val="p"/>
                        </m:rPr>
                        <a:rPr lang="es-AR" sz="1700" b="0" i="0" smtClean="0">
                          <a:latin typeface="Cambria Math" panose="02040503050406030204" pitchFamily="18" charset="0"/>
                        </a:rPr>
                        <m:t>inversionista</m:t>
                      </m:r>
                      <m:r>
                        <a:rPr lang="es-AR" sz="1700" b="0" i="0" smtClean="0">
                          <a:latin typeface="Cambria Math" panose="02040503050406030204" pitchFamily="18" charset="0"/>
                        </a:rPr>
                        <m:t> </m:t>
                      </m:r>
                      <m:r>
                        <m:rPr>
                          <m:sty m:val="p"/>
                        </m:rPr>
                        <a:rPr lang="es-AR" sz="1700" b="0" i="0" smtClean="0">
                          <a:latin typeface="Cambria Math" panose="02040503050406030204" pitchFamily="18" charset="0"/>
                        </a:rPr>
                        <m:t>promedio</m:t>
                      </m:r>
                      <m:r>
                        <a:rPr lang="es-AR" sz="1700" b="0" i="0" smtClean="0">
                          <a:latin typeface="Cambria Math" panose="02040503050406030204" pitchFamily="18" charset="0"/>
                        </a:rPr>
                        <m:t>, </m:t>
                      </m:r>
                      <m:r>
                        <m:rPr>
                          <m:sty m:val="p"/>
                        </m:rPr>
                        <a:rPr lang="es-AR" sz="1700" b="0" i="0" smtClean="0">
                          <a:latin typeface="Cambria Math" panose="02040503050406030204" pitchFamily="18" charset="0"/>
                        </a:rPr>
                        <m:t>y</m:t>
                      </m:r>
                      <m:r>
                        <a:rPr lang="es-AR" sz="1700" b="0" i="0" smtClean="0">
                          <a:latin typeface="Cambria Math" panose="02040503050406030204" pitchFamily="18" charset="0"/>
                        </a:rPr>
                        <m:t> </m:t>
                      </m:r>
                      <m:r>
                        <m:rPr>
                          <m:sty m:val="p"/>
                        </m:rPr>
                        <a:rPr lang="es-AR" sz="1700" b="0" i="0" smtClean="0">
                          <a:latin typeface="Cambria Math" panose="02040503050406030204" pitchFamily="18" charset="0"/>
                        </a:rPr>
                        <m:t>los</m:t>
                      </m:r>
                      <m:r>
                        <a:rPr lang="es-AR" sz="1700" b="0" i="0" smtClean="0">
                          <a:latin typeface="Cambria Math" panose="02040503050406030204" pitchFamily="18" charset="0"/>
                        </a:rPr>
                        <m:t> </m:t>
                      </m:r>
                      <m:r>
                        <m:rPr>
                          <m:sty m:val="p"/>
                        </m:rPr>
                        <a:rPr lang="es-AR" sz="1700" b="0" i="0" smtClean="0">
                          <a:latin typeface="Cambria Math" panose="02040503050406030204" pitchFamily="18" charset="0"/>
                        </a:rPr>
                        <m:t>bonos</m:t>
                      </m:r>
                      <m:r>
                        <a:rPr lang="es-AR" sz="1700" b="0" i="0" smtClean="0">
                          <a:latin typeface="Cambria Math" panose="02040503050406030204" pitchFamily="18" charset="0"/>
                        </a:rPr>
                        <m:t> </m:t>
                      </m:r>
                      <m:r>
                        <m:rPr>
                          <m:sty m:val="p"/>
                        </m:rPr>
                        <a:rPr lang="es-AR" sz="1700" b="0" i="0" smtClean="0">
                          <a:latin typeface="Cambria Math" panose="02040503050406030204" pitchFamily="18" charset="0"/>
                        </a:rPr>
                        <m:t>del</m:t>
                      </m:r>
                      <m:r>
                        <a:rPr lang="es-AR" sz="1700" b="0" i="0" smtClean="0">
                          <a:latin typeface="Cambria Math" panose="02040503050406030204" pitchFamily="18" charset="0"/>
                        </a:rPr>
                        <m:t> </m:t>
                      </m:r>
                      <m:r>
                        <m:rPr>
                          <m:sty m:val="p"/>
                        </m:rPr>
                        <a:rPr lang="es-AR" sz="1700" b="0" i="0" smtClean="0">
                          <a:latin typeface="Cambria Math" panose="02040503050406030204" pitchFamily="18" charset="0"/>
                        </a:rPr>
                        <m:t>tesoro</m:t>
                      </m:r>
                      <m:r>
                        <a:rPr lang="es-AR" sz="1700" b="0" i="0" smtClean="0">
                          <a:latin typeface="Cambria Math" panose="02040503050406030204" pitchFamily="18" charset="0"/>
                        </a:rPr>
                        <m:t> </m:t>
                      </m:r>
                      <m:r>
                        <m:rPr>
                          <m:sty m:val="p"/>
                        </m:rPr>
                        <a:rPr lang="es-AR" sz="1700" b="0" i="0" smtClean="0">
                          <a:latin typeface="Cambria Math" panose="02040503050406030204" pitchFamily="18" charset="0"/>
                        </a:rPr>
                        <m:t>pagan</m:t>
                      </m:r>
                      <m:r>
                        <a:rPr lang="es-AR" sz="1700" b="0" i="1" smtClean="0">
                          <a:latin typeface="Cambria Math" panose="02040503050406030204" pitchFamily="18" charset="0"/>
                        </a:rPr>
                        <m:t> </m:t>
                      </m:r>
                      <m:r>
                        <a:rPr lang="es-AR" sz="1700" b="0" i="1" smtClean="0">
                          <a:latin typeface="Cambria Math" panose="02040503050406030204" pitchFamily="18" charset="0"/>
                        </a:rPr>
                        <m:t>3</m:t>
                      </m:r>
                      <m:r>
                        <a:rPr lang="es-AR" sz="1700" b="0" i="1" smtClean="0">
                          <a:latin typeface="Cambria Math" panose="02040503050406030204" pitchFamily="18" charset="0"/>
                        </a:rPr>
                        <m:t>%</m:t>
                      </m:r>
                    </m:oMath>
                  </m:oMathPara>
                </a14:m>
                <a:endParaRPr lang="es-AR" sz="1700" dirty="0"/>
              </a:p>
              <a:p>
                <a:r>
                  <a:rPr lang="es-AR" sz="2000" dirty="0"/>
                  <a:t>¿Cómo calcular </a:t>
                </a:r>
                <a14:m>
                  <m:oMath xmlns:m="http://schemas.openxmlformats.org/officeDocument/2006/math">
                    <m:sSub>
                      <m:sSubPr>
                        <m:ctrlPr>
                          <a:rPr lang="es-AR" sz="1800" i="1" smtClean="0">
                            <a:latin typeface="Cambria Math" panose="02040503050406030204" pitchFamily="18" charset="0"/>
                          </a:rPr>
                        </m:ctrlPr>
                      </m:sSubPr>
                      <m:e>
                        <m:r>
                          <a:rPr lang="es-AR" sz="1800" b="0" i="1" smtClean="0">
                            <a:latin typeface="Cambria Math" panose="02040503050406030204" pitchFamily="18" charset="0"/>
                          </a:rPr>
                          <m:t>𝑟</m:t>
                        </m:r>
                      </m:e>
                      <m:sub>
                        <m:r>
                          <a:rPr lang="es-AR" sz="1800" i="1">
                            <a:latin typeface="Cambria Math" panose="02040503050406030204" pitchFamily="18" charset="0"/>
                          </a:rPr>
                          <m:t>𝑀</m:t>
                        </m:r>
                      </m:sub>
                    </m:sSub>
                  </m:oMath>
                </a14:m>
                <a:r>
                  <a:rPr lang="es-AR" sz="2000" dirty="0"/>
                  <a:t> (y consecuentemente la </a:t>
                </a:r>
                <a14:m>
                  <m:oMath xmlns:m="http://schemas.openxmlformats.org/officeDocument/2006/math">
                    <m:sSub>
                      <m:sSubPr>
                        <m:ctrlPr>
                          <a:rPr lang="es-AR" sz="1800" i="1">
                            <a:latin typeface="Cambria Math" panose="02040503050406030204" pitchFamily="18" charset="0"/>
                          </a:rPr>
                        </m:ctrlPr>
                      </m:sSubPr>
                      <m:e>
                        <m:r>
                          <a:rPr lang="es-AR" sz="1800" i="1">
                            <a:latin typeface="Cambria Math" panose="02040503050406030204" pitchFamily="18" charset="0"/>
                          </a:rPr>
                          <m:t>𝑅𝑃</m:t>
                        </m:r>
                      </m:e>
                      <m:sub>
                        <m:r>
                          <a:rPr lang="es-AR" sz="1800" i="1">
                            <a:latin typeface="Cambria Math" panose="02040503050406030204" pitchFamily="18" charset="0"/>
                          </a:rPr>
                          <m:t>𝑀</m:t>
                        </m:r>
                      </m:sub>
                    </m:sSub>
                    <m:r>
                      <a:rPr lang="es-AR" sz="1800" i="1">
                        <a:latin typeface="Cambria Math" panose="02040503050406030204" pitchFamily="18" charset="0"/>
                      </a:rPr>
                      <m:t> </m:t>
                    </m:r>
                    <m:r>
                      <a:rPr lang="es-AR" sz="1800" b="0" i="1" smtClean="0">
                        <a:latin typeface="Cambria Math" panose="02040503050406030204" pitchFamily="18" charset="0"/>
                      </a:rPr>
                      <m:t>)</m:t>
                    </m:r>
                  </m:oMath>
                </a14:m>
                <a:r>
                  <a:rPr lang="es-AR" sz="2000" dirty="0"/>
                  <a:t>si es un Rendimiento futuro esperado? Nuevamente los analistas se basarán en el pasado, comparando Rendimientos observados y las tasas libres de Riesgo que regían. Podemos decir que la </a:t>
                </a:r>
                <a14:m>
                  <m:oMath xmlns:m="http://schemas.openxmlformats.org/officeDocument/2006/math">
                    <m:sSub>
                      <m:sSubPr>
                        <m:ctrlPr>
                          <a:rPr lang="es-AR" sz="1800" i="1">
                            <a:latin typeface="Cambria Math" panose="02040503050406030204" pitchFamily="18" charset="0"/>
                          </a:rPr>
                        </m:ctrlPr>
                      </m:sSubPr>
                      <m:e>
                        <m:r>
                          <a:rPr lang="es-AR" sz="1800" i="1">
                            <a:latin typeface="Cambria Math" panose="02040503050406030204" pitchFamily="18" charset="0"/>
                          </a:rPr>
                          <m:t>𝑅𝑃</m:t>
                        </m:r>
                      </m:e>
                      <m:sub>
                        <m:r>
                          <a:rPr lang="es-AR" sz="1800" i="1">
                            <a:latin typeface="Cambria Math" panose="02040503050406030204" pitchFamily="18" charset="0"/>
                          </a:rPr>
                          <m:t>𝑀</m:t>
                        </m:r>
                      </m:sub>
                    </m:sSub>
                  </m:oMath>
                </a14:m>
                <a:r>
                  <a:rPr lang="es-AR" sz="2000" dirty="0"/>
                  <a:t> ha fluctuado entre el 4% y 8%, dependiendo de la aversión al Riesgo de los Inversionistas en cada momento</a:t>
                </a:r>
              </a:p>
              <a:p>
                <a:r>
                  <a:rPr lang="es-AR" sz="2000" dirty="0"/>
                  <a:t>¿De qué depende la aversión o propensión al Riesgo de los Inversionistas a lo largo del tiempo?</a:t>
                </a:r>
              </a:p>
              <a:p>
                <a:r>
                  <a:rPr lang="es-AR" sz="2000" dirty="0"/>
                  <a:t>¿Entonces, podemos basarnos en los datos históricos para determinar la </a:t>
                </a:r>
                <a14:m>
                  <m:oMath xmlns:m="http://schemas.openxmlformats.org/officeDocument/2006/math">
                    <m:sSub>
                      <m:sSubPr>
                        <m:ctrlPr>
                          <a:rPr lang="es-AR" sz="2000" i="1" smtClean="0">
                            <a:latin typeface="Cambria Math" panose="02040503050406030204" pitchFamily="18" charset="0"/>
                          </a:rPr>
                        </m:ctrlPr>
                      </m:sSubPr>
                      <m:e>
                        <m:r>
                          <a:rPr lang="es-AR" sz="2000" b="0" i="1" smtClean="0">
                            <a:latin typeface="Cambria Math" panose="02040503050406030204" pitchFamily="18" charset="0"/>
                          </a:rPr>
                          <m:t>𝑅𝑃</m:t>
                        </m:r>
                      </m:e>
                      <m:sub>
                        <m:r>
                          <a:rPr lang="es-AR" sz="2000" b="0" i="1" smtClean="0">
                            <a:latin typeface="Cambria Math" panose="02040503050406030204" pitchFamily="18" charset="0"/>
                          </a:rPr>
                          <m:t>𝑀</m:t>
                        </m:r>
                      </m:sub>
                    </m:sSub>
                  </m:oMath>
                </a14:m>
                <a:r>
                  <a:rPr lang="es-AR" sz="2000" dirty="0"/>
                  <a:t>? Sesgo de Supervivencia</a:t>
                </a:r>
              </a:p>
              <a:p>
                <a:endParaRPr lang="es-AR" sz="2000" dirty="0"/>
              </a:p>
            </p:txBody>
          </p:sp>
        </mc:Choice>
        <mc:Fallback>
          <p:sp>
            <p:nvSpPr>
              <p:cNvPr id="3" name="Marcador de contenido 2">
                <a:extLst>
                  <a:ext uri="{FF2B5EF4-FFF2-40B4-BE49-F238E27FC236}">
                    <a16:creationId xmlns:a16="http://schemas.microsoft.com/office/drawing/2014/main" id="{EC93BF8D-4EFA-3C0F-D0B5-B21E4702A567}"/>
                  </a:ext>
                </a:extLst>
              </p:cNvPr>
              <p:cNvSpPr>
                <a:spLocks noGrp="1" noRot="1" noChangeAspect="1" noMove="1" noResize="1" noEditPoints="1" noAdjustHandles="1" noChangeArrowheads="1" noChangeShapeType="1" noTextEdit="1"/>
              </p:cNvSpPr>
              <p:nvPr>
                <p:ph idx="1"/>
              </p:nvPr>
            </p:nvSpPr>
            <p:spPr>
              <a:blipFill>
                <a:blip r:embed="rId2"/>
                <a:stretch>
                  <a:fillRect l="-812" t="-2661" b="-2521"/>
                </a:stretch>
              </a:blipFill>
            </p:spPr>
            <p:txBody>
              <a:bodyPr/>
              <a:lstStyle/>
              <a:p>
                <a:r>
                  <a:rPr lang="es-ES">
                    <a:noFill/>
                  </a:rPr>
                  <a:t> </a:t>
                </a:r>
              </a:p>
            </p:txBody>
          </p:sp>
        </mc:Fallback>
      </mc:AlternateContent>
    </p:spTree>
    <p:extLst>
      <p:ext uri="{BB962C8B-B14F-4D97-AF65-F5344CB8AC3E}">
        <p14:creationId xmlns:p14="http://schemas.microsoft.com/office/powerpoint/2010/main" val="17188908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C375AB-917C-B810-964F-BFD48CB7FE16}"/>
              </a:ext>
            </a:extLst>
          </p:cNvPr>
          <p:cNvSpPr>
            <a:spLocks noGrp="1"/>
          </p:cNvSpPr>
          <p:nvPr>
            <p:ph type="title"/>
          </p:nvPr>
        </p:nvSpPr>
        <p:spPr/>
        <p:txBody>
          <a:bodyPr/>
          <a:lstStyle/>
          <a:p>
            <a:r>
              <a:rPr lang="es-AR" sz="4400" dirty="0"/>
              <a:t>Riesgo y tasas de Rendimiento</a:t>
            </a:r>
            <a:endParaRPr lang="es-AR"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EC93BF8D-4EFA-3C0F-D0B5-B21E4702A567}"/>
                  </a:ext>
                </a:extLst>
              </p:cNvPr>
              <p:cNvSpPr>
                <a:spLocks noGrp="1"/>
              </p:cNvSpPr>
              <p:nvPr>
                <p:ph idx="1"/>
              </p:nvPr>
            </p:nvSpPr>
            <p:spPr/>
            <p:txBody>
              <a:bodyPr>
                <a:normAutofit/>
              </a:bodyPr>
              <a:lstStyle/>
              <a:p>
                <a:r>
                  <a:rPr lang="es-AR" sz="2400" dirty="0"/>
                  <a:t>¿Cómo se determina la Prima de Riesgo de la Acción L, si la misma tiene una beta de 0,5 y la </a:t>
                </a:r>
                <a14:m>
                  <m:oMath xmlns:m="http://schemas.openxmlformats.org/officeDocument/2006/math">
                    <m:sSub>
                      <m:sSubPr>
                        <m:ctrlPr>
                          <a:rPr lang="es-AR" sz="2400" i="1" smtClean="0">
                            <a:latin typeface="Cambria Math" panose="02040503050406030204" pitchFamily="18" charset="0"/>
                          </a:rPr>
                        </m:ctrlPr>
                      </m:sSubPr>
                      <m:e>
                        <m:r>
                          <a:rPr lang="es-AR" sz="2400" b="0" i="1" smtClean="0">
                            <a:latin typeface="Cambria Math" panose="02040503050406030204" pitchFamily="18" charset="0"/>
                          </a:rPr>
                          <m:t>𝑅𝑃</m:t>
                        </m:r>
                      </m:e>
                      <m:sub>
                        <m:r>
                          <a:rPr lang="es-AR" sz="2400" b="0" i="1" smtClean="0">
                            <a:latin typeface="Cambria Math" panose="02040503050406030204" pitchFamily="18" charset="0"/>
                          </a:rPr>
                          <m:t>𝑀</m:t>
                        </m:r>
                      </m:sub>
                    </m:sSub>
                    <m:r>
                      <a:rPr lang="es-AR" sz="2400" b="0" i="0" smtClean="0">
                        <a:latin typeface="Cambria Math" panose="02040503050406030204" pitchFamily="18" charset="0"/>
                      </a:rPr>
                      <m:t>=</m:t>
                    </m:r>
                    <m:r>
                      <a:rPr lang="es-AR" sz="2400" b="0" i="0" smtClean="0">
                        <a:latin typeface="Cambria Math" panose="02040503050406030204" pitchFamily="18" charset="0"/>
                      </a:rPr>
                      <m:t>5</m:t>
                    </m:r>
                    <m:r>
                      <a:rPr lang="es-AR" sz="2400" b="0" i="0" smtClean="0">
                        <a:latin typeface="Cambria Math" panose="02040503050406030204" pitchFamily="18" charset="0"/>
                      </a:rPr>
                      <m:t>%</m:t>
                    </m:r>
                  </m:oMath>
                </a14:m>
                <a:r>
                  <a:rPr lang="es-AR" sz="2400" dirty="0"/>
                  <a:t> como calculamos anteriormente?</a:t>
                </a:r>
              </a:p>
              <a:p>
                <a14:m>
                  <m:oMath xmlns:m="http://schemas.openxmlformats.org/officeDocument/2006/math">
                    <m:sSub>
                      <m:sSubPr>
                        <m:ctrlPr>
                          <a:rPr lang="es-AR" sz="2400" i="1" smtClean="0">
                            <a:latin typeface="Cambria Math" panose="02040503050406030204" pitchFamily="18" charset="0"/>
                          </a:rPr>
                        </m:ctrlPr>
                      </m:sSubPr>
                      <m:e>
                        <m:r>
                          <a:rPr lang="es-AR" sz="2400" b="0" i="1" smtClean="0">
                            <a:latin typeface="Cambria Math" panose="02040503050406030204" pitchFamily="18" charset="0"/>
                          </a:rPr>
                          <m:t>𝑅𝑃</m:t>
                        </m:r>
                      </m:e>
                      <m:sub>
                        <m:r>
                          <a:rPr lang="es-AR" sz="2400" b="0" i="1" smtClean="0">
                            <a:latin typeface="Cambria Math" panose="02040503050406030204" pitchFamily="18" charset="0"/>
                          </a:rPr>
                          <m:t>𝐿</m:t>
                        </m:r>
                      </m:sub>
                    </m:sSub>
                    <m:r>
                      <a:rPr lang="es-AR" sz="2400" b="0" i="1" smtClean="0">
                        <a:latin typeface="Cambria Math" panose="02040503050406030204" pitchFamily="18" charset="0"/>
                      </a:rPr>
                      <m:t>=</m:t>
                    </m:r>
                    <m:sSub>
                      <m:sSubPr>
                        <m:ctrlPr>
                          <a:rPr lang="es-AR" sz="2400" i="1">
                            <a:latin typeface="Cambria Math" panose="02040503050406030204" pitchFamily="18" charset="0"/>
                          </a:rPr>
                        </m:ctrlPr>
                      </m:sSubPr>
                      <m:e>
                        <m:r>
                          <a:rPr lang="es-AR" sz="2400" i="1">
                            <a:latin typeface="Cambria Math" panose="02040503050406030204" pitchFamily="18" charset="0"/>
                          </a:rPr>
                          <m:t>𝑅𝑃</m:t>
                        </m:r>
                      </m:e>
                      <m:sub>
                        <m:r>
                          <a:rPr lang="es-AR" sz="2400" i="1">
                            <a:latin typeface="Cambria Math" panose="02040503050406030204" pitchFamily="18" charset="0"/>
                          </a:rPr>
                          <m:t>𝑀</m:t>
                        </m:r>
                      </m:sub>
                    </m:sSub>
                  </m:oMath>
                </a14:m>
                <a:r>
                  <a:rPr lang="es-AR" sz="2400" dirty="0"/>
                  <a:t>* </a:t>
                </a:r>
                <a14:m>
                  <m:oMath xmlns:m="http://schemas.openxmlformats.org/officeDocument/2006/math">
                    <m:sSub>
                      <m:sSubPr>
                        <m:ctrlPr>
                          <a:rPr lang="es-AR" sz="2400" i="1">
                            <a:latin typeface="Cambria Math" panose="02040503050406030204" pitchFamily="18" charset="0"/>
                          </a:rPr>
                        </m:ctrlPr>
                      </m:sSubPr>
                      <m:e>
                        <m:r>
                          <a:rPr lang="es-AR" sz="2400" b="0" i="1" smtClean="0">
                            <a:latin typeface="Cambria Math" panose="02040503050406030204" pitchFamily="18" charset="0"/>
                          </a:rPr>
                          <m:t>𝑏</m:t>
                        </m:r>
                      </m:e>
                      <m:sub>
                        <m:r>
                          <a:rPr lang="es-AR" sz="2400" b="0" i="1" smtClean="0">
                            <a:latin typeface="Cambria Math" panose="02040503050406030204" pitchFamily="18" charset="0"/>
                          </a:rPr>
                          <m:t>𝐿</m:t>
                        </m:r>
                      </m:sub>
                    </m:sSub>
                    <m:r>
                      <a:rPr lang="es-AR" sz="2400" b="0" i="0" smtClean="0">
                        <a:latin typeface="Cambria Math" panose="02040503050406030204" pitchFamily="18" charset="0"/>
                      </a:rPr>
                      <m:t>=</m:t>
                    </m:r>
                    <m:r>
                      <a:rPr lang="es-AR" sz="2400" b="0" i="0" smtClean="0">
                        <a:latin typeface="Cambria Math" panose="02040503050406030204" pitchFamily="18" charset="0"/>
                      </a:rPr>
                      <m:t>5</m:t>
                    </m:r>
                    <m:r>
                      <a:rPr lang="es-AR" sz="2400" b="0" i="0" smtClean="0">
                        <a:latin typeface="Cambria Math" panose="02040503050406030204" pitchFamily="18" charset="0"/>
                      </a:rPr>
                      <m:t>%∗</m:t>
                    </m:r>
                    <m:r>
                      <a:rPr lang="es-AR" sz="2400" b="0" i="0" smtClean="0">
                        <a:latin typeface="Cambria Math" panose="02040503050406030204" pitchFamily="18" charset="0"/>
                      </a:rPr>
                      <m:t>0</m:t>
                    </m:r>
                    <m:r>
                      <a:rPr lang="es-AR" sz="2400" b="0" i="0" smtClean="0">
                        <a:latin typeface="Cambria Math" panose="02040503050406030204" pitchFamily="18" charset="0"/>
                      </a:rPr>
                      <m:t>,</m:t>
                    </m:r>
                    <m:r>
                      <a:rPr lang="es-AR" sz="2400" b="0" i="0" smtClean="0">
                        <a:latin typeface="Cambria Math" panose="02040503050406030204" pitchFamily="18" charset="0"/>
                      </a:rPr>
                      <m:t>5</m:t>
                    </m:r>
                    <m:r>
                      <a:rPr lang="es-AR" sz="2400" b="0" i="0" smtClean="0">
                        <a:latin typeface="Cambria Math" panose="02040503050406030204" pitchFamily="18" charset="0"/>
                      </a:rPr>
                      <m:t>=</m:t>
                    </m:r>
                    <m:r>
                      <a:rPr lang="es-AR" sz="2400" b="0" i="0" smtClean="0">
                        <a:latin typeface="Cambria Math" panose="02040503050406030204" pitchFamily="18" charset="0"/>
                      </a:rPr>
                      <m:t>2</m:t>
                    </m:r>
                    <m:r>
                      <a:rPr lang="es-AR" sz="2400" b="0" i="0" smtClean="0">
                        <a:latin typeface="Cambria Math" panose="02040503050406030204" pitchFamily="18" charset="0"/>
                      </a:rPr>
                      <m:t>,</m:t>
                    </m:r>
                    <m:r>
                      <a:rPr lang="es-AR" sz="2400" b="0" i="0" smtClean="0">
                        <a:latin typeface="Cambria Math" panose="02040503050406030204" pitchFamily="18" charset="0"/>
                      </a:rPr>
                      <m:t>5</m:t>
                    </m:r>
                    <m:r>
                      <a:rPr lang="es-AR" sz="2400" b="0" i="0" smtClean="0">
                        <a:latin typeface="Cambria Math" panose="02040503050406030204" pitchFamily="18" charset="0"/>
                      </a:rPr>
                      <m:t>%</m:t>
                    </m:r>
                  </m:oMath>
                </a14:m>
                <a:endParaRPr lang="es-AR" sz="2400" dirty="0"/>
              </a:p>
              <a:p>
                <a:endParaRPr lang="es-AR" sz="2400" dirty="0"/>
              </a:p>
              <a:p>
                <a:r>
                  <a:rPr lang="es-AR" sz="2400" dirty="0"/>
                  <a:t>Su Rendimiento requerido será = Tasa libre de Riesgo + Prima de Riesgo = 5,5%</a:t>
                </a:r>
              </a:p>
              <a:p>
                <a:r>
                  <a:rPr lang="es-AR" sz="2400" dirty="0"/>
                  <a:t>La tasa libre de Riesgo ya incluye una IP, prima por inflación</a:t>
                </a:r>
              </a:p>
              <a:p>
                <a:r>
                  <a:rPr lang="es-AR" sz="2400" dirty="0"/>
                  <a:t>¿La inflación condiciona a la prima de Riesgo del Mercado? ¿Opiniones? Veremos</a:t>
                </a:r>
              </a:p>
              <a:p>
                <a:r>
                  <a:rPr lang="es-AR" sz="2400" dirty="0"/>
                  <a:t>SML, Security </a:t>
                </a:r>
                <a:r>
                  <a:rPr lang="es-AR" sz="2400" dirty="0" err="1"/>
                  <a:t>Market</a:t>
                </a:r>
                <a:r>
                  <a:rPr lang="es-AR" sz="2400" dirty="0"/>
                  <a:t> Line, nos muestra los Rendimientos requeridos para cada coeficiente beta</a:t>
                </a:r>
              </a:p>
              <a:p>
                <a:endParaRPr lang="es-AR" sz="2400" dirty="0"/>
              </a:p>
              <a:p>
                <a:endParaRPr lang="es-AR" sz="2400" dirty="0"/>
              </a:p>
            </p:txBody>
          </p:sp>
        </mc:Choice>
        <mc:Fallback xmlns="">
          <p:sp>
            <p:nvSpPr>
              <p:cNvPr id="3" name="Marcador de contenido 2">
                <a:extLst>
                  <a:ext uri="{FF2B5EF4-FFF2-40B4-BE49-F238E27FC236}">
                    <a16:creationId xmlns:a16="http://schemas.microsoft.com/office/drawing/2014/main" id="{EC93BF8D-4EFA-3C0F-D0B5-B21E4702A567}"/>
                  </a:ext>
                </a:extLst>
              </p:cNvPr>
              <p:cNvSpPr>
                <a:spLocks noGrp="1" noRot="1" noChangeAspect="1" noMove="1" noResize="1" noEditPoints="1" noAdjustHandles="1" noChangeArrowheads="1" noChangeShapeType="1" noTextEdit="1"/>
              </p:cNvSpPr>
              <p:nvPr>
                <p:ph idx="1"/>
              </p:nvPr>
            </p:nvSpPr>
            <p:spPr>
              <a:blipFill>
                <a:blip r:embed="rId2"/>
                <a:stretch>
                  <a:fillRect l="-812" t="-1961" r="-870"/>
                </a:stretch>
              </a:blipFill>
            </p:spPr>
            <p:txBody>
              <a:bodyPr/>
              <a:lstStyle/>
              <a:p>
                <a:r>
                  <a:rPr lang="es-ES">
                    <a:noFill/>
                  </a:rPr>
                  <a:t> </a:t>
                </a:r>
              </a:p>
            </p:txBody>
          </p:sp>
        </mc:Fallback>
      </mc:AlternateContent>
    </p:spTree>
    <p:extLst>
      <p:ext uri="{BB962C8B-B14F-4D97-AF65-F5344CB8AC3E}">
        <p14:creationId xmlns:p14="http://schemas.microsoft.com/office/powerpoint/2010/main" val="100215688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C375AB-917C-B810-964F-BFD48CB7FE16}"/>
              </a:ext>
            </a:extLst>
          </p:cNvPr>
          <p:cNvSpPr>
            <a:spLocks noGrp="1"/>
          </p:cNvSpPr>
          <p:nvPr>
            <p:ph type="title"/>
          </p:nvPr>
        </p:nvSpPr>
        <p:spPr/>
        <p:txBody>
          <a:bodyPr/>
          <a:lstStyle/>
          <a:p>
            <a:r>
              <a:rPr lang="es-AR" sz="4400" dirty="0"/>
              <a:t>Riesgo y tasas de Rendimiento</a:t>
            </a:r>
            <a:endParaRPr lang="es-AR" dirty="0"/>
          </a:p>
        </p:txBody>
      </p:sp>
      <p:graphicFrame>
        <p:nvGraphicFramePr>
          <p:cNvPr id="4" name="Marcador de contenido 3">
            <a:extLst>
              <a:ext uri="{FF2B5EF4-FFF2-40B4-BE49-F238E27FC236}">
                <a16:creationId xmlns:a16="http://schemas.microsoft.com/office/drawing/2014/main" id="{F19068A5-9399-4931-1A39-834D247B5E46}"/>
              </a:ext>
            </a:extLst>
          </p:cNvPr>
          <p:cNvGraphicFramePr>
            <a:graphicFrameLocks noGrp="1"/>
          </p:cNvGraphicFramePr>
          <p:nvPr>
            <p:ph idx="1"/>
            <p:extLst>
              <p:ext uri="{D42A27DB-BD31-4B8C-83A1-F6EECF244321}">
                <p14:modId xmlns:p14="http://schemas.microsoft.com/office/powerpoint/2010/main" val="3651743984"/>
              </p:ext>
            </p:extLst>
          </p:nvPr>
        </p:nvGraphicFramePr>
        <p:xfrm>
          <a:off x="838200" y="1825624"/>
          <a:ext cx="6448865" cy="4378227"/>
        </p:xfrm>
        <a:graphic>
          <a:graphicData uri="http://schemas.openxmlformats.org/drawingml/2006/chart">
            <c:chart xmlns:c="http://schemas.openxmlformats.org/drawingml/2006/chart" xmlns:r="http://schemas.openxmlformats.org/officeDocument/2006/relationships" r:id="rId2"/>
          </a:graphicData>
        </a:graphic>
      </p:graphicFrame>
      <p:sp>
        <p:nvSpPr>
          <p:cNvPr id="5" name="Cerrar llave 4">
            <a:extLst>
              <a:ext uri="{FF2B5EF4-FFF2-40B4-BE49-F238E27FC236}">
                <a16:creationId xmlns:a16="http://schemas.microsoft.com/office/drawing/2014/main" id="{134097B5-E33D-DE3C-7CF8-E7A1A329586B}"/>
              </a:ext>
            </a:extLst>
          </p:cNvPr>
          <p:cNvSpPr/>
          <p:nvPr/>
        </p:nvSpPr>
        <p:spPr>
          <a:xfrm>
            <a:off x="5950634" y="2293034"/>
            <a:ext cx="45719" cy="2700997"/>
          </a:xfrm>
          <a:prstGeom prst="rightBrace">
            <a:avLst/>
          </a:prstGeom>
          <a:solidFill>
            <a:srgbClr val="7030A0"/>
          </a:solidFill>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6" name="Cerrar llave 5">
            <a:extLst>
              <a:ext uri="{FF2B5EF4-FFF2-40B4-BE49-F238E27FC236}">
                <a16:creationId xmlns:a16="http://schemas.microsoft.com/office/drawing/2014/main" id="{38E36C1A-C40E-4996-3210-B74AA466E985}"/>
              </a:ext>
            </a:extLst>
          </p:cNvPr>
          <p:cNvSpPr/>
          <p:nvPr/>
        </p:nvSpPr>
        <p:spPr>
          <a:xfrm>
            <a:off x="3657600" y="3699164"/>
            <a:ext cx="45719" cy="1294867"/>
          </a:xfrm>
          <a:prstGeom prst="rightBrace">
            <a:avLst/>
          </a:prstGeom>
          <a:solidFill>
            <a:srgbClr val="00B0F0"/>
          </a:solidFill>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7" name="Cerrar llave 6">
            <a:extLst>
              <a:ext uri="{FF2B5EF4-FFF2-40B4-BE49-F238E27FC236}">
                <a16:creationId xmlns:a16="http://schemas.microsoft.com/office/drawing/2014/main" id="{D7469EEB-9264-6730-7B95-A6877C2A0BA5}"/>
              </a:ext>
            </a:extLst>
          </p:cNvPr>
          <p:cNvSpPr/>
          <p:nvPr/>
        </p:nvSpPr>
        <p:spPr>
          <a:xfrm>
            <a:off x="2535382" y="4322619"/>
            <a:ext cx="45719" cy="681658"/>
          </a:xfrm>
          <a:prstGeom prst="rightBrace">
            <a:avLst/>
          </a:prstGeom>
          <a:solidFill>
            <a:srgbClr val="92D050"/>
          </a:solidFill>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8" name="Cerrar llave 7">
            <a:extLst>
              <a:ext uri="{FF2B5EF4-FFF2-40B4-BE49-F238E27FC236}">
                <a16:creationId xmlns:a16="http://schemas.microsoft.com/office/drawing/2014/main" id="{145A7D6D-ED20-2E02-9C38-22225B292AF3}"/>
              </a:ext>
            </a:extLst>
          </p:cNvPr>
          <p:cNvSpPr/>
          <p:nvPr/>
        </p:nvSpPr>
        <p:spPr>
          <a:xfrm>
            <a:off x="1413164" y="5004277"/>
            <a:ext cx="45719" cy="925468"/>
          </a:xfrm>
          <a:prstGeom prst="rightBrace">
            <a:avLst/>
          </a:prstGeom>
          <a:solidFill>
            <a:srgbClr val="FFC000"/>
          </a:solidFill>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5519829B-D130-50C0-6C6F-15E24CAD5E78}"/>
                  </a:ext>
                </a:extLst>
              </p:cNvPr>
              <p:cNvSpPr txBox="1"/>
              <p:nvPr/>
            </p:nvSpPr>
            <p:spPr>
              <a:xfrm>
                <a:off x="2036617" y="2590800"/>
                <a:ext cx="2946863" cy="369332"/>
              </a:xfrm>
              <a:prstGeom prst="rect">
                <a:avLst/>
              </a:prstGeom>
              <a:noFill/>
            </p:spPr>
            <p:txBody>
              <a:bodyPr wrap="square" rtlCol="0">
                <a:spAutoFit/>
              </a:bodyPr>
              <a:lstStyle/>
              <a:p>
                <a:r>
                  <a:rPr lang="es-AR" dirty="0"/>
                  <a:t>SML: </a:t>
                </a:r>
                <a14:m>
                  <m:oMath xmlns:m="http://schemas.openxmlformats.org/officeDocument/2006/math">
                    <m:sSub>
                      <m:sSubPr>
                        <m:ctrlPr>
                          <a:rPr lang="es-AR" i="1" smtClean="0">
                            <a:latin typeface="Cambria Math" panose="02040503050406030204" pitchFamily="18" charset="0"/>
                          </a:rPr>
                        </m:ctrlPr>
                      </m:sSubPr>
                      <m:e>
                        <m:r>
                          <a:rPr lang="es-AR" b="0" i="1" smtClean="0">
                            <a:latin typeface="Cambria Math" panose="02040503050406030204" pitchFamily="18" charset="0"/>
                          </a:rPr>
                          <m:t>𝑟</m:t>
                        </m:r>
                      </m:e>
                      <m:sub>
                        <m:r>
                          <a:rPr lang="es-AR" b="0" i="1" smtClean="0">
                            <a:latin typeface="Cambria Math" panose="02040503050406030204" pitchFamily="18" charset="0"/>
                          </a:rPr>
                          <m:t>𝑖</m:t>
                        </m:r>
                      </m:sub>
                    </m:sSub>
                    <m:r>
                      <a:rPr lang="es-AR" b="0" i="1" smtClean="0">
                        <a:latin typeface="Cambria Math" panose="02040503050406030204" pitchFamily="18" charset="0"/>
                      </a:rPr>
                      <m:t>=</m:t>
                    </m:r>
                    <m:sSub>
                      <m:sSubPr>
                        <m:ctrlPr>
                          <a:rPr lang="es-AR" b="0" i="1" smtClean="0">
                            <a:latin typeface="Cambria Math" panose="02040503050406030204" pitchFamily="18" charset="0"/>
                          </a:rPr>
                        </m:ctrlPr>
                      </m:sSubPr>
                      <m:e>
                        <m:r>
                          <a:rPr lang="es-AR" b="0" i="1" smtClean="0">
                            <a:latin typeface="Cambria Math" panose="02040503050406030204" pitchFamily="18" charset="0"/>
                          </a:rPr>
                          <m:t>𝑟</m:t>
                        </m:r>
                      </m:e>
                      <m:sub>
                        <m:r>
                          <a:rPr lang="es-AR" b="0" i="1" smtClean="0">
                            <a:latin typeface="Cambria Math" panose="02040503050406030204" pitchFamily="18" charset="0"/>
                          </a:rPr>
                          <m:t>𝑅𝐹</m:t>
                        </m:r>
                      </m:sub>
                    </m:sSub>
                    <m:r>
                      <a:rPr lang="es-AR" b="0" i="1" smtClean="0">
                        <a:latin typeface="Cambria Math" panose="02040503050406030204" pitchFamily="18" charset="0"/>
                      </a:rPr>
                      <m:t>+</m:t>
                    </m:r>
                    <m:sSub>
                      <m:sSubPr>
                        <m:ctrlPr>
                          <a:rPr lang="es-AR" b="0" i="1" smtClean="0">
                            <a:latin typeface="Cambria Math" panose="02040503050406030204" pitchFamily="18" charset="0"/>
                          </a:rPr>
                        </m:ctrlPr>
                      </m:sSubPr>
                      <m:e>
                        <m:r>
                          <a:rPr lang="es-AR" b="0" i="1" smtClean="0">
                            <a:latin typeface="Cambria Math" panose="02040503050406030204" pitchFamily="18" charset="0"/>
                          </a:rPr>
                          <m:t>𝑅𝑃</m:t>
                        </m:r>
                      </m:e>
                      <m:sub>
                        <m:r>
                          <a:rPr lang="es-AR" b="0" i="1" smtClean="0">
                            <a:latin typeface="Cambria Math" panose="02040503050406030204" pitchFamily="18" charset="0"/>
                          </a:rPr>
                          <m:t>𝑀</m:t>
                        </m:r>
                      </m:sub>
                    </m:sSub>
                    <m:r>
                      <a:rPr lang="es-AR" b="0" i="1" smtClean="0">
                        <a:latin typeface="Cambria Math" panose="02040503050406030204" pitchFamily="18" charset="0"/>
                      </a:rPr>
                      <m:t> ∗ </m:t>
                    </m:r>
                    <m:sSub>
                      <m:sSubPr>
                        <m:ctrlPr>
                          <a:rPr lang="es-AR" b="0" i="1" smtClean="0">
                            <a:latin typeface="Cambria Math" panose="02040503050406030204" pitchFamily="18" charset="0"/>
                          </a:rPr>
                        </m:ctrlPr>
                      </m:sSubPr>
                      <m:e>
                        <m:r>
                          <a:rPr lang="es-AR" b="0" i="1" smtClean="0">
                            <a:latin typeface="Cambria Math" panose="02040503050406030204" pitchFamily="18" charset="0"/>
                          </a:rPr>
                          <m:t>𝑏</m:t>
                        </m:r>
                      </m:e>
                      <m:sub>
                        <m:r>
                          <a:rPr lang="es-AR" b="0" i="1" smtClean="0">
                            <a:latin typeface="Cambria Math" panose="02040503050406030204" pitchFamily="18" charset="0"/>
                          </a:rPr>
                          <m:t>𝑖</m:t>
                        </m:r>
                      </m:sub>
                    </m:sSub>
                  </m:oMath>
                </a14:m>
                <a:endParaRPr lang="es-ES" dirty="0"/>
              </a:p>
            </p:txBody>
          </p:sp>
        </mc:Choice>
        <mc:Fallback xmlns="">
          <p:sp>
            <p:nvSpPr>
              <p:cNvPr id="9" name="CuadroTexto 8">
                <a:extLst>
                  <a:ext uri="{FF2B5EF4-FFF2-40B4-BE49-F238E27FC236}">
                    <a16:creationId xmlns:a16="http://schemas.microsoft.com/office/drawing/2014/main" id="{5519829B-D130-50C0-6C6F-15E24CAD5E78}"/>
                  </a:ext>
                </a:extLst>
              </p:cNvPr>
              <p:cNvSpPr txBox="1">
                <a:spLocks noRot="1" noChangeAspect="1" noMove="1" noResize="1" noEditPoints="1" noAdjustHandles="1" noChangeArrowheads="1" noChangeShapeType="1" noTextEdit="1"/>
              </p:cNvSpPr>
              <p:nvPr/>
            </p:nvSpPr>
            <p:spPr>
              <a:xfrm>
                <a:off x="2036617" y="2590800"/>
                <a:ext cx="2946863" cy="369332"/>
              </a:xfrm>
              <a:prstGeom prst="rect">
                <a:avLst/>
              </a:prstGeom>
              <a:blipFill>
                <a:blip r:embed="rId3"/>
                <a:stretch>
                  <a:fillRect l="-1653" t="-8197" b="-24590"/>
                </a:stretch>
              </a:blipFill>
            </p:spPr>
            <p:txBody>
              <a:bodyPr/>
              <a:lstStyle/>
              <a:p>
                <a:r>
                  <a:rPr lang="es-ES">
                    <a:noFill/>
                  </a:rPr>
                  <a:t> </a:t>
                </a:r>
              </a:p>
            </p:txBody>
          </p:sp>
        </mc:Fallback>
      </mc:AlternateContent>
      <p:cxnSp>
        <p:nvCxnSpPr>
          <p:cNvPr id="11" name="Conector recto de flecha 10">
            <a:extLst>
              <a:ext uri="{FF2B5EF4-FFF2-40B4-BE49-F238E27FC236}">
                <a16:creationId xmlns:a16="http://schemas.microsoft.com/office/drawing/2014/main" id="{3CB20789-DC44-4DE3-424E-501DA9100A1B}"/>
              </a:ext>
            </a:extLst>
          </p:cNvPr>
          <p:cNvCxnSpPr/>
          <p:nvPr/>
        </p:nvCxnSpPr>
        <p:spPr>
          <a:xfrm>
            <a:off x="2341418" y="2960132"/>
            <a:ext cx="1607127" cy="4688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CuadroTexto 11">
            <a:extLst>
              <a:ext uri="{FF2B5EF4-FFF2-40B4-BE49-F238E27FC236}">
                <a16:creationId xmlns:a16="http://schemas.microsoft.com/office/drawing/2014/main" id="{F72C56A4-DAAF-F731-72BC-4BC781A2CFFF}"/>
              </a:ext>
            </a:extLst>
          </p:cNvPr>
          <p:cNvSpPr txBox="1"/>
          <p:nvPr/>
        </p:nvSpPr>
        <p:spPr>
          <a:xfrm>
            <a:off x="6080599" y="3458866"/>
            <a:ext cx="1122219" cy="369332"/>
          </a:xfrm>
          <a:prstGeom prst="rect">
            <a:avLst/>
          </a:prstGeom>
          <a:noFill/>
        </p:spPr>
        <p:txBody>
          <a:bodyPr wrap="square" rtlCol="0">
            <a:spAutoFit/>
          </a:bodyPr>
          <a:lstStyle/>
          <a:p>
            <a:r>
              <a:rPr lang="es-AR" dirty="0"/>
              <a:t>RP de H</a:t>
            </a:r>
            <a:endParaRPr lang="es-ES" dirty="0"/>
          </a:p>
        </p:txBody>
      </p:sp>
      <p:sp>
        <p:nvSpPr>
          <p:cNvPr id="13" name="CuadroTexto 12">
            <a:extLst>
              <a:ext uri="{FF2B5EF4-FFF2-40B4-BE49-F238E27FC236}">
                <a16:creationId xmlns:a16="http://schemas.microsoft.com/office/drawing/2014/main" id="{7689D22C-5A10-37A0-ECEC-CA4C15834F6C}"/>
              </a:ext>
            </a:extLst>
          </p:cNvPr>
          <p:cNvSpPr txBox="1"/>
          <p:nvPr/>
        </p:nvSpPr>
        <p:spPr>
          <a:xfrm>
            <a:off x="3811863" y="4052196"/>
            <a:ext cx="1122219" cy="646331"/>
          </a:xfrm>
          <a:prstGeom prst="rect">
            <a:avLst/>
          </a:prstGeom>
          <a:noFill/>
        </p:spPr>
        <p:txBody>
          <a:bodyPr wrap="square" rtlCol="0">
            <a:spAutoFit/>
          </a:bodyPr>
          <a:lstStyle/>
          <a:p>
            <a:r>
              <a:rPr lang="es-AR" dirty="0"/>
              <a:t>RP de A o del MKT</a:t>
            </a:r>
            <a:endParaRPr lang="es-ES" dirty="0"/>
          </a:p>
        </p:txBody>
      </p:sp>
      <p:sp>
        <p:nvSpPr>
          <p:cNvPr id="14" name="CuadroTexto 13">
            <a:extLst>
              <a:ext uri="{FF2B5EF4-FFF2-40B4-BE49-F238E27FC236}">
                <a16:creationId xmlns:a16="http://schemas.microsoft.com/office/drawing/2014/main" id="{B010BCCC-EC7D-FBF7-C91D-03F6EB4ABEF5}"/>
              </a:ext>
            </a:extLst>
          </p:cNvPr>
          <p:cNvSpPr txBox="1"/>
          <p:nvPr/>
        </p:nvSpPr>
        <p:spPr>
          <a:xfrm>
            <a:off x="2558933" y="4513861"/>
            <a:ext cx="917388" cy="369332"/>
          </a:xfrm>
          <a:prstGeom prst="rect">
            <a:avLst/>
          </a:prstGeom>
          <a:noFill/>
        </p:spPr>
        <p:txBody>
          <a:bodyPr wrap="square" rtlCol="0">
            <a:spAutoFit/>
          </a:bodyPr>
          <a:lstStyle/>
          <a:p>
            <a:r>
              <a:rPr lang="es-AR" dirty="0"/>
              <a:t>RP de L</a:t>
            </a:r>
            <a:endParaRPr lang="es-ES" dirty="0"/>
          </a:p>
        </p:txBody>
      </p:sp>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79D723DF-EBBD-427E-2A51-42A177CDD530}"/>
                  </a:ext>
                </a:extLst>
              </p:cNvPr>
              <p:cNvSpPr txBox="1"/>
              <p:nvPr/>
            </p:nvSpPr>
            <p:spPr>
              <a:xfrm>
                <a:off x="1481263" y="5358856"/>
                <a:ext cx="112221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ES" i="1" smtClean="0">
                              <a:latin typeface="Cambria Math" panose="02040503050406030204" pitchFamily="18" charset="0"/>
                            </a:rPr>
                          </m:ctrlPr>
                        </m:sSubPr>
                        <m:e>
                          <m:r>
                            <a:rPr lang="es-AR" b="0" i="1" smtClean="0">
                              <a:latin typeface="Cambria Math" panose="02040503050406030204" pitchFamily="18" charset="0"/>
                            </a:rPr>
                            <m:t>𝑟</m:t>
                          </m:r>
                        </m:e>
                        <m:sub>
                          <m:r>
                            <a:rPr lang="es-AR" b="0" i="1" smtClean="0">
                              <a:latin typeface="Cambria Math" panose="02040503050406030204" pitchFamily="18" charset="0"/>
                            </a:rPr>
                            <m:t>𝑅𝐹</m:t>
                          </m:r>
                        </m:sub>
                      </m:sSub>
                    </m:oMath>
                  </m:oMathPara>
                </a14:m>
                <a:endParaRPr lang="es-ES" dirty="0"/>
              </a:p>
            </p:txBody>
          </p:sp>
        </mc:Choice>
        <mc:Fallback xmlns="">
          <p:sp>
            <p:nvSpPr>
              <p:cNvPr id="15" name="CuadroTexto 14">
                <a:extLst>
                  <a:ext uri="{FF2B5EF4-FFF2-40B4-BE49-F238E27FC236}">
                    <a16:creationId xmlns:a16="http://schemas.microsoft.com/office/drawing/2014/main" id="{79D723DF-EBBD-427E-2A51-42A177CDD530}"/>
                  </a:ext>
                </a:extLst>
              </p:cNvPr>
              <p:cNvSpPr txBox="1">
                <a:spLocks noRot="1" noChangeAspect="1" noMove="1" noResize="1" noEditPoints="1" noAdjustHandles="1" noChangeArrowheads="1" noChangeShapeType="1" noTextEdit="1"/>
              </p:cNvSpPr>
              <p:nvPr/>
            </p:nvSpPr>
            <p:spPr>
              <a:xfrm>
                <a:off x="1481263" y="5358856"/>
                <a:ext cx="1122219" cy="369332"/>
              </a:xfrm>
              <a:prstGeom prst="rect">
                <a:avLst/>
              </a:prstGeom>
              <a:blipFill>
                <a:blip r:embed="rId4"/>
                <a:stretch>
                  <a:fillRect/>
                </a:stretch>
              </a:blipFill>
            </p:spPr>
            <p:txBody>
              <a:bodyPr/>
              <a:lstStyle/>
              <a:p>
                <a:r>
                  <a:rPr lang="es-ES">
                    <a:noFill/>
                  </a:rPr>
                  <a:t> </a:t>
                </a:r>
              </a:p>
            </p:txBody>
          </p:sp>
        </mc:Fallback>
      </mc:AlternateContent>
      <p:pic>
        <p:nvPicPr>
          <p:cNvPr id="16" name="Imagen 15">
            <a:extLst>
              <a:ext uri="{FF2B5EF4-FFF2-40B4-BE49-F238E27FC236}">
                <a16:creationId xmlns:a16="http://schemas.microsoft.com/office/drawing/2014/main" id="{04780DAD-4FA2-38DD-D9F7-98374265D798}"/>
              </a:ext>
            </a:extLst>
          </p:cNvPr>
          <p:cNvPicPr>
            <a:picLocks noChangeAspect="1"/>
          </p:cNvPicPr>
          <p:nvPr/>
        </p:nvPicPr>
        <p:blipFill>
          <a:blip r:embed="rId5"/>
          <a:stretch>
            <a:fillRect/>
          </a:stretch>
        </p:blipFill>
        <p:spPr>
          <a:xfrm>
            <a:off x="8495161" y="4576787"/>
            <a:ext cx="1895475" cy="1362075"/>
          </a:xfrm>
          <a:prstGeom prst="rect">
            <a:avLst/>
          </a:prstGeom>
        </p:spPr>
      </p:pic>
      <p:sp>
        <p:nvSpPr>
          <p:cNvPr id="17" name="CuadroTexto 16">
            <a:extLst>
              <a:ext uri="{FF2B5EF4-FFF2-40B4-BE49-F238E27FC236}">
                <a16:creationId xmlns:a16="http://schemas.microsoft.com/office/drawing/2014/main" id="{A966566D-969F-BF28-9E4C-74BC2A704698}"/>
              </a:ext>
            </a:extLst>
          </p:cNvPr>
          <p:cNvSpPr txBox="1"/>
          <p:nvPr/>
        </p:nvSpPr>
        <p:spPr>
          <a:xfrm>
            <a:off x="7758545" y="1690688"/>
            <a:ext cx="4017819" cy="2462213"/>
          </a:xfrm>
          <a:prstGeom prst="rect">
            <a:avLst/>
          </a:prstGeom>
          <a:noFill/>
        </p:spPr>
        <p:txBody>
          <a:bodyPr wrap="square" rtlCol="0">
            <a:spAutoFit/>
          </a:bodyPr>
          <a:lstStyle/>
          <a:p>
            <a:r>
              <a:rPr lang="es-AR" sz="2200" dirty="0"/>
              <a:t>La pendiente de la Security </a:t>
            </a:r>
            <a:r>
              <a:rPr lang="es-AR" sz="2200" dirty="0" err="1"/>
              <a:t>Market</a:t>
            </a:r>
            <a:r>
              <a:rPr lang="es-AR" sz="2200" dirty="0"/>
              <a:t> Line (SML) refleja el grado de aversión al Riesgo en la economía, cuanto más pronunciada su pendiente, mayor es la prima de Riesgo requerida para todas las Acciones</a:t>
            </a:r>
            <a:endParaRPr lang="es-ES" sz="2200" dirty="0"/>
          </a:p>
        </p:txBody>
      </p:sp>
    </p:spTree>
    <p:extLst>
      <p:ext uri="{BB962C8B-B14F-4D97-AF65-F5344CB8AC3E}">
        <p14:creationId xmlns:p14="http://schemas.microsoft.com/office/powerpoint/2010/main" val="3531281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C375AB-917C-B810-964F-BFD48CB7FE16}"/>
              </a:ext>
            </a:extLst>
          </p:cNvPr>
          <p:cNvSpPr>
            <a:spLocks noGrp="1"/>
          </p:cNvSpPr>
          <p:nvPr>
            <p:ph type="title"/>
          </p:nvPr>
        </p:nvSpPr>
        <p:spPr/>
        <p:txBody>
          <a:bodyPr/>
          <a:lstStyle/>
          <a:p>
            <a:r>
              <a:rPr lang="es-AR" sz="4400" dirty="0"/>
              <a:t>Riesgo y tasas de Rendimiento</a:t>
            </a:r>
            <a:endParaRPr lang="es-AR" dirty="0"/>
          </a:p>
        </p:txBody>
      </p:sp>
      <p:sp>
        <p:nvSpPr>
          <p:cNvPr id="3" name="Marcador de contenido 2">
            <a:extLst>
              <a:ext uri="{FF2B5EF4-FFF2-40B4-BE49-F238E27FC236}">
                <a16:creationId xmlns:a16="http://schemas.microsoft.com/office/drawing/2014/main" id="{EC93BF8D-4EFA-3C0F-D0B5-B21E4702A567}"/>
              </a:ext>
            </a:extLst>
          </p:cNvPr>
          <p:cNvSpPr>
            <a:spLocks noGrp="1"/>
          </p:cNvSpPr>
          <p:nvPr>
            <p:ph idx="1"/>
          </p:nvPr>
        </p:nvSpPr>
        <p:spPr/>
        <p:txBody>
          <a:bodyPr>
            <a:normAutofit fontScale="92500" lnSpcReduction="20000"/>
          </a:bodyPr>
          <a:lstStyle/>
          <a:p>
            <a:r>
              <a:rPr lang="es-AR" dirty="0"/>
              <a:t>Podemos decir que la SML es la línea que separa los buenos y malos desempeños. </a:t>
            </a:r>
          </a:p>
          <a:p>
            <a:r>
              <a:rPr lang="es-AR" dirty="0"/>
              <a:t>Estarán por encima de la SML cuando hayan sido superiores al Rendimiento requerido/exigido para su nivel de Riesgo dado por su beta, e inferiores cuando estén por debajo</a:t>
            </a:r>
          </a:p>
          <a:p>
            <a:r>
              <a:rPr lang="es-AR" dirty="0"/>
              <a:t>Es lo que se llama generar alfas positivas (y negativas), concepto que se usa en forma general y no sólo en CAPM. Toda vez que una inversión se comporta mejor que su punto de referencia</a:t>
            </a:r>
          </a:p>
          <a:p>
            <a:r>
              <a:rPr lang="es-AR" dirty="0"/>
              <a:t>Tanto la SML, como la posición de una compañía sobre ella cambian con el tiempo junto a</a:t>
            </a:r>
          </a:p>
          <a:p>
            <a:pPr lvl="1"/>
            <a:r>
              <a:rPr lang="es-AR" dirty="0"/>
              <a:t>Cambios en las tasas de interés (desplaza la recta hacia arriba o hacia abajo)</a:t>
            </a:r>
          </a:p>
          <a:p>
            <a:pPr lvl="1"/>
            <a:r>
              <a:rPr lang="es-AR" dirty="0"/>
              <a:t>Cambios en la aversión al Riesgo (cambia la pendiente)</a:t>
            </a:r>
          </a:p>
          <a:p>
            <a:pPr lvl="1"/>
            <a:r>
              <a:rPr lang="es-AR" dirty="0"/>
              <a:t>Cambios en las betas de cada compañía</a:t>
            </a:r>
          </a:p>
        </p:txBody>
      </p:sp>
    </p:spTree>
    <p:extLst>
      <p:ext uri="{BB962C8B-B14F-4D97-AF65-F5344CB8AC3E}">
        <p14:creationId xmlns:p14="http://schemas.microsoft.com/office/powerpoint/2010/main" val="280201231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C375AB-917C-B810-964F-BFD48CB7FE16}"/>
              </a:ext>
            </a:extLst>
          </p:cNvPr>
          <p:cNvSpPr>
            <a:spLocks noGrp="1"/>
          </p:cNvSpPr>
          <p:nvPr>
            <p:ph type="title"/>
          </p:nvPr>
        </p:nvSpPr>
        <p:spPr/>
        <p:txBody>
          <a:bodyPr/>
          <a:lstStyle/>
          <a:p>
            <a:r>
              <a:rPr lang="es-AR" sz="4400" dirty="0"/>
              <a:t>Riesgo y tasas de Rendimiento</a:t>
            </a:r>
            <a:endParaRPr lang="es-AR"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EC93BF8D-4EFA-3C0F-D0B5-B21E4702A567}"/>
                  </a:ext>
                </a:extLst>
              </p:cNvPr>
              <p:cNvSpPr>
                <a:spLocks noGrp="1"/>
              </p:cNvSpPr>
              <p:nvPr>
                <p:ph idx="1"/>
              </p:nvPr>
            </p:nvSpPr>
            <p:spPr/>
            <p:txBody>
              <a:bodyPr>
                <a:normAutofit fontScale="85000" lnSpcReduction="20000"/>
              </a:bodyPr>
              <a:lstStyle/>
              <a:p>
                <a:pPr marL="0" indent="0">
                  <a:buNone/>
                </a:pPr>
                <a:r>
                  <a:rPr lang="es-AR" dirty="0"/>
                  <a:t>Impacto de la inflación esperada</a:t>
                </a:r>
              </a:p>
              <a:p>
                <a:r>
                  <a:rPr lang="es-AR" dirty="0"/>
                  <a:t>La tasa libre de Riesgo medida por la tasa de los valores del tesoro se llama tasa nominal o referida y se compone de</a:t>
                </a:r>
              </a:p>
              <a:p>
                <a:pPr marL="0" indent="0" algn="ctr">
                  <a:buNone/>
                </a:pPr>
                <a14:m>
                  <m:oMath xmlns:m="http://schemas.openxmlformats.org/officeDocument/2006/math">
                    <m:sSub>
                      <m:sSubPr>
                        <m:ctrlPr>
                          <a:rPr lang="es-AR" sz="2800" i="1" smtClean="0">
                            <a:latin typeface="Cambria Math" panose="02040503050406030204" pitchFamily="18" charset="0"/>
                          </a:rPr>
                        </m:ctrlPr>
                      </m:sSubPr>
                      <m:e>
                        <m:r>
                          <a:rPr lang="es-AR" sz="2800" b="0" i="1" smtClean="0">
                            <a:latin typeface="Cambria Math" panose="02040503050406030204" pitchFamily="18" charset="0"/>
                          </a:rPr>
                          <m:t>𝑟</m:t>
                        </m:r>
                      </m:e>
                      <m:sub>
                        <m:r>
                          <a:rPr lang="es-AR" sz="2800" b="0" i="1" smtClean="0">
                            <a:latin typeface="Cambria Math" panose="02040503050406030204" pitchFamily="18" charset="0"/>
                          </a:rPr>
                          <m:t>𝑅𝐹</m:t>
                        </m:r>
                      </m:sub>
                    </m:sSub>
                  </m:oMath>
                </a14:m>
                <a:r>
                  <a:rPr lang="es-AR" dirty="0"/>
                  <a:t>=</a:t>
                </a:r>
                <a14:m>
                  <m:oMath xmlns:m="http://schemas.openxmlformats.org/officeDocument/2006/math">
                    <m:sSup>
                      <m:sSupPr>
                        <m:ctrlPr>
                          <a:rPr lang="es-AR" i="1" dirty="0" smtClean="0">
                            <a:latin typeface="Cambria Math" panose="02040503050406030204" pitchFamily="18" charset="0"/>
                          </a:rPr>
                        </m:ctrlPr>
                      </m:sSupPr>
                      <m:e>
                        <m:r>
                          <a:rPr lang="es-AR" b="0" i="1" dirty="0" smtClean="0">
                            <a:latin typeface="Cambria Math" panose="02040503050406030204" pitchFamily="18" charset="0"/>
                          </a:rPr>
                          <m:t>𝑟</m:t>
                        </m:r>
                      </m:e>
                      <m:sup>
                        <m:r>
                          <a:rPr lang="es-AR" b="0" i="1" dirty="0" smtClean="0">
                            <a:latin typeface="Cambria Math" panose="02040503050406030204" pitchFamily="18" charset="0"/>
                          </a:rPr>
                          <m:t>∗</m:t>
                        </m:r>
                      </m:sup>
                    </m:sSup>
                  </m:oMath>
                </a14:m>
                <a:r>
                  <a:rPr lang="es-AR" dirty="0"/>
                  <a:t>+IP</a:t>
                </a:r>
              </a:p>
              <a:p>
                <a:r>
                  <a:rPr lang="es-AR" dirty="0"/>
                  <a:t>Ecuación de Fisher, modelo multiplicativo</a:t>
                </a:r>
              </a:p>
              <a:p>
                <a:r>
                  <a:rPr lang="es-AR" dirty="0"/>
                  <a:t>Pudiendo por ejemplo ser la tasa REAL (libre de inflación) del 1% y la prima por inflación (en base a la inflación esperada) del 2%   </a:t>
                </a:r>
                <a14:m>
                  <m:oMath xmlns:m="http://schemas.openxmlformats.org/officeDocument/2006/math">
                    <m:sSub>
                      <m:sSubPr>
                        <m:ctrlPr>
                          <a:rPr lang="es-AR" sz="2800" i="1" smtClean="0">
                            <a:latin typeface="Cambria Math" panose="02040503050406030204" pitchFamily="18" charset="0"/>
                          </a:rPr>
                        </m:ctrlPr>
                      </m:sSubPr>
                      <m:e>
                        <m:r>
                          <a:rPr lang="es-AR" sz="2800" b="0" i="1" smtClean="0">
                            <a:latin typeface="Cambria Math" panose="02040503050406030204" pitchFamily="18" charset="0"/>
                          </a:rPr>
                          <m:t>𝑟</m:t>
                        </m:r>
                      </m:e>
                      <m:sub>
                        <m:r>
                          <a:rPr lang="es-AR" sz="2800" b="0" i="1" smtClean="0">
                            <a:latin typeface="Cambria Math" panose="02040503050406030204" pitchFamily="18" charset="0"/>
                          </a:rPr>
                          <m:t>𝑅𝐹</m:t>
                        </m:r>
                      </m:sub>
                    </m:sSub>
                  </m:oMath>
                </a14:m>
                <a:r>
                  <a:rPr lang="es-AR" dirty="0"/>
                  <a:t>= 1%+2% = 3%</a:t>
                </a:r>
              </a:p>
              <a:p>
                <a:r>
                  <a:rPr lang="es-AR" dirty="0"/>
                  <a:t>Si la tasa de inflación esperada subiera al 4%, </a:t>
                </a:r>
                <a:r>
                  <a:rPr lang="es-AR" dirty="0" err="1"/>
                  <a:t>ceteris</a:t>
                </a:r>
                <a:r>
                  <a:rPr lang="es-AR" dirty="0"/>
                  <a:t> </a:t>
                </a:r>
                <a:r>
                  <a:rPr lang="es-AR" dirty="0" err="1"/>
                  <a:t>paribus</a:t>
                </a:r>
                <a:r>
                  <a:rPr lang="es-AR" dirty="0"/>
                  <a:t>, la tasa referida pasaría a ser </a:t>
                </a:r>
                <a14:m>
                  <m:oMath xmlns:m="http://schemas.openxmlformats.org/officeDocument/2006/math">
                    <m:sSub>
                      <m:sSubPr>
                        <m:ctrlPr>
                          <a:rPr lang="es-AR" sz="2800" i="1" smtClean="0">
                            <a:latin typeface="Cambria Math" panose="02040503050406030204" pitchFamily="18" charset="0"/>
                          </a:rPr>
                        </m:ctrlPr>
                      </m:sSubPr>
                      <m:e>
                        <m:r>
                          <a:rPr lang="es-AR" sz="2800" b="0" i="1" smtClean="0">
                            <a:latin typeface="Cambria Math" panose="02040503050406030204" pitchFamily="18" charset="0"/>
                          </a:rPr>
                          <m:t>𝑟</m:t>
                        </m:r>
                      </m:e>
                      <m:sub>
                        <m:r>
                          <a:rPr lang="es-AR" sz="2800" b="0" i="1" smtClean="0">
                            <a:latin typeface="Cambria Math" panose="02040503050406030204" pitchFamily="18" charset="0"/>
                          </a:rPr>
                          <m:t>𝑅𝐹</m:t>
                        </m:r>
                      </m:sub>
                    </m:sSub>
                  </m:oMath>
                </a14:m>
                <a:r>
                  <a:rPr lang="es-AR" dirty="0"/>
                  <a:t>=</a:t>
                </a:r>
                <a14:m>
                  <m:oMath xmlns:m="http://schemas.openxmlformats.org/officeDocument/2006/math">
                    <m:sSup>
                      <m:sSupPr>
                        <m:ctrlPr>
                          <a:rPr lang="es-AR" i="1" dirty="0" smtClean="0">
                            <a:latin typeface="Cambria Math" panose="02040503050406030204" pitchFamily="18" charset="0"/>
                          </a:rPr>
                        </m:ctrlPr>
                      </m:sSupPr>
                      <m:e>
                        <m:r>
                          <a:rPr lang="es-AR" b="0" i="1" dirty="0" smtClean="0">
                            <a:latin typeface="Cambria Math" panose="02040503050406030204" pitchFamily="18" charset="0"/>
                          </a:rPr>
                          <m:t>𝑟</m:t>
                        </m:r>
                      </m:e>
                      <m:sup>
                        <m:r>
                          <a:rPr lang="es-AR" b="0" i="1" dirty="0" smtClean="0">
                            <a:latin typeface="Cambria Math" panose="02040503050406030204" pitchFamily="18" charset="0"/>
                          </a:rPr>
                          <m:t>∗</m:t>
                        </m:r>
                      </m:sup>
                    </m:sSup>
                  </m:oMath>
                </a14:m>
                <a:r>
                  <a:rPr lang="es-AR" dirty="0"/>
                  <a:t>+IP= 1%+4% = 5%</a:t>
                </a:r>
              </a:p>
              <a:p>
                <a:r>
                  <a:rPr lang="es-AR" dirty="0"/>
                  <a:t>También aumentarán en igual medida (2%) los Rendimientos requeridos para los demás tipos de Activos de Riesgo</a:t>
                </a:r>
              </a:p>
              <a:p>
                <a:r>
                  <a:rPr lang="es-AR" dirty="0"/>
                  <a:t>Correlación entre tasa de inflación e interés real. Más que, menos que, igual</a:t>
                </a:r>
              </a:p>
              <a:p>
                <a:endParaRPr lang="es-AR" dirty="0"/>
              </a:p>
              <a:p>
                <a:pPr marL="0" indent="0" algn="ctr">
                  <a:buNone/>
                </a:pPr>
                <a:endParaRPr lang="es-AR" dirty="0"/>
              </a:p>
            </p:txBody>
          </p:sp>
        </mc:Choice>
        <mc:Fallback xmlns="">
          <p:sp>
            <p:nvSpPr>
              <p:cNvPr id="3" name="Marcador de contenido 2">
                <a:extLst>
                  <a:ext uri="{FF2B5EF4-FFF2-40B4-BE49-F238E27FC236}">
                    <a16:creationId xmlns:a16="http://schemas.microsoft.com/office/drawing/2014/main" id="{EC93BF8D-4EFA-3C0F-D0B5-B21E4702A567}"/>
                  </a:ext>
                </a:extLst>
              </p:cNvPr>
              <p:cNvSpPr>
                <a:spLocks noGrp="1" noRot="1" noChangeAspect="1" noMove="1" noResize="1" noEditPoints="1" noAdjustHandles="1" noChangeArrowheads="1" noChangeShapeType="1" noTextEdit="1"/>
              </p:cNvSpPr>
              <p:nvPr>
                <p:ph idx="1"/>
              </p:nvPr>
            </p:nvSpPr>
            <p:spPr>
              <a:blipFill>
                <a:blip r:embed="rId2"/>
                <a:stretch>
                  <a:fillRect l="-928" t="-3221"/>
                </a:stretch>
              </a:blipFill>
            </p:spPr>
            <p:txBody>
              <a:bodyPr/>
              <a:lstStyle/>
              <a:p>
                <a:r>
                  <a:rPr lang="es-ES">
                    <a:noFill/>
                  </a:rPr>
                  <a:t> </a:t>
                </a:r>
              </a:p>
            </p:txBody>
          </p:sp>
        </mc:Fallback>
      </mc:AlternateContent>
    </p:spTree>
    <p:extLst>
      <p:ext uri="{BB962C8B-B14F-4D97-AF65-F5344CB8AC3E}">
        <p14:creationId xmlns:p14="http://schemas.microsoft.com/office/powerpoint/2010/main" val="140465654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C375AB-917C-B810-964F-BFD48CB7FE16}"/>
              </a:ext>
            </a:extLst>
          </p:cNvPr>
          <p:cNvSpPr>
            <a:spLocks noGrp="1"/>
          </p:cNvSpPr>
          <p:nvPr>
            <p:ph type="title"/>
          </p:nvPr>
        </p:nvSpPr>
        <p:spPr/>
        <p:txBody>
          <a:bodyPr/>
          <a:lstStyle/>
          <a:p>
            <a:r>
              <a:rPr lang="es-AR" dirty="0"/>
              <a:t>Riesgo y tasas de Rendimiento</a:t>
            </a:r>
          </a:p>
        </p:txBody>
      </p:sp>
      <p:sp>
        <p:nvSpPr>
          <p:cNvPr id="3" name="Marcador de contenido 2">
            <a:extLst>
              <a:ext uri="{FF2B5EF4-FFF2-40B4-BE49-F238E27FC236}">
                <a16:creationId xmlns:a16="http://schemas.microsoft.com/office/drawing/2014/main" id="{EC93BF8D-4EFA-3C0F-D0B5-B21E4702A567}"/>
              </a:ext>
            </a:extLst>
          </p:cNvPr>
          <p:cNvSpPr>
            <a:spLocks noGrp="1"/>
          </p:cNvSpPr>
          <p:nvPr>
            <p:ph idx="1"/>
          </p:nvPr>
        </p:nvSpPr>
        <p:spPr>
          <a:xfrm>
            <a:off x="207656" y="1412658"/>
            <a:ext cx="2143293" cy="4230853"/>
          </a:xfrm>
        </p:spPr>
        <p:txBody>
          <a:bodyPr>
            <a:normAutofit fontScale="85000" lnSpcReduction="20000"/>
          </a:bodyPr>
          <a:lstStyle/>
          <a:p>
            <a:r>
              <a:rPr lang="es-AR" dirty="0"/>
              <a:t>Cambios en la aversión al Riesgo, modifica la RP del Mercado</a:t>
            </a:r>
          </a:p>
          <a:p>
            <a:endParaRPr lang="es-AR" dirty="0"/>
          </a:p>
          <a:p>
            <a:r>
              <a:rPr lang="es-AR" dirty="0"/>
              <a:t>Veamos algunos ejemplos numéricos de cómo afecta a Acciones con distintos beta</a:t>
            </a:r>
          </a:p>
        </p:txBody>
      </p:sp>
      <p:graphicFrame>
        <p:nvGraphicFramePr>
          <p:cNvPr id="4" name="Gráfico 3">
            <a:extLst>
              <a:ext uri="{FF2B5EF4-FFF2-40B4-BE49-F238E27FC236}">
                <a16:creationId xmlns:a16="http://schemas.microsoft.com/office/drawing/2014/main" id="{4A7A654B-BFE2-A9FB-BE73-C03920372252}"/>
              </a:ext>
            </a:extLst>
          </p:cNvPr>
          <p:cNvGraphicFramePr>
            <a:graphicFrameLocks/>
          </p:cNvGraphicFramePr>
          <p:nvPr>
            <p:extLst>
              <p:ext uri="{D42A27DB-BD31-4B8C-83A1-F6EECF244321}">
                <p14:modId xmlns:p14="http://schemas.microsoft.com/office/powerpoint/2010/main" val="454679034"/>
              </p:ext>
            </p:extLst>
          </p:nvPr>
        </p:nvGraphicFramePr>
        <p:xfrm>
          <a:off x="2939760" y="1214489"/>
          <a:ext cx="7825229" cy="5555480"/>
        </p:xfrm>
        <a:graphic>
          <a:graphicData uri="http://schemas.openxmlformats.org/drawingml/2006/chart">
            <c:chart xmlns:c="http://schemas.openxmlformats.org/drawingml/2006/chart" xmlns:r="http://schemas.openxmlformats.org/officeDocument/2006/relationships" r:id="rId2"/>
          </a:graphicData>
        </a:graphic>
      </p:graphicFrame>
      <mc:AlternateContent xmlns:mc="http://schemas.openxmlformats.org/markup-compatibility/2006" xmlns:a14="http://schemas.microsoft.com/office/drawing/2010/main">
        <mc:Choice Requires="a14">
          <p:sp>
            <p:nvSpPr>
              <p:cNvPr id="5" name="Cerrar llave 4">
                <a:extLst>
                  <a:ext uri="{FF2B5EF4-FFF2-40B4-BE49-F238E27FC236}">
                    <a16:creationId xmlns:a16="http://schemas.microsoft.com/office/drawing/2014/main" id="{5E062785-0069-4AA8-41FA-12FEE4FB6AF5}"/>
                  </a:ext>
                </a:extLst>
              </p:cNvPr>
              <p:cNvSpPr/>
              <p:nvPr/>
            </p:nvSpPr>
            <p:spPr>
              <a:xfrm>
                <a:off x="6345382" y="4364181"/>
                <a:ext cx="69273" cy="123305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mc:Choice>
        <mc:Fallback xmlns="">
          <p:sp>
            <p:nvSpPr>
              <p:cNvPr id="5" name="Cerrar llave 4">
                <a:extLst>
                  <a:ext uri="{FF2B5EF4-FFF2-40B4-BE49-F238E27FC236}">
                    <a16:creationId xmlns:a16="http://schemas.microsoft.com/office/drawing/2014/main" id="{5E062785-0069-4AA8-41FA-12FEE4FB6AF5}"/>
                  </a:ext>
                </a:extLst>
              </p:cNvPr>
              <p:cNvSpPr>
                <a:spLocks noRot="1" noChangeAspect="1" noMove="1" noResize="1" noEditPoints="1" noAdjustHandles="1" noChangeArrowheads="1" noChangeShapeType="1" noTextEdit="1"/>
              </p:cNvSpPr>
              <p:nvPr/>
            </p:nvSpPr>
            <p:spPr>
              <a:xfrm>
                <a:off x="6345382" y="4364181"/>
                <a:ext cx="69273" cy="1233055"/>
              </a:xfrm>
              <a:prstGeom prst="rightBrace">
                <a:avLst/>
              </a:prstGeom>
              <a:blipFill>
                <a:blip r:embed="rId3"/>
                <a:stretch>
                  <a:fillRect/>
                </a:stretch>
              </a:blipFill>
            </p:spPr>
            <p:txBody>
              <a:bodyPr/>
              <a:lstStyle/>
              <a:p>
                <a:r>
                  <a:rPr lang="es-ES">
                    <a:noFill/>
                  </a:rPr>
                  <a:t> </a:t>
                </a:r>
              </a:p>
            </p:txBody>
          </p:sp>
        </mc:Fallback>
      </mc:AlternateContent>
      <p:sp>
        <p:nvSpPr>
          <p:cNvPr id="8" name="Cerrar llave 7">
            <a:extLst>
              <a:ext uri="{FF2B5EF4-FFF2-40B4-BE49-F238E27FC236}">
                <a16:creationId xmlns:a16="http://schemas.microsoft.com/office/drawing/2014/main" id="{389030A0-12B6-620F-FEC4-CDEEA30FC096}"/>
              </a:ext>
            </a:extLst>
          </p:cNvPr>
          <p:cNvSpPr/>
          <p:nvPr/>
        </p:nvSpPr>
        <p:spPr>
          <a:xfrm>
            <a:off x="6659872" y="3588327"/>
            <a:ext cx="170413" cy="2055184"/>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Tree>
    <p:extLst>
      <p:ext uri="{BB962C8B-B14F-4D97-AF65-F5344CB8AC3E}">
        <p14:creationId xmlns:p14="http://schemas.microsoft.com/office/powerpoint/2010/main" val="118506127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C375AB-917C-B810-964F-BFD48CB7FE16}"/>
              </a:ext>
            </a:extLst>
          </p:cNvPr>
          <p:cNvSpPr>
            <a:spLocks noGrp="1"/>
          </p:cNvSpPr>
          <p:nvPr>
            <p:ph type="title"/>
          </p:nvPr>
        </p:nvSpPr>
        <p:spPr/>
        <p:txBody>
          <a:bodyPr/>
          <a:lstStyle/>
          <a:p>
            <a:r>
              <a:rPr lang="es-AR" sz="4400" dirty="0"/>
              <a:t>Riesgo y tasas de Rendimiento</a:t>
            </a:r>
            <a:endParaRPr lang="es-AR" dirty="0"/>
          </a:p>
        </p:txBody>
      </p:sp>
      <p:sp>
        <p:nvSpPr>
          <p:cNvPr id="3" name="Marcador de contenido 2">
            <a:extLst>
              <a:ext uri="{FF2B5EF4-FFF2-40B4-BE49-F238E27FC236}">
                <a16:creationId xmlns:a16="http://schemas.microsoft.com/office/drawing/2014/main" id="{EC93BF8D-4EFA-3C0F-D0B5-B21E4702A567}"/>
              </a:ext>
            </a:extLst>
          </p:cNvPr>
          <p:cNvSpPr>
            <a:spLocks noGrp="1"/>
          </p:cNvSpPr>
          <p:nvPr>
            <p:ph idx="1"/>
          </p:nvPr>
        </p:nvSpPr>
        <p:spPr/>
        <p:txBody>
          <a:bodyPr>
            <a:normAutofit lnSpcReduction="10000"/>
          </a:bodyPr>
          <a:lstStyle/>
          <a:p>
            <a:r>
              <a:rPr lang="es-AR" dirty="0"/>
              <a:t>Cambios en el Coeficiente Beta de una Acción</a:t>
            </a:r>
          </a:p>
          <a:p>
            <a:r>
              <a:rPr lang="es-AR" dirty="0"/>
              <a:t>¿Qué determinaría cambios en la beta de una compañía, cuáles pueden ser manejados por la compañía?</a:t>
            </a:r>
          </a:p>
          <a:p>
            <a:pPr lvl="1"/>
            <a:r>
              <a:rPr lang="es-AR" dirty="0"/>
              <a:t>Cambios en la composición de sus Activos</a:t>
            </a:r>
          </a:p>
          <a:p>
            <a:pPr lvl="1"/>
            <a:r>
              <a:rPr lang="es-AR" dirty="0"/>
              <a:t>Cambios en el monto de deuda que utiliza</a:t>
            </a:r>
          </a:p>
          <a:p>
            <a:pPr lvl="1"/>
            <a:r>
              <a:rPr lang="es-AR" dirty="0"/>
              <a:t>Mayor Competencia</a:t>
            </a:r>
          </a:p>
          <a:p>
            <a:pPr lvl="1"/>
            <a:r>
              <a:rPr lang="es-AR" dirty="0"/>
              <a:t>Expiración de Patentes básicas</a:t>
            </a:r>
          </a:p>
          <a:p>
            <a:r>
              <a:rPr lang="es-AR" dirty="0"/>
              <a:t>¿Qué consecuencias trae aparejado?</a:t>
            </a:r>
          </a:p>
          <a:p>
            <a:pPr lvl="1"/>
            <a:r>
              <a:rPr lang="es-AR" dirty="0"/>
              <a:t>Cambios en la tasa requerida de Rendimiento</a:t>
            </a:r>
          </a:p>
          <a:p>
            <a:pPr lvl="1"/>
            <a:r>
              <a:rPr lang="es-AR" dirty="0"/>
              <a:t>Cambio en el precio de sus Acciones</a:t>
            </a:r>
          </a:p>
          <a:p>
            <a:pPr lvl="1"/>
            <a:r>
              <a:rPr lang="es-AR" dirty="0"/>
              <a:t>¿Cuál es la relación esperada beta – precio de la Acción, por qué?</a:t>
            </a:r>
          </a:p>
        </p:txBody>
      </p:sp>
    </p:spTree>
    <p:extLst>
      <p:ext uri="{BB962C8B-B14F-4D97-AF65-F5344CB8AC3E}">
        <p14:creationId xmlns:p14="http://schemas.microsoft.com/office/powerpoint/2010/main" val="36433955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C375AB-917C-B810-964F-BFD48CB7FE16}"/>
              </a:ext>
            </a:extLst>
          </p:cNvPr>
          <p:cNvSpPr>
            <a:spLocks noGrp="1"/>
          </p:cNvSpPr>
          <p:nvPr>
            <p:ph type="title"/>
          </p:nvPr>
        </p:nvSpPr>
        <p:spPr/>
        <p:txBody>
          <a:bodyPr/>
          <a:lstStyle/>
          <a:p>
            <a:r>
              <a:rPr lang="es-AR" sz="4400" dirty="0"/>
              <a:t>Riesgo y tasas de Rendimiento</a:t>
            </a:r>
            <a:endParaRPr lang="es-AR" dirty="0"/>
          </a:p>
        </p:txBody>
      </p:sp>
      <p:sp>
        <p:nvSpPr>
          <p:cNvPr id="3" name="Marcador de contenido 2">
            <a:extLst>
              <a:ext uri="{FF2B5EF4-FFF2-40B4-BE49-F238E27FC236}">
                <a16:creationId xmlns:a16="http://schemas.microsoft.com/office/drawing/2014/main" id="{EC93BF8D-4EFA-3C0F-D0B5-B21E4702A567}"/>
              </a:ext>
            </a:extLst>
          </p:cNvPr>
          <p:cNvSpPr>
            <a:spLocks noGrp="1"/>
          </p:cNvSpPr>
          <p:nvPr>
            <p:ph idx="1"/>
          </p:nvPr>
        </p:nvSpPr>
        <p:spPr/>
        <p:txBody>
          <a:bodyPr>
            <a:normAutofit fontScale="77500" lnSpcReduction="20000"/>
          </a:bodyPr>
          <a:lstStyle/>
          <a:p>
            <a:pPr marL="0" indent="0">
              <a:buNone/>
            </a:pPr>
            <a:r>
              <a:rPr lang="es-AR" dirty="0"/>
              <a:t>Algunas consideraciones sobre beta y el CAPM</a:t>
            </a:r>
          </a:p>
          <a:p>
            <a:r>
              <a:rPr lang="es-AR" dirty="0"/>
              <a:t>El CAPM no es sólo teoría, sino que es utilizado ampliamente por analistas, Inversionistas y Corporaciones</a:t>
            </a:r>
          </a:p>
          <a:p>
            <a:r>
              <a:rPr lang="es-AR" dirty="0"/>
              <a:t>Sin embargo, estudios recientes muestran que no hay relación histórica entre Rendimientos de las Acciones y sus betas de Mercado, confirmando lo que venían sosteniendo profesores y analistas del Mercado accionario</a:t>
            </a:r>
          </a:p>
          <a:p>
            <a:pPr lvl="1"/>
            <a:r>
              <a:rPr lang="es-AR" dirty="0"/>
              <a:t>El Rendimiento está relacionado con el tamaño de la empresa, pequeñas -</a:t>
            </a:r>
            <a:r>
              <a:rPr lang="en-CA" dirty="0"/>
              <a:t>&gt; </a:t>
            </a:r>
            <a:r>
              <a:rPr lang="es-AR" dirty="0"/>
              <a:t>mayores</a:t>
            </a:r>
            <a:r>
              <a:rPr lang="en-CA" dirty="0"/>
              <a:t> </a:t>
            </a:r>
            <a:r>
              <a:rPr lang="es-AR" dirty="0"/>
              <a:t>Rendimientos</a:t>
            </a:r>
            <a:r>
              <a:rPr lang="en-CA" dirty="0"/>
              <a:t> </a:t>
            </a:r>
            <a:endParaRPr lang="es-AR" dirty="0"/>
          </a:p>
          <a:p>
            <a:pPr lvl="1"/>
            <a:r>
              <a:rPr lang="es-AR" dirty="0"/>
              <a:t>El Rendimiento está relacionado con las razones valor de Mercado/valor contable -&gt; bajas razones, altos Rendimientos</a:t>
            </a:r>
          </a:p>
          <a:p>
            <a:r>
              <a:rPr lang="es-AR" dirty="0"/>
              <a:t>Modelos alternativos con variables múltiples representan una atractiva generalización de la idea del modelo CAPM, tienen sus deficiencias cuando se los lleva a la práctica</a:t>
            </a:r>
          </a:p>
          <a:p>
            <a:r>
              <a:rPr lang="es-AR" dirty="0"/>
              <a:t>El CAPM básico sigue siendo el método de uso más extendido para estimar tasas requeridas de Rendimiento de las Acciones</a:t>
            </a:r>
          </a:p>
        </p:txBody>
      </p:sp>
    </p:spTree>
    <p:extLst>
      <p:ext uri="{BB962C8B-B14F-4D97-AF65-F5344CB8AC3E}">
        <p14:creationId xmlns:p14="http://schemas.microsoft.com/office/powerpoint/2010/main" val="112221871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C375AB-917C-B810-964F-BFD48CB7FE16}"/>
              </a:ext>
            </a:extLst>
          </p:cNvPr>
          <p:cNvSpPr>
            <a:spLocks noGrp="1"/>
          </p:cNvSpPr>
          <p:nvPr>
            <p:ph type="title"/>
          </p:nvPr>
        </p:nvSpPr>
        <p:spPr/>
        <p:txBody>
          <a:bodyPr/>
          <a:lstStyle/>
          <a:p>
            <a:r>
              <a:rPr lang="es-AR" sz="4400" dirty="0"/>
              <a:t>Riesgo y tasas de Rendimiento</a:t>
            </a:r>
            <a:endParaRPr lang="es-AR" dirty="0"/>
          </a:p>
        </p:txBody>
      </p:sp>
      <p:sp>
        <p:nvSpPr>
          <p:cNvPr id="3" name="Marcador de contenido 2">
            <a:extLst>
              <a:ext uri="{FF2B5EF4-FFF2-40B4-BE49-F238E27FC236}">
                <a16:creationId xmlns:a16="http://schemas.microsoft.com/office/drawing/2014/main" id="{EC93BF8D-4EFA-3C0F-D0B5-B21E4702A567}"/>
              </a:ext>
            </a:extLst>
          </p:cNvPr>
          <p:cNvSpPr>
            <a:spLocks noGrp="1"/>
          </p:cNvSpPr>
          <p:nvPr>
            <p:ph idx="1"/>
          </p:nvPr>
        </p:nvSpPr>
        <p:spPr/>
        <p:txBody>
          <a:bodyPr>
            <a:normAutofit fontScale="85000" lnSpcReduction="20000"/>
          </a:bodyPr>
          <a:lstStyle/>
          <a:p>
            <a:r>
              <a:rPr lang="es-AR" dirty="0"/>
              <a:t>Reflexiones finales: implicaciones para Gerentes Corporativos e Inversionistas</a:t>
            </a:r>
          </a:p>
          <a:p>
            <a:r>
              <a:rPr lang="es-AR" dirty="0"/>
              <a:t>¿Por qué es tan importante para los Gerentes la relación Riesgo/Rendimiento de las Acciones y no se concentran en analizar tal relación en los proyectos particulares, por qué no centrarse en el Riesgo de plantas y equipos?</a:t>
            </a:r>
          </a:p>
          <a:p>
            <a:r>
              <a:rPr lang="es-AR" dirty="0"/>
              <a:t>Como su objetivo principal es maximizar el patrimonio de sus accionistas, les preocupa el Riesgo de las Acciones y todo Riesgo relevante de los Activos físicos lo miden en función del Riesgo que le aportan a las Acciones</a:t>
            </a:r>
          </a:p>
          <a:p>
            <a:r>
              <a:rPr lang="es-AR" dirty="0"/>
              <a:t>Supongamos una potencial inversión de alto Riesgo, con muy bajo Rendimiento en momentos de auge económico, pero muy rentable en épocas de crisis. Analizada individualmente, podría no ser una buena inversión, pero en el contexto de la empresa en su conjunto, y el Riesgo inherente de sus Acciones, podría aportar valor. Como los accionistas de esa empresa en su mayoría son Inversionistas diversificados, el alto Riesgo (visto individualmente) del proyecto no es una gran Riesgo en su Cartera global. ¿Será esa la mirada de la Gerencia? </a:t>
            </a:r>
          </a:p>
        </p:txBody>
      </p:sp>
    </p:spTree>
    <p:extLst>
      <p:ext uri="{BB962C8B-B14F-4D97-AF65-F5344CB8AC3E}">
        <p14:creationId xmlns:p14="http://schemas.microsoft.com/office/powerpoint/2010/main" val="81262655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C375AB-917C-B810-964F-BFD48CB7FE16}"/>
              </a:ext>
            </a:extLst>
          </p:cNvPr>
          <p:cNvSpPr>
            <a:spLocks noGrp="1"/>
          </p:cNvSpPr>
          <p:nvPr>
            <p:ph type="title"/>
          </p:nvPr>
        </p:nvSpPr>
        <p:spPr/>
        <p:txBody>
          <a:bodyPr/>
          <a:lstStyle/>
          <a:p>
            <a:r>
              <a:rPr lang="es-AR" sz="4400" dirty="0"/>
              <a:t>Riesgo y tasas de Rendimiento</a:t>
            </a:r>
            <a:endParaRPr lang="es-AR" dirty="0"/>
          </a:p>
        </p:txBody>
      </p:sp>
      <p:sp>
        <p:nvSpPr>
          <p:cNvPr id="3" name="Marcador de contenido 2">
            <a:extLst>
              <a:ext uri="{FF2B5EF4-FFF2-40B4-BE49-F238E27FC236}">
                <a16:creationId xmlns:a16="http://schemas.microsoft.com/office/drawing/2014/main" id="{EC93BF8D-4EFA-3C0F-D0B5-B21E4702A567}"/>
              </a:ext>
            </a:extLst>
          </p:cNvPr>
          <p:cNvSpPr>
            <a:spLocks noGrp="1"/>
          </p:cNvSpPr>
          <p:nvPr>
            <p:ph idx="1"/>
          </p:nvPr>
        </p:nvSpPr>
        <p:spPr/>
        <p:txBody>
          <a:bodyPr>
            <a:normAutofit fontScale="85000" lnSpcReduction="20000"/>
          </a:bodyPr>
          <a:lstStyle/>
          <a:p>
            <a:pPr marL="0" indent="0">
              <a:buNone/>
            </a:pPr>
            <a:r>
              <a:rPr lang="es-AR" dirty="0"/>
              <a:t>Reflexiones finales: implicaciones para Gerentes Corporativos e Inversionistas</a:t>
            </a:r>
          </a:p>
          <a:p>
            <a:r>
              <a:rPr lang="es-AR" dirty="0"/>
              <a:t>Algunas ideas clave que todo inversionista individual debe considerar, al igual que los Gerentes Corporativos:</a:t>
            </a:r>
          </a:p>
          <a:p>
            <a:pPr marL="514350" indent="-514350">
              <a:buFont typeface="+mj-lt"/>
              <a:buAutoNum type="arabicPeriod"/>
            </a:pPr>
            <a:r>
              <a:rPr lang="es-AR" dirty="0"/>
              <a:t>Si usted quiere mayores Rendimientos deberá aceptar el exponerse a mayores riesgos</a:t>
            </a:r>
          </a:p>
          <a:p>
            <a:pPr marL="514350" indent="-514350">
              <a:buFont typeface="+mj-lt"/>
              <a:buAutoNum type="arabicPeriod"/>
            </a:pPr>
            <a:r>
              <a:rPr lang="es-AR" dirty="0"/>
              <a:t>¡Diversifique! Reduzca el Riesgo sin necesidad de reducir sus Rendimientos esperados. ¿Cuál es el Riesgo adicional de invertir en Acciones de la empresa en la cual usted trabaja? Muy mala forma de diversificar</a:t>
            </a:r>
          </a:p>
          <a:p>
            <a:pPr marL="514350" indent="-514350">
              <a:buFont typeface="+mj-lt"/>
              <a:buAutoNum type="arabicPeriod"/>
            </a:pPr>
            <a:r>
              <a:rPr lang="es-AR" dirty="0"/>
              <a:t>Lo relevante es el Rendimiento REAL, después de la inflación. Exigir acorde a los niveles de inflación</a:t>
            </a:r>
          </a:p>
          <a:p>
            <a:pPr marL="514350" indent="-514350">
              <a:buFont typeface="+mj-lt"/>
              <a:buAutoNum type="arabicPeriod"/>
            </a:pPr>
            <a:r>
              <a:rPr lang="es-AR" dirty="0"/>
              <a:t>El Riesgo de una inversión suele depender del período durante el cual usted piensa conservar la inversión. Las Acciones comunes pueden ser muy riesgosas para el inversionista de corto plazo, pero diversificando y a largo plazo superan ampliamente el Rendimiento de los bonos (¡y así debe ser!)</a:t>
            </a:r>
          </a:p>
        </p:txBody>
      </p:sp>
    </p:spTree>
    <p:extLst>
      <p:ext uri="{BB962C8B-B14F-4D97-AF65-F5344CB8AC3E}">
        <p14:creationId xmlns:p14="http://schemas.microsoft.com/office/powerpoint/2010/main" val="288800626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C375AB-917C-B810-964F-BFD48CB7FE16}"/>
              </a:ext>
            </a:extLst>
          </p:cNvPr>
          <p:cNvSpPr>
            <a:spLocks noGrp="1"/>
          </p:cNvSpPr>
          <p:nvPr>
            <p:ph type="title"/>
          </p:nvPr>
        </p:nvSpPr>
        <p:spPr/>
        <p:txBody>
          <a:bodyPr/>
          <a:lstStyle/>
          <a:p>
            <a:r>
              <a:rPr lang="es-AR" sz="4400" dirty="0"/>
              <a:t>Riesgo y tasas de Rendimiento</a:t>
            </a:r>
            <a:endParaRPr lang="es-AR" dirty="0"/>
          </a:p>
        </p:txBody>
      </p:sp>
      <p:sp>
        <p:nvSpPr>
          <p:cNvPr id="3" name="Marcador de contenido 2">
            <a:extLst>
              <a:ext uri="{FF2B5EF4-FFF2-40B4-BE49-F238E27FC236}">
                <a16:creationId xmlns:a16="http://schemas.microsoft.com/office/drawing/2014/main" id="{EC93BF8D-4EFA-3C0F-D0B5-B21E4702A567}"/>
              </a:ext>
            </a:extLst>
          </p:cNvPr>
          <p:cNvSpPr>
            <a:spLocks noGrp="1"/>
          </p:cNvSpPr>
          <p:nvPr>
            <p:ph idx="1"/>
          </p:nvPr>
        </p:nvSpPr>
        <p:spPr/>
        <p:txBody>
          <a:bodyPr>
            <a:normAutofit/>
          </a:bodyPr>
          <a:lstStyle/>
          <a:p>
            <a:pPr marL="0" indent="0">
              <a:buNone/>
            </a:pPr>
            <a:r>
              <a:rPr lang="es-AR" dirty="0"/>
              <a:t>Reflexiones finales: implicaciones para Gerentes Corporativos e Inversionistas</a:t>
            </a:r>
          </a:p>
          <a:p>
            <a:pPr marL="514350" indent="-514350">
              <a:buFont typeface="+mj-lt"/>
              <a:buAutoNum type="arabicPeriod" startAt="5"/>
            </a:pPr>
            <a:r>
              <a:rPr lang="es-AR" dirty="0"/>
              <a:t>El pasado nos da una idea de lo que podemos esperar a futuro, pero ¿será así, con una Acción, con una industria, con todo el Mercado?</a:t>
            </a:r>
          </a:p>
          <a:p>
            <a:pPr marL="514350" indent="-514350">
              <a:buFont typeface="+mj-lt"/>
              <a:buAutoNum type="arabicPeriod" startAt="5"/>
            </a:pPr>
            <a:r>
              <a:rPr lang="es-AR" dirty="0"/>
              <a:t>Al comprar una Acción debiéramos poder evaluar si la misma está razonablemente valuada o si su precio actual es demasiado alto. No es garantía, pero minimiza riesgos si lo hacemos sistemáticamente. No hacerlo no traerá problemas </a:t>
            </a:r>
          </a:p>
        </p:txBody>
      </p:sp>
    </p:spTree>
    <p:extLst>
      <p:ext uri="{BB962C8B-B14F-4D97-AF65-F5344CB8AC3E}">
        <p14:creationId xmlns:p14="http://schemas.microsoft.com/office/powerpoint/2010/main" val="547522855"/>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20668E3FE9A3174EAF1AA80B147CEE15" ma:contentTypeVersion="4" ma:contentTypeDescription="Crear nuevo documento." ma:contentTypeScope="" ma:versionID="d29dfd9a9a7666034e5ad4f5ee96d9e6">
  <xsd:schema xmlns:xsd="http://www.w3.org/2001/XMLSchema" xmlns:xs="http://www.w3.org/2001/XMLSchema" xmlns:p="http://schemas.microsoft.com/office/2006/metadata/properties" xmlns:ns2="e0a2096b-51a3-4c59-a6bd-c7f798262ca8" targetNamespace="http://schemas.microsoft.com/office/2006/metadata/properties" ma:root="true" ma:fieldsID="bfc5d357d775e068c7ede3c89a10d3d3" ns2:_="">
    <xsd:import namespace="e0a2096b-51a3-4c59-a6bd-c7f798262ca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0a2096b-51a3-4c59-a6bd-c7f798262ca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0F97BE0-7638-4C9D-8EAE-71FA52C62C6F}"/>
</file>

<file path=customXml/itemProps2.xml><?xml version="1.0" encoding="utf-8"?>
<ds:datastoreItem xmlns:ds="http://schemas.openxmlformats.org/officeDocument/2006/customXml" ds:itemID="{2CC5F271-2D5C-43B8-AEA6-A72070B87CBF}"/>
</file>

<file path=customXml/itemProps3.xml><?xml version="1.0" encoding="utf-8"?>
<ds:datastoreItem xmlns:ds="http://schemas.openxmlformats.org/officeDocument/2006/customXml" ds:itemID="{E24F208D-CD42-4D8B-8082-658206A83623}"/>
</file>

<file path=docProps/app.xml><?xml version="1.0" encoding="utf-8"?>
<Properties xmlns="http://schemas.openxmlformats.org/officeDocument/2006/extended-properties" xmlns:vt="http://schemas.openxmlformats.org/officeDocument/2006/docPropsVTypes">
  <TotalTime>7074</TotalTime>
  <Words>5829</Words>
  <Application>Microsoft Office PowerPoint</Application>
  <PresentationFormat>Panorámica</PresentationFormat>
  <Paragraphs>437</Paragraphs>
  <Slides>62</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62</vt:i4>
      </vt:variant>
    </vt:vector>
  </HeadingPairs>
  <TitlesOfParts>
    <vt:vector size="68" baseType="lpstr">
      <vt:lpstr>Arial</vt:lpstr>
      <vt:lpstr>Calibri</vt:lpstr>
      <vt:lpstr>Calibri Light</vt:lpstr>
      <vt:lpstr>Cambria Math</vt:lpstr>
      <vt:lpstr>Times New Roman</vt:lpstr>
      <vt:lpstr>Tema de Office</vt:lpstr>
      <vt:lpstr>MAESTRIA EN GESTION ECONOMICA Y FINANCIERA DE RIESGOS</vt:lpstr>
      <vt:lpstr>Riesgo y tasas de Rendimiento</vt:lpstr>
      <vt:lpstr>Riesgo y tasas de Rendimiento</vt:lpstr>
      <vt:lpstr>Riesgo y tasas de Rendimiento</vt:lpstr>
      <vt:lpstr>Riesgo y tasas de Rendimiento</vt:lpstr>
      <vt:lpstr>Riesgo y tasas de Rendimiento</vt:lpstr>
      <vt:lpstr>Riesgo y tasas de Rendimiento</vt:lpstr>
      <vt:lpstr>Riesgo y tasas de Rendimiento</vt:lpstr>
      <vt:lpstr>Riesgo y tasas de Rendimiento</vt:lpstr>
      <vt:lpstr>Riesgo y tasas de Rendimiento</vt:lpstr>
      <vt:lpstr>Riesgo y tasas de Rendimiento</vt:lpstr>
      <vt:lpstr>Riesgo y tasas de Rendimiento</vt:lpstr>
      <vt:lpstr>Riesgo y tasas de Rendimiento</vt:lpstr>
      <vt:lpstr>Riesgo y tasas de Rendimiento</vt:lpstr>
      <vt:lpstr>Riesgo y tasas de Rendimiento</vt:lpstr>
      <vt:lpstr>Riesgo y tasas de Rendimiento</vt:lpstr>
      <vt:lpstr>Riesgo y tasas de Rendimiento</vt:lpstr>
      <vt:lpstr>Riesgo y tasas de Rendimiento</vt:lpstr>
      <vt:lpstr>Riesgo y tasas de Rendimiento</vt:lpstr>
      <vt:lpstr>Riesgo y tasas de Rendimiento</vt:lpstr>
      <vt:lpstr>Riesgo y tasas de Rendimiento</vt:lpstr>
      <vt:lpstr>Riesgo y tasas de Rendimiento</vt:lpstr>
      <vt:lpstr>Riesgo y tasas de Rendimiento</vt:lpstr>
      <vt:lpstr>Riesgo y tasas de Rendimiento</vt:lpstr>
      <vt:lpstr>Riesgo y tasas de Rendimiento</vt:lpstr>
      <vt:lpstr>Riesgo y tasas de Rendimiento</vt:lpstr>
      <vt:lpstr>Riesgo y tasas de Rendimiento</vt:lpstr>
      <vt:lpstr>Riesgo y tasas de Rendimiento</vt:lpstr>
      <vt:lpstr>Riesgo y tasas de Rendimiento</vt:lpstr>
      <vt:lpstr>Riesgo y tasas de Rendimiento</vt:lpstr>
      <vt:lpstr>Riesgo y tasas de Rendimiento</vt:lpstr>
      <vt:lpstr>Riesgo y tasas de Rendimiento</vt:lpstr>
      <vt:lpstr>Riesgo y tasas de Rendimiento</vt:lpstr>
      <vt:lpstr>Riesgo y tasas de Rendimiento</vt:lpstr>
      <vt:lpstr>Riesgo y tasas de Rendimiento</vt:lpstr>
      <vt:lpstr>Riesgo y tasas de Rendimiento</vt:lpstr>
      <vt:lpstr>Riesgo y tasas de Rendimiento</vt:lpstr>
      <vt:lpstr>Riesgo y tasas de Rendimiento</vt:lpstr>
      <vt:lpstr>Riesgo y tasas de Rendimiento</vt:lpstr>
      <vt:lpstr>Riesgo y tasas de Rendimiento</vt:lpstr>
      <vt:lpstr>Riesgo y tasas de Rendimiento</vt:lpstr>
      <vt:lpstr>Riesgo y tasas de Rendimiento</vt:lpstr>
      <vt:lpstr>Riesgo y tasas de Rendimiento</vt:lpstr>
      <vt:lpstr>Riesgo y tasas de Rendimiento</vt:lpstr>
      <vt:lpstr>Riesgo y tasas de Rendimiento</vt:lpstr>
      <vt:lpstr>Riesgo y tasas de Rendimiento</vt:lpstr>
      <vt:lpstr>Riesgo y tasas de Rendimiento</vt:lpstr>
      <vt:lpstr>Riesgo y tasas de Rendimiento</vt:lpstr>
      <vt:lpstr>Riesgo y tasas de Rendimiento</vt:lpstr>
      <vt:lpstr>Riesgo y tasas de Rendimiento</vt:lpstr>
      <vt:lpstr>Riesgo y tasas de Rendimiento</vt:lpstr>
      <vt:lpstr>Riesgo y tasas de Rendimiento</vt:lpstr>
      <vt:lpstr>Riesgo y tasas de Rendimiento</vt:lpstr>
      <vt:lpstr>Riesgo y tasas de Rendimiento</vt:lpstr>
      <vt:lpstr>Riesgo y tasas de Rendimiento</vt:lpstr>
      <vt:lpstr>Riesgo y tasas de Rendimiento</vt:lpstr>
      <vt:lpstr>Riesgo y tasas de Rendimiento</vt:lpstr>
      <vt:lpstr>Riesgo y tasas de Rendimiento</vt:lpstr>
      <vt:lpstr>Riesgo y tasas de Rendimiento</vt:lpstr>
      <vt:lpstr>Riesgo y tasas de Rendimiento</vt:lpstr>
      <vt:lpstr>Riesgo y tasas de Rendimiento</vt:lpstr>
      <vt:lpstr>Riesgo y tasas de Rendimiento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MAESTRIA EN GESTION ECONOMICA Y FINANCIERA DE RIESGOS</dc:title>
  <dc:creator>GRINBLAT GUSTAVO GABRIEL</dc:creator>
  <cp:lastModifiedBy>GRINBLAT GUSTAVO GABRIEL</cp:lastModifiedBy>
  <cp:revision>76</cp:revision>
  <dcterms:created xsi:type="dcterms:W3CDTF">2023-02-14T14:19:39Z</dcterms:created>
  <dcterms:modified xsi:type="dcterms:W3CDTF">2024-04-15T14:11:33Z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0x01010020668E3FE9A3174EAF1AA80B147CEE15</vt:lpwstr>
  </property>
</Properties>
</file>