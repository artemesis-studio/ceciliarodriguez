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5" r:id="rId3"/>
    <p:sldId id="266" r:id="rId4"/>
    <p:sldId id="258" r:id="rId5"/>
    <p:sldId id="259" r:id="rId6"/>
    <p:sldId id="260" r:id="rId7"/>
    <p:sldId id="267" r:id="rId8"/>
    <p:sldId id="276" r:id="rId9"/>
    <p:sldId id="268" r:id="rId10"/>
    <p:sldId id="277" r:id="rId11"/>
    <p:sldId id="278" r:id="rId12"/>
    <p:sldId id="269" r:id="rId13"/>
    <p:sldId id="270" r:id="rId14"/>
    <p:sldId id="271" r:id="rId15"/>
    <p:sldId id="272" r:id="rId1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70DE0-4B97-CC8B-DA2B-D60A2C0FB91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1CE1EAE-CFDC-004A-8AD0-B51F2403A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E0B6E68-C188-7EEF-0E02-F4E288897831}"/>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5" name="Marcador de pie de página 4">
            <a:extLst>
              <a:ext uri="{FF2B5EF4-FFF2-40B4-BE49-F238E27FC236}">
                <a16:creationId xmlns:a16="http://schemas.microsoft.com/office/drawing/2014/main" id="{F7066B6E-0635-0E1F-4379-C36A419EE8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F0A89BD-292B-7733-6B8D-EB945709119F}"/>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108804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855550-A5A3-28B0-87A6-8BFA8585B8F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BD66766-5859-4C0F-EE4B-095181ED33E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0B49D55-9129-2BCB-CC58-BE8A5A02F695}"/>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5" name="Marcador de pie de página 4">
            <a:extLst>
              <a:ext uri="{FF2B5EF4-FFF2-40B4-BE49-F238E27FC236}">
                <a16:creationId xmlns:a16="http://schemas.microsoft.com/office/drawing/2014/main" id="{8178981B-655E-868D-A913-990DA313B7F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E03A5C-2E50-F104-6EF2-328548C6ACC5}"/>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59285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39DAC-2954-AAC3-037A-EE7F5657CF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138DAC5-5A1D-5565-6BE0-F8F9CBDC3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33658DC-F3F3-6928-E77C-724A8CE3D717}"/>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5" name="Marcador de pie de página 4">
            <a:extLst>
              <a:ext uri="{FF2B5EF4-FFF2-40B4-BE49-F238E27FC236}">
                <a16:creationId xmlns:a16="http://schemas.microsoft.com/office/drawing/2014/main" id="{C6F300DF-7CC3-8B85-E0CB-780F59CDA4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A390DF-3D5D-2441-8768-0FF172747768}"/>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92757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FF108A-B6FD-4DD3-E57D-35251CCA8CD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ED3077-0282-9BA1-9647-34DCFFE91B3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F063130-158D-0337-1366-179AEC5175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3EA4455-1040-78B0-9A83-CCFB496E4222}"/>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6" name="Marcador de pie de página 5">
            <a:extLst>
              <a:ext uri="{FF2B5EF4-FFF2-40B4-BE49-F238E27FC236}">
                <a16:creationId xmlns:a16="http://schemas.microsoft.com/office/drawing/2014/main" id="{42995CC5-9BF9-C25B-E551-617C0C741D3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3C6B983-CC89-87A7-83C5-E8A9302FAFA4}"/>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21824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3BB85-25AE-B83A-CCC5-5CA70BF9579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2508F49-1586-2659-B704-8505E9964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781A51-2B5A-F1EE-3EDC-384ADF465F9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E8D3E41-1105-8E60-E088-8DDD261F5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DB2382-0414-A436-50DA-DA2406F429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57C37DA-8221-6D56-EC43-58433E468377}"/>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8" name="Marcador de pie de página 7">
            <a:extLst>
              <a:ext uri="{FF2B5EF4-FFF2-40B4-BE49-F238E27FC236}">
                <a16:creationId xmlns:a16="http://schemas.microsoft.com/office/drawing/2014/main" id="{7D2644E8-DD3F-D216-6AA3-E589B5767C7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2884065-FAAE-BDB4-32F3-248B22010F12}"/>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64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6098B-B84A-5C8C-354A-8F8F9A6BD0E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ED87682-7DDD-B19E-DDA9-A7CE4E324285}"/>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4" name="Marcador de pie de página 3">
            <a:extLst>
              <a:ext uri="{FF2B5EF4-FFF2-40B4-BE49-F238E27FC236}">
                <a16:creationId xmlns:a16="http://schemas.microsoft.com/office/drawing/2014/main" id="{0589A9E0-1E31-1CF9-9385-98ABD95ADFC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EC26854-C66C-13B9-DDBA-65127106A9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86231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4BDD1B5-8696-85E6-0336-67B2AFAA156B}"/>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3" name="Marcador de pie de página 2">
            <a:extLst>
              <a:ext uri="{FF2B5EF4-FFF2-40B4-BE49-F238E27FC236}">
                <a16:creationId xmlns:a16="http://schemas.microsoft.com/office/drawing/2014/main" id="{22484739-613F-8753-FA98-4D103CB30D0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0D31B71-6907-91D9-EF05-792F513E347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690008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FB5C3-3275-A698-026C-886DC55FF4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0BCABC4-5D18-3E27-6A44-FC26838C2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5E40746-4F71-7DE0-F012-7DDD0883F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4EC19EE-490E-414E-CA52-E77AFF261BC8}"/>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6" name="Marcador de pie de página 5">
            <a:extLst>
              <a:ext uri="{FF2B5EF4-FFF2-40B4-BE49-F238E27FC236}">
                <a16:creationId xmlns:a16="http://schemas.microsoft.com/office/drawing/2014/main" id="{AD5E8014-1302-B4C8-7D17-5F4C8787FE9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B6F6371-277E-CA55-1C44-DF90C0B487E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041955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F3D7D-6DB8-5CA8-33D8-A03C43B3A8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64D5670-BFC0-3DB3-A109-81380518AD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B36B38D-9A81-E64C-CE8E-3AEE8BAC0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3425C7-DE0E-64F8-F3F8-B160236A6DAB}"/>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6" name="Marcador de pie de página 5">
            <a:extLst>
              <a:ext uri="{FF2B5EF4-FFF2-40B4-BE49-F238E27FC236}">
                <a16:creationId xmlns:a16="http://schemas.microsoft.com/office/drawing/2014/main" id="{2E301EDD-7F0A-9740-3332-CBB88123C04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B3BE84C-6D96-5ADC-F3AA-6D44DAE245CB}"/>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4311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67BA53-C170-1009-035B-6DF474E71D2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91F61C2-014C-A45F-EB74-9AE786E3CC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5AA3C9E-EE3D-1DC0-EA4A-7F73CAC9D3E8}"/>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5" name="Marcador de pie de página 4">
            <a:extLst>
              <a:ext uri="{FF2B5EF4-FFF2-40B4-BE49-F238E27FC236}">
                <a16:creationId xmlns:a16="http://schemas.microsoft.com/office/drawing/2014/main" id="{8334C08C-24E9-70D6-53B2-5821E4F4112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E8F520-0506-EC10-69F1-4C13CCE99709}"/>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31893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CA22DF-B559-E639-75C9-BC3D422A04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854BBD4-C434-4B35-66A5-AFBBAD652C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9FE2F62-687B-D702-F79B-AC39487E9DA1}"/>
              </a:ext>
            </a:extLst>
          </p:cNvPr>
          <p:cNvSpPr>
            <a:spLocks noGrp="1"/>
          </p:cNvSpPr>
          <p:nvPr>
            <p:ph type="dt" sz="half" idx="10"/>
          </p:nvPr>
        </p:nvSpPr>
        <p:spPr/>
        <p:txBody>
          <a:bodyPr/>
          <a:lstStyle/>
          <a:p>
            <a:fld id="{6D4528C1-82C9-4445-A848-4CBA9F23312B}" type="datetimeFigureOut">
              <a:rPr lang="es-ES" smtClean="0"/>
              <a:t>20/05/2024</a:t>
            </a:fld>
            <a:endParaRPr lang="es-ES"/>
          </a:p>
        </p:txBody>
      </p:sp>
      <p:sp>
        <p:nvSpPr>
          <p:cNvPr id="5" name="Marcador de pie de página 4">
            <a:extLst>
              <a:ext uri="{FF2B5EF4-FFF2-40B4-BE49-F238E27FC236}">
                <a16:creationId xmlns:a16="http://schemas.microsoft.com/office/drawing/2014/main" id="{5226CF39-33C2-9BF3-544B-2B7B1446465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0C9EBFF-3268-DB30-71CF-0042D24CE2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807338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40DA5B-4F04-5E8A-6DE3-71F150CED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B4A1CE-C411-332B-579B-A08B8F347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0A8FEF5-8DEC-BE49-ED2C-FC43B05D4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528C1-82C9-4445-A848-4CBA9F23312B}" type="datetimeFigureOut">
              <a:rPr lang="es-ES" smtClean="0"/>
              <a:t>20/05/2024</a:t>
            </a:fld>
            <a:endParaRPr lang="es-ES"/>
          </a:p>
        </p:txBody>
      </p:sp>
      <p:sp>
        <p:nvSpPr>
          <p:cNvPr id="5" name="Marcador de pie de página 4">
            <a:extLst>
              <a:ext uri="{FF2B5EF4-FFF2-40B4-BE49-F238E27FC236}">
                <a16:creationId xmlns:a16="http://schemas.microsoft.com/office/drawing/2014/main" id="{EF70E8C6-1AE4-42A3-03D5-549133C6FF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A2F828B-082D-E8A8-31BA-02F0F7F04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4C4F5-1195-4895-81EB-16EC24AC6F40}" type="slidenum">
              <a:rPr lang="es-ES" smtClean="0"/>
              <a:t>‹Nº›</a:t>
            </a:fld>
            <a:endParaRPr lang="es-ES"/>
          </a:p>
        </p:txBody>
      </p:sp>
    </p:spTree>
    <p:extLst>
      <p:ext uri="{BB962C8B-B14F-4D97-AF65-F5344CB8AC3E}">
        <p14:creationId xmlns:p14="http://schemas.microsoft.com/office/powerpoint/2010/main" val="1201274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a:effectLst/>
                <a:latin typeface="Times New Roman" panose="02020603050405020304" pitchFamily="18" charset="0"/>
                <a:ea typeface="Times New Roman" panose="02020603050405020304" pitchFamily="18" charset="0"/>
              </a:rPr>
              <a:t>MAESTRIA </a:t>
            </a:r>
            <a:r>
              <a:rPr lang="es-ES" sz="1800" b="1" dirty="0">
                <a:effectLst/>
                <a:latin typeface="Times New Roman" panose="02020603050405020304" pitchFamily="18" charset="0"/>
                <a:ea typeface="Times New Roman" panose="02020603050405020304" pitchFamily="18" charset="0"/>
              </a:rPr>
              <a:t>EN GESTION ECONOMICA </a:t>
            </a:r>
            <a:r>
              <a:rPr lang="es-ES" sz="1800" b="1">
                <a:effectLst/>
                <a:latin typeface="Times New Roman" panose="02020603050405020304" pitchFamily="18" charset="0"/>
                <a:ea typeface="Times New Roman" panose="02020603050405020304" pitchFamily="18" charset="0"/>
              </a:rPr>
              <a:t>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a:effectLst/>
                <a:latin typeface="Arial" panose="020B0604020202020204" pitchFamily="34" charset="0"/>
                <a:ea typeface="Times New Roman" panose="02020603050405020304" pitchFamily="18" charset="0"/>
              </a:rPr>
              <a:t>ASIGNATURA</a:t>
            </a:r>
            <a:r>
              <a:rPr lang="es-ES" sz="1800" b="1" dirty="0">
                <a:effectLst/>
                <a:latin typeface="Arial" panose="020B0604020202020204" pitchFamily="34" charset="0"/>
                <a:ea typeface="Times New Roman" panose="02020603050405020304" pitchFamily="18" charset="0"/>
              </a:rPr>
              <a:t>:  TÓPICOS DE </a:t>
            </a:r>
            <a:r>
              <a:rPr lang="es-ES" sz="1800" b="1">
                <a:effectLst/>
                <a:latin typeface="Arial" panose="020B0604020202020204" pitchFamily="34" charset="0"/>
                <a:ea typeface="Times New Roman" panose="02020603050405020304" pitchFamily="18" charset="0"/>
              </a:rPr>
              <a:t>FINANZAS CORPORATIVAS</a:t>
            </a:r>
            <a:endParaRPr lang="es-ES" sz="1800" b="1" dirty="0">
              <a:effectLst/>
              <a:latin typeface="Arial" panose="020B0604020202020204" pitchFamily="34" charset="0"/>
              <a:ea typeface="Times New Roman" panose="02020603050405020304" pitchFamily="18" charset="0"/>
            </a:endParaRP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a:t>
            </a:r>
            <a:r>
              <a:rPr lang="es-ES" sz="1800">
                <a:effectLst/>
                <a:latin typeface="Arial" panose="020B0604020202020204" pitchFamily="34" charset="0"/>
                <a:ea typeface="Times New Roman" panose="02020603050405020304" pitchFamily="18" charset="0"/>
              </a:rPr>
              <a:t>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r>
              <a:rPr lang="es-AR" sz="2400" dirty="0"/>
              <a:t>Decisión de crecer, tomando deuda o mediante ganancias retenidas y emisión de acciones</a:t>
            </a:r>
          </a:p>
          <a:p>
            <a:r>
              <a:rPr lang="es-AR" sz="2400" dirty="0"/>
              <a:t>La deuda tiene la ventaja que su costo, los intereses, son deducibles de impuestos y, por ende, en principio es más barata. Los dividendos no son deducibles</a:t>
            </a:r>
          </a:p>
          <a:p>
            <a:r>
              <a:rPr lang="es-AR" sz="2400" dirty="0"/>
              <a:t>La deuda tiene un costo fijo, por lo tanto, los accionistas no tienen que compartir sus ganancias cuando la empresa es muy exitosa</a:t>
            </a:r>
          </a:p>
          <a:p>
            <a:r>
              <a:rPr lang="es-AR" sz="2400" dirty="0"/>
              <a:t>¿Cuáles son sus desventajas?</a:t>
            </a:r>
          </a:p>
          <a:p>
            <a:r>
              <a:rPr lang="es-AR" sz="2400" dirty="0"/>
              <a:t>A mayor empleo de deuda mayor costo de la misma y de las acciones</a:t>
            </a:r>
          </a:p>
          <a:p>
            <a:r>
              <a:rPr lang="es-AR" sz="2400" dirty="0"/>
              <a:t>Si los ingresos de operaciones no cubren los intereses se puede ir a la quiebra</a:t>
            </a:r>
          </a:p>
          <a:p>
            <a:r>
              <a:rPr lang="es-AR" sz="2400" dirty="0"/>
              <a:t>Cuanto más volátiles sean los ingresos operativos, las empresas tienden a limitar el uso de deuda; pero aquellas con bajo riesgo de negocio y flujos de efectivo operativos estables pueden beneficiarse con la toma de deuda</a:t>
            </a:r>
          </a:p>
          <a:p>
            <a:r>
              <a:rPr lang="es-AR" sz="2400" dirty="0"/>
              <a:t>El mercado mira la relación de deuda con el capital, la marcha del negocio, el entorno de negocios y económico en general y exige rendimientos en consecuencia</a:t>
            </a:r>
          </a:p>
          <a:p>
            <a:r>
              <a:rPr lang="es-AR" sz="2400" dirty="0"/>
              <a:t>En determinados momentos, ciertas empresas deberán reducir su relación deuda capital para evitar que su calificación crediticia empeore</a:t>
            </a:r>
          </a:p>
          <a:p>
            <a:endParaRPr lang="es-AR" sz="2400" dirty="0"/>
          </a:p>
          <a:p>
            <a:endParaRPr lang="es-AR" sz="2400" dirty="0"/>
          </a:p>
        </p:txBody>
      </p:sp>
    </p:spTree>
    <p:extLst>
      <p:ext uri="{BB962C8B-B14F-4D97-AF65-F5344CB8AC3E}">
        <p14:creationId xmlns:p14="http://schemas.microsoft.com/office/powerpoint/2010/main" val="841446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400" dirty="0"/>
              <a:t>Algunas empresas, además de reducir su dependencia con la Deuda, reducen su número de acciones a través de la recompra de las mismas, pero esto último vuelve a elevar su ratio de deuda capital</a:t>
            </a:r>
          </a:p>
          <a:p>
            <a:r>
              <a:rPr lang="es-AR" sz="2400" dirty="0"/>
              <a:t>El mercado mira la relación deuda capital, tanto contable como de valor de mercado</a:t>
            </a:r>
          </a:p>
          <a:p>
            <a:r>
              <a:rPr lang="es-AR" sz="2400" dirty="0"/>
              <a:t>La pregunta entonces es ¿financiarse con deuda o con acciones? La respuesta estará en un </a:t>
            </a:r>
            <a:r>
              <a:rPr lang="es-AR" sz="2400" dirty="0" err="1"/>
              <a:t>mix</a:t>
            </a:r>
            <a:r>
              <a:rPr lang="es-AR" sz="2400" dirty="0"/>
              <a:t> entre ambos, que maximice el valor de la Compañía para sus accionistas</a:t>
            </a:r>
          </a:p>
          <a:p>
            <a:endParaRPr lang="es-AR" sz="2400" dirty="0"/>
          </a:p>
        </p:txBody>
      </p:sp>
    </p:spTree>
    <p:extLst>
      <p:ext uri="{BB962C8B-B14F-4D97-AF65-F5344CB8AC3E}">
        <p14:creationId xmlns:p14="http://schemas.microsoft.com/office/powerpoint/2010/main" val="2376911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sz="2400" dirty="0"/>
              <a:t>En lo analizado hasta aquí, hemos supuesto, para evaluar proyectos, que la Compañía tiene una estructura objetivo de capital específica.</a:t>
            </a:r>
          </a:p>
          <a:p>
            <a:r>
              <a:rPr lang="es-AR" sz="2400" dirty="0"/>
              <a:t>Sin embargo, dicha estructura no es rígida y suele cambiar en el tiempo, con lo que cambia</a:t>
            </a:r>
          </a:p>
          <a:p>
            <a:pPr lvl="1"/>
            <a:r>
              <a:rPr lang="es-AR" sz="2000" dirty="0"/>
              <a:t>El riesgo de la Empresa</a:t>
            </a:r>
          </a:p>
          <a:p>
            <a:pPr lvl="1"/>
            <a:r>
              <a:rPr lang="es-AR" sz="2000" dirty="0"/>
              <a:t>El costo de cada tipo de capital y por ello </a:t>
            </a:r>
          </a:p>
          <a:p>
            <a:pPr lvl="1"/>
            <a:r>
              <a:rPr lang="es-AR" sz="2000" dirty="0"/>
              <a:t>El WACC, que afectará las decisiones de presupuestación de Capital y con ello</a:t>
            </a:r>
          </a:p>
          <a:p>
            <a:pPr lvl="1"/>
            <a:r>
              <a:rPr lang="es-AR" sz="2000" dirty="0"/>
              <a:t>El precio de las Acciones</a:t>
            </a:r>
          </a:p>
          <a:p>
            <a:pPr lvl="1"/>
            <a:endParaRPr lang="es-AR" sz="2000" dirty="0"/>
          </a:p>
          <a:p>
            <a:r>
              <a:rPr lang="es-AR" sz="2400" dirty="0"/>
              <a:t>Muchos factores influyen en las decisiones de estructura de capital y determinar cuál es la óptima no es una ciencia exacta. Vemos cómo dentro de una misma Industria, Empresas tienen estructuras muy diferentes</a:t>
            </a:r>
          </a:p>
          <a:p>
            <a:r>
              <a:rPr lang="es-AR" sz="2400" dirty="0"/>
              <a:t>Analizaremos en esta parte del curso, los efectos de la Deuda en el riesgo y en la determinación óptima de la estructura de Capital</a:t>
            </a:r>
          </a:p>
        </p:txBody>
      </p:sp>
    </p:spTree>
    <p:extLst>
      <p:ext uri="{BB962C8B-B14F-4D97-AF65-F5344CB8AC3E}">
        <p14:creationId xmlns:p14="http://schemas.microsoft.com/office/powerpoint/2010/main" val="1655813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0000" lnSpcReduction="20000"/>
          </a:bodyPr>
          <a:lstStyle/>
          <a:p>
            <a:r>
              <a:rPr lang="es-AR" sz="2400" b="1" u="sng" dirty="0"/>
              <a:t>La estructura de Capital</a:t>
            </a:r>
            <a:r>
              <a:rPr lang="es-AR" sz="2400" dirty="0"/>
              <a:t> es la mezcla entre Deuda, Acciones Preferentes y Acciones Comunes que se usa para financiar los activos de la empresa</a:t>
            </a:r>
          </a:p>
          <a:p>
            <a:r>
              <a:rPr lang="es-AR" sz="2400" b="1" u="sng" dirty="0"/>
              <a:t>La estructura óptima de Capital</a:t>
            </a:r>
            <a:r>
              <a:rPr lang="es-AR" sz="2400" dirty="0"/>
              <a:t> es aquella que maximiza el valor intrínseco de una Acción </a:t>
            </a:r>
          </a:p>
          <a:p>
            <a:endParaRPr lang="es-AR" sz="2400" dirty="0"/>
          </a:p>
          <a:p>
            <a:pPr marL="0" indent="0">
              <a:buNone/>
            </a:pPr>
            <a:r>
              <a:rPr lang="es-AR" sz="2400" dirty="0"/>
              <a:t>MEDICIÓN DE LA ESTRUCTURA DE CAPITAL</a:t>
            </a:r>
          </a:p>
          <a:p>
            <a:r>
              <a:rPr lang="es-AR" sz="2400" dirty="0"/>
              <a:t>Deuda y Acciones, preferentes y comunes, a valores de libros o de mercado</a:t>
            </a:r>
          </a:p>
          <a:p>
            <a:r>
              <a:rPr lang="es-AR" sz="2400" dirty="0"/>
              <a:t>Los teóricos se vuelcan a los de mercado, pero los analistas financieros y agencias calificadoras reportan y prefieren valores contables</a:t>
            </a:r>
          </a:p>
          <a:p>
            <a:pPr lvl="1"/>
            <a:r>
              <a:rPr lang="es-AR" sz="2000" dirty="0"/>
              <a:t>Valor volátil de las acciones y por ende el cálculo del WACC</a:t>
            </a:r>
          </a:p>
          <a:p>
            <a:r>
              <a:rPr lang="es-AR" sz="2400" dirty="0"/>
              <a:t>En un mundo de información perfecta, las empresas podrían determinar su estructura óptima de capital en base a valores de mercado, así captaría capitales para nuevos proyectos y obtendría las ponderaciones óptimas para determinar su WACC</a:t>
            </a:r>
          </a:p>
          <a:p>
            <a:r>
              <a:rPr lang="es-AR" sz="2400" dirty="0"/>
              <a:t>Pero el mundo no es perfecto, las estructuras óptimas cambian con el paso del tiempo, y por lo tanto se fijan rangos de “deuda objetivo” en lugar de un valor fijo</a:t>
            </a:r>
          </a:p>
          <a:p>
            <a:r>
              <a:rPr lang="es-AR" sz="2400" dirty="0"/>
              <a:t>Los CFO evalúan las estructuras de capital de las compañías que son puntos de referencia para ellos y realizan análisis como los que veremos de aquí en adelante</a:t>
            </a:r>
          </a:p>
        </p:txBody>
      </p:sp>
    </p:spTree>
    <p:extLst>
      <p:ext uri="{BB962C8B-B14F-4D97-AF65-F5344CB8AC3E}">
        <p14:creationId xmlns:p14="http://schemas.microsoft.com/office/powerpoint/2010/main" val="234225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sz="2400" dirty="0"/>
              <a:t>Veamos el Excel</a:t>
            </a:r>
          </a:p>
          <a:p>
            <a:endParaRPr lang="es-AR" sz="2400" dirty="0"/>
          </a:p>
          <a:p>
            <a:pPr marL="0" indent="0">
              <a:buNone/>
            </a:pPr>
            <a:r>
              <a:rPr lang="es-AR" sz="2400" u="sng" dirty="0"/>
              <a:t>LA ESTRUCTURA DE CAPITAL DE LAS EMPRESAS CAMBIA CON EL TIEMPO</a:t>
            </a:r>
          </a:p>
          <a:p>
            <a:endParaRPr lang="es-AR" sz="2400" dirty="0"/>
          </a:p>
          <a:p>
            <a:r>
              <a:rPr lang="es-AR" sz="2400" dirty="0"/>
              <a:t>Acciones deliberadas de la empresa para alcanzar su estructura objetivo, desde la real/actual</a:t>
            </a:r>
          </a:p>
          <a:p>
            <a:r>
              <a:rPr lang="es-AR" sz="2400" dirty="0"/>
              <a:t>Actos de Mercado a consecuencia de los resultados que obtiene la empresa</a:t>
            </a:r>
          </a:p>
          <a:p>
            <a:pPr lvl="1"/>
            <a:r>
              <a:rPr lang="es-AR" sz="2000" dirty="0"/>
              <a:t>Cambios en el valor contable de sus acciones</a:t>
            </a:r>
          </a:p>
          <a:p>
            <a:pPr lvl="1"/>
            <a:r>
              <a:rPr lang="es-AR" sz="2000" dirty="0"/>
              <a:t>Cambios en las tasas de interés del mercado o riesgo percibido para esta empresa en particular, que si bien no alterarían el valor contable de su deuda sí su valor de mercado</a:t>
            </a:r>
          </a:p>
          <a:p>
            <a:pPr lvl="1"/>
            <a:r>
              <a:rPr lang="es-AR" sz="2000" dirty="0"/>
              <a:t>Determina un Cambio en su Estructura de Capital medida a valores de Mercado</a:t>
            </a:r>
          </a:p>
          <a:p>
            <a:r>
              <a:rPr lang="es-AR" sz="2400" dirty="0"/>
              <a:t>Luego, con acciones deliberadas, podrá ir en búsqueda de alcanzar nuevamente su estructura objetivo</a:t>
            </a:r>
          </a:p>
          <a:p>
            <a:pPr marL="0" indent="0">
              <a:buNone/>
            </a:pPr>
            <a:endParaRPr lang="es-AR" sz="2400" dirty="0"/>
          </a:p>
          <a:p>
            <a:endParaRPr lang="es-AR" sz="2400" dirty="0"/>
          </a:p>
        </p:txBody>
      </p:sp>
    </p:spTree>
    <p:extLst>
      <p:ext uri="{BB962C8B-B14F-4D97-AF65-F5344CB8AC3E}">
        <p14:creationId xmlns:p14="http://schemas.microsoft.com/office/powerpoint/2010/main" val="339269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Riesgo de Negocios y Financiero</a:t>
            </a:r>
          </a:p>
          <a:p>
            <a:r>
              <a:rPr lang="es-AR" sz="2400" dirty="0"/>
              <a:t>Hemos visto anteriormente, riesgo diversificable (no debiera ser la preocupación de los accionistas) y de mercado, que medimos con el coeficiente beta y es el que preocupa a los accionistas</a:t>
            </a:r>
          </a:p>
          <a:p>
            <a:endParaRPr lang="es-AR" sz="2400" dirty="0"/>
          </a:p>
          <a:p>
            <a:r>
              <a:rPr lang="es-AR" sz="2400" dirty="0"/>
              <a:t> Agregaremos ahora dos dimensiones nuevas del riesgo, </a:t>
            </a:r>
          </a:p>
          <a:p>
            <a:r>
              <a:rPr lang="es-AR" sz="2400" dirty="0"/>
              <a:t>Riesgo de Negocio, que es aquél propio de los activos de la Compañía si no se usa deuda</a:t>
            </a:r>
          </a:p>
          <a:p>
            <a:r>
              <a:rPr lang="es-AR" sz="2400" dirty="0"/>
              <a:t>Riesgo Financiero, que es el adicional que se les impone a los accionistas por la toma de Deuda</a:t>
            </a:r>
          </a:p>
        </p:txBody>
      </p:sp>
    </p:spTree>
    <p:extLst>
      <p:ext uri="{BB962C8B-B14F-4D97-AF65-F5344CB8AC3E}">
        <p14:creationId xmlns:p14="http://schemas.microsoft.com/office/powerpoint/2010/main" val="3288416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10000"/>
          </a:bodyPr>
          <a:lstStyle/>
          <a:p>
            <a:pPr marL="0" indent="0">
              <a:buNone/>
            </a:pPr>
            <a:r>
              <a:rPr lang="es-AR" sz="2400" u="sng" dirty="0"/>
              <a:t>Riesgo de Negocios</a:t>
            </a:r>
          </a:p>
          <a:p>
            <a:r>
              <a:rPr lang="es-AR" sz="2400" dirty="0"/>
              <a:t>Es la determinante más importante de la estructura de capital y representa el monto de riesgo inherente a las operaciones de la empresa aun si no hace uso del financiamiento con deuda.</a:t>
            </a:r>
          </a:p>
          <a:p>
            <a:r>
              <a:rPr lang="es-AR" sz="2400" dirty="0"/>
              <a:t>Una medida habitual es el desvío standard del ROIC</a:t>
            </a:r>
          </a:p>
          <a:p>
            <a:endParaRPr lang="es-AR" sz="2400" dirty="0"/>
          </a:p>
          <a:p>
            <a:pPr marL="0" indent="0">
              <a:buNone/>
            </a:pPr>
            <a:r>
              <a:rPr lang="es-AR" sz="2400" dirty="0"/>
              <a:t>		ROIC = EBIT *(1-T) / capital total invertido</a:t>
            </a:r>
          </a:p>
          <a:p>
            <a:r>
              <a:rPr lang="es-AR" sz="2400" dirty="0"/>
              <a:t>Como no depende del tipo de financiamiento, su DS mide su riesgo subyacente y como tal es una buena medida del riesgo de negocios</a:t>
            </a:r>
          </a:p>
          <a:p>
            <a:r>
              <a:rPr lang="es-AR" sz="2400" dirty="0"/>
              <a:t>Por qué varía el ROIC</a:t>
            </a:r>
          </a:p>
          <a:p>
            <a:pPr lvl="1"/>
            <a:r>
              <a:rPr lang="es-AR" sz="2000" dirty="0"/>
              <a:t>Eventos positivos y negativos, internos y externos</a:t>
            </a:r>
          </a:p>
          <a:p>
            <a:pPr lvl="1"/>
            <a:r>
              <a:rPr lang="es-AR" sz="2000" dirty="0"/>
              <a:t>Acciones de los competidores</a:t>
            </a:r>
          </a:p>
          <a:p>
            <a:r>
              <a:rPr lang="es-AR" sz="2400" dirty="0"/>
              <a:t>Tenemos industrias con bajos riesgos de negocio, y otras con altos riesgos</a:t>
            </a:r>
          </a:p>
          <a:p>
            <a:r>
              <a:rPr lang="es-AR" sz="2400" dirty="0"/>
              <a:t>Veámoslo en el Excel</a:t>
            </a:r>
          </a:p>
          <a:p>
            <a:pPr marL="0" indent="0">
              <a:buNone/>
            </a:pPr>
            <a:endParaRPr lang="es-AR" sz="2400" dirty="0"/>
          </a:p>
          <a:p>
            <a:pPr marL="0" indent="0">
              <a:buNone/>
            </a:pPr>
            <a:endParaRPr lang="es-AR" sz="2400" dirty="0"/>
          </a:p>
        </p:txBody>
      </p:sp>
    </p:spTree>
    <p:extLst>
      <p:ext uri="{BB962C8B-B14F-4D97-AF65-F5344CB8AC3E}">
        <p14:creationId xmlns:p14="http://schemas.microsoft.com/office/powerpoint/2010/main" val="2300972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sz="2400" u="sng" dirty="0"/>
              <a:t>Factores que afectan al riesgo de negocio</a:t>
            </a:r>
          </a:p>
          <a:p>
            <a:r>
              <a:rPr lang="es-AR" sz="2400" dirty="0"/>
              <a:t>La Competencia</a:t>
            </a:r>
          </a:p>
          <a:p>
            <a:r>
              <a:rPr lang="es-AR" sz="2400" dirty="0"/>
              <a:t>La variabilidad de la demanda</a:t>
            </a:r>
          </a:p>
          <a:p>
            <a:r>
              <a:rPr lang="es-AR" sz="2400" dirty="0"/>
              <a:t>La variabilidad del precio de venta</a:t>
            </a:r>
          </a:p>
          <a:p>
            <a:r>
              <a:rPr lang="es-AR" sz="2400" dirty="0"/>
              <a:t>La variabilidad en el costo de los insumos (formas de reducirlos)</a:t>
            </a:r>
          </a:p>
          <a:p>
            <a:r>
              <a:rPr lang="es-AR" sz="2400" dirty="0"/>
              <a:t>La velocidad de obsolescencia de los productos</a:t>
            </a:r>
          </a:p>
          <a:p>
            <a:r>
              <a:rPr lang="es-AR" sz="2400" dirty="0"/>
              <a:t>Exposición al riesgo de Tipo de Cambio</a:t>
            </a:r>
          </a:p>
          <a:p>
            <a:r>
              <a:rPr lang="es-AR" sz="2400" dirty="0"/>
              <a:t>Exposición al riesgo regulatorio y legal</a:t>
            </a:r>
          </a:p>
          <a:p>
            <a:r>
              <a:rPr lang="es-AR" sz="2400" dirty="0"/>
              <a:t>Grado en que los costos son fijos: Apalancamiento de las operaciones. Caídas en la demanda tienen mayor impacto en los resultados. Veamos este punto a continuación</a:t>
            </a:r>
          </a:p>
          <a:p>
            <a:endParaRPr lang="es-AR" sz="2400" dirty="0"/>
          </a:p>
          <a:p>
            <a:endParaRPr lang="es-AR" sz="2400" dirty="0"/>
          </a:p>
        </p:txBody>
      </p:sp>
    </p:spTree>
    <p:extLst>
      <p:ext uri="{BB962C8B-B14F-4D97-AF65-F5344CB8AC3E}">
        <p14:creationId xmlns:p14="http://schemas.microsoft.com/office/powerpoint/2010/main" val="239543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sz="2400" u="sng" dirty="0"/>
              <a:t>Apalancamiento de las operaciones</a:t>
            </a:r>
          </a:p>
          <a:p>
            <a:r>
              <a:rPr lang="es-AR" sz="2400" dirty="0"/>
              <a:t>Dijimos que este era uno de los factores que afectan el riesgo de negocios, ya que una pequeña disminución en las ventas puede afectar largamente el ROIC</a:t>
            </a:r>
          </a:p>
          <a:p>
            <a:r>
              <a:rPr lang="es-AR" sz="2400" dirty="0"/>
              <a:t>El apalancamiento operativo es el grado en que se usan costos fijos en las operaciones de la empresa y donde variaciones relativamente pequeñas en ventas impactan fuertemente en el ROIC</a:t>
            </a:r>
          </a:p>
          <a:p>
            <a:r>
              <a:rPr lang="es-AR" sz="2400" dirty="0"/>
              <a:t>Empresas de capital intensivo, por lo tanto, son más riesgosas desde el punto de vista del riesgo de negocios. Lo mismo puede ocurrir con empresas que emplean trabajadores altamente calificados y aquellas con elevada inversión en I&amp;D de productos</a:t>
            </a:r>
          </a:p>
          <a:p>
            <a:r>
              <a:rPr lang="es-AR" sz="2400" dirty="0"/>
              <a:t>Normalmente, a mayores costos fijos, el punto de equilibrio donde el EBIT=0, se alcanza luego de un mayor nivel de ventas, mientras que a menores costos fijos se requiere menor volumen de ventas para alcanzar dicho equilibrio. Pero claramente, mayores costos fijos generan menores costos variables y viceversa</a:t>
            </a:r>
          </a:p>
          <a:p>
            <a:r>
              <a:rPr lang="es-AR" sz="2400" dirty="0"/>
              <a:t>Equilibrio Operativo = Precio * Q – Costos Variables * Q – Costos Fijos = 0</a:t>
            </a:r>
          </a:p>
        </p:txBody>
      </p:sp>
    </p:spTree>
    <p:extLst>
      <p:ext uri="{BB962C8B-B14F-4D97-AF65-F5344CB8AC3E}">
        <p14:creationId xmlns:p14="http://schemas.microsoft.com/office/powerpoint/2010/main" val="359193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Apalancamiento de las operaciones</a:t>
            </a:r>
          </a:p>
          <a:p>
            <a:r>
              <a:rPr lang="es-AR" sz="2400" dirty="0"/>
              <a:t>Veamos todo esto en un Excel</a:t>
            </a:r>
          </a:p>
          <a:p>
            <a:r>
              <a:rPr lang="es-AR" sz="2400" dirty="0"/>
              <a:t>Los distintos tipos de industrias exigen apalancamientos operativos distintos, pero aun dentro de cada una de ellas, habrá proyectos alternativos para modificar dichos valores, como, por ejemplo, una generadora eléctrica que ampliara su capacidad construyendo centrales nucleares o a gas </a:t>
            </a:r>
          </a:p>
          <a:p>
            <a:r>
              <a:rPr lang="es-AR" sz="2400" dirty="0"/>
              <a:t>Una vez que se ha establecido el grado de apalancamiento de una empresa, se define su riesgo de negocio, este factor ejerce gran influencia en su decisión de estructura de capital y por ello lo hemos incluido</a:t>
            </a:r>
          </a:p>
          <a:p>
            <a:endParaRPr lang="es-AR" sz="2400" dirty="0"/>
          </a:p>
        </p:txBody>
      </p:sp>
    </p:spTree>
    <p:extLst>
      <p:ext uri="{BB962C8B-B14F-4D97-AF65-F5344CB8AC3E}">
        <p14:creationId xmlns:p14="http://schemas.microsoft.com/office/powerpoint/2010/main" val="3590502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sz="2400" u="sng" dirty="0"/>
              <a:t>Riesgo Financiero</a:t>
            </a:r>
          </a:p>
          <a:p>
            <a:r>
              <a:rPr lang="es-AR" sz="2400" dirty="0"/>
              <a:t>Es el riesgo adicional que se les impone a los accionistas por financiar con deuda.</a:t>
            </a:r>
          </a:p>
          <a:p>
            <a:r>
              <a:rPr lang="es-AR" sz="2400" dirty="0"/>
              <a:t>Aumento en el riesgo de los accionistas, por encima del de negocios, resultado del apalancamiento financiero</a:t>
            </a:r>
          </a:p>
          <a:p>
            <a:r>
              <a:rPr lang="es-AR" sz="2400" dirty="0"/>
              <a:t>El apalancamiento financiero es el grado en que se usan valores de renta fija (deuda y preferentes) en la estructura de capital de una empresa</a:t>
            </a:r>
          </a:p>
          <a:p>
            <a:r>
              <a:rPr lang="es-AR" sz="2400" dirty="0"/>
              <a:t>El uso de deuda, o sea, el apalancamiento financiero, concentra el riesgo de negocio en los accionistas</a:t>
            </a:r>
          </a:p>
          <a:p>
            <a:r>
              <a:rPr lang="es-AR" sz="2400" dirty="0"/>
              <a:t>Los cambios en los niveles de deuda no afectarían al ROIC, pero sí a la proporción de riesgo que asumen los accionistas. Cambios en el uso de deuda causan cambios en las ganancias por acción, EPS, en el riesgo de la empresa, y en conjunto en el precio de las acciones</a:t>
            </a:r>
          </a:p>
          <a:p>
            <a:r>
              <a:rPr lang="es-AR" sz="2400" dirty="0"/>
              <a:t>El costo total de la deuda varía según la relación deuda / capital. Vamos al </a:t>
            </a:r>
            <a:r>
              <a:rPr lang="es-AR" sz="2400"/>
              <a:t>excel</a:t>
            </a:r>
            <a:endParaRPr lang="es-AR" sz="2400" dirty="0"/>
          </a:p>
        </p:txBody>
      </p:sp>
    </p:spTree>
    <p:extLst>
      <p:ext uri="{BB962C8B-B14F-4D97-AF65-F5344CB8AC3E}">
        <p14:creationId xmlns:p14="http://schemas.microsoft.com/office/powerpoint/2010/main" val="2810263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sz="2400" u="sng" dirty="0"/>
              <a:t>Determinación de la estructura Óptima de Capital</a:t>
            </a:r>
          </a:p>
          <a:p>
            <a:r>
              <a:rPr lang="es-AR" sz="2400" dirty="0"/>
              <a:t> En el Excel vimos cómo las EPS alcanzaban su máximo con una relación deuda/capital del 50%/50% y la pregunta es entonces si esa es la estructura óptima. La respuesta es NO</a:t>
            </a:r>
          </a:p>
          <a:p>
            <a:r>
              <a:rPr lang="es-AR" sz="2400" dirty="0"/>
              <a:t>¡Lo que debe maximizarse es el precio de la Acciones! Y este normalmente no se maximiza en el punto que se maximizan las EPS, porque está faltando considerar el riesgo agregado, que aumenta el costo de capital de las acciones y así baja su precio</a:t>
            </a:r>
          </a:p>
          <a:p>
            <a:pPr marL="0" indent="0">
              <a:buNone/>
            </a:pPr>
            <a:r>
              <a:rPr lang="es-AR" sz="2400" u="sng" dirty="0"/>
              <a:t>WACC  y cambios en la estructura de Capital</a:t>
            </a:r>
          </a:p>
          <a:p>
            <a:r>
              <a:rPr lang="es-AR" sz="2400" dirty="0"/>
              <a:t>Debemos entonces encontrar el equilibrio Deuda – Acciones que maximice el precio de éstas, pero es difícil saber cómo un cambio en la estructura afectará su precio</a:t>
            </a:r>
          </a:p>
          <a:p>
            <a:r>
              <a:rPr lang="es-AR" sz="2400" dirty="0"/>
              <a:t>Pero la estructura que maximice el precio será la que además minimice el WACC, y en general es más sencillo predecir cambios en el WACC producto de cambios en la estructura de Capital.</a:t>
            </a:r>
          </a:p>
          <a:p>
            <a:r>
              <a:rPr lang="es-AR" sz="2400" dirty="0"/>
              <a:t>Por ello muchos Gerentes guían sus decisiones de estructura buscando aquella que minimice el WACC </a:t>
            </a:r>
          </a:p>
        </p:txBody>
      </p:sp>
    </p:spTree>
    <p:extLst>
      <p:ext uri="{BB962C8B-B14F-4D97-AF65-F5344CB8AC3E}">
        <p14:creationId xmlns:p14="http://schemas.microsoft.com/office/powerpoint/2010/main" val="539317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sz="2400" u="sng" dirty="0"/>
                  <a:t>WACC  y cambios en la estructura de Capital</a:t>
                </a:r>
              </a:p>
              <a:p>
                <a:pPr marL="0" indent="0">
                  <a:buNone/>
                </a:pPr>
                <a:r>
                  <a:rPr lang="es-AR" sz="2400" dirty="0"/>
                  <a:t> </a:t>
                </a:r>
              </a:p>
              <a:p>
                <a:pPr marL="0" indent="0" algn="ctr">
                  <a:buNone/>
                </a:pPr>
                <a14:m>
                  <m:oMath xmlns:m="http://schemas.openxmlformats.org/officeDocument/2006/math">
                    <m:r>
                      <a:rPr lang="es-AR" sz="2400" b="0" i="1" smtClean="0">
                        <a:latin typeface="Cambria Math" panose="02040503050406030204" pitchFamily="18" charset="0"/>
                      </a:rPr>
                      <m:t>𝑊𝐴𝐶𝐶</m:t>
                    </m:r>
                    <m:r>
                      <a:rPr lang="es-AR" sz="2400" b="0" i="1" smtClean="0">
                        <a:latin typeface="Cambria Math" panose="02040503050406030204" pitchFamily="18" charset="0"/>
                      </a:rPr>
                      <m:t>= </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𝑑</m:t>
                        </m:r>
                      </m:sub>
                    </m:sSub>
                    <m:r>
                      <a:rPr lang="es-AR" sz="2400" b="0" i="1" smtClean="0">
                        <a:latin typeface="Cambria Math" panose="02040503050406030204" pitchFamily="18" charset="0"/>
                      </a:rPr>
                      <m:t>∗</m:t>
                    </m:r>
                    <m:d>
                      <m:dPr>
                        <m:ctrlPr>
                          <a:rPr lang="es-AR" sz="2400" b="0" i="1" smtClean="0">
                            <a:latin typeface="Cambria Math" panose="02040503050406030204" pitchFamily="18" charset="0"/>
                          </a:rPr>
                        </m:ctrlPr>
                      </m:dPr>
                      <m:e>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𝑑</m:t>
                            </m:r>
                          </m:sub>
                        </m:sSub>
                      </m:e>
                    </m:d>
                    <m:r>
                      <a:rPr lang="es-AR" sz="2400" b="0" i="1" smtClean="0">
                        <a:latin typeface="Cambria Math" panose="02040503050406030204" pitchFamily="18" charset="0"/>
                      </a:rPr>
                      <m:t>∗</m:t>
                    </m:r>
                    <m:d>
                      <m:dPr>
                        <m:ctrlPr>
                          <a:rPr lang="es-AR" sz="2400" b="0" i="1" smtClean="0">
                            <a:latin typeface="Cambria Math" panose="02040503050406030204" pitchFamily="18" charset="0"/>
                          </a:rPr>
                        </m:ctrlPr>
                      </m:dPr>
                      <m:e>
                        <m:r>
                          <a:rPr lang="es-AR" sz="2400" b="0" i="1" smtClean="0">
                            <a:latin typeface="Cambria Math" panose="02040503050406030204" pitchFamily="18" charset="0"/>
                          </a:rPr>
                          <m:t>1−</m:t>
                        </m:r>
                        <m:r>
                          <a:rPr lang="es-AR" sz="2400" b="0" i="1" smtClean="0">
                            <a:latin typeface="Cambria Math" panose="02040503050406030204" pitchFamily="18" charset="0"/>
                          </a:rPr>
                          <m:t>𝑇</m:t>
                        </m:r>
                      </m:e>
                    </m:d>
                    <m:r>
                      <a:rPr lang="es-AR" sz="2400" b="0" i="1" smtClean="0">
                        <a:latin typeface="Cambria Math" panose="02040503050406030204" pitchFamily="18" charset="0"/>
                      </a:rPr>
                      <m:t>+ </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𝑤</m:t>
                        </m:r>
                      </m:e>
                      <m:sub>
                        <m:r>
                          <a:rPr lang="es-AR" sz="2400" b="0" i="1" smtClean="0">
                            <a:latin typeface="Cambria Math" panose="02040503050406030204" pitchFamily="18" charset="0"/>
                          </a:rPr>
                          <m:t>𝑐</m:t>
                        </m:r>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𝑠</m:t>
                        </m:r>
                      </m:sub>
                    </m:sSub>
                    <m:r>
                      <a:rPr lang="es-AR" sz="2400" b="0" i="1" smtClean="0">
                        <a:latin typeface="Cambria Math" panose="02040503050406030204" pitchFamily="18" charset="0"/>
                      </a:rPr>
                      <m:t>)</m:t>
                    </m:r>
                  </m:oMath>
                </a14:m>
                <a:r>
                  <a:rPr lang="es-AR" sz="2400" dirty="0"/>
                  <a:t> si no hay Acciones Preferentes</a:t>
                </a:r>
              </a:p>
              <a:p>
                <a:pPr marL="0" indent="0">
                  <a:buNone/>
                </a:pPr>
                <a:r>
                  <a:rPr lang="es-AR" sz="2400" dirty="0"/>
                  <a:t>Ya hemos visto que en la medida que aumentamos la razón Deuda/Acciones se elevan ambos costos, </a:t>
                </a:r>
                <a14:m>
                  <m:oMath xmlns:m="http://schemas.openxmlformats.org/officeDocument/2006/math">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𝑑</m:t>
                        </m:r>
                      </m:sub>
                    </m:sSub>
                  </m:oMath>
                </a14:m>
                <a:r>
                  <a:rPr lang="es-AR" sz="2400" dirty="0"/>
                  <a:t> y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𝑐</m:t>
                        </m:r>
                      </m:sub>
                    </m:sSub>
                  </m:oMath>
                </a14:m>
                <a:endParaRPr lang="es-AR" sz="2400" dirty="0"/>
              </a:p>
              <a:p>
                <a:pPr marL="0" indent="0">
                  <a:buNone/>
                </a:pPr>
                <a:r>
                  <a:rPr lang="es-AR" sz="2400" u="sng" dirty="0"/>
                  <a:t>Ecuación de Hamada</a:t>
                </a:r>
              </a:p>
              <a:p>
                <a:r>
                  <a:rPr lang="es-AR" sz="2400" dirty="0"/>
                  <a:t>Teniendo presente que ante un mayor endeudamiento se incrementan </a:t>
                </a:r>
                <a14:m>
                  <m:oMath xmlns:m="http://schemas.openxmlformats.org/officeDocument/2006/math">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𝑑</m:t>
                        </m:r>
                      </m:sub>
                    </m:sSub>
                  </m:oMath>
                </a14:m>
                <a:r>
                  <a:rPr lang="es-AR" sz="2400" dirty="0"/>
                  <a:t> y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𝑐</m:t>
                        </m:r>
                      </m:sub>
                    </m:sSub>
                  </m:oMath>
                </a14:m>
                <a:r>
                  <a:rPr lang="es-AR" sz="2400" dirty="0"/>
                  <a:t>, y que Beta, única medida relevante para el inversionista diversificado, aumenta con el Apalancamiento Financiero, Robert Hamada formula la siguiente ecuación para cuantificar el efecto del Apalancamiento</a:t>
                </a:r>
              </a:p>
              <a:p>
                <a:pPr marL="0" indent="0">
                  <a:buNone/>
                </a:pPr>
                <a14:m>
                  <m:oMathPara xmlns:m="http://schemas.openxmlformats.org/officeDocument/2006/math">
                    <m:oMathParaPr>
                      <m:jc m:val="center"/>
                    </m:oMathParaPr>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𝐿</m:t>
                          </m:r>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𝑈</m:t>
                          </m:r>
                        </m:sub>
                      </m:sSub>
                      <m:r>
                        <a:rPr lang="es-AR" sz="2400" b="0" i="1" smtClean="0">
                          <a:latin typeface="Cambria Math" panose="02040503050406030204" pitchFamily="18" charset="0"/>
                        </a:rPr>
                        <m:t>∗</m:t>
                      </m:r>
                      <m:d>
                        <m:dPr>
                          <m:begChr m:val="["/>
                          <m:endChr m:val="]"/>
                          <m:ctrlPr>
                            <a:rPr lang="es-AR" sz="2400" b="0" i="1" smtClean="0">
                              <a:latin typeface="Cambria Math" panose="02040503050406030204" pitchFamily="18" charset="0"/>
                            </a:rPr>
                          </m:ctrlPr>
                        </m:dPr>
                        <m:e>
                          <m:r>
                            <a:rPr lang="es-AR" sz="2400" i="1">
                              <a:latin typeface="Cambria Math" panose="02040503050406030204" pitchFamily="18" charset="0"/>
                            </a:rPr>
                            <m:t>1+ </m:t>
                          </m:r>
                          <m:d>
                            <m:dPr>
                              <m:ctrlPr>
                                <a:rPr lang="es-AR" sz="2400" i="1">
                                  <a:latin typeface="Cambria Math" panose="02040503050406030204" pitchFamily="18" charset="0"/>
                                </a:rPr>
                              </m:ctrlPr>
                            </m:dPr>
                            <m:e>
                              <m:r>
                                <a:rPr lang="es-AR" sz="2400" i="1">
                                  <a:latin typeface="Cambria Math" panose="02040503050406030204" pitchFamily="18" charset="0"/>
                                </a:rPr>
                                <m:t>1−</m:t>
                              </m:r>
                              <m:r>
                                <a:rPr lang="es-AR" sz="2400" i="1">
                                  <a:latin typeface="Cambria Math" panose="02040503050406030204" pitchFamily="18" charset="0"/>
                                </a:rPr>
                                <m:t>𝑇</m:t>
                              </m:r>
                            </m:e>
                          </m:d>
                          <m:r>
                            <a:rPr lang="es-AR" sz="2400" i="1">
                              <a:latin typeface="Cambria Math" panose="02040503050406030204" pitchFamily="18" charset="0"/>
                            </a:rPr>
                            <m:t>∗(</m:t>
                          </m:r>
                          <m:f>
                            <m:fPr>
                              <m:type m:val="skw"/>
                              <m:ctrlPr>
                                <a:rPr lang="es-AR" sz="2400" i="1">
                                  <a:latin typeface="Cambria Math" panose="02040503050406030204" pitchFamily="18" charset="0"/>
                                </a:rPr>
                              </m:ctrlPr>
                            </m:fPr>
                            <m:num>
                              <m:r>
                                <a:rPr lang="es-AR" sz="2400" i="1">
                                  <a:latin typeface="Cambria Math" panose="02040503050406030204" pitchFamily="18" charset="0"/>
                                </a:rPr>
                                <m:t>𝐷</m:t>
                              </m:r>
                            </m:num>
                            <m:den>
                              <m:r>
                                <a:rPr lang="es-AR" sz="2400" i="1">
                                  <a:latin typeface="Cambria Math" panose="02040503050406030204" pitchFamily="18" charset="0"/>
                                </a:rPr>
                                <m:t>𝐸</m:t>
                              </m:r>
                            </m:den>
                          </m:f>
                          <m:r>
                            <a:rPr lang="es-AR" sz="2400" i="1">
                              <a:latin typeface="Cambria Math" panose="02040503050406030204" pitchFamily="18" charset="0"/>
                            </a:rPr>
                            <m:t>)</m:t>
                          </m:r>
                        </m:e>
                      </m:d>
                    </m:oMath>
                  </m:oMathPara>
                </a14:m>
                <a:endParaRPr lang="es-AR" sz="2400" dirty="0"/>
              </a:p>
              <a:p>
                <a:pPr marL="0" indent="0">
                  <a:buNone/>
                </a:pPr>
                <a:r>
                  <a:rPr lang="es-AR" sz="2400" dirty="0"/>
                  <a:t>Siendo </a:t>
                </a: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𝐿</m:t>
                        </m:r>
                      </m:sub>
                    </m:sSub>
                  </m:oMath>
                </a14:m>
                <a:r>
                  <a:rPr lang="es-AR" sz="2400" dirty="0"/>
                  <a:t> la Beta corriente de la empresa y </a:t>
                </a: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𝑏</m:t>
                        </m:r>
                      </m:e>
                      <m:sub>
                        <m:r>
                          <a:rPr lang="es-AR" sz="2400" b="0" i="1" smtClean="0">
                            <a:latin typeface="Cambria Math" panose="02040503050406030204" pitchFamily="18" charset="0"/>
                          </a:rPr>
                          <m:t>𝑈</m:t>
                        </m:r>
                      </m:sub>
                    </m:sSub>
                  </m:oMath>
                </a14:m>
                <a:r>
                  <a:rPr lang="es-AR" sz="2400" dirty="0"/>
                  <a:t> la que tendría sin apalancamiento alguno, o sea, su riesgo básico de negocios</a:t>
                </a:r>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754" t="-2801" r="-580" b="-3501"/>
                </a:stretch>
              </a:blipFill>
            </p:spPr>
            <p:txBody>
              <a:bodyPr/>
              <a:lstStyle/>
              <a:p>
                <a:r>
                  <a:rPr lang="es-ES">
                    <a:noFill/>
                  </a:rPr>
                  <a:t> </a:t>
                </a:r>
              </a:p>
            </p:txBody>
          </p:sp>
        </mc:Fallback>
      </mc:AlternateContent>
    </p:spTree>
    <p:extLst>
      <p:ext uri="{BB962C8B-B14F-4D97-AF65-F5344CB8AC3E}">
        <p14:creationId xmlns:p14="http://schemas.microsoft.com/office/powerpoint/2010/main" val="3463576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Estructura de Capital y Apalancamiento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sz="2400" u="sng" dirty="0"/>
                  <a:t>Ecuación de Hamada (</a:t>
                </a:r>
                <a:r>
                  <a:rPr lang="es-AR" sz="2400" u="sng" dirty="0" err="1"/>
                  <a:t>cont</a:t>
                </a:r>
                <a:r>
                  <a:rPr lang="es-AR" sz="2400" u="sng" dirty="0"/>
                  <a:t>)</a:t>
                </a:r>
              </a:p>
              <a:p>
                <a:pPr marL="0" indent="0">
                  <a:buNone/>
                </a:pPr>
                <a:r>
                  <a:rPr lang="es-AR" sz="2400" dirty="0"/>
                  <a:t>Recordando del CAPM que</a:t>
                </a:r>
              </a:p>
              <a:p>
                <a:pPr marL="0" indent="0">
                  <a:buNone/>
                </a:pPr>
                <a14:m>
                  <m:oMathPara xmlns:m="http://schemas.openxmlformats.org/officeDocument/2006/math">
                    <m:oMathParaPr>
                      <m:jc m:val="centerGroup"/>
                    </m:oMathParaPr>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𝑠</m:t>
                          </m:r>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𝑟</m:t>
                          </m:r>
                        </m:e>
                        <m:sub>
                          <m:r>
                            <a:rPr lang="es-AR" sz="2400" b="0" i="1" smtClean="0">
                              <a:latin typeface="Cambria Math" panose="02040503050406030204" pitchFamily="18" charset="0"/>
                            </a:rPr>
                            <m:t>𝑅𝐹</m:t>
                          </m:r>
                        </m:sub>
                      </m:sSub>
                      <m:r>
                        <a:rPr lang="es-AR" sz="2400" b="0" i="1" smtClean="0">
                          <a:latin typeface="Cambria Math" panose="02040503050406030204" pitchFamily="18" charset="0"/>
                        </a:rPr>
                        <m:t>+</m:t>
                      </m:r>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𝑅𝑃</m:t>
                              </m:r>
                            </m:e>
                            <m:sub>
                              <m:r>
                                <a:rPr lang="es-AR" sz="2400" i="1">
                                  <a:latin typeface="Cambria Math" panose="02040503050406030204" pitchFamily="18" charset="0"/>
                                </a:rPr>
                                <m:t>𝑀</m:t>
                              </m:r>
                            </m:sub>
                          </m:sSub>
                        </m:e>
                      </m:d>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𝑏</m:t>
                          </m:r>
                        </m:e>
                        <m:sub>
                          <m:r>
                            <a:rPr lang="es-AR" sz="2400" i="1">
                              <a:latin typeface="Cambria Math" panose="02040503050406030204" pitchFamily="18" charset="0"/>
                            </a:rPr>
                            <m:t>𝑖</m:t>
                          </m:r>
                        </m:sub>
                      </m:sSub>
                    </m:oMath>
                  </m:oMathPara>
                </a14:m>
                <a:endParaRPr lang="es-AR" sz="2400" dirty="0"/>
              </a:p>
              <a:p>
                <a:pPr marL="0" indent="0">
                  <a:buNone/>
                </a:pPr>
                <a:r>
                  <a:rPr lang="es-AR" sz="2400" dirty="0"/>
                  <a:t>vemos que la Beta es la única variable que puede manejar la Gerencia y que la misma estará determinada por el riesgo de negocios que impliquen sus operaciones más la relación D/E que agrega riesgo financiero </a:t>
                </a:r>
              </a:p>
              <a:p>
                <a:r>
                  <a:rPr lang="es-AR" sz="2400" dirty="0"/>
                  <a:t>La Beta no apalancada puede estimarse a partir de </a:t>
                </a:r>
              </a:p>
              <a:p>
                <a:pPr marL="0" indent="0" algn="ctr">
                  <a:buNone/>
                </a:pPr>
                <a14:m>
                  <m:oMathPara xmlns:m="http://schemas.openxmlformats.org/officeDocument/2006/math">
                    <m:oMathParaPr>
                      <m:jc m:val="centerGroup"/>
                    </m:oMathParaPr>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𝑈</m:t>
                          </m:r>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𝐿</m:t>
                          </m:r>
                        </m:sub>
                      </m:sSub>
                      <m:r>
                        <a:rPr lang="es-AR" sz="2400" b="0" i="1" smtClean="0">
                          <a:latin typeface="Cambria Math" panose="02040503050406030204" pitchFamily="18" charset="0"/>
                        </a:rPr>
                        <m:t>/</m:t>
                      </m:r>
                      <m:d>
                        <m:dPr>
                          <m:begChr m:val="["/>
                          <m:endChr m:val="]"/>
                          <m:ctrlPr>
                            <a:rPr lang="es-AR" sz="2400" b="0" i="1" smtClean="0">
                              <a:latin typeface="Cambria Math" panose="02040503050406030204" pitchFamily="18" charset="0"/>
                            </a:rPr>
                          </m:ctrlPr>
                        </m:dPr>
                        <m:e>
                          <m:r>
                            <a:rPr lang="es-AR" sz="2400" i="1">
                              <a:latin typeface="Cambria Math" panose="02040503050406030204" pitchFamily="18" charset="0"/>
                            </a:rPr>
                            <m:t>1+ </m:t>
                          </m:r>
                          <m:d>
                            <m:dPr>
                              <m:ctrlPr>
                                <a:rPr lang="es-AR" sz="2400" i="1">
                                  <a:latin typeface="Cambria Math" panose="02040503050406030204" pitchFamily="18" charset="0"/>
                                </a:rPr>
                              </m:ctrlPr>
                            </m:dPr>
                            <m:e>
                              <m:r>
                                <a:rPr lang="es-AR" sz="2400" i="1">
                                  <a:latin typeface="Cambria Math" panose="02040503050406030204" pitchFamily="18" charset="0"/>
                                </a:rPr>
                                <m:t>1−</m:t>
                              </m:r>
                              <m:r>
                                <a:rPr lang="es-AR" sz="2400" i="1">
                                  <a:latin typeface="Cambria Math" panose="02040503050406030204" pitchFamily="18" charset="0"/>
                                </a:rPr>
                                <m:t>𝑇</m:t>
                              </m:r>
                            </m:e>
                          </m:d>
                          <m:r>
                            <a:rPr lang="es-AR" sz="2400" i="1">
                              <a:latin typeface="Cambria Math" panose="02040503050406030204" pitchFamily="18" charset="0"/>
                            </a:rPr>
                            <m:t>∗(</m:t>
                          </m:r>
                          <m:f>
                            <m:fPr>
                              <m:type m:val="skw"/>
                              <m:ctrlPr>
                                <a:rPr lang="es-AR" sz="2400" i="1">
                                  <a:latin typeface="Cambria Math" panose="02040503050406030204" pitchFamily="18" charset="0"/>
                                </a:rPr>
                              </m:ctrlPr>
                            </m:fPr>
                            <m:num>
                              <m:r>
                                <a:rPr lang="es-AR" sz="2400" i="1">
                                  <a:latin typeface="Cambria Math" panose="02040503050406030204" pitchFamily="18" charset="0"/>
                                </a:rPr>
                                <m:t>𝐷</m:t>
                              </m:r>
                            </m:num>
                            <m:den>
                              <m:r>
                                <a:rPr lang="es-AR" sz="2400" i="1">
                                  <a:latin typeface="Cambria Math" panose="02040503050406030204" pitchFamily="18" charset="0"/>
                                </a:rPr>
                                <m:t>𝐸</m:t>
                              </m:r>
                            </m:den>
                          </m:f>
                          <m:r>
                            <a:rPr lang="es-AR" sz="2400" i="1">
                              <a:latin typeface="Cambria Math" panose="02040503050406030204" pitchFamily="18" charset="0"/>
                            </a:rPr>
                            <m:t>)</m:t>
                          </m:r>
                        </m:e>
                      </m:d>
                    </m:oMath>
                  </m:oMathPara>
                </a14:m>
                <a:endParaRPr lang="es-AR" sz="2400" dirty="0"/>
              </a:p>
              <a:p>
                <a:pPr marL="0" indent="0">
                  <a:buNone/>
                </a:pPr>
                <a:r>
                  <a:rPr lang="es-AR" sz="2400" dirty="0"/>
                  <a:t>y utilizarse con razones de D/E diferentes para estimar distintas </a:t>
                </a:r>
                <a14:m>
                  <m:oMath xmlns:m="http://schemas.openxmlformats.org/officeDocument/2006/math">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𝑏</m:t>
                        </m:r>
                      </m:e>
                      <m:sub>
                        <m:r>
                          <a:rPr lang="es-AR" sz="2400" b="0" i="1" smtClean="0">
                            <a:latin typeface="Cambria Math" panose="02040503050406030204" pitchFamily="18" charset="0"/>
                          </a:rPr>
                          <m:t>𝐿</m:t>
                        </m:r>
                      </m:sub>
                    </m:sSub>
                  </m:oMath>
                </a14:m>
                <a:r>
                  <a:rPr lang="es-AR" sz="2400" dirty="0"/>
                  <a:t> a cada nivel de deuda</a:t>
                </a:r>
              </a:p>
              <a:p>
                <a:r>
                  <a:rPr lang="es-AR" sz="2400" dirty="0"/>
                  <a:t>Veámoslo en el Excel</a:t>
                </a:r>
              </a:p>
              <a:p>
                <a:pPr marL="0" indent="0" algn="ctr">
                  <a:buNone/>
                </a:pPr>
                <a:endParaRPr lang="es-AR" sz="2400" dirty="0"/>
              </a:p>
              <a:p>
                <a:pPr marL="0" indent="0">
                  <a:buNone/>
                </a:pPr>
                <a:endParaRPr lang="es-AR" sz="2400" dirty="0"/>
              </a:p>
              <a:p>
                <a:pPr marL="0" indent="0">
                  <a:buNone/>
                </a:pPr>
                <a:endParaRPr lang="es-AR" sz="2400" dirty="0"/>
              </a:p>
              <a:p>
                <a:endParaRPr lang="es-AR" sz="2400" dirty="0"/>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928" t="-2661"/>
                </a:stretch>
              </a:blipFill>
            </p:spPr>
            <p:txBody>
              <a:bodyPr/>
              <a:lstStyle/>
              <a:p>
                <a:r>
                  <a:rPr lang="es-ES">
                    <a:noFill/>
                  </a:rPr>
                  <a:t> </a:t>
                </a:r>
              </a:p>
            </p:txBody>
          </p:sp>
        </mc:Fallback>
      </mc:AlternateContent>
    </p:spTree>
    <p:extLst>
      <p:ext uri="{BB962C8B-B14F-4D97-AF65-F5344CB8AC3E}">
        <p14:creationId xmlns:p14="http://schemas.microsoft.com/office/powerpoint/2010/main" val="277925916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4" ma:contentTypeDescription="Crear nuevo documento." ma:contentTypeScope="" ma:versionID="d29dfd9a9a7666034e5ad4f5ee96d9e6">
  <xsd:schema xmlns:xsd="http://www.w3.org/2001/XMLSchema" xmlns:xs="http://www.w3.org/2001/XMLSchema" xmlns:p="http://schemas.microsoft.com/office/2006/metadata/properties" xmlns:ns2="e0a2096b-51a3-4c59-a6bd-c7f798262ca8" targetNamespace="http://schemas.microsoft.com/office/2006/metadata/properties" ma:root="true" ma:fieldsID="bfc5d357d775e068c7ede3c89a10d3d3" ns2:_="">
    <xsd:import namespace="e0a2096b-51a3-4c59-a6bd-c7f798262c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a2096b-51a3-4c59-a6bd-c7f798262c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D03ED93-8660-4D7D-AD9C-6FC0739991A2}"/>
</file>

<file path=customXml/itemProps2.xml><?xml version="1.0" encoding="utf-8"?>
<ds:datastoreItem xmlns:ds="http://schemas.openxmlformats.org/officeDocument/2006/customXml" ds:itemID="{A1127920-BFD6-4270-BB78-120AA66F71F9}"/>
</file>

<file path=customXml/itemProps3.xml><?xml version="1.0" encoding="utf-8"?>
<ds:datastoreItem xmlns:ds="http://schemas.openxmlformats.org/officeDocument/2006/customXml" ds:itemID="{449DA204-A9FB-42B4-9C29-67F27165CA9B}"/>
</file>

<file path=docProps/app.xml><?xml version="1.0" encoding="utf-8"?>
<Properties xmlns="http://schemas.openxmlformats.org/officeDocument/2006/extended-properties" xmlns:vt="http://schemas.openxmlformats.org/officeDocument/2006/docPropsVTypes">
  <TotalTime>16486</TotalTime>
  <Words>1918</Words>
  <Application>Microsoft Office PowerPoint</Application>
  <PresentationFormat>Panorámica</PresentationFormat>
  <Paragraphs>128</Paragraphs>
  <Slides>15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Arial</vt:lpstr>
      <vt:lpstr>Calibri</vt:lpstr>
      <vt:lpstr>Calibri Light</vt:lpstr>
      <vt:lpstr>Cambria Math</vt:lpstr>
      <vt:lpstr>Times New Roman</vt:lpstr>
      <vt:lpstr>Tema de Office</vt:lpstr>
      <vt:lpstr>MAESTRIA EN GESTION ECONOMICA Y FINANCIERA DE RIESGOS</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lpstr>Estructura de Capital y Apalancamiento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GRINBLAT GUSTAVO GABRIEL</dc:creator>
  <cp:lastModifiedBy>GRINBLAT GUSTAVO GABRIEL</cp:lastModifiedBy>
  <cp:revision>140</cp:revision>
  <dcterms:created xsi:type="dcterms:W3CDTF">2023-02-14T14:19:39Z</dcterms:created>
  <dcterms:modified xsi:type="dcterms:W3CDTF">2024-05-21T01:04:23Z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