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drawings/drawing1.xml" ContentType="application/vnd.openxmlformats-officedocument.drawingml.chartshape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olors1.xml" ContentType="application/vnd.ms-office.chartcolorstyle+xml"/>
  <Override PartName="/ppt/theme/theme1.xml" ContentType="application/vnd.openxmlformats-officedocument.theme+xml"/>
  <Override PartName="/ppt/charts/chart1.xml" ContentType="application/vnd.openxmlformats-officedocument.drawingml.chart+xml"/>
  <Override PartName="/ppt/charts/style1.xml" ContentType="application/vnd.ms-office.chartstyl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8" r:id="rId4"/>
    <p:sldId id="326" r:id="rId5"/>
    <p:sldId id="327" r:id="rId6"/>
    <p:sldId id="258" r:id="rId7"/>
    <p:sldId id="376" r:id="rId8"/>
    <p:sldId id="259" r:id="rId9"/>
    <p:sldId id="377" r:id="rId10"/>
    <p:sldId id="378" r:id="rId11"/>
    <p:sldId id="261" r:id="rId12"/>
    <p:sldId id="262" r:id="rId13"/>
    <p:sldId id="379" r:id="rId14"/>
    <p:sldId id="263" r:id="rId15"/>
    <p:sldId id="264" r:id="rId16"/>
    <p:sldId id="374" r:id="rId17"/>
    <p:sldId id="375" r:id="rId18"/>
    <p:sldId id="265" r:id="rId19"/>
    <p:sldId id="266" r:id="rId20"/>
    <p:sldId id="269" r:id="rId21"/>
    <p:sldId id="270" r:id="rId22"/>
    <p:sldId id="380" r:id="rId23"/>
    <p:sldId id="271" r:id="rId24"/>
    <p:sldId id="381" r:id="rId25"/>
    <p:sldId id="382" r:id="rId26"/>
    <p:sldId id="273" r:id="rId27"/>
    <p:sldId id="274" r:id="rId28"/>
    <p:sldId id="275" r:id="rId29"/>
    <p:sldId id="276" r:id="rId30"/>
    <p:sldId id="277" r:id="rId31"/>
    <p:sldId id="278" r:id="rId32"/>
    <p:sldId id="279" r:id="rId33"/>
    <p:sldId id="280" r:id="rId34"/>
    <p:sldId id="282" r:id="rId35"/>
    <p:sldId id="281" r:id="rId36"/>
    <p:sldId id="283" r:id="rId37"/>
    <p:sldId id="284" r:id="rId38"/>
    <p:sldId id="383" r:id="rId39"/>
    <p:sldId id="285" r:id="rId40"/>
    <p:sldId id="286" r:id="rId41"/>
    <p:sldId id="287" r:id="rId42"/>
    <p:sldId id="288" r:id="rId43"/>
    <p:sldId id="384" r:id="rId44"/>
    <p:sldId id="289" r:id="rId45"/>
    <p:sldId id="290" r:id="rId46"/>
    <p:sldId id="291" r:id="rId47"/>
    <p:sldId id="292" r:id="rId48"/>
    <p:sldId id="293" r:id="rId49"/>
    <p:sldId id="385" r:id="rId50"/>
    <p:sldId id="295" r:id="rId51"/>
    <p:sldId id="296" r:id="rId52"/>
    <p:sldId id="297" r:id="rId53"/>
    <p:sldId id="328" r:id="rId54"/>
    <p:sldId id="329" r:id="rId55"/>
    <p:sldId id="330" r:id="rId56"/>
    <p:sldId id="331" r:id="rId57"/>
    <p:sldId id="332" r:id="rId58"/>
    <p:sldId id="333" r:id="rId59"/>
    <p:sldId id="386" r:id="rId60"/>
    <p:sldId id="334" r:id="rId61"/>
    <p:sldId id="387" r:id="rId62"/>
    <p:sldId id="335" r:id="rId63"/>
    <p:sldId id="337" r:id="rId64"/>
    <p:sldId id="338" r:id="rId65"/>
    <p:sldId id="339" r:id="rId66"/>
    <p:sldId id="340" r:id="rId67"/>
    <p:sldId id="341" r:id="rId68"/>
    <p:sldId id="342" r:id="rId69"/>
    <p:sldId id="388" r:id="rId70"/>
    <p:sldId id="343" r:id="rId71"/>
    <p:sldId id="345" r:id="rId72"/>
    <p:sldId id="350" r:id="rId73"/>
    <p:sldId id="351" r:id="rId74"/>
    <p:sldId id="389" r:id="rId75"/>
    <p:sldId id="352" r:id="rId76"/>
    <p:sldId id="353" r:id="rId77"/>
    <p:sldId id="346" r:id="rId78"/>
    <p:sldId id="347" r:id="rId79"/>
    <p:sldId id="348" r:id="rId80"/>
    <p:sldId id="354" r:id="rId81"/>
    <p:sldId id="355" r:id="rId82"/>
    <p:sldId id="349" r:id="rId83"/>
    <p:sldId id="391" r:id="rId84"/>
    <p:sldId id="390" r:id="rId85"/>
    <p:sldId id="356" r:id="rId86"/>
    <p:sldId id="357" r:id="rId87"/>
    <p:sldId id="358" r:id="rId88"/>
    <p:sldId id="359" r:id="rId89"/>
    <p:sldId id="360" r:id="rId90"/>
    <p:sldId id="361" r:id="rId91"/>
    <p:sldId id="362" r:id="rId92"/>
    <p:sldId id="365" r:id="rId93"/>
    <p:sldId id="368" r:id="rId94"/>
    <p:sldId id="364" r:id="rId95"/>
    <p:sldId id="366" r:id="rId96"/>
    <p:sldId id="367" r:id="rId97"/>
    <p:sldId id="369" r:id="rId98"/>
    <p:sldId id="370" r:id="rId99"/>
    <p:sldId id="371" r:id="rId100"/>
    <p:sldId id="372" r:id="rId101"/>
    <p:sldId id="373" r:id="rId102"/>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sorterViewPr>
    <p:cViewPr>
      <p:scale>
        <a:sx n="100" d="100"/>
        <a:sy n="100" d="100"/>
      </p:scale>
      <p:origin x="0" y="-3495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customXml" Target="../customXml/item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108" Type="http://schemas.openxmlformats.org/officeDocument/2006/relationships/customXml" Target="../customXml/item2.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customXml" Target="../customXml/item3.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charts/_rels/chart1.xml.rels><?xml version="1.0" encoding="UTF-8" standalone="yes"?>
<Relationships xmlns="http://schemas.openxmlformats.org/package/2006/relationships"><Relationship Id="rId3" Type="http://schemas.openxmlformats.org/officeDocument/2006/relationships/oleObject" Target="Libro1"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ES"/>
              <a:t>Precios Reales</a:t>
            </a:r>
            <a:r>
              <a:rPr lang="es-ES" baseline="0"/>
              <a:t> vs Valorex Intrínsecos</a:t>
            </a:r>
            <a:endParaRPr lang="es-E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ES"/>
        </a:p>
      </c:txPr>
    </c:title>
    <c:autoTitleDeleted val="0"/>
    <c:plotArea>
      <c:layout/>
      <c:lineChart>
        <c:grouping val="standard"/>
        <c:varyColors val="0"/>
        <c:ser>
          <c:idx val="1"/>
          <c:order val="0"/>
          <c:tx>
            <c:v>Real-Mercado</c:v>
          </c:tx>
          <c:spPr>
            <a:ln w="28575" cap="rnd">
              <a:solidFill>
                <a:schemeClr val="accent2"/>
              </a:solidFill>
              <a:round/>
            </a:ln>
            <a:effectLst/>
          </c:spPr>
          <c:marker>
            <c:symbol val="none"/>
          </c:marker>
          <c:cat>
            <c:numRef>
              <c:f>Hoja1!$B$4:$B$33</c:f>
              <c:numCache>
                <c:formatCode>General</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Cache>
            </c:numRef>
          </c:cat>
          <c:val>
            <c:numRef>
              <c:f>Hoja1!$C$4:$C$33</c:f>
              <c:numCache>
                <c:formatCode>General</c:formatCode>
                <c:ptCount val="30"/>
                <c:pt idx="0">
                  <c:v>41.03</c:v>
                </c:pt>
                <c:pt idx="1">
                  <c:v>42.04</c:v>
                </c:pt>
                <c:pt idx="2">
                  <c:v>43.02</c:v>
                </c:pt>
                <c:pt idx="3">
                  <c:v>44.02</c:v>
                </c:pt>
                <c:pt idx="4">
                  <c:v>45.03</c:v>
                </c:pt>
                <c:pt idx="5">
                  <c:v>46.04</c:v>
                </c:pt>
                <c:pt idx="6">
                  <c:v>47.03</c:v>
                </c:pt>
                <c:pt idx="7">
                  <c:v>48.02</c:v>
                </c:pt>
                <c:pt idx="8">
                  <c:v>49.02</c:v>
                </c:pt>
                <c:pt idx="9">
                  <c:v>50.02</c:v>
                </c:pt>
                <c:pt idx="10">
                  <c:v>51.03</c:v>
                </c:pt>
                <c:pt idx="11">
                  <c:v>52.03</c:v>
                </c:pt>
                <c:pt idx="12">
                  <c:v>53.03</c:v>
                </c:pt>
                <c:pt idx="13">
                  <c:v>54.04</c:v>
                </c:pt>
                <c:pt idx="14">
                  <c:v>55.02</c:v>
                </c:pt>
                <c:pt idx="15">
                  <c:v>56.02</c:v>
                </c:pt>
                <c:pt idx="16">
                  <c:v>57.04</c:v>
                </c:pt>
                <c:pt idx="17">
                  <c:v>58.03</c:v>
                </c:pt>
                <c:pt idx="18">
                  <c:v>59.02</c:v>
                </c:pt>
                <c:pt idx="19">
                  <c:v>60.03</c:v>
                </c:pt>
                <c:pt idx="20">
                  <c:v>61.04</c:v>
                </c:pt>
                <c:pt idx="21">
                  <c:v>62.02</c:v>
                </c:pt>
                <c:pt idx="22">
                  <c:v>63.02</c:v>
                </c:pt>
                <c:pt idx="23">
                  <c:v>64.02</c:v>
                </c:pt>
                <c:pt idx="24">
                  <c:v>65.03</c:v>
                </c:pt>
                <c:pt idx="25">
                  <c:v>66.040000000000006</c:v>
                </c:pt>
                <c:pt idx="26">
                  <c:v>67.03</c:v>
                </c:pt>
                <c:pt idx="27">
                  <c:v>68.03</c:v>
                </c:pt>
                <c:pt idx="28">
                  <c:v>69.040000000000006</c:v>
                </c:pt>
                <c:pt idx="29">
                  <c:v>70.02</c:v>
                </c:pt>
              </c:numCache>
            </c:numRef>
          </c:val>
          <c:smooth val="0"/>
          <c:extLst>
            <c:ext xmlns:c16="http://schemas.microsoft.com/office/drawing/2014/chart" uri="{C3380CC4-5D6E-409C-BE32-E72D297353CC}">
              <c16:uniqueId val="{00000000-EFEB-411B-9A30-C5F138102F41}"/>
            </c:ext>
          </c:extLst>
        </c:ser>
        <c:ser>
          <c:idx val="2"/>
          <c:order val="1"/>
          <c:tx>
            <c:v>Intrínseco</c:v>
          </c:tx>
          <c:spPr>
            <a:ln w="28575" cap="rnd">
              <a:solidFill>
                <a:schemeClr val="accent3"/>
              </a:solidFill>
              <a:round/>
            </a:ln>
            <a:effectLst/>
          </c:spPr>
          <c:marker>
            <c:symbol val="none"/>
          </c:marker>
          <c:cat>
            <c:numRef>
              <c:f>Hoja1!$B$4:$B$33</c:f>
              <c:numCache>
                <c:formatCode>General</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Cache>
            </c:numRef>
          </c:cat>
          <c:val>
            <c:numRef>
              <c:f>Hoja1!$D$4:$D$33</c:f>
              <c:numCache>
                <c:formatCode>General</c:formatCode>
                <c:ptCount val="30"/>
                <c:pt idx="0">
                  <c:v>36.957000000000001</c:v>
                </c:pt>
                <c:pt idx="1">
                  <c:v>37.866</c:v>
                </c:pt>
                <c:pt idx="2">
                  <c:v>38.738000000000007</c:v>
                </c:pt>
                <c:pt idx="3">
                  <c:v>39.648000000000003</c:v>
                </c:pt>
                <c:pt idx="4">
                  <c:v>40.547000000000004</c:v>
                </c:pt>
                <c:pt idx="5">
                  <c:v>41.466000000000001</c:v>
                </c:pt>
                <c:pt idx="6">
                  <c:v>42.347000000000008</c:v>
                </c:pt>
                <c:pt idx="7">
                  <c:v>43.258000000000003</c:v>
                </c:pt>
                <c:pt idx="8">
                  <c:v>44.138000000000005</c:v>
                </c:pt>
                <c:pt idx="9">
                  <c:v>55.042000000000009</c:v>
                </c:pt>
                <c:pt idx="10">
                  <c:v>56.173000000000002</c:v>
                </c:pt>
                <c:pt idx="11">
                  <c:v>57.263000000000005</c:v>
                </c:pt>
                <c:pt idx="12">
                  <c:v>58.353000000000009</c:v>
                </c:pt>
                <c:pt idx="13">
                  <c:v>59.464000000000006</c:v>
                </c:pt>
                <c:pt idx="14">
                  <c:v>60.552000000000007</c:v>
                </c:pt>
                <c:pt idx="15">
                  <c:v>61.652000000000008</c:v>
                </c:pt>
                <c:pt idx="16">
                  <c:v>62.774000000000008</c:v>
                </c:pt>
                <c:pt idx="17">
                  <c:v>54.568200000000004</c:v>
                </c:pt>
                <c:pt idx="18">
                  <c:v>55.518799999999999</c:v>
                </c:pt>
                <c:pt idx="19">
                  <c:v>56.4482</c:v>
                </c:pt>
                <c:pt idx="20">
                  <c:v>57.417599999999993</c:v>
                </c:pt>
                <c:pt idx="21">
                  <c:v>58.318800000000003</c:v>
                </c:pt>
                <c:pt idx="22">
                  <c:v>59.278799999999997</c:v>
                </c:pt>
                <c:pt idx="23">
                  <c:v>55.727399999999996</c:v>
                </c:pt>
                <c:pt idx="24">
                  <c:v>56.616100000000003</c:v>
                </c:pt>
                <c:pt idx="25">
                  <c:v>57.494800000000005</c:v>
                </c:pt>
                <c:pt idx="26">
                  <c:v>58.3461</c:v>
                </c:pt>
                <c:pt idx="27">
                  <c:v>59.216100000000004</c:v>
                </c:pt>
                <c:pt idx="28">
                  <c:v>60.104800000000004</c:v>
                </c:pt>
                <c:pt idx="29">
                  <c:v>71.460400000000007</c:v>
                </c:pt>
              </c:numCache>
            </c:numRef>
          </c:val>
          <c:smooth val="0"/>
          <c:extLst>
            <c:ext xmlns:c16="http://schemas.microsoft.com/office/drawing/2014/chart" uri="{C3380CC4-5D6E-409C-BE32-E72D297353CC}">
              <c16:uniqueId val="{00000001-EFEB-411B-9A30-C5F138102F41}"/>
            </c:ext>
          </c:extLst>
        </c:ser>
        <c:dLbls>
          <c:showLegendKey val="0"/>
          <c:showVal val="0"/>
          <c:showCatName val="0"/>
          <c:showSerName val="0"/>
          <c:showPercent val="0"/>
          <c:showBubbleSize val="0"/>
        </c:dLbls>
        <c:smooth val="0"/>
        <c:axId val="870414096"/>
        <c:axId val="870417456"/>
      </c:lineChart>
      <c:catAx>
        <c:axId val="870414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
          </a:p>
        </c:txPr>
        <c:crossAx val="870417456"/>
        <c:crosses val="autoZero"/>
        <c:auto val="1"/>
        <c:lblAlgn val="ctr"/>
        <c:lblOffset val="100"/>
        <c:noMultiLvlLbl val="0"/>
      </c:catAx>
      <c:valAx>
        <c:axId val="8704174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
          </a:p>
        </c:txPr>
        <c:crossAx val="8704140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E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0.38552</cdr:x>
      <cdr:y>0.39919</cdr:y>
    </cdr:from>
    <cdr:to>
      <cdr:x>0.55239</cdr:x>
      <cdr:y>0.4667</cdr:y>
    </cdr:to>
    <cdr:sp macro="" textlink="">
      <cdr:nvSpPr>
        <cdr:cNvPr id="2" name="CuadroTexto 1">
          <a:extLst xmlns:a="http://schemas.openxmlformats.org/drawingml/2006/main">
            <a:ext uri="{FF2B5EF4-FFF2-40B4-BE49-F238E27FC236}">
              <a16:creationId xmlns:a16="http://schemas.microsoft.com/office/drawing/2014/main" id="{F71448A0-491E-7B9A-30DD-6716704388E4}"/>
            </a:ext>
          </a:extLst>
        </cdr:cNvPr>
        <cdr:cNvSpPr txBox="1"/>
      </cdr:nvSpPr>
      <cdr:spPr>
        <a:xfrm xmlns:a="http://schemas.openxmlformats.org/drawingml/2006/main">
          <a:off x="2720689" y="1638516"/>
          <a:ext cx="1177636" cy="277091"/>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s-AR" sz="1100" dirty="0"/>
            <a:t>Subvaluada</a:t>
          </a:r>
          <a:endParaRPr lang="es-ES" sz="1100" dirty="0"/>
        </a:p>
      </cdr:txBody>
    </cdr:sp>
  </cdr:relSizeAnchor>
  <cdr:relSizeAnchor xmlns:cdr="http://schemas.openxmlformats.org/drawingml/2006/chartDrawing">
    <cdr:from>
      <cdr:x>0.70487</cdr:x>
      <cdr:y>0.15841</cdr:y>
    </cdr:from>
    <cdr:to>
      <cdr:x>0.87174</cdr:x>
      <cdr:y>0.22592</cdr:y>
    </cdr:to>
    <cdr:sp macro="" textlink="">
      <cdr:nvSpPr>
        <cdr:cNvPr id="3" name="CuadroTexto 1">
          <a:extLst xmlns:a="http://schemas.openxmlformats.org/drawingml/2006/main">
            <a:ext uri="{FF2B5EF4-FFF2-40B4-BE49-F238E27FC236}">
              <a16:creationId xmlns:a16="http://schemas.microsoft.com/office/drawing/2014/main" id="{CDB7E363-E41B-3E83-70B4-A6EC94E0EB40}"/>
            </a:ext>
          </a:extLst>
        </cdr:cNvPr>
        <cdr:cNvSpPr txBox="1"/>
      </cdr:nvSpPr>
      <cdr:spPr>
        <a:xfrm xmlns:a="http://schemas.openxmlformats.org/drawingml/2006/main">
          <a:off x="4974362" y="650225"/>
          <a:ext cx="1177636" cy="277091"/>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s-AR" sz="1100" dirty="0"/>
            <a:t>Sobrevaluada</a:t>
          </a:r>
          <a:endParaRPr lang="es-ES" sz="1100" dirty="0"/>
        </a:p>
      </cdr:txBody>
    </cdr:sp>
  </cdr:relSizeAnchor>
  <cdr:relSizeAnchor xmlns:cdr="http://schemas.openxmlformats.org/drawingml/2006/chartDrawing">
    <cdr:from>
      <cdr:x>0.10413</cdr:x>
      <cdr:y>0.24955</cdr:y>
    </cdr:from>
    <cdr:to>
      <cdr:x>0.271</cdr:x>
      <cdr:y>0.31705</cdr:y>
    </cdr:to>
    <cdr:sp macro="" textlink="">
      <cdr:nvSpPr>
        <cdr:cNvPr id="4" name="CuadroTexto 1">
          <a:extLst xmlns:a="http://schemas.openxmlformats.org/drawingml/2006/main">
            <a:ext uri="{FF2B5EF4-FFF2-40B4-BE49-F238E27FC236}">
              <a16:creationId xmlns:a16="http://schemas.microsoft.com/office/drawing/2014/main" id="{CDB7E363-E41B-3E83-70B4-A6EC94E0EB40}"/>
            </a:ext>
          </a:extLst>
        </cdr:cNvPr>
        <cdr:cNvSpPr txBox="1"/>
      </cdr:nvSpPr>
      <cdr:spPr>
        <a:xfrm xmlns:a="http://schemas.openxmlformats.org/drawingml/2006/main">
          <a:off x="734871" y="1024298"/>
          <a:ext cx="1177636" cy="277091"/>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s-AR" sz="1100" dirty="0"/>
            <a:t>Sobrevaluada</a:t>
          </a:r>
          <a:endParaRPr lang="es-ES" sz="1100" dirty="0"/>
        </a:p>
      </cdr:txBody>
    </cdr:sp>
  </cdr:relSizeAnchor>
</c:userShap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9456C7-C2A0-CABA-DA51-EFD49153E91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AR"/>
          </a:p>
        </p:txBody>
      </p:sp>
      <p:sp>
        <p:nvSpPr>
          <p:cNvPr id="3" name="Subtítulo 2">
            <a:extLst>
              <a:ext uri="{FF2B5EF4-FFF2-40B4-BE49-F238E27FC236}">
                <a16:creationId xmlns:a16="http://schemas.microsoft.com/office/drawing/2014/main" id="{86B2AA5C-5BE0-802E-2F92-F9D15ED126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AR"/>
          </a:p>
        </p:txBody>
      </p:sp>
      <p:sp>
        <p:nvSpPr>
          <p:cNvPr id="4" name="Marcador de fecha 3">
            <a:extLst>
              <a:ext uri="{FF2B5EF4-FFF2-40B4-BE49-F238E27FC236}">
                <a16:creationId xmlns:a16="http://schemas.microsoft.com/office/drawing/2014/main" id="{B182494A-3599-E167-AE5C-B2E2185A4F23}"/>
              </a:ext>
            </a:extLst>
          </p:cNvPr>
          <p:cNvSpPr>
            <a:spLocks noGrp="1"/>
          </p:cNvSpPr>
          <p:nvPr>
            <p:ph type="dt" sz="half" idx="10"/>
          </p:nvPr>
        </p:nvSpPr>
        <p:spPr/>
        <p:txBody>
          <a:bodyPr/>
          <a:lstStyle/>
          <a:p>
            <a:fld id="{72DE73A3-1A51-40AF-881F-340535BD00FB}" type="datetimeFigureOut">
              <a:rPr lang="es-AR" smtClean="0"/>
              <a:t>28/3/2024</a:t>
            </a:fld>
            <a:endParaRPr lang="es-AR"/>
          </a:p>
        </p:txBody>
      </p:sp>
      <p:sp>
        <p:nvSpPr>
          <p:cNvPr id="5" name="Marcador de pie de página 4">
            <a:extLst>
              <a:ext uri="{FF2B5EF4-FFF2-40B4-BE49-F238E27FC236}">
                <a16:creationId xmlns:a16="http://schemas.microsoft.com/office/drawing/2014/main" id="{D381446A-A575-B3AF-C0EC-65B1F75AD4CD}"/>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6CC738AA-E9D9-96CF-CA53-B6A2DD2ECA49}"/>
              </a:ext>
            </a:extLst>
          </p:cNvPr>
          <p:cNvSpPr>
            <a:spLocks noGrp="1"/>
          </p:cNvSpPr>
          <p:nvPr>
            <p:ph type="sldNum" sz="quarter" idx="12"/>
          </p:nvPr>
        </p:nvSpPr>
        <p:spPr/>
        <p:txBody>
          <a:bodyPr/>
          <a:lstStyle/>
          <a:p>
            <a:fld id="{D7FEC076-A200-4FBB-9122-7E1ADC7B9088}" type="slidenum">
              <a:rPr lang="es-AR" smtClean="0"/>
              <a:t>‹Nº›</a:t>
            </a:fld>
            <a:endParaRPr lang="es-AR"/>
          </a:p>
        </p:txBody>
      </p:sp>
    </p:spTree>
    <p:extLst>
      <p:ext uri="{BB962C8B-B14F-4D97-AF65-F5344CB8AC3E}">
        <p14:creationId xmlns:p14="http://schemas.microsoft.com/office/powerpoint/2010/main" val="3720848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D96353-7578-7669-540F-3E1E5C15FE78}"/>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4AE86C4F-3830-DECB-E11C-D89A814377F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C9BCCCBD-EF40-F671-D6EC-2B4993DE8CB1}"/>
              </a:ext>
            </a:extLst>
          </p:cNvPr>
          <p:cNvSpPr>
            <a:spLocks noGrp="1"/>
          </p:cNvSpPr>
          <p:nvPr>
            <p:ph type="dt" sz="half" idx="10"/>
          </p:nvPr>
        </p:nvSpPr>
        <p:spPr/>
        <p:txBody>
          <a:bodyPr/>
          <a:lstStyle/>
          <a:p>
            <a:fld id="{72DE73A3-1A51-40AF-881F-340535BD00FB}" type="datetimeFigureOut">
              <a:rPr lang="es-AR" smtClean="0"/>
              <a:t>28/3/2024</a:t>
            </a:fld>
            <a:endParaRPr lang="es-AR"/>
          </a:p>
        </p:txBody>
      </p:sp>
      <p:sp>
        <p:nvSpPr>
          <p:cNvPr id="5" name="Marcador de pie de página 4">
            <a:extLst>
              <a:ext uri="{FF2B5EF4-FFF2-40B4-BE49-F238E27FC236}">
                <a16:creationId xmlns:a16="http://schemas.microsoft.com/office/drawing/2014/main" id="{5A2B1E35-577D-556F-0AAE-CE91F7429763}"/>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89BA1A59-878A-A79B-182F-AB89BE0C7D06}"/>
              </a:ext>
            </a:extLst>
          </p:cNvPr>
          <p:cNvSpPr>
            <a:spLocks noGrp="1"/>
          </p:cNvSpPr>
          <p:nvPr>
            <p:ph type="sldNum" sz="quarter" idx="12"/>
          </p:nvPr>
        </p:nvSpPr>
        <p:spPr/>
        <p:txBody>
          <a:bodyPr/>
          <a:lstStyle/>
          <a:p>
            <a:fld id="{D7FEC076-A200-4FBB-9122-7E1ADC7B9088}" type="slidenum">
              <a:rPr lang="es-AR" smtClean="0"/>
              <a:t>‹Nº›</a:t>
            </a:fld>
            <a:endParaRPr lang="es-AR"/>
          </a:p>
        </p:txBody>
      </p:sp>
    </p:spTree>
    <p:extLst>
      <p:ext uri="{BB962C8B-B14F-4D97-AF65-F5344CB8AC3E}">
        <p14:creationId xmlns:p14="http://schemas.microsoft.com/office/powerpoint/2010/main" val="4286619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039E79-424A-56BA-09B6-C60F610E7D6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F07F446E-21BD-F40E-B9BA-1FE4798B3C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F43ECED-DB55-8F8B-D762-7A832FD050D7}"/>
              </a:ext>
            </a:extLst>
          </p:cNvPr>
          <p:cNvSpPr>
            <a:spLocks noGrp="1"/>
          </p:cNvSpPr>
          <p:nvPr>
            <p:ph type="dt" sz="half" idx="10"/>
          </p:nvPr>
        </p:nvSpPr>
        <p:spPr/>
        <p:txBody>
          <a:bodyPr/>
          <a:lstStyle/>
          <a:p>
            <a:fld id="{72DE73A3-1A51-40AF-881F-340535BD00FB}" type="datetimeFigureOut">
              <a:rPr lang="es-AR" smtClean="0"/>
              <a:t>28/3/2024</a:t>
            </a:fld>
            <a:endParaRPr lang="es-AR"/>
          </a:p>
        </p:txBody>
      </p:sp>
      <p:sp>
        <p:nvSpPr>
          <p:cNvPr id="5" name="Marcador de pie de página 4">
            <a:extLst>
              <a:ext uri="{FF2B5EF4-FFF2-40B4-BE49-F238E27FC236}">
                <a16:creationId xmlns:a16="http://schemas.microsoft.com/office/drawing/2014/main" id="{E0E30534-1B48-EC30-FE89-AAA424DF4242}"/>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F91384D6-5455-AFFD-CBE3-C73A0C99EAFF}"/>
              </a:ext>
            </a:extLst>
          </p:cNvPr>
          <p:cNvSpPr>
            <a:spLocks noGrp="1"/>
          </p:cNvSpPr>
          <p:nvPr>
            <p:ph type="sldNum" sz="quarter" idx="12"/>
          </p:nvPr>
        </p:nvSpPr>
        <p:spPr/>
        <p:txBody>
          <a:bodyPr/>
          <a:lstStyle/>
          <a:p>
            <a:fld id="{D7FEC076-A200-4FBB-9122-7E1ADC7B9088}" type="slidenum">
              <a:rPr lang="es-AR" smtClean="0"/>
              <a:t>‹Nº›</a:t>
            </a:fld>
            <a:endParaRPr lang="es-AR"/>
          </a:p>
        </p:txBody>
      </p:sp>
    </p:spTree>
    <p:extLst>
      <p:ext uri="{BB962C8B-B14F-4D97-AF65-F5344CB8AC3E}">
        <p14:creationId xmlns:p14="http://schemas.microsoft.com/office/powerpoint/2010/main" val="2298260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FF7FE8-97BF-010F-99B2-AAB42EF43B4D}"/>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F2BB90C5-D19A-4806-B06D-2C4F04C7F6CC}"/>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a:extLst>
              <a:ext uri="{FF2B5EF4-FFF2-40B4-BE49-F238E27FC236}">
                <a16:creationId xmlns:a16="http://schemas.microsoft.com/office/drawing/2014/main" id="{3E7DAB5F-F1D0-8DAB-B042-1048FB5C722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a:extLst>
              <a:ext uri="{FF2B5EF4-FFF2-40B4-BE49-F238E27FC236}">
                <a16:creationId xmlns:a16="http://schemas.microsoft.com/office/drawing/2014/main" id="{8E72B654-0D98-7152-0EE2-247D39E1EED1}"/>
              </a:ext>
            </a:extLst>
          </p:cNvPr>
          <p:cNvSpPr>
            <a:spLocks noGrp="1"/>
          </p:cNvSpPr>
          <p:nvPr>
            <p:ph type="dt" sz="half" idx="10"/>
          </p:nvPr>
        </p:nvSpPr>
        <p:spPr/>
        <p:txBody>
          <a:bodyPr/>
          <a:lstStyle/>
          <a:p>
            <a:fld id="{72DE73A3-1A51-40AF-881F-340535BD00FB}" type="datetimeFigureOut">
              <a:rPr lang="es-AR" smtClean="0"/>
              <a:t>28/3/2024</a:t>
            </a:fld>
            <a:endParaRPr lang="es-AR"/>
          </a:p>
        </p:txBody>
      </p:sp>
      <p:sp>
        <p:nvSpPr>
          <p:cNvPr id="6" name="Marcador de pie de página 5">
            <a:extLst>
              <a:ext uri="{FF2B5EF4-FFF2-40B4-BE49-F238E27FC236}">
                <a16:creationId xmlns:a16="http://schemas.microsoft.com/office/drawing/2014/main" id="{67DE2801-A3BC-C32A-3F9F-63370B261D5F}"/>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923951EB-8AB3-6503-0853-1F32E677F591}"/>
              </a:ext>
            </a:extLst>
          </p:cNvPr>
          <p:cNvSpPr>
            <a:spLocks noGrp="1"/>
          </p:cNvSpPr>
          <p:nvPr>
            <p:ph type="sldNum" sz="quarter" idx="12"/>
          </p:nvPr>
        </p:nvSpPr>
        <p:spPr/>
        <p:txBody>
          <a:bodyPr/>
          <a:lstStyle/>
          <a:p>
            <a:fld id="{D7FEC076-A200-4FBB-9122-7E1ADC7B9088}" type="slidenum">
              <a:rPr lang="es-AR" smtClean="0"/>
              <a:t>‹Nº›</a:t>
            </a:fld>
            <a:endParaRPr lang="es-AR"/>
          </a:p>
        </p:txBody>
      </p:sp>
    </p:spTree>
    <p:extLst>
      <p:ext uri="{BB962C8B-B14F-4D97-AF65-F5344CB8AC3E}">
        <p14:creationId xmlns:p14="http://schemas.microsoft.com/office/powerpoint/2010/main" val="21034638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4B9EAD-B365-93D6-BF08-8CAEBDA4E57C}"/>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9B3C4655-6A6D-AE88-8C5E-DC6EF1DEEE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5EFA131-C65F-FC71-914B-7BC0050E1AD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a:extLst>
              <a:ext uri="{FF2B5EF4-FFF2-40B4-BE49-F238E27FC236}">
                <a16:creationId xmlns:a16="http://schemas.microsoft.com/office/drawing/2014/main" id="{BD2A07DA-2BC4-6D2F-45DD-4010E490C2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95C0565-4AFB-45A6-0EEC-6D159B668B5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a:extLst>
              <a:ext uri="{FF2B5EF4-FFF2-40B4-BE49-F238E27FC236}">
                <a16:creationId xmlns:a16="http://schemas.microsoft.com/office/drawing/2014/main" id="{B1554973-3884-C7C8-D045-93BA3ADF5E62}"/>
              </a:ext>
            </a:extLst>
          </p:cNvPr>
          <p:cNvSpPr>
            <a:spLocks noGrp="1"/>
          </p:cNvSpPr>
          <p:nvPr>
            <p:ph type="dt" sz="half" idx="10"/>
          </p:nvPr>
        </p:nvSpPr>
        <p:spPr/>
        <p:txBody>
          <a:bodyPr/>
          <a:lstStyle/>
          <a:p>
            <a:fld id="{72DE73A3-1A51-40AF-881F-340535BD00FB}" type="datetimeFigureOut">
              <a:rPr lang="es-AR" smtClean="0"/>
              <a:t>28/3/2024</a:t>
            </a:fld>
            <a:endParaRPr lang="es-AR"/>
          </a:p>
        </p:txBody>
      </p:sp>
      <p:sp>
        <p:nvSpPr>
          <p:cNvPr id="8" name="Marcador de pie de página 7">
            <a:extLst>
              <a:ext uri="{FF2B5EF4-FFF2-40B4-BE49-F238E27FC236}">
                <a16:creationId xmlns:a16="http://schemas.microsoft.com/office/drawing/2014/main" id="{75926B8A-9055-FED2-C585-98039F894A68}"/>
              </a:ext>
            </a:extLst>
          </p:cNvPr>
          <p:cNvSpPr>
            <a:spLocks noGrp="1"/>
          </p:cNvSpPr>
          <p:nvPr>
            <p:ph type="ftr" sz="quarter" idx="11"/>
          </p:nvPr>
        </p:nvSpPr>
        <p:spPr/>
        <p:txBody>
          <a:bodyPr/>
          <a:lstStyle/>
          <a:p>
            <a:endParaRPr lang="es-AR"/>
          </a:p>
        </p:txBody>
      </p:sp>
      <p:sp>
        <p:nvSpPr>
          <p:cNvPr id="9" name="Marcador de número de diapositiva 8">
            <a:extLst>
              <a:ext uri="{FF2B5EF4-FFF2-40B4-BE49-F238E27FC236}">
                <a16:creationId xmlns:a16="http://schemas.microsoft.com/office/drawing/2014/main" id="{7940B0C9-7A4C-E22B-3FB5-2A2109578B93}"/>
              </a:ext>
            </a:extLst>
          </p:cNvPr>
          <p:cNvSpPr>
            <a:spLocks noGrp="1"/>
          </p:cNvSpPr>
          <p:nvPr>
            <p:ph type="sldNum" sz="quarter" idx="12"/>
          </p:nvPr>
        </p:nvSpPr>
        <p:spPr/>
        <p:txBody>
          <a:bodyPr/>
          <a:lstStyle/>
          <a:p>
            <a:fld id="{D7FEC076-A200-4FBB-9122-7E1ADC7B9088}" type="slidenum">
              <a:rPr lang="es-AR" smtClean="0"/>
              <a:t>‹Nº›</a:t>
            </a:fld>
            <a:endParaRPr lang="es-AR"/>
          </a:p>
        </p:txBody>
      </p:sp>
    </p:spTree>
    <p:extLst>
      <p:ext uri="{BB962C8B-B14F-4D97-AF65-F5344CB8AC3E}">
        <p14:creationId xmlns:p14="http://schemas.microsoft.com/office/powerpoint/2010/main" val="2333372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C258B9-F0EA-83B7-D66E-D7B18E482638}"/>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fecha 2">
            <a:extLst>
              <a:ext uri="{FF2B5EF4-FFF2-40B4-BE49-F238E27FC236}">
                <a16:creationId xmlns:a16="http://schemas.microsoft.com/office/drawing/2014/main" id="{9866F691-6A8A-ED24-AF89-5FAC647A6DF2}"/>
              </a:ext>
            </a:extLst>
          </p:cNvPr>
          <p:cNvSpPr>
            <a:spLocks noGrp="1"/>
          </p:cNvSpPr>
          <p:nvPr>
            <p:ph type="dt" sz="half" idx="10"/>
          </p:nvPr>
        </p:nvSpPr>
        <p:spPr/>
        <p:txBody>
          <a:bodyPr/>
          <a:lstStyle/>
          <a:p>
            <a:fld id="{72DE73A3-1A51-40AF-881F-340535BD00FB}" type="datetimeFigureOut">
              <a:rPr lang="es-AR" smtClean="0"/>
              <a:t>28/3/2024</a:t>
            </a:fld>
            <a:endParaRPr lang="es-AR"/>
          </a:p>
        </p:txBody>
      </p:sp>
      <p:sp>
        <p:nvSpPr>
          <p:cNvPr id="4" name="Marcador de pie de página 3">
            <a:extLst>
              <a:ext uri="{FF2B5EF4-FFF2-40B4-BE49-F238E27FC236}">
                <a16:creationId xmlns:a16="http://schemas.microsoft.com/office/drawing/2014/main" id="{24965CEA-8FFB-FA9B-4A27-FC22DF5F9A32}"/>
              </a:ext>
            </a:extLst>
          </p:cNvPr>
          <p:cNvSpPr>
            <a:spLocks noGrp="1"/>
          </p:cNvSpPr>
          <p:nvPr>
            <p:ph type="ftr" sz="quarter" idx="11"/>
          </p:nvPr>
        </p:nvSpPr>
        <p:spPr/>
        <p:txBody>
          <a:bodyPr/>
          <a:lstStyle/>
          <a:p>
            <a:endParaRPr lang="es-AR"/>
          </a:p>
        </p:txBody>
      </p:sp>
      <p:sp>
        <p:nvSpPr>
          <p:cNvPr id="5" name="Marcador de número de diapositiva 4">
            <a:extLst>
              <a:ext uri="{FF2B5EF4-FFF2-40B4-BE49-F238E27FC236}">
                <a16:creationId xmlns:a16="http://schemas.microsoft.com/office/drawing/2014/main" id="{675B890D-95A9-D114-4EF6-C4EBD29E46E6}"/>
              </a:ext>
            </a:extLst>
          </p:cNvPr>
          <p:cNvSpPr>
            <a:spLocks noGrp="1"/>
          </p:cNvSpPr>
          <p:nvPr>
            <p:ph type="sldNum" sz="quarter" idx="12"/>
          </p:nvPr>
        </p:nvSpPr>
        <p:spPr/>
        <p:txBody>
          <a:bodyPr/>
          <a:lstStyle/>
          <a:p>
            <a:fld id="{D7FEC076-A200-4FBB-9122-7E1ADC7B9088}" type="slidenum">
              <a:rPr lang="es-AR" smtClean="0"/>
              <a:t>‹Nº›</a:t>
            </a:fld>
            <a:endParaRPr lang="es-AR"/>
          </a:p>
        </p:txBody>
      </p:sp>
    </p:spTree>
    <p:extLst>
      <p:ext uri="{BB962C8B-B14F-4D97-AF65-F5344CB8AC3E}">
        <p14:creationId xmlns:p14="http://schemas.microsoft.com/office/powerpoint/2010/main" val="1962663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F00A659-53DF-4A05-4911-7BDE998CCE87}"/>
              </a:ext>
            </a:extLst>
          </p:cNvPr>
          <p:cNvSpPr>
            <a:spLocks noGrp="1"/>
          </p:cNvSpPr>
          <p:nvPr>
            <p:ph type="dt" sz="half" idx="10"/>
          </p:nvPr>
        </p:nvSpPr>
        <p:spPr/>
        <p:txBody>
          <a:bodyPr/>
          <a:lstStyle/>
          <a:p>
            <a:fld id="{72DE73A3-1A51-40AF-881F-340535BD00FB}" type="datetimeFigureOut">
              <a:rPr lang="es-AR" smtClean="0"/>
              <a:t>28/3/2024</a:t>
            </a:fld>
            <a:endParaRPr lang="es-AR"/>
          </a:p>
        </p:txBody>
      </p:sp>
      <p:sp>
        <p:nvSpPr>
          <p:cNvPr id="3" name="Marcador de pie de página 2">
            <a:extLst>
              <a:ext uri="{FF2B5EF4-FFF2-40B4-BE49-F238E27FC236}">
                <a16:creationId xmlns:a16="http://schemas.microsoft.com/office/drawing/2014/main" id="{23B1BE81-DFA2-827D-0251-9C53BF72E39A}"/>
              </a:ext>
            </a:extLst>
          </p:cNvPr>
          <p:cNvSpPr>
            <a:spLocks noGrp="1"/>
          </p:cNvSpPr>
          <p:nvPr>
            <p:ph type="ftr" sz="quarter" idx="11"/>
          </p:nvPr>
        </p:nvSpPr>
        <p:spPr/>
        <p:txBody>
          <a:bodyPr/>
          <a:lstStyle/>
          <a:p>
            <a:endParaRPr lang="es-AR"/>
          </a:p>
        </p:txBody>
      </p:sp>
      <p:sp>
        <p:nvSpPr>
          <p:cNvPr id="4" name="Marcador de número de diapositiva 3">
            <a:extLst>
              <a:ext uri="{FF2B5EF4-FFF2-40B4-BE49-F238E27FC236}">
                <a16:creationId xmlns:a16="http://schemas.microsoft.com/office/drawing/2014/main" id="{D0EF2007-8F2E-198F-7331-E75C56D368D4}"/>
              </a:ext>
            </a:extLst>
          </p:cNvPr>
          <p:cNvSpPr>
            <a:spLocks noGrp="1"/>
          </p:cNvSpPr>
          <p:nvPr>
            <p:ph type="sldNum" sz="quarter" idx="12"/>
          </p:nvPr>
        </p:nvSpPr>
        <p:spPr/>
        <p:txBody>
          <a:bodyPr/>
          <a:lstStyle/>
          <a:p>
            <a:fld id="{D7FEC076-A200-4FBB-9122-7E1ADC7B9088}" type="slidenum">
              <a:rPr lang="es-AR" smtClean="0"/>
              <a:t>‹Nº›</a:t>
            </a:fld>
            <a:endParaRPr lang="es-AR"/>
          </a:p>
        </p:txBody>
      </p:sp>
    </p:spTree>
    <p:extLst>
      <p:ext uri="{BB962C8B-B14F-4D97-AF65-F5344CB8AC3E}">
        <p14:creationId xmlns:p14="http://schemas.microsoft.com/office/powerpoint/2010/main" val="1777113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8A1648-8E04-2DAA-CE6E-FD746E7BDB3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2923797E-A588-C8DC-C5B6-F01647CBD4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a:extLst>
              <a:ext uri="{FF2B5EF4-FFF2-40B4-BE49-F238E27FC236}">
                <a16:creationId xmlns:a16="http://schemas.microsoft.com/office/drawing/2014/main" id="{6FE979B2-4CAC-1E08-666C-77C355A0C3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650A021-11BE-B66E-49A5-08438DE101A4}"/>
              </a:ext>
            </a:extLst>
          </p:cNvPr>
          <p:cNvSpPr>
            <a:spLocks noGrp="1"/>
          </p:cNvSpPr>
          <p:nvPr>
            <p:ph type="dt" sz="half" idx="10"/>
          </p:nvPr>
        </p:nvSpPr>
        <p:spPr/>
        <p:txBody>
          <a:bodyPr/>
          <a:lstStyle/>
          <a:p>
            <a:fld id="{72DE73A3-1A51-40AF-881F-340535BD00FB}" type="datetimeFigureOut">
              <a:rPr lang="es-AR" smtClean="0"/>
              <a:t>28/3/2024</a:t>
            </a:fld>
            <a:endParaRPr lang="es-AR"/>
          </a:p>
        </p:txBody>
      </p:sp>
      <p:sp>
        <p:nvSpPr>
          <p:cNvPr id="6" name="Marcador de pie de página 5">
            <a:extLst>
              <a:ext uri="{FF2B5EF4-FFF2-40B4-BE49-F238E27FC236}">
                <a16:creationId xmlns:a16="http://schemas.microsoft.com/office/drawing/2014/main" id="{2418AF57-6B4F-E7B7-A1B6-1BCA413DDA56}"/>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8285E433-4BBD-765B-2290-ABFD4BB29451}"/>
              </a:ext>
            </a:extLst>
          </p:cNvPr>
          <p:cNvSpPr>
            <a:spLocks noGrp="1"/>
          </p:cNvSpPr>
          <p:nvPr>
            <p:ph type="sldNum" sz="quarter" idx="12"/>
          </p:nvPr>
        </p:nvSpPr>
        <p:spPr/>
        <p:txBody>
          <a:bodyPr/>
          <a:lstStyle/>
          <a:p>
            <a:fld id="{D7FEC076-A200-4FBB-9122-7E1ADC7B9088}" type="slidenum">
              <a:rPr lang="es-AR" smtClean="0"/>
              <a:t>‹Nº›</a:t>
            </a:fld>
            <a:endParaRPr lang="es-AR"/>
          </a:p>
        </p:txBody>
      </p:sp>
    </p:spTree>
    <p:extLst>
      <p:ext uri="{BB962C8B-B14F-4D97-AF65-F5344CB8AC3E}">
        <p14:creationId xmlns:p14="http://schemas.microsoft.com/office/powerpoint/2010/main" val="395184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6F9BC2-EAD0-F17D-BBD0-076F31FB7F0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posición de imagen 2">
            <a:extLst>
              <a:ext uri="{FF2B5EF4-FFF2-40B4-BE49-F238E27FC236}">
                <a16:creationId xmlns:a16="http://schemas.microsoft.com/office/drawing/2014/main" id="{6B5C5331-406E-7839-30AD-BAC96078AD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Marcador de texto 3">
            <a:extLst>
              <a:ext uri="{FF2B5EF4-FFF2-40B4-BE49-F238E27FC236}">
                <a16:creationId xmlns:a16="http://schemas.microsoft.com/office/drawing/2014/main" id="{58C7C4BB-1123-3765-7743-D5FBDE52A4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730D16E-ACC8-83C7-54B9-A1302958E6D0}"/>
              </a:ext>
            </a:extLst>
          </p:cNvPr>
          <p:cNvSpPr>
            <a:spLocks noGrp="1"/>
          </p:cNvSpPr>
          <p:nvPr>
            <p:ph type="dt" sz="half" idx="10"/>
          </p:nvPr>
        </p:nvSpPr>
        <p:spPr/>
        <p:txBody>
          <a:bodyPr/>
          <a:lstStyle/>
          <a:p>
            <a:fld id="{72DE73A3-1A51-40AF-881F-340535BD00FB}" type="datetimeFigureOut">
              <a:rPr lang="es-AR" smtClean="0"/>
              <a:t>28/3/2024</a:t>
            </a:fld>
            <a:endParaRPr lang="es-AR"/>
          </a:p>
        </p:txBody>
      </p:sp>
      <p:sp>
        <p:nvSpPr>
          <p:cNvPr id="6" name="Marcador de pie de página 5">
            <a:extLst>
              <a:ext uri="{FF2B5EF4-FFF2-40B4-BE49-F238E27FC236}">
                <a16:creationId xmlns:a16="http://schemas.microsoft.com/office/drawing/2014/main" id="{6E25BA18-4BD6-237C-1FEC-73A3E97124FA}"/>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50A231FC-0D7D-2256-B1CE-46437CBF9172}"/>
              </a:ext>
            </a:extLst>
          </p:cNvPr>
          <p:cNvSpPr>
            <a:spLocks noGrp="1"/>
          </p:cNvSpPr>
          <p:nvPr>
            <p:ph type="sldNum" sz="quarter" idx="12"/>
          </p:nvPr>
        </p:nvSpPr>
        <p:spPr/>
        <p:txBody>
          <a:bodyPr/>
          <a:lstStyle/>
          <a:p>
            <a:fld id="{D7FEC076-A200-4FBB-9122-7E1ADC7B9088}" type="slidenum">
              <a:rPr lang="es-AR" smtClean="0"/>
              <a:t>‹Nº›</a:t>
            </a:fld>
            <a:endParaRPr lang="es-AR"/>
          </a:p>
        </p:txBody>
      </p:sp>
    </p:spTree>
    <p:extLst>
      <p:ext uri="{BB962C8B-B14F-4D97-AF65-F5344CB8AC3E}">
        <p14:creationId xmlns:p14="http://schemas.microsoft.com/office/powerpoint/2010/main" val="1049133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F02525-1C11-9244-7291-F0E9FC670F03}"/>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A5161F2B-FEBC-63B8-9684-966C4401743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3A8986FB-1DC4-7DBF-468C-5165A39527E5}"/>
              </a:ext>
            </a:extLst>
          </p:cNvPr>
          <p:cNvSpPr>
            <a:spLocks noGrp="1"/>
          </p:cNvSpPr>
          <p:nvPr>
            <p:ph type="dt" sz="half" idx="10"/>
          </p:nvPr>
        </p:nvSpPr>
        <p:spPr/>
        <p:txBody>
          <a:bodyPr/>
          <a:lstStyle/>
          <a:p>
            <a:fld id="{72DE73A3-1A51-40AF-881F-340535BD00FB}" type="datetimeFigureOut">
              <a:rPr lang="es-AR" smtClean="0"/>
              <a:t>28/3/2024</a:t>
            </a:fld>
            <a:endParaRPr lang="es-AR"/>
          </a:p>
        </p:txBody>
      </p:sp>
      <p:sp>
        <p:nvSpPr>
          <p:cNvPr id="5" name="Marcador de pie de página 4">
            <a:extLst>
              <a:ext uri="{FF2B5EF4-FFF2-40B4-BE49-F238E27FC236}">
                <a16:creationId xmlns:a16="http://schemas.microsoft.com/office/drawing/2014/main" id="{CC9D5169-EBB1-F5F0-F6ED-E517FBD44CAE}"/>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F73B70BD-2503-54DA-7231-5906EF5C5BA9}"/>
              </a:ext>
            </a:extLst>
          </p:cNvPr>
          <p:cNvSpPr>
            <a:spLocks noGrp="1"/>
          </p:cNvSpPr>
          <p:nvPr>
            <p:ph type="sldNum" sz="quarter" idx="12"/>
          </p:nvPr>
        </p:nvSpPr>
        <p:spPr/>
        <p:txBody>
          <a:bodyPr/>
          <a:lstStyle/>
          <a:p>
            <a:fld id="{D7FEC076-A200-4FBB-9122-7E1ADC7B9088}" type="slidenum">
              <a:rPr lang="es-AR" smtClean="0"/>
              <a:t>‹Nº›</a:t>
            </a:fld>
            <a:endParaRPr lang="es-AR"/>
          </a:p>
        </p:txBody>
      </p:sp>
    </p:spTree>
    <p:extLst>
      <p:ext uri="{BB962C8B-B14F-4D97-AF65-F5344CB8AC3E}">
        <p14:creationId xmlns:p14="http://schemas.microsoft.com/office/powerpoint/2010/main" val="3879451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2444BA0-CD33-53DC-5D49-608497BC1CE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ACFE0F1C-56F3-DE1D-3DAE-103CE9374CBF}"/>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8C61F98A-BDB1-6672-52AF-63AE7C3D6DC3}"/>
              </a:ext>
            </a:extLst>
          </p:cNvPr>
          <p:cNvSpPr>
            <a:spLocks noGrp="1"/>
          </p:cNvSpPr>
          <p:nvPr>
            <p:ph type="dt" sz="half" idx="10"/>
          </p:nvPr>
        </p:nvSpPr>
        <p:spPr/>
        <p:txBody>
          <a:bodyPr/>
          <a:lstStyle/>
          <a:p>
            <a:fld id="{72DE73A3-1A51-40AF-881F-340535BD00FB}" type="datetimeFigureOut">
              <a:rPr lang="es-AR" smtClean="0"/>
              <a:t>28/3/2024</a:t>
            </a:fld>
            <a:endParaRPr lang="es-AR"/>
          </a:p>
        </p:txBody>
      </p:sp>
      <p:sp>
        <p:nvSpPr>
          <p:cNvPr id="5" name="Marcador de pie de página 4">
            <a:extLst>
              <a:ext uri="{FF2B5EF4-FFF2-40B4-BE49-F238E27FC236}">
                <a16:creationId xmlns:a16="http://schemas.microsoft.com/office/drawing/2014/main" id="{480EB75A-74A9-6C4B-63CA-EE8E0F46DAF4}"/>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F8AFBE58-AAFD-A8F8-3BFA-AACCCA4F8199}"/>
              </a:ext>
            </a:extLst>
          </p:cNvPr>
          <p:cNvSpPr>
            <a:spLocks noGrp="1"/>
          </p:cNvSpPr>
          <p:nvPr>
            <p:ph type="sldNum" sz="quarter" idx="12"/>
          </p:nvPr>
        </p:nvSpPr>
        <p:spPr/>
        <p:txBody>
          <a:bodyPr/>
          <a:lstStyle/>
          <a:p>
            <a:fld id="{D7FEC076-A200-4FBB-9122-7E1ADC7B9088}" type="slidenum">
              <a:rPr lang="es-AR" smtClean="0"/>
              <a:t>‹Nº›</a:t>
            </a:fld>
            <a:endParaRPr lang="es-AR"/>
          </a:p>
        </p:txBody>
      </p:sp>
    </p:spTree>
    <p:extLst>
      <p:ext uri="{BB962C8B-B14F-4D97-AF65-F5344CB8AC3E}">
        <p14:creationId xmlns:p14="http://schemas.microsoft.com/office/powerpoint/2010/main" val="781461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301E594-A37D-4027-51D0-71473ED8D3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C78AFE9A-957F-0F8D-1593-B79981E082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370B9035-5E42-61B2-A7A2-172537F359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DE73A3-1A51-40AF-881F-340535BD00FB}" type="datetimeFigureOut">
              <a:rPr lang="es-AR" smtClean="0"/>
              <a:t>28/3/2024</a:t>
            </a:fld>
            <a:endParaRPr lang="es-AR"/>
          </a:p>
        </p:txBody>
      </p:sp>
      <p:sp>
        <p:nvSpPr>
          <p:cNvPr id="5" name="Marcador de pie de página 4">
            <a:extLst>
              <a:ext uri="{FF2B5EF4-FFF2-40B4-BE49-F238E27FC236}">
                <a16:creationId xmlns:a16="http://schemas.microsoft.com/office/drawing/2014/main" id="{A2C455FB-CD0B-7AA3-4140-13EE961B84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Marcador de número de diapositiva 5">
            <a:extLst>
              <a:ext uri="{FF2B5EF4-FFF2-40B4-BE49-F238E27FC236}">
                <a16:creationId xmlns:a16="http://schemas.microsoft.com/office/drawing/2014/main" id="{943C6306-0E63-7D7B-14D6-4105BBD993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FEC076-A200-4FBB-9122-7E1ADC7B9088}" type="slidenum">
              <a:rPr lang="es-AR" smtClean="0"/>
              <a:t>‹Nº›</a:t>
            </a:fld>
            <a:endParaRPr lang="es-AR"/>
          </a:p>
        </p:txBody>
      </p:sp>
    </p:spTree>
    <p:extLst>
      <p:ext uri="{BB962C8B-B14F-4D97-AF65-F5344CB8AC3E}">
        <p14:creationId xmlns:p14="http://schemas.microsoft.com/office/powerpoint/2010/main" val="35536239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8" Type="http://schemas.openxmlformats.org/officeDocument/2006/relationships/hyperlink" Target="https://economipedia.com/definiciones/mercado-de-divisas.html" TargetMode="External"/><Relationship Id="rId3" Type="http://schemas.openxmlformats.org/officeDocument/2006/relationships/hyperlink" Target="https://economipedia.com/definiciones/futuro-financiero.html" TargetMode="External"/><Relationship Id="rId7" Type="http://schemas.openxmlformats.org/officeDocument/2006/relationships/hyperlink" Target="https://economipedia.com/definiciones/contrato-por-diferencia-cfd.html" TargetMode="External"/><Relationship Id="rId2" Type="http://schemas.openxmlformats.org/officeDocument/2006/relationships/hyperlink" Target="https://economipedia.com/definiciones/camara-de-compensacion.html" TargetMode="External"/><Relationship Id="rId1" Type="http://schemas.openxmlformats.org/officeDocument/2006/relationships/slideLayout" Target="../slideLayouts/slideLayout2.xml"/><Relationship Id="rId6" Type="http://schemas.openxmlformats.org/officeDocument/2006/relationships/hyperlink" Target="https://economipedia.com/definiciones/creador-de-mercado.html" TargetMode="External"/><Relationship Id="rId5" Type="http://schemas.openxmlformats.org/officeDocument/2006/relationships/hyperlink" Target="https://economipedia.com/definiciones/apalancamiento-en-derivados.html" TargetMode="External"/><Relationship Id="rId4" Type="http://schemas.openxmlformats.org/officeDocument/2006/relationships/hyperlink" Target="https://economipedia.com/definiciones/over-the-counter.html"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B82140-08D3-08F1-4D09-A0DA1C925D1F}"/>
              </a:ext>
            </a:extLst>
          </p:cNvPr>
          <p:cNvSpPr>
            <a:spLocks noGrp="1"/>
          </p:cNvSpPr>
          <p:nvPr>
            <p:ph type="ctrTitle"/>
          </p:nvPr>
        </p:nvSpPr>
        <p:spPr/>
        <p:txBody>
          <a:bodyPr/>
          <a:lstStyle/>
          <a:p>
            <a:r>
              <a:rPr lang="es-ES" sz="1800" b="1" dirty="0">
                <a:effectLst/>
                <a:latin typeface="Times New Roman" panose="02020603050405020304" pitchFamily="18" charset="0"/>
                <a:ea typeface="Times New Roman" panose="02020603050405020304" pitchFamily="18" charset="0"/>
              </a:rPr>
              <a:t>MAESTRIA EN GESTION ECONOMICA Y FINANCIERA DE RIESGOS</a:t>
            </a:r>
            <a:endParaRPr lang="es-AR" dirty="0"/>
          </a:p>
        </p:txBody>
      </p:sp>
      <p:sp>
        <p:nvSpPr>
          <p:cNvPr id="3" name="Subtítulo 2">
            <a:extLst>
              <a:ext uri="{FF2B5EF4-FFF2-40B4-BE49-F238E27FC236}">
                <a16:creationId xmlns:a16="http://schemas.microsoft.com/office/drawing/2014/main" id="{C8DE824A-985B-6EFE-79BC-73F2093AD114}"/>
              </a:ext>
            </a:extLst>
          </p:cNvPr>
          <p:cNvSpPr>
            <a:spLocks noGrp="1"/>
          </p:cNvSpPr>
          <p:nvPr>
            <p:ph type="subTitle" idx="1"/>
          </p:nvPr>
        </p:nvSpPr>
        <p:spPr/>
        <p:txBody>
          <a:bodyPr/>
          <a:lstStyle/>
          <a:p>
            <a:endParaRPr lang="es-ES" sz="1800" b="1" dirty="0">
              <a:effectLst/>
              <a:latin typeface="Arial" panose="020B0604020202020204" pitchFamily="34" charset="0"/>
              <a:ea typeface="Times New Roman" panose="02020603050405020304" pitchFamily="18" charset="0"/>
            </a:endParaRPr>
          </a:p>
          <a:p>
            <a:r>
              <a:rPr lang="es-ES" sz="1800" b="1" dirty="0">
                <a:effectLst/>
                <a:latin typeface="Arial" panose="020B0604020202020204" pitchFamily="34" charset="0"/>
                <a:ea typeface="Times New Roman" panose="02020603050405020304" pitchFamily="18" charset="0"/>
              </a:rPr>
              <a:t>ASIGNATURA:  TÓPICOS DE FINANZAS CORPORATIVAS</a:t>
            </a:r>
          </a:p>
          <a:p>
            <a:endParaRPr lang="es-ES" sz="1800" b="1" dirty="0">
              <a:effectLst/>
              <a:latin typeface="Arial" panose="020B0604020202020204" pitchFamily="34" charset="0"/>
              <a:ea typeface="Times New Roman" panose="02020603050405020304" pitchFamily="18" charset="0"/>
            </a:endParaRPr>
          </a:p>
          <a:p>
            <a:r>
              <a:rPr lang="es-ES" sz="1800" b="1" dirty="0">
                <a:effectLst/>
                <a:latin typeface="Arial" panose="020B0604020202020204" pitchFamily="34" charset="0"/>
                <a:ea typeface="Times New Roman" panose="02020603050405020304" pitchFamily="18" charset="0"/>
              </a:rPr>
              <a:t>DOCENTE:</a:t>
            </a:r>
            <a:r>
              <a:rPr lang="es-ES" sz="1800" dirty="0">
                <a:effectLst/>
                <a:latin typeface="Arial" panose="020B0604020202020204" pitchFamily="34" charset="0"/>
                <a:ea typeface="Times New Roman" panose="02020603050405020304" pitchFamily="18" charset="0"/>
              </a:rPr>
              <a:t> ACT. GUSTAVO GABRIEL GRINBLAT</a:t>
            </a:r>
            <a:endParaRPr lang="es-AR" dirty="0"/>
          </a:p>
        </p:txBody>
      </p:sp>
      <p:pic>
        <p:nvPicPr>
          <p:cNvPr id="4" name="1 Imagen">
            <a:extLst>
              <a:ext uri="{FF2B5EF4-FFF2-40B4-BE49-F238E27FC236}">
                <a16:creationId xmlns:a16="http://schemas.microsoft.com/office/drawing/2014/main" id="{03ECD9A0-F9B9-1F21-C435-4F8087292C62}"/>
              </a:ext>
            </a:extLst>
          </p:cNvPr>
          <p:cNvPicPr/>
          <p:nvPr/>
        </p:nvPicPr>
        <p:blipFill>
          <a:blip r:embed="rId2"/>
          <a:stretch>
            <a:fillRect/>
          </a:stretch>
        </p:blipFill>
        <p:spPr>
          <a:xfrm>
            <a:off x="4009707" y="1764030"/>
            <a:ext cx="4172585" cy="1104265"/>
          </a:xfrm>
          <a:prstGeom prst="rect">
            <a:avLst/>
          </a:prstGeom>
        </p:spPr>
      </p:pic>
    </p:spTree>
    <p:extLst>
      <p:ext uri="{BB962C8B-B14F-4D97-AF65-F5344CB8AC3E}">
        <p14:creationId xmlns:p14="http://schemas.microsoft.com/office/powerpoint/2010/main" val="3847695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5A4F30-6088-9E27-49C0-0ADFB0505E98}"/>
              </a:ext>
            </a:extLst>
          </p:cNvPr>
          <p:cNvSpPr>
            <a:spLocks noGrp="1"/>
          </p:cNvSpPr>
          <p:nvPr>
            <p:ph type="title"/>
          </p:nvPr>
        </p:nvSpPr>
        <p:spPr/>
        <p:txBody>
          <a:bodyPr/>
          <a:lstStyle/>
          <a:p>
            <a:r>
              <a:rPr lang="es-AR" dirty="0"/>
              <a:t>Objetivos de la Materia</a:t>
            </a:r>
          </a:p>
        </p:txBody>
      </p:sp>
      <p:sp>
        <p:nvSpPr>
          <p:cNvPr id="3" name="Marcador de contenido 2">
            <a:extLst>
              <a:ext uri="{FF2B5EF4-FFF2-40B4-BE49-F238E27FC236}">
                <a16:creationId xmlns:a16="http://schemas.microsoft.com/office/drawing/2014/main" id="{D9B65480-5BEF-4B9A-DAE1-3A35CE5DBF1E}"/>
              </a:ext>
            </a:extLst>
          </p:cNvPr>
          <p:cNvSpPr>
            <a:spLocks noGrp="1"/>
          </p:cNvSpPr>
          <p:nvPr>
            <p:ph idx="1"/>
          </p:nvPr>
        </p:nvSpPr>
        <p:spPr/>
        <p:txBody>
          <a:bodyPr>
            <a:normAutofit/>
          </a:bodyPr>
          <a:lstStyle/>
          <a:p>
            <a:r>
              <a:rPr lang="es-AR" sz="2400" dirty="0">
                <a:effectLst/>
                <a:latin typeface="Calibri" panose="020F0502020204030204" pitchFamily="34" charset="0"/>
                <a:ea typeface="Times New Roman" panose="02020603050405020304" pitchFamily="18" charset="0"/>
                <a:cs typeface="Times New Roman" panose="02020603050405020304" pitchFamily="18" charset="0"/>
              </a:rPr>
              <a:t>Incorporar los Principios que deben aplicar tanto al inversor como al administrador/gerente en búsqueda de maximizar el valor de las acciones de la empresa en la que trabaja.</a:t>
            </a:r>
          </a:p>
          <a:p>
            <a:r>
              <a:rPr lang="es-AR" sz="2400" dirty="0">
                <a:effectLst/>
                <a:latin typeface="Calibri" panose="020F0502020204030204" pitchFamily="34" charset="0"/>
                <a:ea typeface="Times New Roman" panose="02020603050405020304" pitchFamily="18" charset="0"/>
                <a:cs typeface="Times New Roman" panose="02020603050405020304" pitchFamily="18" charset="0"/>
              </a:rPr>
              <a:t>La meta primaria de la administración financiera es MAXIMIZAR EL VALOR DE LAS EMPRESAS, pero no puede hacerse a cualquier costo. </a:t>
            </a:r>
          </a:p>
          <a:p>
            <a:pPr lvl="1"/>
            <a:r>
              <a:rPr lang="es-AR" sz="2000" dirty="0">
                <a:effectLst/>
                <a:latin typeface="Calibri" panose="020F0502020204030204" pitchFamily="34" charset="0"/>
                <a:ea typeface="Times New Roman" panose="02020603050405020304" pitchFamily="18" charset="0"/>
                <a:cs typeface="Times New Roman" panose="02020603050405020304" pitchFamily="18" charset="0"/>
              </a:rPr>
              <a:t>Medio ambiente, </a:t>
            </a:r>
          </a:p>
          <a:p>
            <a:pPr lvl="1"/>
            <a:r>
              <a:rPr lang="es-AR" sz="2000" dirty="0">
                <a:latin typeface="Calibri" panose="020F0502020204030204" pitchFamily="34" charset="0"/>
                <a:ea typeface="Times New Roman" panose="02020603050405020304" pitchFamily="18" charset="0"/>
                <a:cs typeface="Times New Roman" panose="02020603050405020304" pitchFamily="18" charset="0"/>
              </a:rPr>
              <a:t>L</a:t>
            </a:r>
            <a:r>
              <a:rPr lang="es-AR" sz="2000" dirty="0">
                <a:effectLst/>
                <a:latin typeface="Calibri" panose="020F0502020204030204" pitchFamily="34" charset="0"/>
                <a:ea typeface="Times New Roman" panose="02020603050405020304" pitchFamily="18" charset="0"/>
                <a:cs typeface="Times New Roman" panose="02020603050405020304" pitchFamily="18" charset="0"/>
              </a:rPr>
              <a:t>egislación laboral, </a:t>
            </a:r>
          </a:p>
          <a:p>
            <a:pPr lvl="1"/>
            <a:r>
              <a:rPr lang="es-AR" sz="2000" dirty="0">
                <a:latin typeface="Calibri" panose="020F0502020204030204" pitchFamily="34" charset="0"/>
                <a:ea typeface="Times New Roman" panose="02020603050405020304" pitchFamily="18" charset="0"/>
                <a:cs typeface="Times New Roman" panose="02020603050405020304" pitchFamily="18" charset="0"/>
              </a:rPr>
              <a:t>M</a:t>
            </a:r>
            <a:r>
              <a:rPr lang="es-AR" sz="2000" dirty="0">
                <a:effectLst/>
                <a:latin typeface="Calibri" panose="020F0502020204030204" pitchFamily="34" charset="0"/>
                <a:ea typeface="Times New Roman" panose="02020603050405020304" pitchFamily="18" charset="0"/>
                <a:cs typeface="Times New Roman" panose="02020603050405020304" pitchFamily="18" charset="0"/>
              </a:rPr>
              <a:t>onopolios, etc.</a:t>
            </a:r>
          </a:p>
          <a:p>
            <a:r>
              <a:rPr lang="es-AR" sz="2400" dirty="0">
                <a:latin typeface="Calibri" panose="020F0502020204030204" pitchFamily="34" charset="0"/>
                <a:cs typeface="Times New Roman" panose="02020603050405020304" pitchFamily="18" charset="0"/>
              </a:rPr>
              <a:t>Valuación: flujo futuro de efectivo y riesgos. La maximización es buena para la sociedad en general</a:t>
            </a:r>
          </a:p>
          <a:p>
            <a:endParaRPr lang="es-AR" sz="24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s-AR" sz="2400" dirty="0">
              <a:latin typeface="Calibri" panose="020F0502020204030204" pitchFamily="34" charset="0"/>
              <a:ea typeface="Times New Roman" panose="02020603050405020304" pitchFamily="18" charset="0"/>
              <a:cs typeface="Times New Roman" panose="02020603050405020304" pitchFamily="18" charset="0"/>
            </a:endParaRPr>
          </a:p>
          <a:p>
            <a:endParaRPr lang="es-AR" sz="24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s-AR" sz="2400" dirty="0"/>
          </a:p>
        </p:txBody>
      </p:sp>
    </p:spTree>
    <p:extLst>
      <p:ext uri="{BB962C8B-B14F-4D97-AF65-F5344CB8AC3E}">
        <p14:creationId xmlns:p14="http://schemas.microsoft.com/office/powerpoint/2010/main" val="1608256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5A4F30-6088-9E27-49C0-0ADFB0505E98}"/>
              </a:ext>
            </a:extLst>
          </p:cNvPr>
          <p:cNvSpPr>
            <a:spLocks noGrp="1"/>
          </p:cNvSpPr>
          <p:nvPr>
            <p:ph type="title"/>
          </p:nvPr>
        </p:nvSpPr>
        <p:spPr/>
        <p:txBody>
          <a:bodyPr/>
          <a:lstStyle/>
          <a:p>
            <a:pPr algn="ctr"/>
            <a:r>
              <a:rPr lang="es-AR" dirty="0"/>
              <a:t>Objetivos de la Materia De qué estaremos hablando</a:t>
            </a:r>
          </a:p>
        </p:txBody>
      </p:sp>
      <p:sp>
        <p:nvSpPr>
          <p:cNvPr id="3" name="Marcador de contenido 2">
            <a:extLst>
              <a:ext uri="{FF2B5EF4-FFF2-40B4-BE49-F238E27FC236}">
                <a16:creationId xmlns:a16="http://schemas.microsoft.com/office/drawing/2014/main" id="{D9B65480-5BEF-4B9A-DAE1-3A35CE5DBF1E}"/>
              </a:ext>
            </a:extLst>
          </p:cNvPr>
          <p:cNvSpPr>
            <a:spLocks noGrp="1"/>
          </p:cNvSpPr>
          <p:nvPr>
            <p:ph idx="1"/>
          </p:nvPr>
        </p:nvSpPr>
        <p:spPr/>
        <p:txBody>
          <a:bodyPr>
            <a:normAutofit/>
          </a:bodyPr>
          <a:lstStyle/>
          <a:p>
            <a:r>
              <a:rPr lang="es-AR" sz="2400" dirty="0">
                <a:effectLst/>
                <a:latin typeface="Calibri" panose="020F0502020204030204" pitchFamily="34" charset="0"/>
                <a:ea typeface="Times New Roman" panose="02020603050405020304" pitchFamily="18" charset="0"/>
                <a:cs typeface="Times New Roman" panose="02020603050405020304" pitchFamily="18" charset="0"/>
              </a:rPr>
              <a:t>Valor</a:t>
            </a:r>
          </a:p>
          <a:p>
            <a:r>
              <a:rPr lang="es-AR" sz="2400" dirty="0">
                <a:effectLst/>
                <a:latin typeface="Calibri" panose="020F0502020204030204" pitchFamily="34" charset="0"/>
                <a:ea typeface="Times New Roman" panose="02020603050405020304" pitchFamily="18" charset="0"/>
                <a:cs typeface="Times New Roman" panose="02020603050405020304" pitchFamily="18" charset="0"/>
              </a:rPr>
              <a:t>Retorno</a:t>
            </a:r>
          </a:p>
          <a:p>
            <a:r>
              <a:rPr lang="es-AR" sz="2400" dirty="0">
                <a:latin typeface="Calibri" panose="020F0502020204030204" pitchFamily="34" charset="0"/>
                <a:ea typeface="Times New Roman" panose="02020603050405020304" pitchFamily="18" charset="0"/>
                <a:cs typeface="Times New Roman" panose="02020603050405020304" pitchFamily="18" charset="0"/>
              </a:rPr>
              <a:t>Riesgo</a:t>
            </a:r>
          </a:p>
          <a:p>
            <a:r>
              <a:rPr lang="es-AR" sz="2400" dirty="0">
                <a:effectLst/>
                <a:latin typeface="Calibri" panose="020F0502020204030204" pitchFamily="34" charset="0"/>
                <a:ea typeface="Times New Roman" panose="02020603050405020304" pitchFamily="18" charset="0"/>
                <a:cs typeface="Times New Roman" panose="02020603050405020304" pitchFamily="18" charset="0"/>
              </a:rPr>
              <a:t>Carteras</a:t>
            </a:r>
          </a:p>
          <a:p>
            <a:r>
              <a:rPr lang="es-AR" sz="2400" dirty="0">
                <a:effectLst/>
                <a:latin typeface="Calibri" panose="020F0502020204030204" pitchFamily="34" charset="0"/>
                <a:ea typeface="Times New Roman" panose="02020603050405020304" pitchFamily="18" charset="0"/>
                <a:cs typeface="Times New Roman" panose="02020603050405020304" pitchFamily="18" charset="0"/>
              </a:rPr>
              <a:t>Impuestos y escudo fiscal (intereses)</a:t>
            </a:r>
          </a:p>
          <a:p>
            <a:r>
              <a:rPr lang="es-AR" sz="2400" dirty="0">
                <a:latin typeface="Calibri" panose="020F0502020204030204" pitchFamily="34" charset="0"/>
                <a:ea typeface="Times New Roman" panose="02020603050405020304" pitchFamily="18" charset="0"/>
                <a:cs typeface="Times New Roman" panose="02020603050405020304" pitchFamily="18" charset="0"/>
              </a:rPr>
              <a:t>Mercados y su funcionamiento</a:t>
            </a:r>
          </a:p>
          <a:p>
            <a:r>
              <a:rPr lang="es-AR" sz="2400" dirty="0">
                <a:effectLst/>
                <a:latin typeface="Calibri" panose="020F0502020204030204" pitchFamily="34" charset="0"/>
                <a:ea typeface="Times New Roman" panose="02020603050405020304" pitchFamily="18" charset="0"/>
                <a:cs typeface="Times New Roman" panose="02020603050405020304" pitchFamily="18" charset="0"/>
              </a:rPr>
              <a:t>Instrumentos financieros y sus objetivos, ventajas y desventajas para el suscriptor y para el inversor</a:t>
            </a:r>
          </a:p>
          <a:p>
            <a:r>
              <a:rPr lang="es-AR" sz="2400" dirty="0">
                <a:latin typeface="Calibri" panose="020F0502020204030204" pitchFamily="34" charset="0"/>
                <a:ea typeface="Times New Roman" panose="02020603050405020304" pitchFamily="18" charset="0"/>
                <a:cs typeface="Times New Roman" panose="02020603050405020304" pitchFamily="18" charset="0"/>
              </a:rPr>
              <a:t>Tipos de Mercados, Primarios, Secundarios, organizados, no organizados</a:t>
            </a:r>
          </a:p>
          <a:p>
            <a:endParaRPr lang="es-AR" sz="2400" dirty="0">
              <a:latin typeface="Calibri" panose="020F0502020204030204" pitchFamily="34" charset="0"/>
              <a:ea typeface="Times New Roman" panose="02020603050405020304" pitchFamily="18" charset="0"/>
              <a:cs typeface="Times New Roman" panose="02020603050405020304" pitchFamily="18" charset="0"/>
            </a:endParaRPr>
          </a:p>
          <a:p>
            <a:endParaRPr lang="es-AR" sz="24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s-AR" sz="2400" dirty="0"/>
          </a:p>
        </p:txBody>
      </p:sp>
    </p:spTree>
    <p:extLst>
      <p:ext uri="{BB962C8B-B14F-4D97-AF65-F5344CB8AC3E}">
        <p14:creationId xmlns:p14="http://schemas.microsoft.com/office/powerpoint/2010/main" val="1153159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5A4F30-6088-9E27-49C0-0ADFB0505E98}"/>
              </a:ext>
            </a:extLst>
          </p:cNvPr>
          <p:cNvSpPr>
            <a:spLocks noGrp="1"/>
          </p:cNvSpPr>
          <p:nvPr>
            <p:ph type="title"/>
          </p:nvPr>
        </p:nvSpPr>
        <p:spPr/>
        <p:txBody>
          <a:bodyPr/>
          <a:lstStyle/>
          <a:p>
            <a:pPr algn="ctr"/>
            <a:r>
              <a:rPr lang="es-AR" dirty="0"/>
              <a:t>Objetivos de la Materia De qué estaremos hablando</a:t>
            </a:r>
          </a:p>
        </p:txBody>
      </p:sp>
      <p:sp>
        <p:nvSpPr>
          <p:cNvPr id="3" name="Marcador de contenido 2">
            <a:extLst>
              <a:ext uri="{FF2B5EF4-FFF2-40B4-BE49-F238E27FC236}">
                <a16:creationId xmlns:a16="http://schemas.microsoft.com/office/drawing/2014/main" id="{D9B65480-5BEF-4B9A-DAE1-3A35CE5DBF1E}"/>
              </a:ext>
            </a:extLst>
          </p:cNvPr>
          <p:cNvSpPr>
            <a:spLocks noGrp="1"/>
          </p:cNvSpPr>
          <p:nvPr>
            <p:ph idx="1"/>
          </p:nvPr>
        </p:nvSpPr>
        <p:spPr/>
        <p:txBody>
          <a:bodyPr>
            <a:normAutofit/>
          </a:bodyPr>
          <a:lstStyle/>
          <a:p>
            <a:r>
              <a:rPr lang="es-AR" sz="2400" dirty="0">
                <a:effectLst/>
                <a:latin typeface="Calibri" panose="020F0502020204030204" pitchFamily="34" charset="0"/>
                <a:ea typeface="Times New Roman" panose="02020603050405020304" pitchFamily="18" charset="0"/>
                <a:cs typeface="Times New Roman" panose="02020603050405020304" pitchFamily="18" charset="0"/>
              </a:rPr>
              <a:t>Tipos de Acciones, de valor, de crecimiento</a:t>
            </a:r>
          </a:p>
          <a:p>
            <a:r>
              <a:rPr lang="es-AR" sz="2400" dirty="0">
                <a:latin typeface="Calibri" panose="020F0502020204030204" pitchFamily="34" charset="0"/>
                <a:ea typeface="Times New Roman" panose="02020603050405020304" pitchFamily="18" charset="0"/>
                <a:cs typeface="Times New Roman" panose="02020603050405020304" pitchFamily="18" charset="0"/>
              </a:rPr>
              <a:t>Corporaciones públicas y privadas</a:t>
            </a:r>
            <a:endParaRPr lang="es-AR" sz="2400" dirty="0">
              <a:effectLst/>
              <a:latin typeface="Calibri" panose="020F0502020204030204" pitchFamily="34" charset="0"/>
              <a:ea typeface="Times New Roman" panose="02020603050405020304" pitchFamily="18" charset="0"/>
              <a:cs typeface="Times New Roman" panose="02020603050405020304" pitchFamily="18" charset="0"/>
            </a:endParaRPr>
          </a:p>
          <a:p>
            <a:r>
              <a:rPr lang="es-AR" sz="2400" dirty="0">
                <a:effectLst/>
                <a:latin typeface="Calibri" panose="020F0502020204030204" pitchFamily="34" charset="0"/>
                <a:ea typeface="Times New Roman" panose="02020603050405020304" pitchFamily="18" charset="0"/>
                <a:cs typeface="Times New Roman" panose="02020603050405020304" pitchFamily="18" charset="0"/>
              </a:rPr>
              <a:t>Uso del Capital</a:t>
            </a:r>
          </a:p>
          <a:p>
            <a:r>
              <a:rPr lang="es-AR" sz="2400" dirty="0">
                <a:effectLst/>
                <a:latin typeface="Calibri" panose="020F0502020204030204" pitchFamily="34" charset="0"/>
                <a:ea typeface="Times New Roman" panose="02020603050405020304" pitchFamily="18" charset="0"/>
                <a:cs typeface="Times New Roman" panose="02020603050405020304" pitchFamily="18" charset="0"/>
              </a:rPr>
              <a:t>M</a:t>
            </a:r>
            <a:r>
              <a:rPr lang="es-AR" sz="2400" dirty="0">
                <a:latin typeface="Calibri" panose="020F0502020204030204" pitchFamily="34" charset="0"/>
                <a:ea typeface="Times New Roman" panose="02020603050405020304" pitchFamily="18" charset="0"/>
                <a:cs typeface="Times New Roman" panose="02020603050405020304" pitchFamily="18" charset="0"/>
              </a:rPr>
              <a:t>ercados eficientes</a:t>
            </a:r>
          </a:p>
          <a:p>
            <a:r>
              <a:rPr lang="es-AR" sz="2400" dirty="0">
                <a:effectLst/>
                <a:latin typeface="Calibri" panose="020F0502020204030204" pitchFamily="34" charset="0"/>
                <a:ea typeface="Times New Roman" panose="02020603050405020304" pitchFamily="18" charset="0"/>
                <a:cs typeface="Times New Roman" panose="02020603050405020304" pitchFamily="18" charset="0"/>
              </a:rPr>
              <a:t>Diversificación</a:t>
            </a:r>
          </a:p>
          <a:p>
            <a:endParaRPr lang="es-AR" sz="2400" dirty="0"/>
          </a:p>
          <a:p>
            <a:pPr marL="0" indent="0">
              <a:buNone/>
            </a:pPr>
            <a:r>
              <a:rPr lang="es-AR" sz="2400" dirty="0"/>
              <a:t>Entre otros temas</a:t>
            </a:r>
          </a:p>
        </p:txBody>
      </p:sp>
    </p:spTree>
    <p:extLst>
      <p:ext uri="{BB962C8B-B14F-4D97-AF65-F5344CB8AC3E}">
        <p14:creationId xmlns:p14="http://schemas.microsoft.com/office/powerpoint/2010/main" val="804194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5A4F30-6088-9E27-49C0-0ADFB0505E98}"/>
              </a:ext>
            </a:extLst>
          </p:cNvPr>
          <p:cNvSpPr>
            <a:spLocks noGrp="1"/>
          </p:cNvSpPr>
          <p:nvPr>
            <p:ph type="title"/>
          </p:nvPr>
        </p:nvSpPr>
        <p:spPr/>
        <p:txBody>
          <a:bodyPr/>
          <a:lstStyle/>
          <a:p>
            <a:r>
              <a:rPr lang="es-AR" dirty="0"/>
              <a:t>Definiciones – A COMPLETAR</a:t>
            </a:r>
          </a:p>
        </p:txBody>
      </p:sp>
      <p:sp>
        <p:nvSpPr>
          <p:cNvPr id="3" name="Marcador de contenido 2">
            <a:extLst>
              <a:ext uri="{FF2B5EF4-FFF2-40B4-BE49-F238E27FC236}">
                <a16:creationId xmlns:a16="http://schemas.microsoft.com/office/drawing/2014/main" id="{D9B65480-5BEF-4B9A-DAE1-3A35CE5DBF1E}"/>
              </a:ext>
            </a:extLst>
          </p:cNvPr>
          <p:cNvSpPr>
            <a:spLocks noGrp="1"/>
          </p:cNvSpPr>
          <p:nvPr>
            <p:ph idx="1"/>
          </p:nvPr>
        </p:nvSpPr>
        <p:spPr/>
        <p:txBody>
          <a:bodyPr>
            <a:normAutofit/>
          </a:bodyPr>
          <a:lstStyle/>
          <a:p>
            <a:endParaRPr lang="es-AR" sz="2400" dirty="0">
              <a:latin typeface="Calibri" panose="020F0502020204030204" pitchFamily="34" charset="0"/>
              <a:ea typeface="Times New Roman" panose="02020603050405020304" pitchFamily="18" charset="0"/>
              <a:cs typeface="Times New Roman" panose="02020603050405020304" pitchFamily="18" charset="0"/>
            </a:endParaRPr>
          </a:p>
          <a:p>
            <a:r>
              <a:rPr lang="es-AR" sz="2400" b="1" u="sng" dirty="0">
                <a:effectLst/>
                <a:latin typeface="Calibri" panose="020F0502020204030204" pitchFamily="34" charset="0"/>
                <a:ea typeface="Times New Roman" panose="02020603050405020304" pitchFamily="18" charset="0"/>
                <a:cs typeface="Times New Roman" panose="02020603050405020304" pitchFamily="18" charset="0"/>
              </a:rPr>
              <a:t>Inversor Marginal: </a:t>
            </a:r>
            <a:r>
              <a:rPr lang="es-AR" sz="2400" dirty="0">
                <a:effectLst/>
                <a:latin typeface="Calibri" panose="020F0502020204030204" pitchFamily="34" charset="0"/>
                <a:ea typeface="Times New Roman" panose="02020603050405020304" pitchFamily="18" charset="0"/>
                <a:cs typeface="Times New Roman" panose="02020603050405020304" pitchFamily="18" charset="0"/>
              </a:rPr>
              <a:t>Sus opiniones son las que determinan el precio de las acciones. Son quienes creen que el precio está más o menos donde debe estar y por lo tanto comprarían si bajara, venderían si subiera y mantendrían sus carteras salvo que algo cambiara.</a:t>
            </a:r>
          </a:p>
          <a:p>
            <a:r>
              <a:rPr lang="es-AR" sz="2400" b="1" u="sng" dirty="0">
                <a:latin typeface="Calibri" panose="020F0502020204030204" pitchFamily="34" charset="0"/>
                <a:ea typeface="Times New Roman" panose="02020603050405020304" pitchFamily="18" charset="0"/>
                <a:cs typeface="Times New Roman" panose="02020603050405020304" pitchFamily="18" charset="0"/>
              </a:rPr>
              <a:t>Subasta Holandesa:</a:t>
            </a:r>
            <a:r>
              <a:rPr lang="es-AR" sz="2400" dirty="0">
                <a:latin typeface="Calibri" panose="020F0502020204030204" pitchFamily="34" charset="0"/>
                <a:ea typeface="Times New Roman" panose="02020603050405020304" pitchFamily="18" charset="0"/>
                <a:cs typeface="Times New Roman" panose="02020603050405020304" pitchFamily="18" charset="0"/>
              </a:rPr>
              <a:t>   </a:t>
            </a:r>
          </a:p>
          <a:p>
            <a:endParaRPr lang="es-AR" sz="2400" dirty="0">
              <a:latin typeface="Calibri" panose="020F0502020204030204" pitchFamily="34" charset="0"/>
              <a:ea typeface="Times New Roman" panose="02020603050405020304" pitchFamily="18" charset="0"/>
              <a:cs typeface="Times New Roman" panose="02020603050405020304" pitchFamily="18" charset="0"/>
            </a:endParaRPr>
          </a:p>
          <a:p>
            <a:endParaRPr lang="es-AR" sz="24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s-AR" sz="24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s-AR" sz="2400" dirty="0"/>
          </a:p>
        </p:txBody>
      </p:sp>
    </p:spTree>
    <p:extLst>
      <p:ext uri="{BB962C8B-B14F-4D97-AF65-F5344CB8AC3E}">
        <p14:creationId xmlns:p14="http://schemas.microsoft.com/office/powerpoint/2010/main" val="1024463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a:bodyPr>
          <a:lstStyle/>
          <a:p>
            <a:pPr>
              <a:lnSpc>
                <a:spcPct val="107000"/>
              </a:lnSpc>
              <a:spcAft>
                <a:spcPts val="800"/>
              </a:spcAft>
            </a:pPr>
            <a:r>
              <a:rPr lang="es-AR" sz="2000" dirty="0">
                <a:effectLst/>
                <a:latin typeface="Calibri" panose="020F0502020204030204" pitchFamily="34" charset="0"/>
                <a:ea typeface="Times New Roman" panose="02020603050405020304" pitchFamily="18" charset="0"/>
                <a:cs typeface="Times New Roman" panose="02020603050405020304" pitchFamily="18" charset="0"/>
              </a:rPr>
              <a:t>Adam Smith 1776, una mano invisible guía a las compañías en la búsqueda de ganancias, que a su vez benefician a la sociedad.</a:t>
            </a:r>
          </a:p>
          <a:p>
            <a:pPr lvl="1">
              <a:lnSpc>
                <a:spcPct val="107000"/>
              </a:lnSpc>
              <a:spcAft>
                <a:spcPts val="800"/>
              </a:spcAft>
            </a:pPr>
            <a:r>
              <a:rPr lang="es-AR" sz="1600" dirty="0">
                <a:effectLst/>
                <a:latin typeface="Calibri" panose="020F0502020204030204" pitchFamily="34" charset="0"/>
                <a:ea typeface="Times New Roman" panose="02020603050405020304" pitchFamily="18" charset="0"/>
                <a:cs typeface="Times New Roman" panose="02020603050405020304" pitchFamily="18" charset="0"/>
              </a:rPr>
              <a:t> Por lo tanto, la maximización de las ganancias es la meta correcta y el sistema de libre empresa lo mejor para la sociedad</a:t>
            </a:r>
          </a:p>
          <a:p>
            <a:pPr>
              <a:lnSpc>
                <a:spcPct val="107000"/>
              </a:lnSpc>
              <a:spcAft>
                <a:spcPts val="800"/>
              </a:spcAft>
            </a:pPr>
            <a:r>
              <a:rPr lang="es-AR" sz="2000" dirty="0">
                <a:effectLst/>
                <a:latin typeface="Calibri" panose="020F0502020204030204" pitchFamily="34" charset="0"/>
                <a:ea typeface="Times New Roman" panose="02020603050405020304" pitchFamily="18" charset="0"/>
                <a:cs typeface="Times New Roman" panose="02020603050405020304" pitchFamily="18" charset="0"/>
              </a:rPr>
              <a:t>Cambios desde 1776</a:t>
            </a:r>
          </a:p>
          <a:p>
            <a:pPr lvl="1">
              <a:lnSpc>
                <a:spcPct val="107000"/>
              </a:lnSpc>
              <a:spcAft>
                <a:spcPts val="800"/>
              </a:spcAft>
            </a:pPr>
            <a:r>
              <a:rPr lang="es-AR" sz="1600" dirty="0">
                <a:effectLst/>
                <a:latin typeface="Calibri" panose="020F0502020204030204" pitchFamily="34" charset="0"/>
                <a:ea typeface="Times New Roman" panose="02020603050405020304" pitchFamily="18" charset="0"/>
                <a:cs typeface="Times New Roman" panose="02020603050405020304" pitchFamily="18" charset="0"/>
              </a:rPr>
              <a:t>Globalización</a:t>
            </a:r>
          </a:p>
          <a:p>
            <a:pPr lvl="1">
              <a:lnSpc>
                <a:spcPct val="107000"/>
              </a:lnSpc>
              <a:spcAft>
                <a:spcPts val="800"/>
              </a:spcAft>
            </a:pPr>
            <a:r>
              <a:rPr lang="es-AR" sz="1600" dirty="0">
                <a:effectLst/>
                <a:latin typeface="Calibri" panose="020F0502020204030204" pitchFamily="34" charset="0"/>
                <a:ea typeface="Times New Roman" panose="02020603050405020304" pitchFamily="18" charset="0"/>
                <a:cs typeface="Times New Roman" panose="02020603050405020304" pitchFamily="18" charset="0"/>
              </a:rPr>
              <a:t>Empresas con miles de empleados</a:t>
            </a:r>
          </a:p>
          <a:p>
            <a:pPr lvl="1">
              <a:lnSpc>
                <a:spcPct val="107000"/>
              </a:lnSpc>
              <a:spcAft>
                <a:spcPts val="800"/>
              </a:spcAft>
            </a:pPr>
            <a:r>
              <a:rPr lang="es-AR" sz="1600" dirty="0">
                <a:effectLst/>
                <a:latin typeface="Calibri" panose="020F0502020204030204" pitchFamily="34" charset="0"/>
                <a:ea typeface="Times New Roman" panose="02020603050405020304" pitchFamily="18" charset="0"/>
                <a:cs typeface="Times New Roman" panose="02020603050405020304" pitchFamily="18" charset="0"/>
              </a:rPr>
              <a:t>Empresas con millones de accionistas</a:t>
            </a:r>
          </a:p>
          <a:p>
            <a:pPr>
              <a:lnSpc>
                <a:spcPct val="107000"/>
              </a:lnSpc>
              <a:spcAft>
                <a:spcPts val="800"/>
              </a:spcAft>
            </a:pPr>
            <a:r>
              <a:rPr lang="es-AR" sz="2000" dirty="0">
                <a:effectLst/>
                <a:latin typeface="Calibri" panose="020F0502020204030204" pitchFamily="34" charset="0"/>
                <a:ea typeface="Times New Roman" panose="02020603050405020304" pitchFamily="18" charset="0"/>
                <a:cs typeface="Times New Roman" panose="02020603050405020304" pitchFamily="18" charset="0"/>
              </a:rPr>
              <a:t>Entonces, ¿la mano invisible sigue siendo una guía confiable?</a:t>
            </a:r>
          </a:p>
          <a:p>
            <a:pPr marL="0" indent="0">
              <a:buNone/>
            </a:pPr>
            <a:endParaRPr lang="es-AR" sz="3200" dirty="0"/>
          </a:p>
        </p:txBody>
      </p:sp>
    </p:spTree>
    <p:extLst>
      <p:ext uri="{BB962C8B-B14F-4D97-AF65-F5344CB8AC3E}">
        <p14:creationId xmlns:p14="http://schemas.microsoft.com/office/powerpoint/2010/main" val="2513634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lstStyle/>
          <a:p>
            <a:pPr algn="ctr"/>
            <a:r>
              <a:rPr lang="es-AR" sz="3200" dirty="0">
                <a:latin typeface="Calibri" panose="020F0502020204030204" pitchFamily="34" charset="0"/>
                <a:cs typeface="Times New Roman" panose="02020603050405020304" pitchFamily="18" charset="0"/>
              </a:rPr>
              <a:t>UNA VISIÓN PANORÁMICA DE LA ADMINISTRACIÓN FINANCIERA</a:t>
            </a:r>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a:bodyPr>
          <a:lstStyle/>
          <a:p>
            <a:pPr>
              <a:lnSpc>
                <a:spcPct val="107000"/>
              </a:lnSpc>
              <a:spcAft>
                <a:spcPts val="800"/>
              </a:spcAft>
            </a:pPr>
            <a:r>
              <a:rPr lang="es-AR" dirty="0">
                <a:effectLst/>
                <a:latin typeface="Calibri" panose="020F0502020204030204" pitchFamily="34" charset="0"/>
                <a:ea typeface="Times New Roman" panose="02020603050405020304" pitchFamily="18" charset="0"/>
                <a:cs typeface="Times New Roman" panose="02020603050405020304" pitchFamily="18" charset="0"/>
              </a:rPr>
              <a:t>¿Las empresas deben seguir privilegiando el maximizar sus ganancias o deben adoptar una visión más amplia?</a:t>
            </a:r>
          </a:p>
          <a:p>
            <a:pPr lvl="1">
              <a:lnSpc>
                <a:spcPct val="107000"/>
              </a:lnSpc>
              <a:spcAft>
                <a:spcPts val="800"/>
              </a:spcAft>
            </a:pPr>
            <a:r>
              <a:rPr lang="es-AR" sz="2000" dirty="0">
                <a:effectLst/>
                <a:latin typeface="Calibri" panose="020F0502020204030204" pitchFamily="34" charset="0"/>
                <a:ea typeface="Times New Roman" panose="02020603050405020304" pitchFamily="18" charset="0"/>
                <a:cs typeface="Times New Roman" panose="02020603050405020304" pitchFamily="18" charset="0"/>
              </a:rPr>
              <a:t>Clientes</a:t>
            </a:r>
          </a:p>
          <a:p>
            <a:pPr lvl="1">
              <a:lnSpc>
                <a:spcPct val="107000"/>
              </a:lnSpc>
              <a:spcAft>
                <a:spcPts val="800"/>
              </a:spcAft>
            </a:pPr>
            <a:r>
              <a:rPr lang="es-AR" sz="2000" dirty="0">
                <a:effectLst/>
                <a:latin typeface="Calibri" panose="020F0502020204030204" pitchFamily="34" charset="0"/>
                <a:ea typeface="Times New Roman" panose="02020603050405020304" pitchFamily="18" charset="0"/>
                <a:cs typeface="Times New Roman" panose="02020603050405020304" pitchFamily="18" charset="0"/>
              </a:rPr>
              <a:t>Empleados</a:t>
            </a:r>
          </a:p>
          <a:p>
            <a:pPr lvl="1">
              <a:lnSpc>
                <a:spcPct val="107000"/>
              </a:lnSpc>
              <a:spcAft>
                <a:spcPts val="800"/>
              </a:spcAft>
            </a:pPr>
            <a:r>
              <a:rPr lang="es-AR" sz="2000" dirty="0">
                <a:effectLst/>
                <a:latin typeface="Calibri" panose="020F0502020204030204" pitchFamily="34" charset="0"/>
                <a:ea typeface="Times New Roman" panose="02020603050405020304" pitchFamily="18" charset="0"/>
                <a:cs typeface="Times New Roman" panose="02020603050405020304" pitchFamily="18" charset="0"/>
              </a:rPr>
              <a:t>Proveedores</a:t>
            </a:r>
          </a:p>
          <a:p>
            <a:pPr lvl="1">
              <a:lnSpc>
                <a:spcPct val="107000"/>
              </a:lnSpc>
              <a:spcAft>
                <a:spcPts val="800"/>
              </a:spcAft>
            </a:pPr>
            <a:r>
              <a:rPr lang="es-AR" sz="2000" dirty="0">
                <a:effectLst/>
                <a:latin typeface="Calibri" panose="020F0502020204030204" pitchFamily="34" charset="0"/>
                <a:ea typeface="Times New Roman" panose="02020603050405020304" pitchFamily="18" charset="0"/>
                <a:cs typeface="Times New Roman" panose="02020603050405020304" pitchFamily="18" charset="0"/>
              </a:rPr>
              <a:t>Sociedad en general</a:t>
            </a:r>
          </a:p>
          <a:p>
            <a:endParaRPr lang="es-AR" sz="4000" dirty="0"/>
          </a:p>
        </p:txBody>
      </p:sp>
    </p:spTree>
    <p:extLst>
      <p:ext uri="{BB962C8B-B14F-4D97-AF65-F5344CB8AC3E}">
        <p14:creationId xmlns:p14="http://schemas.microsoft.com/office/powerpoint/2010/main" val="3190126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lstStyle/>
          <a:p>
            <a:pPr algn="ctr"/>
            <a:r>
              <a:rPr lang="es-AR" sz="3200" dirty="0">
                <a:latin typeface="Calibri" panose="020F0502020204030204" pitchFamily="34" charset="0"/>
                <a:cs typeface="Times New Roman" panose="02020603050405020304" pitchFamily="18" charset="0"/>
              </a:rPr>
              <a:t>UNA VISIÓN PANORÁMICA DE LA ADMINISTRACIÓN FINANCIERA</a:t>
            </a:r>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a:bodyPr>
          <a:lstStyle/>
          <a:p>
            <a:pPr marL="0" indent="0">
              <a:lnSpc>
                <a:spcPct val="107000"/>
              </a:lnSpc>
              <a:spcAft>
                <a:spcPts val="800"/>
              </a:spcAft>
              <a:buNone/>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Versión modificada de la teoría de Adam Smith</a:t>
            </a:r>
          </a:p>
          <a:p>
            <a:pPr marL="342900" lvl="0" indent="-342900">
              <a:lnSpc>
                <a:spcPct val="107000"/>
              </a:lnSpc>
              <a:buFont typeface="Symbol" panose="05050102010706020507" pitchFamily="18" charset="2"/>
              <a:buChar char=""/>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La principal meta financiera de una empresa es maximizar el patrimonio de sus Accionistas, es decir, maximizar el valor de sus acciones</a:t>
            </a:r>
          </a:p>
          <a:p>
            <a:pPr marL="342900" lvl="0" indent="-342900">
              <a:lnSpc>
                <a:spcPct val="107000"/>
              </a:lnSpc>
              <a:buFont typeface="Symbol" panose="05050102010706020507" pitchFamily="18" charset="2"/>
              <a:buChar char=""/>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La libre empresa es aún el mejor sistema económico para la sociedad en su conjunto. Desarrollo de productos y servicios que benefician a la gente y la sociedad</a:t>
            </a:r>
          </a:p>
          <a:p>
            <a:pPr marL="342900" lvl="0" indent="-342900">
              <a:lnSpc>
                <a:spcPct val="107000"/>
              </a:lnSpc>
              <a:buFont typeface="Symbol" panose="05050102010706020507" pitchFamily="18" charset="2"/>
              <a:buChar char=""/>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SIN EMBARGO, se requieren restricciones para evitar que las empresas contaminen, tengan prácticas laborales injustas, o creen monopolios que exploten a los consumidores</a:t>
            </a:r>
          </a:p>
          <a:p>
            <a:pPr marL="742950" lvl="1" indent="-285750">
              <a:lnSpc>
                <a:spcPct val="107000"/>
              </a:lnSpc>
              <a:buFont typeface="Courier New" panose="02070309020205020404" pitchFamily="49" charset="0"/>
              <a:buChar char="o"/>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Costos aplicados a las empresas que dañen a la sociedad</a:t>
            </a:r>
          </a:p>
          <a:p>
            <a:pPr marL="742950" lvl="1" indent="-285750">
              <a:lnSpc>
                <a:spcPct val="107000"/>
              </a:lnSpc>
              <a:buFont typeface="Courier New" panose="02070309020205020404" pitchFamily="49" charset="0"/>
              <a:buChar char="o"/>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Acción Política: Legislación que impide prácticas dañosas</a:t>
            </a:r>
          </a:p>
          <a:p>
            <a:pPr marL="742950" lvl="1" indent="-285750">
              <a:lnSpc>
                <a:spcPct val="107000"/>
              </a:lnSpc>
              <a:buFont typeface="Courier New" panose="02070309020205020404" pitchFamily="49" charset="0"/>
              <a:buChar char="o"/>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Recuperos de valor por parte de los afectados</a:t>
            </a:r>
          </a:p>
          <a:p>
            <a:pPr marL="742950" lvl="1" indent="-285750">
              <a:lnSpc>
                <a:spcPct val="107000"/>
              </a:lnSpc>
              <a:buFont typeface="Courier New" panose="02070309020205020404" pitchFamily="49" charset="0"/>
              <a:buChar char="o"/>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Desincentivar hechos dañosos similares en el futuro</a:t>
            </a:r>
          </a:p>
          <a:p>
            <a:endParaRPr lang="es-AR" sz="4400" dirty="0"/>
          </a:p>
        </p:txBody>
      </p:sp>
    </p:spTree>
    <p:extLst>
      <p:ext uri="{BB962C8B-B14F-4D97-AF65-F5344CB8AC3E}">
        <p14:creationId xmlns:p14="http://schemas.microsoft.com/office/powerpoint/2010/main" val="958681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lstStyle/>
          <a:p>
            <a:pPr algn="ctr"/>
            <a:r>
              <a:rPr lang="es-AR" sz="3200" dirty="0">
                <a:latin typeface="Calibri" panose="020F0502020204030204" pitchFamily="34" charset="0"/>
                <a:cs typeface="Times New Roman" panose="02020603050405020304" pitchFamily="18" charset="0"/>
              </a:rPr>
              <a:t>UNA VISIÓN PANORÁMICA DE LA ADMINISTRACIÓN FINANCIERA</a:t>
            </a:r>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fontScale="77500" lnSpcReduction="20000"/>
          </a:bodyPr>
          <a:lstStyle/>
          <a:p>
            <a:pPr marL="485775">
              <a:lnSpc>
                <a:spcPct val="107000"/>
              </a:lnSpc>
            </a:pPr>
            <a:r>
              <a:rPr lang="es-AR" sz="2900" dirty="0">
                <a:effectLst/>
                <a:latin typeface="Calibri" panose="020F0502020204030204" pitchFamily="34" charset="0"/>
                <a:ea typeface="Times New Roman" panose="02020603050405020304" pitchFamily="18" charset="0"/>
                <a:cs typeface="Times New Roman" panose="02020603050405020304" pitchFamily="18" charset="0"/>
              </a:rPr>
              <a:t>Ejemplo: Crisis financiera 2007/2008</a:t>
            </a:r>
          </a:p>
          <a:p>
            <a:pPr marL="942975" lvl="1">
              <a:lnSpc>
                <a:spcPct val="107000"/>
              </a:lnSpc>
            </a:pPr>
            <a:r>
              <a:rPr lang="es-AR" sz="2500" dirty="0">
                <a:effectLst/>
                <a:latin typeface="Calibri" panose="020F0502020204030204" pitchFamily="34" charset="0"/>
                <a:ea typeface="Times New Roman" panose="02020603050405020304" pitchFamily="18" charset="0"/>
                <a:cs typeface="Times New Roman" panose="02020603050405020304" pitchFamily="18" charset="0"/>
              </a:rPr>
              <a:t>Rescate de Bancos</a:t>
            </a:r>
          </a:p>
          <a:p>
            <a:pPr marL="942975" lvl="1">
              <a:lnSpc>
                <a:spcPct val="107000"/>
              </a:lnSpc>
            </a:pPr>
            <a:r>
              <a:rPr lang="es-AR" sz="2500" dirty="0">
                <a:latin typeface="Calibri" panose="020F0502020204030204" pitchFamily="34" charset="0"/>
                <a:ea typeface="Times New Roman" panose="02020603050405020304" pitchFamily="18" charset="0"/>
                <a:cs typeface="Times New Roman" panose="02020603050405020304" pitchFamily="18" charset="0"/>
              </a:rPr>
              <a:t>Costos para los Ciudadanos, Recesión </a:t>
            </a:r>
          </a:p>
          <a:p>
            <a:pPr marL="942975" lvl="1">
              <a:lnSpc>
                <a:spcPct val="107000"/>
              </a:lnSpc>
            </a:pPr>
            <a:r>
              <a:rPr lang="es-AR" sz="2500" dirty="0">
                <a:latin typeface="Calibri" panose="020F0502020204030204" pitchFamily="34" charset="0"/>
                <a:ea typeface="Times New Roman" panose="02020603050405020304" pitchFamily="18" charset="0"/>
                <a:cs typeface="Times New Roman" panose="02020603050405020304" pitchFamily="18" charset="0"/>
              </a:rPr>
              <a:t>Pérdidas de Valor de las Acciones, Quiebras</a:t>
            </a:r>
          </a:p>
          <a:p>
            <a:pPr marL="942975" lvl="1">
              <a:lnSpc>
                <a:spcPct val="107000"/>
              </a:lnSpc>
            </a:pPr>
            <a:r>
              <a:rPr lang="es-AR" sz="2500" dirty="0">
                <a:effectLst/>
                <a:latin typeface="Calibri" panose="020F0502020204030204" pitchFamily="34" charset="0"/>
                <a:ea typeface="Times New Roman" panose="02020603050405020304" pitchFamily="18" charset="0"/>
                <a:cs typeface="Times New Roman" panose="02020603050405020304" pitchFamily="18" charset="0"/>
              </a:rPr>
              <a:t>Despidos</a:t>
            </a:r>
          </a:p>
          <a:p>
            <a:pPr marL="485775">
              <a:lnSpc>
                <a:spcPct val="107000"/>
              </a:lnSpc>
            </a:pPr>
            <a:r>
              <a:rPr lang="es-AR" sz="2900" dirty="0">
                <a:effectLst/>
                <a:latin typeface="Calibri" panose="020F0502020204030204" pitchFamily="34" charset="0"/>
                <a:ea typeface="Times New Roman" panose="02020603050405020304" pitchFamily="18" charset="0"/>
                <a:cs typeface="Times New Roman" panose="02020603050405020304" pitchFamily="18" charset="0"/>
              </a:rPr>
              <a:t>Surge entonces plantearse mayores Regulaciones. Opiniones en favor y en contra</a:t>
            </a:r>
          </a:p>
          <a:p>
            <a:pPr marL="485775">
              <a:lnSpc>
                <a:spcPct val="107000"/>
              </a:lnSpc>
            </a:pP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485775">
              <a:lnSpc>
                <a:spcPct val="107000"/>
              </a:lnSpc>
            </a:pPr>
            <a:r>
              <a:rPr lang="es-AR" dirty="0">
                <a:latin typeface="Calibri" panose="020F0502020204030204" pitchFamily="34" charset="0"/>
                <a:cs typeface="Times New Roman" panose="02020603050405020304" pitchFamily="18" charset="0"/>
              </a:rPr>
              <a:t>De la simple maximización del patrimonio a una visión más contemplativa de la Sociedad</a:t>
            </a:r>
          </a:p>
          <a:p>
            <a:pPr marL="485775" lvl="1">
              <a:lnSpc>
                <a:spcPct val="107000"/>
              </a:lnSpc>
              <a:spcBef>
                <a:spcPts val="1000"/>
              </a:spcBef>
            </a:pPr>
            <a:r>
              <a:rPr lang="es-AR" sz="2800" dirty="0" err="1">
                <a:latin typeface="Calibri" panose="020F0502020204030204" pitchFamily="34" charset="0"/>
                <a:cs typeface="Times New Roman" panose="02020603050405020304" pitchFamily="18" charset="0"/>
              </a:rPr>
              <a:t>Alphabet</a:t>
            </a:r>
            <a:r>
              <a:rPr lang="es-AR" sz="2800" dirty="0">
                <a:latin typeface="Calibri" panose="020F0502020204030204" pitchFamily="34" charset="0"/>
                <a:cs typeface="Times New Roman" panose="02020603050405020304" pitchFamily="18" charset="0"/>
              </a:rPr>
              <a:t>: “Has lo correcto, cumple la ley, actúa con honor, respeta a todos”</a:t>
            </a:r>
          </a:p>
          <a:p>
            <a:pPr marL="485775" lvl="1">
              <a:lnSpc>
                <a:spcPct val="107000"/>
              </a:lnSpc>
              <a:spcBef>
                <a:spcPts val="1000"/>
              </a:spcBef>
              <a:spcAft>
                <a:spcPts val="800"/>
              </a:spcAft>
            </a:pPr>
            <a:r>
              <a:rPr lang="es-AR" sz="2800" dirty="0">
                <a:latin typeface="Calibri" panose="020F0502020204030204" pitchFamily="34" charset="0"/>
                <a:cs typeface="Times New Roman" panose="02020603050405020304" pitchFamily="18" charset="0"/>
              </a:rPr>
              <a:t>Microsoft – RSE. Fundación Bill &amp; Melisa Gates</a:t>
            </a:r>
          </a:p>
          <a:p>
            <a:endParaRPr lang="es-AR" sz="4400" dirty="0"/>
          </a:p>
        </p:txBody>
      </p:sp>
    </p:spTree>
    <p:extLst>
      <p:ext uri="{BB962C8B-B14F-4D97-AF65-F5344CB8AC3E}">
        <p14:creationId xmlns:p14="http://schemas.microsoft.com/office/powerpoint/2010/main" val="2369344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lstStyle/>
          <a:p>
            <a:pPr algn="ctr"/>
            <a:r>
              <a:rPr lang="es-AR" sz="3200" dirty="0">
                <a:latin typeface="Calibri" panose="020F0502020204030204" pitchFamily="34" charset="0"/>
                <a:cs typeface="Times New Roman" panose="02020603050405020304" pitchFamily="18" charset="0"/>
              </a:rPr>
              <a:t>UNA VISIÓN PANORÁMICA DE LA ADMINISTRACIÓN FINANCIERA</a:t>
            </a:r>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a:bodyPr>
          <a:lstStyle/>
          <a:p>
            <a:pPr marL="485775">
              <a:lnSpc>
                <a:spcPct val="107000"/>
              </a:lnSpc>
            </a:pPr>
            <a:r>
              <a:rPr lang="es-AR" sz="2400" dirty="0">
                <a:effectLst/>
                <a:latin typeface="Calibri" panose="020F0502020204030204" pitchFamily="34" charset="0"/>
                <a:ea typeface="Times New Roman" panose="02020603050405020304" pitchFamily="18" charset="0"/>
                <a:cs typeface="Times New Roman" panose="02020603050405020304" pitchFamily="18" charset="0"/>
              </a:rPr>
              <a:t>¿Y los Gerentes qué hacen o qué deben hacer? Equilibrio entre intereses en pugna</a:t>
            </a:r>
          </a:p>
          <a:p>
            <a:pPr marL="942975" lvl="1">
              <a:lnSpc>
                <a:spcPct val="107000"/>
              </a:lnSpc>
            </a:pPr>
            <a:r>
              <a:rPr lang="es-AR" sz="2000" dirty="0">
                <a:latin typeface="Calibri" panose="020F0502020204030204" pitchFamily="34" charset="0"/>
                <a:ea typeface="Times New Roman" panose="02020603050405020304" pitchFamily="18" charset="0"/>
                <a:cs typeface="Times New Roman" panose="02020603050405020304" pitchFamily="18" charset="0"/>
              </a:rPr>
              <a:t>¿Maximizo el Patrimonio del Accionista despidiendo personal, mejoro la relación con el medioambiente a expensas del patrimonio?</a:t>
            </a:r>
            <a:endParaRPr lang="es-AR" sz="2000" dirty="0">
              <a:effectLst/>
              <a:latin typeface="Calibri" panose="020F0502020204030204" pitchFamily="34" charset="0"/>
              <a:ea typeface="Times New Roman" panose="02020603050405020304" pitchFamily="18" charset="0"/>
              <a:cs typeface="Times New Roman" panose="02020603050405020304" pitchFamily="18" charset="0"/>
            </a:endParaRPr>
          </a:p>
          <a:p>
            <a:pPr marL="485775">
              <a:lnSpc>
                <a:spcPct val="107000"/>
              </a:lnSpc>
            </a:pPr>
            <a:endParaRPr lang="es-AR" sz="2400" dirty="0">
              <a:effectLst/>
              <a:latin typeface="Calibri" panose="020F0502020204030204" pitchFamily="34" charset="0"/>
              <a:ea typeface="Times New Roman" panose="02020603050405020304" pitchFamily="18" charset="0"/>
              <a:cs typeface="Times New Roman" panose="02020603050405020304" pitchFamily="18" charset="0"/>
            </a:endParaRPr>
          </a:p>
          <a:p>
            <a:pPr marL="485775">
              <a:lnSpc>
                <a:spcPct val="107000"/>
              </a:lnSpc>
              <a:spcAft>
                <a:spcPts val="800"/>
              </a:spcAft>
            </a:pPr>
            <a:r>
              <a:rPr lang="es-AR" sz="2400" dirty="0">
                <a:effectLst/>
                <a:latin typeface="Calibri" panose="020F0502020204030204" pitchFamily="34" charset="0"/>
                <a:ea typeface="Times New Roman" panose="02020603050405020304" pitchFamily="18" charset="0"/>
                <a:cs typeface="Times New Roman" panose="02020603050405020304" pitchFamily="18" charset="0"/>
              </a:rPr>
              <a:t>En las Corporaciones, el objetivo es maximizar el Patrimonio. </a:t>
            </a:r>
          </a:p>
          <a:p>
            <a:pPr marL="942975" lvl="1">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Valor de corto y de largo plazo de las Acciones. </a:t>
            </a:r>
          </a:p>
          <a:p>
            <a:pPr marL="942975" lvl="1">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Debe prevalecer el de largo y eso puede colisionar con los intereses de la Gerencia. </a:t>
            </a:r>
          </a:p>
          <a:p>
            <a:pPr marL="942975" lvl="1">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Incentivos para que se focalicen en el largo plazo</a:t>
            </a:r>
          </a:p>
          <a:p>
            <a:endParaRPr lang="es-AR" sz="5400" dirty="0"/>
          </a:p>
        </p:txBody>
      </p:sp>
    </p:spTree>
    <p:extLst>
      <p:ext uri="{BB962C8B-B14F-4D97-AF65-F5344CB8AC3E}">
        <p14:creationId xmlns:p14="http://schemas.microsoft.com/office/powerpoint/2010/main" val="1167971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lstStyle/>
          <a:p>
            <a:pPr algn="ctr"/>
            <a:r>
              <a:rPr lang="es-AR" sz="3200" dirty="0">
                <a:latin typeface="Calibri" panose="020F0502020204030204" pitchFamily="34" charset="0"/>
                <a:cs typeface="Times New Roman" panose="02020603050405020304" pitchFamily="18" charset="0"/>
              </a:rPr>
              <a:t>UNA VISIÓN PANORÁMICA DE LA ADMINISTRACIÓN FINANCIERA</a:t>
            </a:r>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fontScale="92500" lnSpcReduction="10000"/>
          </a:bodyPr>
          <a:lstStyle/>
          <a:p>
            <a:pPr marL="257175" indent="0">
              <a:lnSpc>
                <a:spcPct val="107000"/>
              </a:lnSpc>
              <a:buNone/>
            </a:pPr>
            <a:r>
              <a:rPr lang="es-AR" sz="1800" b="1" u="sng" dirty="0">
                <a:effectLst/>
                <a:latin typeface="Calibri" panose="020F0502020204030204" pitchFamily="34" charset="0"/>
                <a:ea typeface="Times New Roman" panose="02020603050405020304" pitchFamily="18" charset="0"/>
                <a:cs typeface="Times New Roman" panose="02020603050405020304" pitchFamily="18" charset="0"/>
              </a:rPr>
              <a:t>DEFINICIÓN DE FINANZAS (WEBSTER’S DICTIONARY)</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257175" indent="0">
              <a:lnSpc>
                <a:spcPct val="107000"/>
              </a:lnSpc>
              <a:buNone/>
            </a:pP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257175" indent="0">
              <a:lnSpc>
                <a:spcPct val="107000"/>
              </a:lnSpc>
              <a:buNone/>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Es el sistema que incluye la circulación del dinero, el otorgamiento de crédito, la realización de inversiones y el ofrecimiento de centros bancarios</a:t>
            </a:r>
          </a:p>
          <a:p>
            <a:pPr marL="257175" indent="0">
              <a:lnSpc>
                <a:spcPct val="107000"/>
              </a:lnSpc>
              <a:buNone/>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 </a:t>
            </a:r>
          </a:p>
          <a:p>
            <a:pPr marL="257175" indent="0">
              <a:lnSpc>
                <a:spcPct val="107000"/>
              </a:lnSpc>
              <a:buNone/>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ÁREAS DE FINANZAS</a:t>
            </a:r>
          </a:p>
          <a:p>
            <a:pPr marL="485775">
              <a:lnSpc>
                <a:spcPct val="107000"/>
              </a:lnSpc>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En general, se divide en tres áreas</a:t>
            </a:r>
          </a:p>
          <a:p>
            <a:pPr marL="257175" indent="0">
              <a:lnSpc>
                <a:spcPct val="107000"/>
              </a:lnSpc>
              <a:buNone/>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 </a:t>
            </a:r>
          </a:p>
          <a:p>
            <a:pPr marL="342900" lvl="0" indent="-342900">
              <a:lnSpc>
                <a:spcPct val="107000"/>
              </a:lnSpc>
              <a:buFont typeface="+mj-lt"/>
              <a:buAutoNum type="arabicPeriod"/>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Administración financiera</a:t>
            </a:r>
          </a:p>
          <a:p>
            <a:pPr marL="342900" lvl="0" indent="-342900">
              <a:lnSpc>
                <a:spcPct val="107000"/>
              </a:lnSpc>
              <a:buFont typeface="+mj-lt"/>
              <a:buAutoNum type="arabicPeriod"/>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Mercado de Capitales</a:t>
            </a:r>
          </a:p>
          <a:p>
            <a:pPr marL="342900" lvl="0" indent="-342900">
              <a:lnSpc>
                <a:spcPct val="107000"/>
              </a:lnSpc>
              <a:spcAft>
                <a:spcPts val="800"/>
              </a:spcAft>
              <a:buFont typeface="+mj-lt"/>
              <a:buAutoNum type="arabicPeriod"/>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Inversiones</a:t>
            </a:r>
          </a:p>
          <a:p>
            <a:endParaRPr lang="es-AR" dirty="0"/>
          </a:p>
        </p:txBody>
      </p:sp>
    </p:spTree>
    <p:extLst>
      <p:ext uri="{BB962C8B-B14F-4D97-AF65-F5344CB8AC3E}">
        <p14:creationId xmlns:p14="http://schemas.microsoft.com/office/powerpoint/2010/main" val="552262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a:bodyPr>
          <a:lstStyle/>
          <a:p>
            <a:pPr>
              <a:lnSpc>
                <a:spcPct val="107000"/>
              </a:lnSpc>
              <a:spcAft>
                <a:spcPts val="800"/>
              </a:spcAft>
            </a:pPr>
            <a:r>
              <a:rPr lang="es-AR" sz="1800" b="1" dirty="0">
                <a:effectLst/>
                <a:latin typeface="Calibri" panose="020F0502020204030204" pitchFamily="34" charset="0"/>
                <a:ea typeface="Times New Roman" panose="02020603050405020304" pitchFamily="18" charset="0"/>
                <a:cs typeface="Times New Roman" panose="02020603050405020304" pitchFamily="18" charset="0"/>
              </a:rPr>
              <a:t>La administración financiera</a:t>
            </a: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 también llamada Finanzas Corporativas, se centra en las decisiones relativas a cuántos y qué tipos de activos adquirir, cómo obtener el capital necesario para adquirirlos y cómo dirigir la empresa para maximizar su valor. </a:t>
            </a:r>
          </a:p>
          <a:p>
            <a:pPr lvl="1">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Los mismos principios se aplican a Empresas Lucrativas y no lucrativas</a:t>
            </a:r>
          </a:p>
          <a:p>
            <a:pPr marL="0" indent="0">
              <a:lnSpc>
                <a:spcPct val="107000"/>
              </a:lnSpc>
              <a:spcAft>
                <a:spcPts val="800"/>
              </a:spcAft>
              <a:buNone/>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Esta parte de las Finanzas, la Administración Financiera, será el principal foco del curso</a:t>
            </a:r>
          </a:p>
          <a:p>
            <a:pPr marL="0" indent="0">
              <a:buNone/>
            </a:pPr>
            <a:endParaRPr lang="es-AR" dirty="0"/>
          </a:p>
        </p:txBody>
      </p:sp>
    </p:spTree>
    <p:extLst>
      <p:ext uri="{BB962C8B-B14F-4D97-AF65-F5344CB8AC3E}">
        <p14:creationId xmlns:p14="http://schemas.microsoft.com/office/powerpoint/2010/main" val="3272463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a:bodyPr>
          <a:lstStyle/>
          <a:p>
            <a:pPr>
              <a:lnSpc>
                <a:spcPct val="107000"/>
              </a:lnSpc>
              <a:spcAft>
                <a:spcPts val="800"/>
              </a:spcAft>
            </a:pPr>
            <a:r>
              <a:rPr lang="es-AR" sz="2000" b="1" dirty="0">
                <a:effectLst/>
                <a:latin typeface="Calibri" panose="020F0502020204030204" pitchFamily="34" charset="0"/>
                <a:ea typeface="Times New Roman" panose="02020603050405020304" pitchFamily="18" charset="0"/>
                <a:cs typeface="Times New Roman" panose="02020603050405020304" pitchFamily="18" charset="0"/>
              </a:rPr>
              <a:t>Los mercados de capitales </a:t>
            </a:r>
          </a:p>
          <a:p>
            <a:pPr lvl="1">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se relacionan con los mercados en los que se determinan las tasas de interés, junto con los precios de las acciones y bonos. </a:t>
            </a:r>
          </a:p>
          <a:p>
            <a:pPr lvl="1">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También comprende el estudio de las entidades financieras que aportan capital a las empresas como los Bancos, bancos de inversión, agentes bursátiles, sociedades de inversión, aseguradoras y demás entidades que reúnen a los que ahorran, que tienen dinero para invertir, y a las empresas, individuos y otras instituciones que necesitan capital con varios propósitos. </a:t>
            </a:r>
          </a:p>
          <a:p>
            <a:pPr lvl="1">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Las organizaciones gubernamentales que regulan a los bancos y la oferta de dinero, y la Comisión de Valores y Bolsas, que regula las operaciones de acciones y bonos en los mercados públicos, también se estudian como parte del mercado de capitales.</a:t>
            </a:r>
          </a:p>
          <a:p>
            <a:pPr marL="0" indent="0">
              <a:buNone/>
            </a:pPr>
            <a:endParaRPr lang="es-AR" sz="3200" dirty="0"/>
          </a:p>
        </p:txBody>
      </p:sp>
    </p:spTree>
    <p:extLst>
      <p:ext uri="{BB962C8B-B14F-4D97-AF65-F5344CB8AC3E}">
        <p14:creationId xmlns:p14="http://schemas.microsoft.com/office/powerpoint/2010/main" val="19177752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a:bodyPr>
          <a:lstStyle/>
          <a:p>
            <a:r>
              <a:rPr lang="es-AR" sz="1800" b="1" dirty="0">
                <a:effectLst/>
                <a:latin typeface="Calibri" panose="020F0502020204030204" pitchFamily="34" charset="0"/>
                <a:ea typeface="Times New Roman" panose="02020603050405020304" pitchFamily="18" charset="0"/>
                <a:cs typeface="Times New Roman" panose="02020603050405020304" pitchFamily="18" charset="0"/>
              </a:rPr>
              <a:t>Las inversiones </a:t>
            </a: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se relacionan con las decisiones concernientes a las acciones y los bonos e incluyen varias actividades: </a:t>
            </a:r>
          </a:p>
          <a:p>
            <a:pPr marL="0" indent="0">
              <a:buNone/>
            </a:pP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indent="-342900">
              <a:buAutoNum type="arabicParenR"/>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el análisis de valores se relaciona con buscar el valor apropiado de valores individuales (es decir, acciones y bonos).</a:t>
            </a:r>
          </a:p>
          <a:p>
            <a:pPr marL="342900" indent="-342900">
              <a:buAutoNum type="arabicParenR"/>
            </a:pP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indent="-342900">
              <a:buAutoNum type="arabicParenR"/>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la teoría de carteras tiene que ver con la mejor forma de estructurar carteras o canastas de acciones y bonos. Los inversores racionales buscan tener carteras diversificadas a fin de limitar sus riesgos. </a:t>
            </a:r>
          </a:p>
          <a:p>
            <a:pPr marL="0" indent="0">
              <a:buNone/>
            </a:pP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indent="-342900">
              <a:buAutoNum type="arabicParenR"/>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El análisis de mercados aborda la cuestión de si los mercados de acciones y bonos son en un momento dado “demasiado altos”, “demasiado bajos” o “satisfactorios”. Incluimos también las finanzas conductuales, donde se examina la psicología de los inversores con el propósito de determinar si los precios de las acciones han llegado a alturas irrazonables en una burbuja especulativa o han bajado exageradamente en un arranque de pesimismo irracional.</a:t>
            </a:r>
          </a:p>
          <a:p>
            <a:pPr marL="0" indent="0">
              <a:buNone/>
            </a:pPr>
            <a:endParaRPr lang="es-AR" dirty="0"/>
          </a:p>
        </p:txBody>
      </p:sp>
    </p:spTree>
    <p:extLst>
      <p:ext uri="{BB962C8B-B14F-4D97-AF65-F5344CB8AC3E}">
        <p14:creationId xmlns:p14="http://schemas.microsoft.com/office/powerpoint/2010/main" val="575357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a:xfrm>
            <a:off x="838200" y="1690688"/>
            <a:ext cx="10515600" cy="4351338"/>
          </a:xfrm>
        </p:spPr>
        <p:txBody>
          <a:bodyPr>
            <a:normAutofit/>
          </a:bodyPr>
          <a:lstStyle/>
          <a:p>
            <a:pPr marL="0" indent="0">
              <a:buNone/>
            </a:pPr>
            <a:r>
              <a:rPr kumimoji="0" lang="es-AR" altLang="es-AR" sz="28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Si bien las hemos dividido, están fuertemente relacionadas</a:t>
            </a:r>
            <a:endParaRPr kumimoji="0" lang="es-AR" altLang="es-AR" sz="2800" b="0" i="0" u="none" strike="noStrike" cap="none" normalizeH="0" baseline="0" dirty="0">
              <a:ln>
                <a:noFill/>
              </a:ln>
              <a:solidFill>
                <a:schemeClr val="tx1"/>
              </a:solidFill>
              <a:effectLst/>
            </a:endParaRPr>
          </a:p>
          <a:p>
            <a:pPr marL="0" indent="0">
              <a:buNone/>
            </a:pPr>
            <a:endParaRPr lang="es-AR" dirty="0"/>
          </a:p>
          <a:p>
            <a:pPr marL="0" indent="0">
              <a:buNone/>
            </a:pPr>
            <a:endParaRPr lang="es-AR" dirty="0"/>
          </a:p>
          <a:p>
            <a:pPr marL="0" indent="0">
              <a:buNone/>
            </a:pPr>
            <a:endParaRPr lang="es-AR" dirty="0"/>
          </a:p>
          <a:p>
            <a:pPr marL="0" indent="0">
              <a:buNone/>
            </a:pPr>
            <a:endParaRPr lang="es-AR" dirty="0"/>
          </a:p>
          <a:p>
            <a:pPr marL="0" indent="0">
              <a:buNone/>
            </a:pPr>
            <a:endParaRPr lang="es-AR" dirty="0"/>
          </a:p>
          <a:p>
            <a:pPr marL="0" indent="0">
              <a:buNone/>
            </a:pPr>
            <a:endParaRPr lang="es-AR" dirty="0"/>
          </a:p>
        </p:txBody>
      </p:sp>
      <p:sp>
        <p:nvSpPr>
          <p:cNvPr id="10" name="Elipse 1">
            <a:extLst>
              <a:ext uri="{FF2B5EF4-FFF2-40B4-BE49-F238E27FC236}">
                <a16:creationId xmlns:a16="http://schemas.microsoft.com/office/drawing/2014/main" id="{6EC49565-9CB3-7C9F-8CD0-B58E058FD931}"/>
              </a:ext>
            </a:extLst>
          </p:cNvPr>
          <p:cNvSpPr>
            <a:spLocks noChangeArrowheads="1"/>
          </p:cNvSpPr>
          <p:nvPr/>
        </p:nvSpPr>
        <p:spPr bwMode="auto">
          <a:xfrm>
            <a:off x="1587915" y="3713755"/>
            <a:ext cx="1811682" cy="1675666"/>
          </a:xfrm>
          <a:prstGeom prst="ellipse">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11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Oficial de Crédito</a:t>
            </a:r>
            <a:endParaRPr kumimoji="0" lang="es-AR" altLang="es-AR" sz="1800" b="0" i="0" u="none" strike="noStrike" cap="none" normalizeH="0" baseline="0" dirty="0">
              <a:ln>
                <a:noFill/>
              </a:ln>
              <a:solidFill>
                <a:schemeClr val="tx1"/>
              </a:solidFill>
              <a:effectLst/>
              <a:latin typeface="Arial" panose="020B0604020202020204" pitchFamily="34" charset="0"/>
            </a:endParaRPr>
          </a:p>
        </p:txBody>
      </p:sp>
      <p:sp>
        <p:nvSpPr>
          <p:cNvPr id="11" name="Elipse 2">
            <a:extLst>
              <a:ext uri="{FF2B5EF4-FFF2-40B4-BE49-F238E27FC236}">
                <a16:creationId xmlns:a16="http://schemas.microsoft.com/office/drawing/2014/main" id="{26168FF5-A9A9-E11D-CF39-C2347B3DBE18}"/>
              </a:ext>
            </a:extLst>
          </p:cNvPr>
          <p:cNvSpPr>
            <a:spLocks noChangeArrowheads="1"/>
          </p:cNvSpPr>
          <p:nvPr/>
        </p:nvSpPr>
        <p:spPr bwMode="auto">
          <a:xfrm>
            <a:off x="8253727" y="3961034"/>
            <a:ext cx="2483546" cy="1483801"/>
          </a:xfrm>
          <a:prstGeom prst="ellipse">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11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Finanzas Corporativa. Evaluar al potencial tomador </a:t>
            </a:r>
            <a:endParaRPr kumimoji="0" lang="es-AR" altLang="es-AR" sz="1800" b="0" i="0" u="none" strike="noStrike" cap="none" normalizeH="0" baseline="0" dirty="0">
              <a:ln>
                <a:noFill/>
              </a:ln>
              <a:solidFill>
                <a:schemeClr val="tx1"/>
              </a:solidFill>
              <a:effectLst/>
              <a:latin typeface="Arial" panose="020B0604020202020204" pitchFamily="34" charset="0"/>
            </a:endParaRPr>
          </a:p>
        </p:txBody>
      </p:sp>
      <p:sp>
        <p:nvSpPr>
          <p:cNvPr id="12" name="Rectángulo 10">
            <a:extLst>
              <a:ext uri="{FF2B5EF4-FFF2-40B4-BE49-F238E27FC236}">
                <a16:creationId xmlns:a16="http://schemas.microsoft.com/office/drawing/2014/main" id="{60E2687F-1FD3-9745-B2D1-40C4B1523A94}"/>
              </a:ext>
            </a:extLst>
          </p:cNvPr>
          <p:cNvSpPr>
            <a:spLocks noChangeArrowheads="1"/>
          </p:cNvSpPr>
          <p:nvPr/>
        </p:nvSpPr>
        <p:spPr bwMode="auto">
          <a:xfrm>
            <a:off x="4831398" y="2473978"/>
            <a:ext cx="1283113" cy="902153"/>
          </a:xfrm>
          <a:prstGeom prst="rect">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11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Otorgar un crédito</a:t>
            </a:r>
            <a:endParaRPr kumimoji="0" lang="es-AR" altLang="es-AR" sz="1800" b="0" i="0" u="none" strike="noStrike" cap="none" normalizeH="0" baseline="0" dirty="0">
              <a:ln>
                <a:noFill/>
              </a:ln>
              <a:solidFill>
                <a:schemeClr val="tx1"/>
              </a:solidFill>
              <a:effectLst/>
              <a:latin typeface="Arial" panose="020B0604020202020204" pitchFamily="34" charset="0"/>
            </a:endParaRPr>
          </a:p>
        </p:txBody>
      </p:sp>
      <p:sp>
        <p:nvSpPr>
          <p:cNvPr id="14" name="Rectangle 16">
            <a:extLst>
              <a:ext uri="{FF2B5EF4-FFF2-40B4-BE49-F238E27FC236}">
                <a16:creationId xmlns:a16="http://schemas.microsoft.com/office/drawing/2014/main" id="{7B7BB849-1D17-C46A-429E-B99DCF6227F1}"/>
              </a:ext>
            </a:extLst>
          </p:cNvPr>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1800" b="0" i="0" u="none" strike="noStrike" cap="none" normalizeH="0" baseline="0">
                <a:ln>
                  <a:noFill/>
                </a:ln>
                <a:solidFill>
                  <a:schemeClr val="tx1"/>
                </a:solidFill>
                <a:effectLst/>
                <a:latin typeface="Arial" panose="020B0604020202020204" pitchFamily="34" charset="0"/>
              </a:rPr>
            </a:br>
            <a:endParaRPr kumimoji="0" lang="es-AR" altLang="es-AR"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1800" b="0" i="0" u="none" strike="noStrike" cap="none" normalizeH="0" baseline="0">
              <a:ln>
                <a:noFill/>
              </a:ln>
              <a:solidFill>
                <a:schemeClr val="tx1"/>
              </a:solidFill>
              <a:effectLst/>
              <a:latin typeface="Arial" panose="020B0604020202020204" pitchFamily="34" charset="0"/>
            </a:endParaRPr>
          </a:p>
        </p:txBody>
      </p:sp>
      <p:sp>
        <p:nvSpPr>
          <p:cNvPr id="15" name="Rectangle 18">
            <a:extLst>
              <a:ext uri="{FF2B5EF4-FFF2-40B4-BE49-F238E27FC236}">
                <a16:creationId xmlns:a16="http://schemas.microsoft.com/office/drawing/2014/main" id="{940CD314-A214-6A93-3482-B5375274AFCD}"/>
              </a:ext>
            </a:extLst>
          </p:cNvPr>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1100" b="0" i="0" u="none" strike="noStrike" cap="none" normalizeH="0" baseline="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100" b="0" i="0" u="none" strike="noStrike" cap="none" normalizeH="0" baseline="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endParaRPr kumimoji="0" lang="es-AR" altLang="es-AR"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1800" b="0" i="0" u="none" strike="noStrike" cap="none" normalizeH="0" baseline="0">
              <a:ln>
                <a:noFill/>
              </a:ln>
              <a:solidFill>
                <a:schemeClr val="tx1"/>
              </a:solidFill>
              <a:effectLst/>
              <a:latin typeface="Arial" panose="020B0604020202020204" pitchFamily="34" charset="0"/>
            </a:endParaRPr>
          </a:p>
        </p:txBody>
      </p:sp>
      <p:cxnSp>
        <p:nvCxnSpPr>
          <p:cNvPr id="19" name="Conector recto de flecha 18">
            <a:extLst>
              <a:ext uri="{FF2B5EF4-FFF2-40B4-BE49-F238E27FC236}">
                <a16:creationId xmlns:a16="http://schemas.microsoft.com/office/drawing/2014/main" id="{AB4150D7-8534-F9DF-BD5D-7F8ED04DF059}"/>
              </a:ext>
            </a:extLst>
          </p:cNvPr>
          <p:cNvCxnSpPr>
            <a:cxnSpLocks/>
          </p:cNvCxnSpPr>
          <p:nvPr/>
        </p:nvCxnSpPr>
        <p:spPr>
          <a:xfrm>
            <a:off x="4924425" y="4805748"/>
            <a:ext cx="13239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ectangle 27">
            <a:extLst>
              <a:ext uri="{FF2B5EF4-FFF2-40B4-BE49-F238E27FC236}">
                <a16:creationId xmlns:a16="http://schemas.microsoft.com/office/drawing/2014/main" id="{7D97DBB4-69A3-5671-F1F9-C38A2C88311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27" name="Rectángulo 10">
            <a:extLst>
              <a:ext uri="{FF2B5EF4-FFF2-40B4-BE49-F238E27FC236}">
                <a16:creationId xmlns:a16="http://schemas.microsoft.com/office/drawing/2014/main" id="{C95A43AD-5E58-48BC-58E0-86F6DC7D99F2}"/>
              </a:ext>
            </a:extLst>
          </p:cNvPr>
          <p:cNvSpPr>
            <a:spLocks noChangeArrowheads="1"/>
          </p:cNvSpPr>
          <p:nvPr/>
        </p:nvSpPr>
        <p:spPr bwMode="auto">
          <a:xfrm>
            <a:off x="9033707" y="2473978"/>
            <a:ext cx="1468038" cy="741013"/>
          </a:xfrm>
          <a:prstGeom prst="rect">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11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Deberá saber de</a:t>
            </a:r>
            <a:endParaRPr kumimoji="0" lang="es-AR" altLang="es-A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155503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a:xfrm>
            <a:off x="838200" y="1690688"/>
            <a:ext cx="10515600" cy="4351338"/>
          </a:xfrm>
        </p:spPr>
        <p:txBody>
          <a:bodyPr>
            <a:normAutofit/>
          </a:bodyPr>
          <a:lstStyle/>
          <a:p>
            <a:pPr marL="0" indent="0">
              <a:buNone/>
            </a:pPr>
            <a:r>
              <a:rPr kumimoji="0" lang="es-AR" altLang="es-AR" sz="28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Si bien las hemos dividido, están fuertemente relacionadas</a:t>
            </a:r>
            <a:endParaRPr kumimoji="0" lang="es-AR" altLang="es-AR" sz="2800" b="0" i="0" u="none" strike="noStrike" cap="none" normalizeH="0" baseline="0" dirty="0">
              <a:ln>
                <a:noFill/>
              </a:ln>
              <a:solidFill>
                <a:schemeClr val="tx1"/>
              </a:solidFill>
              <a:effectLst/>
            </a:endParaRPr>
          </a:p>
          <a:p>
            <a:pPr marL="0" indent="0">
              <a:buNone/>
            </a:pPr>
            <a:endParaRPr lang="es-AR" dirty="0"/>
          </a:p>
          <a:p>
            <a:pPr marL="0" indent="0">
              <a:buNone/>
            </a:pPr>
            <a:endParaRPr lang="es-AR" dirty="0"/>
          </a:p>
          <a:p>
            <a:pPr marL="0" indent="0">
              <a:buNone/>
            </a:pPr>
            <a:endParaRPr lang="es-AR" dirty="0"/>
          </a:p>
          <a:p>
            <a:pPr marL="0" indent="0">
              <a:buNone/>
            </a:pPr>
            <a:endParaRPr lang="es-AR" dirty="0"/>
          </a:p>
          <a:p>
            <a:pPr marL="0" indent="0">
              <a:buNone/>
            </a:pPr>
            <a:endParaRPr lang="es-AR" dirty="0"/>
          </a:p>
          <a:p>
            <a:pPr marL="0" indent="0">
              <a:buNone/>
            </a:pPr>
            <a:endParaRPr lang="es-AR" dirty="0"/>
          </a:p>
        </p:txBody>
      </p:sp>
      <p:sp>
        <p:nvSpPr>
          <p:cNvPr id="14" name="Rectangle 16">
            <a:extLst>
              <a:ext uri="{FF2B5EF4-FFF2-40B4-BE49-F238E27FC236}">
                <a16:creationId xmlns:a16="http://schemas.microsoft.com/office/drawing/2014/main" id="{7B7BB849-1D17-C46A-429E-B99DCF6227F1}"/>
              </a:ext>
            </a:extLst>
          </p:cNvPr>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1800" b="0" i="0" u="none" strike="noStrike" cap="none" normalizeH="0" baseline="0">
                <a:ln>
                  <a:noFill/>
                </a:ln>
                <a:solidFill>
                  <a:schemeClr val="tx1"/>
                </a:solidFill>
                <a:effectLst/>
                <a:latin typeface="Arial" panose="020B0604020202020204" pitchFamily="34" charset="0"/>
              </a:rPr>
            </a:br>
            <a:endParaRPr kumimoji="0" lang="es-AR" altLang="es-AR"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1800" b="0" i="0" u="none" strike="noStrike" cap="none" normalizeH="0" baseline="0">
              <a:ln>
                <a:noFill/>
              </a:ln>
              <a:solidFill>
                <a:schemeClr val="tx1"/>
              </a:solidFill>
              <a:effectLst/>
              <a:latin typeface="Arial" panose="020B0604020202020204" pitchFamily="34" charset="0"/>
            </a:endParaRPr>
          </a:p>
        </p:txBody>
      </p:sp>
      <p:sp>
        <p:nvSpPr>
          <p:cNvPr id="15" name="Rectangle 18">
            <a:extLst>
              <a:ext uri="{FF2B5EF4-FFF2-40B4-BE49-F238E27FC236}">
                <a16:creationId xmlns:a16="http://schemas.microsoft.com/office/drawing/2014/main" id="{940CD314-A214-6A93-3482-B5375274AFCD}"/>
              </a:ext>
            </a:extLst>
          </p:cNvPr>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1100" b="0" i="0" u="none" strike="noStrike" cap="none" normalizeH="0" baseline="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100" b="0" i="0" u="none" strike="noStrike" cap="none" normalizeH="0" baseline="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endParaRPr kumimoji="0" lang="es-AR" altLang="es-AR"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1800" b="0" i="0" u="none" strike="noStrike" cap="none" normalizeH="0" baseline="0">
              <a:ln>
                <a:noFill/>
              </a:ln>
              <a:solidFill>
                <a:schemeClr val="tx1"/>
              </a:solidFill>
              <a:effectLst/>
              <a:latin typeface="Arial" panose="020B0604020202020204" pitchFamily="34" charset="0"/>
            </a:endParaRPr>
          </a:p>
        </p:txBody>
      </p:sp>
      <p:cxnSp>
        <p:nvCxnSpPr>
          <p:cNvPr id="16" name="Conector recto de flecha 15">
            <a:extLst>
              <a:ext uri="{FF2B5EF4-FFF2-40B4-BE49-F238E27FC236}">
                <a16:creationId xmlns:a16="http://schemas.microsoft.com/office/drawing/2014/main" id="{163014C4-6779-8170-FB2D-AEBBB527A948}"/>
              </a:ext>
            </a:extLst>
          </p:cNvPr>
          <p:cNvCxnSpPr>
            <a:cxnSpLocks/>
          </p:cNvCxnSpPr>
          <p:nvPr/>
        </p:nvCxnSpPr>
        <p:spPr>
          <a:xfrm>
            <a:off x="4817231" y="4534832"/>
            <a:ext cx="163898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Elipse 4">
            <a:extLst>
              <a:ext uri="{FF2B5EF4-FFF2-40B4-BE49-F238E27FC236}">
                <a16:creationId xmlns:a16="http://schemas.microsoft.com/office/drawing/2014/main" id="{E06A4BD9-A0B1-32F8-E9EE-7C01B3546D31}"/>
              </a:ext>
            </a:extLst>
          </p:cNvPr>
          <p:cNvSpPr>
            <a:spLocks noChangeArrowheads="1"/>
          </p:cNvSpPr>
          <p:nvPr/>
        </p:nvSpPr>
        <p:spPr bwMode="auto">
          <a:xfrm>
            <a:off x="1621328" y="3665815"/>
            <a:ext cx="2105545" cy="1501497"/>
          </a:xfrm>
          <a:prstGeom prst="ellipse">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1100" b="0" i="0" u="none" strike="noStrike" cap="none" normalizeH="0" baseline="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Tesorero</a:t>
            </a:r>
            <a:endParaRPr kumimoji="0" lang="es-AR" altLang="es-AR" sz="1800" b="0" i="0" u="none" strike="noStrike" cap="none" normalizeH="0" baseline="0">
              <a:ln>
                <a:noFill/>
              </a:ln>
              <a:solidFill>
                <a:schemeClr val="tx1"/>
              </a:solidFill>
              <a:effectLst/>
              <a:latin typeface="Arial" panose="020B0604020202020204" pitchFamily="34" charset="0"/>
            </a:endParaRPr>
          </a:p>
        </p:txBody>
      </p:sp>
      <p:sp>
        <p:nvSpPr>
          <p:cNvPr id="18" name="Elipse 5">
            <a:extLst>
              <a:ext uri="{FF2B5EF4-FFF2-40B4-BE49-F238E27FC236}">
                <a16:creationId xmlns:a16="http://schemas.microsoft.com/office/drawing/2014/main" id="{6F4EEFC5-FCCF-DD35-01C1-62E692511F43}"/>
              </a:ext>
            </a:extLst>
          </p:cNvPr>
          <p:cNvSpPr>
            <a:spLocks noChangeArrowheads="1"/>
          </p:cNvSpPr>
          <p:nvPr/>
        </p:nvSpPr>
        <p:spPr bwMode="auto">
          <a:xfrm>
            <a:off x="7812714" y="3828458"/>
            <a:ext cx="3173941" cy="1501496"/>
          </a:xfrm>
          <a:prstGeom prst="ellipse">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1100" b="0" i="0" u="none" strike="noStrike" cap="none" normalizeH="0" baseline="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Banca, para tomar un préstamo en condiciones razonables</a:t>
            </a:r>
            <a:endParaRPr kumimoji="0" lang="es-AR" altLang="es-AR" sz="1800" b="0" i="0" u="none" strike="noStrike" cap="none" normalizeH="0" baseline="0">
              <a:ln>
                <a:noFill/>
              </a:ln>
              <a:solidFill>
                <a:schemeClr val="tx1"/>
              </a:solidFill>
              <a:effectLst/>
              <a:latin typeface="Arial" panose="020B0604020202020204" pitchFamily="34" charset="0"/>
            </a:endParaRPr>
          </a:p>
        </p:txBody>
      </p:sp>
      <p:sp>
        <p:nvSpPr>
          <p:cNvPr id="23" name="Rectángulo 11">
            <a:extLst>
              <a:ext uri="{FF2B5EF4-FFF2-40B4-BE49-F238E27FC236}">
                <a16:creationId xmlns:a16="http://schemas.microsoft.com/office/drawing/2014/main" id="{EF482783-68CC-6E91-F43E-5761CA465DBB}"/>
              </a:ext>
            </a:extLst>
          </p:cNvPr>
          <p:cNvSpPr>
            <a:spLocks noChangeArrowheads="1"/>
          </p:cNvSpPr>
          <p:nvPr/>
        </p:nvSpPr>
        <p:spPr bwMode="auto">
          <a:xfrm>
            <a:off x="4568284" y="2801546"/>
            <a:ext cx="1804808" cy="759070"/>
          </a:xfrm>
          <a:prstGeom prst="rect">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11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Solicitar un préstamo</a:t>
            </a:r>
            <a:endParaRPr kumimoji="0" lang="es-AR" altLang="es-AR" sz="1800" b="0" i="0" u="none" strike="noStrike" cap="none" normalizeH="0" baseline="0" dirty="0">
              <a:ln>
                <a:noFill/>
              </a:ln>
              <a:solidFill>
                <a:schemeClr val="tx1"/>
              </a:solidFill>
              <a:effectLst/>
              <a:latin typeface="Arial" panose="020B0604020202020204" pitchFamily="34" charset="0"/>
            </a:endParaRPr>
          </a:p>
        </p:txBody>
      </p:sp>
      <p:sp>
        <p:nvSpPr>
          <p:cNvPr id="25" name="Rectangle 27">
            <a:extLst>
              <a:ext uri="{FF2B5EF4-FFF2-40B4-BE49-F238E27FC236}">
                <a16:creationId xmlns:a16="http://schemas.microsoft.com/office/drawing/2014/main" id="{7D97DBB4-69A3-5671-F1F9-C38A2C88311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27" name="Rectángulo 10">
            <a:extLst>
              <a:ext uri="{FF2B5EF4-FFF2-40B4-BE49-F238E27FC236}">
                <a16:creationId xmlns:a16="http://schemas.microsoft.com/office/drawing/2014/main" id="{C95A43AD-5E58-48BC-58E0-86F6DC7D99F2}"/>
              </a:ext>
            </a:extLst>
          </p:cNvPr>
          <p:cNvSpPr>
            <a:spLocks noChangeArrowheads="1"/>
          </p:cNvSpPr>
          <p:nvPr/>
        </p:nvSpPr>
        <p:spPr bwMode="auto">
          <a:xfrm>
            <a:off x="9033706" y="2570963"/>
            <a:ext cx="1426475" cy="1003516"/>
          </a:xfrm>
          <a:prstGeom prst="rect">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11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Deberá saber de</a:t>
            </a:r>
            <a:endParaRPr kumimoji="0" lang="es-AR" altLang="es-A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783142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a:xfrm>
            <a:off x="838200" y="1690688"/>
            <a:ext cx="10515600" cy="4351338"/>
          </a:xfrm>
        </p:spPr>
        <p:txBody>
          <a:bodyPr>
            <a:normAutofit/>
          </a:bodyPr>
          <a:lstStyle/>
          <a:p>
            <a:pPr marL="0" indent="0">
              <a:buNone/>
            </a:pPr>
            <a:r>
              <a:rPr kumimoji="0" lang="es-AR" altLang="es-AR" sz="28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Si bien las hemos dividido, están fuertemente relacionadas</a:t>
            </a:r>
            <a:endParaRPr kumimoji="0" lang="es-AR" altLang="es-AR" sz="2800" b="0" i="0" u="none" strike="noStrike" cap="none" normalizeH="0" baseline="0" dirty="0">
              <a:ln>
                <a:noFill/>
              </a:ln>
              <a:solidFill>
                <a:schemeClr val="tx1"/>
              </a:solidFill>
              <a:effectLst/>
            </a:endParaRPr>
          </a:p>
          <a:p>
            <a:pPr marL="0" indent="0">
              <a:buNone/>
            </a:pPr>
            <a:endParaRPr lang="es-AR" dirty="0"/>
          </a:p>
          <a:p>
            <a:pPr marL="0" indent="0">
              <a:buNone/>
            </a:pPr>
            <a:endParaRPr lang="es-AR" dirty="0"/>
          </a:p>
          <a:p>
            <a:pPr marL="0" indent="0">
              <a:buNone/>
            </a:pPr>
            <a:endParaRPr lang="es-AR" dirty="0"/>
          </a:p>
          <a:p>
            <a:pPr marL="0" indent="0">
              <a:buNone/>
            </a:pPr>
            <a:endParaRPr lang="es-AR" dirty="0"/>
          </a:p>
          <a:p>
            <a:pPr marL="0" indent="0">
              <a:buNone/>
            </a:pPr>
            <a:endParaRPr lang="es-AR" dirty="0"/>
          </a:p>
          <a:p>
            <a:pPr marL="0" indent="0">
              <a:buNone/>
            </a:pPr>
            <a:endParaRPr lang="es-AR" dirty="0"/>
          </a:p>
        </p:txBody>
      </p:sp>
      <p:sp>
        <p:nvSpPr>
          <p:cNvPr id="14" name="Rectangle 16">
            <a:extLst>
              <a:ext uri="{FF2B5EF4-FFF2-40B4-BE49-F238E27FC236}">
                <a16:creationId xmlns:a16="http://schemas.microsoft.com/office/drawing/2014/main" id="{7B7BB849-1D17-C46A-429E-B99DCF6227F1}"/>
              </a:ext>
            </a:extLst>
          </p:cNvPr>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s-AR" altLang="es-AR" sz="1800" b="0" i="0" u="none" strike="noStrike" cap="none" normalizeH="0" baseline="0">
                <a:ln>
                  <a:noFill/>
                </a:ln>
                <a:solidFill>
                  <a:schemeClr val="tx1"/>
                </a:solidFill>
                <a:effectLst/>
                <a:latin typeface="Arial" panose="020B0604020202020204" pitchFamily="34" charset="0"/>
              </a:rPr>
            </a:br>
            <a:endParaRPr kumimoji="0" lang="es-AR" altLang="es-AR"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1800" b="0" i="0" u="none" strike="noStrike" cap="none" normalizeH="0" baseline="0">
              <a:ln>
                <a:noFill/>
              </a:ln>
              <a:solidFill>
                <a:schemeClr val="tx1"/>
              </a:solidFill>
              <a:effectLst/>
              <a:latin typeface="Arial" panose="020B0604020202020204" pitchFamily="34" charset="0"/>
            </a:endParaRPr>
          </a:p>
        </p:txBody>
      </p:sp>
      <p:sp>
        <p:nvSpPr>
          <p:cNvPr id="15" name="Rectangle 18">
            <a:extLst>
              <a:ext uri="{FF2B5EF4-FFF2-40B4-BE49-F238E27FC236}">
                <a16:creationId xmlns:a16="http://schemas.microsoft.com/office/drawing/2014/main" id="{940CD314-A214-6A93-3482-B5375274AFCD}"/>
              </a:ext>
            </a:extLst>
          </p:cNvPr>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1100" b="0" i="0" u="none" strike="noStrike" cap="none" normalizeH="0" baseline="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100" b="0" i="0" u="none" strike="noStrike" cap="none" normalizeH="0" baseline="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endParaRPr kumimoji="0" lang="es-AR" altLang="es-AR"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1800" b="0" i="0" u="none" strike="noStrike" cap="none" normalizeH="0" baseline="0">
              <a:ln>
                <a:noFill/>
              </a:ln>
              <a:solidFill>
                <a:schemeClr val="tx1"/>
              </a:solidFill>
              <a:effectLst/>
              <a:latin typeface="Arial" panose="020B0604020202020204" pitchFamily="34" charset="0"/>
            </a:endParaRPr>
          </a:p>
        </p:txBody>
      </p:sp>
      <p:sp>
        <p:nvSpPr>
          <p:cNvPr id="20" name="Elipse 7">
            <a:extLst>
              <a:ext uri="{FF2B5EF4-FFF2-40B4-BE49-F238E27FC236}">
                <a16:creationId xmlns:a16="http://schemas.microsoft.com/office/drawing/2014/main" id="{9BEE7E5F-F610-F38E-CECF-C194F1653DE1}"/>
              </a:ext>
            </a:extLst>
          </p:cNvPr>
          <p:cNvSpPr>
            <a:spLocks noChangeArrowheads="1"/>
          </p:cNvSpPr>
          <p:nvPr/>
        </p:nvSpPr>
        <p:spPr bwMode="auto">
          <a:xfrm>
            <a:off x="1387757" y="4369617"/>
            <a:ext cx="2339115" cy="1314228"/>
          </a:xfrm>
          <a:prstGeom prst="ellipse">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1100" b="0" i="0" u="none" strike="noStrike" cap="none" normalizeH="0" baseline="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Analista de Valores</a:t>
            </a:r>
            <a:endParaRPr kumimoji="0" lang="es-AR" altLang="es-AR" sz="1800" b="0" i="0" u="none" strike="noStrike" cap="none" normalizeH="0" baseline="0">
              <a:ln>
                <a:noFill/>
              </a:ln>
              <a:solidFill>
                <a:schemeClr val="tx1"/>
              </a:solidFill>
              <a:effectLst/>
              <a:latin typeface="Arial" panose="020B0604020202020204" pitchFamily="34" charset="0"/>
            </a:endParaRPr>
          </a:p>
        </p:txBody>
      </p:sp>
      <p:sp>
        <p:nvSpPr>
          <p:cNvPr id="21" name="Elipse 8">
            <a:extLst>
              <a:ext uri="{FF2B5EF4-FFF2-40B4-BE49-F238E27FC236}">
                <a16:creationId xmlns:a16="http://schemas.microsoft.com/office/drawing/2014/main" id="{491F283D-139C-E1FF-0B9D-AC1F7507A86B}"/>
              </a:ext>
            </a:extLst>
          </p:cNvPr>
          <p:cNvSpPr>
            <a:spLocks noChangeArrowheads="1"/>
          </p:cNvSpPr>
          <p:nvPr/>
        </p:nvSpPr>
        <p:spPr bwMode="auto">
          <a:xfrm>
            <a:off x="8905452" y="4488874"/>
            <a:ext cx="2339115" cy="1194972"/>
          </a:xfrm>
          <a:prstGeom prst="ellipse">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11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Finanzas Corporativas y mercado de capitales para hacer su trabajo</a:t>
            </a:r>
            <a:endParaRPr kumimoji="0" lang="es-AR" altLang="es-AR" sz="1800" b="0" i="0" u="none" strike="noStrike" cap="none" normalizeH="0" baseline="0" dirty="0">
              <a:ln>
                <a:noFill/>
              </a:ln>
              <a:solidFill>
                <a:schemeClr val="tx1"/>
              </a:solidFill>
              <a:effectLst/>
              <a:latin typeface="Arial" panose="020B0604020202020204" pitchFamily="34" charset="0"/>
            </a:endParaRPr>
          </a:p>
        </p:txBody>
      </p:sp>
      <p:cxnSp>
        <p:nvCxnSpPr>
          <p:cNvPr id="22" name="Conector recto de flecha 21">
            <a:extLst>
              <a:ext uri="{FF2B5EF4-FFF2-40B4-BE49-F238E27FC236}">
                <a16:creationId xmlns:a16="http://schemas.microsoft.com/office/drawing/2014/main" id="{4DCB4F44-7BEB-BEDB-F0FD-E35204494E74}"/>
              </a:ext>
            </a:extLst>
          </p:cNvPr>
          <p:cNvCxnSpPr>
            <a:cxnSpLocks/>
          </p:cNvCxnSpPr>
          <p:nvPr/>
        </p:nvCxnSpPr>
        <p:spPr>
          <a:xfrm>
            <a:off x="5201952" y="5014278"/>
            <a:ext cx="22379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Rectángulo 12">
            <a:extLst>
              <a:ext uri="{FF2B5EF4-FFF2-40B4-BE49-F238E27FC236}">
                <a16:creationId xmlns:a16="http://schemas.microsoft.com/office/drawing/2014/main" id="{1CBA3ACF-E63A-1421-6B67-6AA33F2B3DFF}"/>
              </a:ext>
            </a:extLst>
          </p:cNvPr>
          <p:cNvSpPr>
            <a:spLocks noChangeArrowheads="1"/>
          </p:cNvSpPr>
          <p:nvPr/>
        </p:nvSpPr>
        <p:spPr bwMode="auto">
          <a:xfrm>
            <a:off x="5201952" y="3107221"/>
            <a:ext cx="1409700" cy="704850"/>
          </a:xfrm>
          <a:prstGeom prst="rect">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11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Determinar el verdadero valor de una acción</a:t>
            </a:r>
            <a:endParaRPr kumimoji="0" lang="es-AR" altLang="es-AR" sz="1800" b="0" i="0" u="none" strike="noStrike" cap="none" normalizeH="0" baseline="0" dirty="0">
              <a:ln>
                <a:noFill/>
              </a:ln>
              <a:solidFill>
                <a:schemeClr val="tx1"/>
              </a:solidFill>
              <a:effectLst/>
              <a:latin typeface="Arial" panose="020B0604020202020204" pitchFamily="34" charset="0"/>
            </a:endParaRPr>
          </a:p>
        </p:txBody>
      </p:sp>
      <p:sp>
        <p:nvSpPr>
          <p:cNvPr id="25" name="Rectangle 27">
            <a:extLst>
              <a:ext uri="{FF2B5EF4-FFF2-40B4-BE49-F238E27FC236}">
                <a16:creationId xmlns:a16="http://schemas.microsoft.com/office/drawing/2014/main" id="{7D97DBB4-69A3-5671-F1F9-C38A2C88311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27" name="Rectángulo 10">
            <a:extLst>
              <a:ext uri="{FF2B5EF4-FFF2-40B4-BE49-F238E27FC236}">
                <a16:creationId xmlns:a16="http://schemas.microsoft.com/office/drawing/2014/main" id="{C95A43AD-5E58-48BC-58E0-86F6DC7D99F2}"/>
              </a:ext>
            </a:extLst>
          </p:cNvPr>
          <p:cNvSpPr>
            <a:spLocks noChangeArrowheads="1"/>
          </p:cNvSpPr>
          <p:nvPr/>
        </p:nvSpPr>
        <p:spPr bwMode="auto">
          <a:xfrm>
            <a:off x="9075270" y="2856773"/>
            <a:ext cx="1731275" cy="948159"/>
          </a:xfrm>
          <a:prstGeom prst="rect">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11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Deberá saber de</a:t>
            </a:r>
            <a:endParaRPr kumimoji="0" lang="es-AR" altLang="es-A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92460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a:bodyPr>
          <a:lstStyle/>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Además, toda decisión financiera depende de los niveles de las tasas de interés. Esto involucrará al personal de finanzas corporativas, inversiones y banca que deberán saber cómo se determinan las tasas.</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Todo está relacionado.</a:t>
            </a:r>
          </a:p>
          <a:p>
            <a:endParaRPr lang="es-AR" dirty="0"/>
          </a:p>
        </p:txBody>
      </p:sp>
    </p:spTree>
    <p:extLst>
      <p:ext uri="{BB962C8B-B14F-4D97-AF65-F5344CB8AC3E}">
        <p14:creationId xmlns:p14="http://schemas.microsoft.com/office/powerpoint/2010/main" val="13098240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a:bodyPr>
          <a:lstStyle/>
          <a:p>
            <a:r>
              <a:rPr lang="es-AR" sz="2400" dirty="0">
                <a:effectLst/>
                <a:latin typeface="Calibri" panose="020F0502020204030204" pitchFamily="34" charset="0"/>
                <a:ea typeface="Times New Roman" panose="02020603050405020304" pitchFamily="18" charset="0"/>
                <a:cs typeface="Times New Roman" panose="02020603050405020304" pitchFamily="18" charset="0"/>
              </a:rPr>
              <a:t>LAS FINANZAS DENTRO DE UNA ORGANIZACIÓN</a:t>
            </a:r>
          </a:p>
          <a:p>
            <a:pPr>
              <a:lnSpc>
                <a:spcPct val="107000"/>
              </a:lnSpc>
              <a:spcAft>
                <a:spcPts val="800"/>
              </a:spcAft>
            </a:pPr>
            <a:r>
              <a:rPr lang="es-AR" sz="2400" dirty="0">
                <a:effectLst/>
                <a:latin typeface="Calibri" panose="020F0502020204030204" pitchFamily="34" charset="0"/>
                <a:ea typeface="Times New Roman" panose="02020603050405020304" pitchFamily="18" charset="0"/>
                <a:cs typeface="Times New Roman" panose="02020603050405020304" pitchFamily="18" charset="0"/>
              </a:rPr>
              <a:t>Los deberes del Director financiero se han ampliado, como veremos en el próximo cuadro</a:t>
            </a:r>
          </a:p>
          <a:p>
            <a:pPr>
              <a:lnSpc>
                <a:spcPct val="107000"/>
              </a:lnSpc>
              <a:spcAft>
                <a:spcPts val="800"/>
              </a:spcAft>
            </a:pPr>
            <a:r>
              <a:rPr lang="es-AR" sz="2400" dirty="0">
                <a:effectLst/>
                <a:latin typeface="Calibri" panose="020F0502020204030204" pitchFamily="34" charset="0"/>
                <a:ea typeface="Times New Roman" panose="02020603050405020304" pitchFamily="18" charset="0"/>
                <a:cs typeface="Times New Roman" panose="02020603050405020304" pitchFamily="18" charset="0"/>
              </a:rPr>
              <a:t>Ley Sarbanes-Oxley</a:t>
            </a:r>
          </a:p>
          <a:p>
            <a:pPr lvl="1">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Directores general y financiero deben certificar ante la SEC la veracidad de los estados financieros (EF) de su empresa si la misma cotiza en Bolsa. Nace a partir de </a:t>
            </a:r>
            <a:r>
              <a:rPr lang="es-AR" sz="1800" dirty="0">
                <a:latin typeface="Calibri" panose="020F0502020204030204" pitchFamily="34" charset="0"/>
                <a:ea typeface="Times New Roman" panose="02020603050405020304" pitchFamily="18" charset="0"/>
                <a:cs typeface="Times New Roman" panose="02020603050405020304" pitchFamily="18" charset="0"/>
              </a:rPr>
              <a:t>e</a:t>
            </a: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scándalos corporativos como Enron y WorldCom, con pérdidas para inversores, empleados y proveedores por miles de millones de USD a raíz de informaciones falsas proporcionadas por las corporaciones</a:t>
            </a:r>
          </a:p>
          <a:p>
            <a:endParaRPr lang="es-AR" sz="3600" dirty="0"/>
          </a:p>
        </p:txBody>
      </p:sp>
    </p:spTree>
    <p:extLst>
      <p:ext uri="{BB962C8B-B14F-4D97-AF65-F5344CB8AC3E}">
        <p14:creationId xmlns:p14="http://schemas.microsoft.com/office/powerpoint/2010/main" val="10771019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a:xfrm>
            <a:off x="884090" y="1900241"/>
            <a:ext cx="10515600" cy="4351338"/>
          </a:xfrm>
        </p:spPr>
        <p:txBody>
          <a:bodyPr>
            <a:normAutofit/>
          </a:bodyPr>
          <a:lstStyle/>
          <a:p>
            <a:pPr marL="0" indent="0" algn="ctr">
              <a:buNone/>
            </a:pPr>
            <a:r>
              <a:rPr lang="es-AR" dirty="0"/>
              <a:t>Las finanzas dentro de la Organización</a:t>
            </a:r>
          </a:p>
        </p:txBody>
      </p:sp>
      <p:sp>
        <p:nvSpPr>
          <p:cNvPr id="4" name="Cuadro de texto 13">
            <a:extLst>
              <a:ext uri="{FF2B5EF4-FFF2-40B4-BE49-F238E27FC236}">
                <a16:creationId xmlns:a16="http://schemas.microsoft.com/office/drawing/2014/main" id="{48816773-9BB3-A1E2-209C-56F4BE44BB17}"/>
              </a:ext>
            </a:extLst>
          </p:cNvPr>
          <p:cNvSpPr txBox="1">
            <a:spLocks noChangeArrowheads="1"/>
          </p:cNvSpPr>
          <p:nvPr/>
        </p:nvSpPr>
        <p:spPr bwMode="auto">
          <a:xfrm>
            <a:off x="4560132" y="2632653"/>
            <a:ext cx="2581274" cy="514350"/>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1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Consejo de Administración – Principal Cuerpo de Gobierno</a:t>
            </a:r>
            <a:endParaRPr kumimoji="0" lang="es-AR" altLang="es-AR" sz="2400" b="0" i="0" u="none" strike="noStrike" cap="none" normalizeH="0" baseline="0" dirty="0">
              <a:ln>
                <a:noFill/>
              </a:ln>
              <a:solidFill>
                <a:schemeClr val="tx1"/>
              </a:solidFill>
              <a:effectLst/>
              <a:latin typeface="Arial" panose="020B0604020202020204" pitchFamily="34" charset="0"/>
            </a:endParaRPr>
          </a:p>
        </p:txBody>
      </p:sp>
      <p:sp>
        <p:nvSpPr>
          <p:cNvPr id="5" name="Cuadro de texto 14">
            <a:extLst>
              <a:ext uri="{FF2B5EF4-FFF2-40B4-BE49-F238E27FC236}">
                <a16:creationId xmlns:a16="http://schemas.microsoft.com/office/drawing/2014/main" id="{1228E3E9-9149-9937-27D8-4B5A9FA6E59F}"/>
              </a:ext>
            </a:extLst>
          </p:cNvPr>
          <p:cNvSpPr txBox="1">
            <a:spLocks noChangeArrowheads="1"/>
          </p:cNvSpPr>
          <p:nvPr/>
        </p:nvSpPr>
        <p:spPr bwMode="auto">
          <a:xfrm>
            <a:off x="4553202" y="3396243"/>
            <a:ext cx="2581275" cy="514350"/>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1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Director General (CEO), en general, presidente del </a:t>
            </a:r>
            <a:r>
              <a:rPr kumimoji="0" lang="es-AR" altLang="es-AR" sz="1400"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CdA</a:t>
            </a:r>
            <a:endParaRPr kumimoji="0" lang="es-AR" altLang="es-AR" sz="2400" b="0" i="0" u="none" strike="noStrike" cap="none" normalizeH="0" baseline="0" dirty="0">
              <a:ln>
                <a:noFill/>
              </a:ln>
              <a:solidFill>
                <a:schemeClr val="tx1"/>
              </a:solidFill>
              <a:effectLst/>
              <a:latin typeface="Arial" panose="020B0604020202020204" pitchFamily="34" charset="0"/>
            </a:endParaRPr>
          </a:p>
        </p:txBody>
      </p:sp>
      <p:sp>
        <p:nvSpPr>
          <p:cNvPr id="6" name="Cuadro de texto 15">
            <a:extLst>
              <a:ext uri="{FF2B5EF4-FFF2-40B4-BE49-F238E27FC236}">
                <a16:creationId xmlns:a16="http://schemas.microsoft.com/office/drawing/2014/main" id="{AA373090-AC29-28F9-403D-19F46934E4F1}"/>
              </a:ext>
            </a:extLst>
          </p:cNvPr>
          <p:cNvSpPr txBox="1">
            <a:spLocks noChangeArrowheads="1"/>
          </p:cNvSpPr>
          <p:nvPr/>
        </p:nvSpPr>
        <p:spPr bwMode="auto">
          <a:xfrm>
            <a:off x="1682418" y="4150300"/>
            <a:ext cx="2600324" cy="1142136"/>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1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Director de Operaciones (COO), suele ser Presidente de la Empresa. Segundo Director en importancia</a:t>
            </a:r>
            <a:endParaRPr kumimoji="0" lang="es-AR" altLang="es-AR" sz="2400" b="0" i="0" u="none" strike="noStrike" cap="none" normalizeH="0" baseline="0" dirty="0">
              <a:ln>
                <a:noFill/>
              </a:ln>
              <a:solidFill>
                <a:schemeClr val="tx1"/>
              </a:solidFill>
              <a:effectLst/>
              <a:latin typeface="Arial" panose="020B0604020202020204" pitchFamily="34" charset="0"/>
            </a:endParaRPr>
          </a:p>
        </p:txBody>
      </p:sp>
      <p:sp>
        <p:nvSpPr>
          <p:cNvPr id="7" name="Cuadro de texto 16">
            <a:extLst>
              <a:ext uri="{FF2B5EF4-FFF2-40B4-BE49-F238E27FC236}">
                <a16:creationId xmlns:a16="http://schemas.microsoft.com/office/drawing/2014/main" id="{0B3F081D-14C7-FB54-321B-6CA45D1BF2B3}"/>
              </a:ext>
            </a:extLst>
          </p:cNvPr>
          <p:cNvSpPr txBox="1">
            <a:spLocks noChangeArrowheads="1"/>
          </p:cNvSpPr>
          <p:nvPr/>
        </p:nvSpPr>
        <p:spPr bwMode="auto">
          <a:xfrm>
            <a:off x="7344031" y="4180605"/>
            <a:ext cx="2880625" cy="1142136"/>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1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Director Financiero (CFO) , en general Vicepresidente ejecutivo y tercer director de más alto rango</a:t>
            </a:r>
            <a:endParaRPr kumimoji="0" lang="es-AR" altLang="es-AR" sz="2400" b="0" i="0" u="none" strike="noStrike" cap="none" normalizeH="0" baseline="0" dirty="0">
              <a:ln>
                <a:noFill/>
              </a:ln>
              <a:solidFill>
                <a:schemeClr val="tx1"/>
              </a:solidFill>
              <a:effectLst/>
              <a:latin typeface="Arial" panose="020B0604020202020204" pitchFamily="34" charset="0"/>
            </a:endParaRPr>
          </a:p>
        </p:txBody>
      </p:sp>
      <p:sp>
        <p:nvSpPr>
          <p:cNvPr id="8" name="Cuadro de texto 17">
            <a:extLst>
              <a:ext uri="{FF2B5EF4-FFF2-40B4-BE49-F238E27FC236}">
                <a16:creationId xmlns:a16="http://schemas.microsoft.com/office/drawing/2014/main" id="{27F48CFF-A7FD-235F-C954-D11201AB2954}"/>
              </a:ext>
            </a:extLst>
          </p:cNvPr>
          <p:cNvSpPr txBox="1">
            <a:spLocks noChangeArrowheads="1"/>
          </p:cNvSpPr>
          <p:nvPr/>
        </p:nvSpPr>
        <p:spPr bwMode="auto">
          <a:xfrm>
            <a:off x="7344031" y="5557838"/>
            <a:ext cx="2920198" cy="935037"/>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1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Funciones: </a:t>
            </a:r>
            <a:r>
              <a:rPr kumimoji="0" lang="es-AR" altLang="es-AR" sz="1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Contabilidad, tesorería, crédito, jurídico, presupuestación de Capital y relaciones con los inversores</a:t>
            </a:r>
            <a:endParaRPr kumimoji="0" lang="es-AR" altLang="es-AR" sz="2400" b="0" i="0" u="none" strike="noStrike" cap="none" normalizeH="0" baseline="0" dirty="0">
              <a:ln>
                <a:noFill/>
              </a:ln>
              <a:solidFill>
                <a:schemeClr val="tx1"/>
              </a:solidFill>
              <a:effectLst/>
              <a:latin typeface="Arial" panose="020B0604020202020204" pitchFamily="34" charset="0"/>
            </a:endParaRPr>
          </a:p>
        </p:txBody>
      </p:sp>
      <p:sp>
        <p:nvSpPr>
          <p:cNvPr id="9" name="Cuadro de texto 18">
            <a:extLst>
              <a:ext uri="{FF2B5EF4-FFF2-40B4-BE49-F238E27FC236}">
                <a16:creationId xmlns:a16="http://schemas.microsoft.com/office/drawing/2014/main" id="{CDF19FFE-8674-2F6C-21C7-CE6F8FE4C33E}"/>
              </a:ext>
            </a:extLst>
          </p:cNvPr>
          <p:cNvSpPr txBox="1">
            <a:spLocks noChangeArrowheads="1"/>
          </p:cNvSpPr>
          <p:nvPr/>
        </p:nvSpPr>
        <p:spPr bwMode="auto">
          <a:xfrm>
            <a:off x="1682416" y="5557838"/>
            <a:ext cx="2600325" cy="935037"/>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14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Funciones: </a:t>
            </a:r>
            <a:r>
              <a:rPr kumimoji="0" lang="es-AR" altLang="es-AR" sz="1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Marketing, producción, RRHH y otros departamentos de Operaciones</a:t>
            </a:r>
            <a:endParaRPr kumimoji="0" lang="es-AR" altLang="es-AR" sz="2400" b="0" i="0" u="none" strike="noStrike" cap="none" normalizeH="0" baseline="0" dirty="0">
              <a:ln>
                <a:noFill/>
              </a:ln>
              <a:solidFill>
                <a:schemeClr val="tx1"/>
              </a:solidFill>
              <a:effectLst/>
              <a:latin typeface="Arial" panose="020B0604020202020204" pitchFamily="34" charset="0"/>
            </a:endParaRPr>
          </a:p>
        </p:txBody>
      </p:sp>
      <p:sp>
        <p:nvSpPr>
          <p:cNvPr id="10" name="Rectangle 7">
            <a:extLst>
              <a:ext uri="{FF2B5EF4-FFF2-40B4-BE49-F238E27FC236}">
                <a16:creationId xmlns:a16="http://schemas.microsoft.com/office/drawing/2014/main" id="{941BF664-2926-59D7-282B-8E6607996D4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11" name="Rectangle 14">
            <a:extLst>
              <a:ext uri="{FF2B5EF4-FFF2-40B4-BE49-F238E27FC236}">
                <a16:creationId xmlns:a16="http://schemas.microsoft.com/office/drawing/2014/main" id="{DBB69AD1-1965-CC2D-92EB-B6FED8518A8E}"/>
              </a:ext>
            </a:extLst>
          </p:cNvPr>
          <p:cNvSpPr>
            <a:spLocks noChangeArrowheads="1"/>
          </p:cNvSpPr>
          <p:nvPr/>
        </p:nvSpPr>
        <p:spPr bwMode="auto">
          <a:xfrm>
            <a:off x="0" y="4572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Tree>
    <p:extLst>
      <p:ext uri="{BB962C8B-B14F-4D97-AF65-F5344CB8AC3E}">
        <p14:creationId xmlns:p14="http://schemas.microsoft.com/office/powerpoint/2010/main" val="39086460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a:bodyPr>
          <a:lstStyle/>
          <a:p>
            <a:pPr marL="0" indent="0" algn="ctr">
              <a:lnSpc>
                <a:spcPct val="107000"/>
              </a:lnSpc>
              <a:spcAft>
                <a:spcPts val="800"/>
              </a:spcAft>
              <a:buNone/>
            </a:pPr>
            <a:r>
              <a:rPr lang="es-AR" sz="2000" b="1" u="sng" dirty="0">
                <a:effectLst/>
                <a:latin typeface="Calibri" panose="020F0502020204030204" pitchFamily="34" charset="0"/>
                <a:ea typeface="Times New Roman" panose="02020603050405020304" pitchFamily="18" charset="0"/>
                <a:cs typeface="Times New Roman" panose="02020603050405020304" pitchFamily="18" charset="0"/>
              </a:rPr>
              <a:t>FINANZAS VERSUS ECONOMIA Y CONTABILIDAD</a:t>
            </a:r>
          </a:p>
          <a:p>
            <a:pPr>
              <a:lnSpc>
                <a:spcPct val="107000"/>
              </a:lnSpc>
              <a:spcAft>
                <a:spcPts val="800"/>
              </a:spcAft>
            </a:pPr>
            <a:r>
              <a:rPr lang="es-AR" sz="2000" dirty="0">
                <a:effectLst/>
                <a:latin typeface="Calibri" panose="020F0502020204030204" pitchFamily="34" charset="0"/>
                <a:ea typeface="Times New Roman" panose="02020603050405020304" pitchFamily="18" charset="0"/>
                <a:cs typeface="Times New Roman" panose="02020603050405020304" pitchFamily="18" charset="0"/>
              </a:rPr>
              <a:t>Las finanzas se desprendieron de la economía y la contabilidad</a:t>
            </a:r>
          </a:p>
          <a:p>
            <a:pPr>
              <a:lnSpc>
                <a:spcPct val="107000"/>
              </a:lnSpc>
              <a:spcAft>
                <a:spcPts val="800"/>
              </a:spcAft>
            </a:pPr>
            <a:r>
              <a:rPr lang="es-AR" sz="2000" dirty="0">
                <a:effectLst/>
                <a:latin typeface="Calibri" panose="020F0502020204030204" pitchFamily="34" charset="0"/>
                <a:ea typeface="Times New Roman" panose="02020603050405020304" pitchFamily="18" charset="0"/>
                <a:cs typeface="Times New Roman" panose="02020603050405020304" pitchFamily="18" charset="0"/>
              </a:rPr>
              <a:t>Economistas -&gt; Valor de un activo se basa en los flujos futuros de efectivo</a:t>
            </a:r>
          </a:p>
          <a:p>
            <a:pPr>
              <a:lnSpc>
                <a:spcPct val="107000"/>
              </a:lnSpc>
              <a:spcAft>
                <a:spcPts val="800"/>
              </a:spcAft>
            </a:pPr>
            <a:r>
              <a:rPr lang="es-AR" sz="2000" dirty="0">
                <a:effectLst/>
                <a:latin typeface="Calibri" panose="020F0502020204030204" pitchFamily="34" charset="0"/>
                <a:ea typeface="Times New Roman" panose="02020603050405020304" pitchFamily="18" charset="0"/>
                <a:cs typeface="Times New Roman" panose="02020603050405020304" pitchFamily="18" charset="0"/>
              </a:rPr>
              <a:t>Contadores -&gt; Brindan información sobre la probable magnitud de dichos flujos</a:t>
            </a:r>
          </a:p>
          <a:p>
            <a:pPr marL="0" indent="0">
              <a:lnSpc>
                <a:spcPct val="107000"/>
              </a:lnSpc>
              <a:spcAft>
                <a:spcPts val="800"/>
              </a:spcAft>
              <a:buNone/>
            </a:pPr>
            <a:r>
              <a:rPr lang="es-AR" sz="2000" dirty="0">
                <a:effectLst/>
                <a:latin typeface="Calibri" panose="020F0502020204030204" pitchFamily="34" charset="0"/>
                <a:ea typeface="Times New Roman" panose="02020603050405020304" pitchFamily="18" charset="0"/>
                <a:cs typeface="Times New Roman" panose="02020603050405020304" pitchFamily="18" charset="0"/>
              </a:rPr>
              <a:t> Trabajar en Finanzas requiere de ambos conocimientos. Ver la ubicación del Director Financiero en el Gráfico anterior, y sus funciones</a:t>
            </a:r>
          </a:p>
          <a:p>
            <a:endParaRPr lang="es-AR" sz="3200" dirty="0"/>
          </a:p>
        </p:txBody>
      </p:sp>
    </p:spTree>
    <p:extLst>
      <p:ext uri="{BB962C8B-B14F-4D97-AF65-F5344CB8AC3E}">
        <p14:creationId xmlns:p14="http://schemas.microsoft.com/office/powerpoint/2010/main" val="1079336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a:bodyPr>
          <a:lstStyle/>
          <a:p>
            <a:pPr marL="0" indent="0" algn="ctr">
              <a:lnSpc>
                <a:spcPct val="107000"/>
              </a:lnSpc>
              <a:spcAft>
                <a:spcPts val="800"/>
              </a:spcAft>
              <a:buNone/>
            </a:pPr>
            <a:r>
              <a:rPr lang="es-AR" sz="20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2000" b="1" u="sng" dirty="0">
                <a:effectLst/>
                <a:latin typeface="Calibri" panose="020F0502020204030204" pitchFamily="34" charset="0"/>
                <a:ea typeface="Times New Roman" panose="02020603050405020304" pitchFamily="18" charset="0"/>
                <a:cs typeface="Times New Roman" panose="02020603050405020304" pitchFamily="18" charset="0"/>
              </a:rPr>
              <a:t>EMPLEOS Y FINANZAS</a:t>
            </a:r>
            <a:endParaRPr lang="es-AR" sz="20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AR" sz="2000" dirty="0">
                <a:effectLst/>
                <a:latin typeface="Calibri" panose="020F0502020204030204" pitchFamily="34" charset="0"/>
                <a:ea typeface="Times New Roman" panose="02020603050405020304" pitchFamily="18" charset="0"/>
                <a:cs typeface="Times New Roman" panose="02020603050405020304" pitchFamily="18" charset="0"/>
              </a:rPr>
              <a:t> Hoy todas las actividades requieren conocimientos de finanzas, y los mismos empleados en el manejo de su dinero deben conocer de finanzas para tomar decisiones. Veamos cómo en las distintas áreas se requiere de tales conocimientos </a:t>
            </a:r>
          </a:p>
          <a:p>
            <a:pPr>
              <a:lnSpc>
                <a:spcPct val="107000"/>
              </a:lnSpc>
              <a:spcAft>
                <a:spcPts val="800"/>
              </a:spcAft>
            </a:pPr>
            <a:r>
              <a:rPr lang="es-AR" sz="2000" dirty="0">
                <a:effectLst/>
                <a:latin typeface="Calibri" panose="020F0502020204030204" pitchFamily="34" charset="0"/>
                <a:ea typeface="Times New Roman" panose="02020603050405020304" pitchFamily="18" charset="0"/>
                <a:cs typeface="Times New Roman" panose="02020603050405020304" pitchFamily="18" charset="0"/>
              </a:rPr>
              <a:t> Marketing -&gt; Efectos sobre la rentabilidad de la empresa de las campañas</a:t>
            </a:r>
          </a:p>
          <a:p>
            <a:pPr>
              <a:lnSpc>
                <a:spcPct val="107000"/>
              </a:lnSpc>
              <a:spcAft>
                <a:spcPts val="800"/>
              </a:spcAft>
            </a:pPr>
            <a:r>
              <a:rPr lang="es-AR" sz="2000" dirty="0">
                <a:effectLst/>
                <a:latin typeface="Calibri" panose="020F0502020204030204" pitchFamily="34" charset="0"/>
                <a:ea typeface="Times New Roman" panose="02020603050405020304" pitchFamily="18" charset="0"/>
                <a:cs typeface="Times New Roman" panose="02020603050405020304" pitchFamily="18" charset="0"/>
              </a:rPr>
              <a:t>Administración -&gt; Efectos sobre el valor de la empresa de las decisiones que tomará o no el departamento</a:t>
            </a:r>
          </a:p>
          <a:p>
            <a:pPr>
              <a:lnSpc>
                <a:spcPct val="107000"/>
              </a:lnSpc>
              <a:spcAft>
                <a:spcPts val="800"/>
              </a:spcAft>
            </a:pPr>
            <a:r>
              <a:rPr lang="es-AR" sz="2000" dirty="0">
                <a:effectLst/>
                <a:latin typeface="Calibri" panose="020F0502020204030204" pitchFamily="34" charset="0"/>
                <a:ea typeface="Times New Roman" panose="02020603050405020304" pitchFamily="18" charset="0"/>
                <a:cs typeface="Times New Roman" panose="02020603050405020304" pitchFamily="18" charset="0"/>
              </a:rPr>
              <a:t>Empleado -&gt; Planes de Pensiones, por ejemplo, que pued</a:t>
            </a:r>
            <a:r>
              <a:rPr lang="es-AR" sz="2000" dirty="0">
                <a:latin typeface="Calibri" panose="020F0502020204030204" pitchFamily="34" charset="0"/>
                <a:ea typeface="Times New Roman" panose="02020603050405020304" pitchFamily="18" charset="0"/>
                <a:cs typeface="Times New Roman" panose="02020603050405020304" pitchFamily="18" charset="0"/>
              </a:rPr>
              <a:t>e recibir en su paquete de compensaciones</a:t>
            </a:r>
            <a:endParaRPr lang="es-AR" sz="20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s-AR" sz="3200" dirty="0"/>
          </a:p>
        </p:txBody>
      </p:sp>
    </p:spTree>
    <p:extLst>
      <p:ext uri="{BB962C8B-B14F-4D97-AF65-F5344CB8AC3E}">
        <p14:creationId xmlns:p14="http://schemas.microsoft.com/office/powerpoint/2010/main" val="24426965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fontScale="92500" lnSpcReduction="10000"/>
          </a:bodyPr>
          <a:lstStyle/>
          <a:p>
            <a:pPr marL="0" indent="0">
              <a:lnSpc>
                <a:spcPct val="107000"/>
              </a:lnSpc>
              <a:spcAft>
                <a:spcPts val="800"/>
              </a:spcAft>
              <a:buNone/>
            </a:pPr>
            <a:r>
              <a:rPr lang="es-AR" sz="1600" b="1" u="sng" dirty="0">
                <a:effectLst/>
                <a:latin typeface="Calibri" panose="020F0502020204030204" pitchFamily="34" charset="0"/>
                <a:ea typeface="Times New Roman" panose="02020603050405020304" pitchFamily="18" charset="0"/>
                <a:cs typeface="Times New Roman" panose="02020603050405020304" pitchFamily="18" charset="0"/>
              </a:rPr>
              <a:t>FORMAS DE ORGANIZACIONES DE NEGOCIOS</a:t>
            </a:r>
            <a:endParaRPr lang="es-AR"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lnSpc>
                <a:spcPct val="107000"/>
              </a:lnSpc>
              <a:spcAft>
                <a:spcPts val="800"/>
              </a:spcAft>
              <a:buNone/>
            </a:pPr>
            <a:r>
              <a:rPr lang="es-AR" sz="1600" dirty="0">
                <a:effectLst/>
                <a:latin typeface="Calibri" panose="020F0502020204030204" pitchFamily="34" charset="0"/>
                <a:ea typeface="Times New Roman" panose="02020603050405020304" pitchFamily="18" charset="0"/>
                <a:cs typeface="Times New Roman" panose="02020603050405020304" pitchFamily="18" charset="0"/>
              </a:rPr>
              <a:t>Los fundamentos de la Administración Financiera son iguales para todas las empresas. Aun así, su estructura legal afecta sus operaciones y por lo tanto debe ser especificada.</a:t>
            </a:r>
          </a:p>
          <a:p>
            <a:pPr marL="0" indent="0">
              <a:lnSpc>
                <a:spcPct val="107000"/>
              </a:lnSpc>
              <a:spcAft>
                <a:spcPts val="800"/>
              </a:spcAft>
              <a:buNone/>
            </a:pPr>
            <a:r>
              <a:rPr lang="es-AR" sz="1600" dirty="0">
                <a:effectLst/>
                <a:latin typeface="Calibri" panose="020F0502020204030204" pitchFamily="34" charset="0"/>
                <a:ea typeface="Times New Roman" panose="02020603050405020304" pitchFamily="18" charset="0"/>
                <a:cs typeface="Times New Roman" panose="02020603050405020304" pitchFamily="18" charset="0"/>
              </a:rPr>
              <a:t>Principales formas de organización:</a:t>
            </a:r>
          </a:p>
          <a:p>
            <a:pPr marL="342900" lvl="0" indent="-342900">
              <a:lnSpc>
                <a:spcPct val="107000"/>
              </a:lnSpc>
              <a:buFont typeface="+mj-lt"/>
              <a:buAutoNum type="arabicPeriod"/>
            </a:pPr>
            <a:r>
              <a:rPr lang="es-AR" sz="1600" dirty="0">
                <a:effectLst/>
                <a:latin typeface="Calibri" panose="020F0502020204030204" pitchFamily="34" charset="0"/>
                <a:ea typeface="Times New Roman" panose="02020603050405020304" pitchFamily="18" charset="0"/>
                <a:cs typeface="Times New Roman" panose="02020603050405020304" pitchFamily="18" charset="0"/>
              </a:rPr>
              <a:t>Empresa de Propietario Único</a:t>
            </a:r>
          </a:p>
          <a:p>
            <a:pPr marL="342900" lvl="0" indent="-342900">
              <a:lnSpc>
                <a:spcPct val="107000"/>
              </a:lnSpc>
              <a:buFont typeface="+mj-lt"/>
              <a:buAutoNum type="arabicPeriod"/>
            </a:pPr>
            <a:r>
              <a:rPr lang="es-AR" sz="1600" dirty="0">
                <a:effectLst/>
                <a:latin typeface="Calibri" panose="020F0502020204030204" pitchFamily="34" charset="0"/>
                <a:ea typeface="Times New Roman" panose="02020603050405020304" pitchFamily="18" charset="0"/>
                <a:cs typeface="Times New Roman" panose="02020603050405020304" pitchFamily="18" charset="0"/>
              </a:rPr>
              <a:t>Sociedades</a:t>
            </a:r>
          </a:p>
          <a:p>
            <a:pPr marL="342900" lvl="0" indent="-342900">
              <a:lnSpc>
                <a:spcPct val="107000"/>
              </a:lnSpc>
              <a:buFont typeface="+mj-lt"/>
              <a:buAutoNum type="arabicPeriod"/>
            </a:pPr>
            <a:r>
              <a:rPr lang="es-AR" sz="1600" dirty="0">
                <a:effectLst/>
                <a:latin typeface="Calibri" panose="020F0502020204030204" pitchFamily="34" charset="0"/>
                <a:ea typeface="Times New Roman" panose="02020603050405020304" pitchFamily="18" charset="0"/>
                <a:cs typeface="Times New Roman" panose="02020603050405020304" pitchFamily="18" charset="0"/>
              </a:rPr>
              <a:t>Corporaciones</a:t>
            </a:r>
          </a:p>
          <a:p>
            <a:pPr marL="342900" lvl="0" indent="-342900">
              <a:lnSpc>
                <a:spcPct val="107000"/>
              </a:lnSpc>
              <a:spcAft>
                <a:spcPts val="800"/>
              </a:spcAft>
              <a:buFont typeface="+mj-lt"/>
              <a:buAutoNum type="arabicPeriod"/>
            </a:pPr>
            <a:r>
              <a:rPr lang="es-AR" sz="1600" dirty="0">
                <a:effectLst/>
                <a:latin typeface="Calibri" panose="020F0502020204030204" pitchFamily="34" charset="0"/>
                <a:ea typeface="Times New Roman" panose="02020603050405020304" pitchFamily="18" charset="0"/>
                <a:cs typeface="Times New Roman" panose="02020603050405020304" pitchFamily="18" charset="0"/>
              </a:rPr>
              <a:t>Compañías de Responsabilidad Limitada (LLC) y sociedades de Responsabilidad limitada (LLP) </a:t>
            </a:r>
            <a:r>
              <a:rPr lang="es-AR" sz="1600" dirty="0" err="1">
                <a:effectLst/>
                <a:latin typeface="Calibri" panose="020F0502020204030204" pitchFamily="34" charset="0"/>
                <a:ea typeface="Times New Roman" panose="02020603050405020304" pitchFamily="18" charset="0"/>
                <a:cs typeface="Times New Roman" panose="02020603050405020304" pitchFamily="18" charset="0"/>
              </a:rPr>
              <a:t>limited</a:t>
            </a:r>
            <a:r>
              <a:rPr lang="es-AR" sz="16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600" dirty="0" err="1">
                <a:effectLst/>
                <a:latin typeface="Calibri" panose="020F0502020204030204" pitchFamily="34" charset="0"/>
                <a:ea typeface="Times New Roman" panose="02020603050405020304" pitchFamily="18" charset="0"/>
                <a:cs typeface="Times New Roman" panose="02020603050405020304" pitchFamily="18" charset="0"/>
              </a:rPr>
              <a:t>liability</a:t>
            </a:r>
            <a:r>
              <a:rPr lang="es-AR" sz="16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600" dirty="0" err="1">
                <a:effectLst/>
                <a:latin typeface="Calibri" panose="020F0502020204030204" pitchFamily="34" charset="0"/>
                <a:ea typeface="Times New Roman" panose="02020603050405020304" pitchFamily="18" charset="0"/>
                <a:cs typeface="Times New Roman" panose="02020603050405020304" pitchFamily="18" charset="0"/>
              </a:rPr>
              <a:t>Partnership</a:t>
            </a:r>
            <a:endParaRPr lang="es-AR" sz="16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lnSpc>
                <a:spcPct val="107000"/>
              </a:lnSpc>
              <a:spcAft>
                <a:spcPts val="800"/>
              </a:spcAft>
              <a:buNone/>
            </a:pPr>
            <a:r>
              <a:rPr lang="es-AR" sz="1600" dirty="0">
                <a:effectLst/>
                <a:latin typeface="Calibri" panose="020F0502020204030204" pitchFamily="34" charset="0"/>
                <a:ea typeface="Times New Roman" panose="02020603050405020304" pitchFamily="18" charset="0"/>
                <a:cs typeface="Times New Roman" panose="02020603050405020304" pitchFamily="18" charset="0"/>
              </a:rPr>
              <a:t> Las empresas de propietario único son mayoría en número, pero las corporaciones generan el 80% de las ventas (</a:t>
            </a:r>
            <a:r>
              <a:rPr lang="es-AR" sz="1600" dirty="0" err="1">
                <a:effectLst/>
                <a:latin typeface="Calibri" panose="020F0502020204030204" pitchFamily="34" charset="0"/>
                <a:ea typeface="Times New Roman" panose="02020603050405020304" pitchFamily="18" charset="0"/>
                <a:cs typeface="Times New Roman" panose="02020603050405020304" pitchFamily="18" charset="0"/>
              </a:rPr>
              <a:t>aprox</a:t>
            </a:r>
            <a:r>
              <a:rPr lang="es-AR" sz="1600" dirty="0">
                <a:effectLst/>
                <a:latin typeface="Calibri" panose="020F0502020204030204" pitchFamily="34" charset="0"/>
                <a:ea typeface="Times New Roman" panose="02020603050405020304" pitchFamily="18" charset="0"/>
                <a:cs typeface="Times New Roman" panose="02020603050405020304" pitchFamily="18" charset="0"/>
              </a:rPr>
              <a:t>, en EEUU).</a:t>
            </a:r>
          </a:p>
          <a:p>
            <a:pPr>
              <a:lnSpc>
                <a:spcPct val="107000"/>
              </a:lnSpc>
              <a:spcAft>
                <a:spcPts val="800"/>
              </a:spcAft>
            </a:pPr>
            <a:r>
              <a:rPr lang="es-AR" sz="1600" dirty="0">
                <a:effectLst/>
                <a:latin typeface="Calibri" panose="020F0502020204030204" pitchFamily="34" charset="0"/>
                <a:ea typeface="Times New Roman" panose="02020603050405020304" pitchFamily="18" charset="0"/>
                <a:cs typeface="Times New Roman" panose="02020603050405020304" pitchFamily="18" charset="0"/>
              </a:rPr>
              <a:t>Nos centraremos en las Corporaciones dado el nivel de ventas, que las exitosas se vuelven Corporaciones, aunque debemos conocer las diferencias legales de los distintos tipos.</a:t>
            </a:r>
          </a:p>
          <a:p>
            <a:endParaRPr lang="es-AR" dirty="0"/>
          </a:p>
        </p:txBody>
      </p:sp>
    </p:spTree>
    <p:extLst>
      <p:ext uri="{BB962C8B-B14F-4D97-AF65-F5344CB8AC3E}">
        <p14:creationId xmlns:p14="http://schemas.microsoft.com/office/powerpoint/2010/main" val="40969554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a:xfrm>
            <a:off x="838200" y="1867189"/>
            <a:ext cx="10515600" cy="4351338"/>
          </a:xfrm>
        </p:spPr>
        <p:txBody>
          <a:bodyPr>
            <a:normAutofit/>
          </a:bodyPr>
          <a:lstStyle/>
          <a:p>
            <a:pPr marL="0" indent="0" algn="ctr">
              <a:lnSpc>
                <a:spcPct val="107000"/>
              </a:lnSpc>
              <a:buNone/>
            </a:pPr>
            <a:r>
              <a:rPr lang="es-AR" sz="1600" dirty="0">
                <a:effectLst/>
                <a:latin typeface="Calibri" panose="020F0502020204030204" pitchFamily="34" charset="0"/>
                <a:ea typeface="Times New Roman" panose="02020603050405020304" pitchFamily="18" charset="0"/>
                <a:cs typeface="Times New Roman" panose="02020603050405020304" pitchFamily="18" charset="0"/>
              </a:rPr>
              <a:t>Empresa de Propietario Único (</a:t>
            </a:r>
            <a:r>
              <a:rPr lang="es-AR" sz="1600" b="1" dirty="0">
                <a:effectLst/>
                <a:latin typeface="Calibri" panose="020F0502020204030204" pitchFamily="34" charset="0"/>
                <a:ea typeface="Times New Roman" panose="02020603050405020304" pitchFamily="18" charset="0"/>
                <a:cs typeface="Times New Roman" panose="02020603050405020304" pitchFamily="18" charset="0"/>
              </a:rPr>
              <a:t>No incorporada) </a:t>
            </a:r>
          </a:p>
          <a:p>
            <a:pPr marL="0" indent="0">
              <a:lnSpc>
                <a:spcPct val="107000"/>
              </a:lnSpc>
              <a:spcAft>
                <a:spcPts val="800"/>
              </a:spcAft>
              <a:buNone/>
            </a:pPr>
            <a:r>
              <a:rPr lang="es-AR" sz="1600" dirty="0">
                <a:effectLst/>
                <a:latin typeface="Calibri" panose="020F0502020204030204" pitchFamily="34" charset="0"/>
                <a:ea typeface="Times New Roman" panose="02020603050405020304" pitchFamily="18" charset="0"/>
                <a:cs typeface="Times New Roman" panose="02020603050405020304" pitchFamily="18" charset="0"/>
              </a:rPr>
              <a:t>Ventajas</a:t>
            </a:r>
          </a:p>
          <a:p>
            <a:pPr marL="342900" lvl="0" indent="-342900">
              <a:lnSpc>
                <a:spcPct val="107000"/>
              </a:lnSpc>
              <a:buFont typeface="Symbol" panose="05050102010706020507" pitchFamily="18" charset="2"/>
              <a:buChar char=""/>
            </a:pPr>
            <a:r>
              <a:rPr lang="es-AR" sz="1600" dirty="0">
                <a:effectLst/>
                <a:latin typeface="Calibri" panose="020F0502020204030204" pitchFamily="34" charset="0"/>
                <a:ea typeface="Times New Roman" panose="02020603050405020304" pitchFamily="18" charset="0"/>
                <a:cs typeface="Times New Roman" panose="02020603050405020304" pitchFamily="18" charset="0"/>
              </a:rPr>
              <a:t>Fáciles y económicas de formar</a:t>
            </a:r>
          </a:p>
          <a:p>
            <a:pPr marL="342900" lvl="0" indent="-342900">
              <a:lnSpc>
                <a:spcPct val="107000"/>
              </a:lnSpc>
              <a:buFont typeface="Symbol" panose="05050102010706020507" pitchFamily="18" charset="2"/>
              <a:buChar char=""/>
            </a:pPr>
            <a:r>
              <a:rPr lang="es-AR" sz="1600" dirty="0">
                <a:effectLst/>
                <a:latin typeface="Calibri" panose="020F0502020204030204" pitchFamily="34" charset="0"/>
                <a:ea typeface="Times New Roman" panose="02020603050405020304" pitchFamily="18" charset="0"/>
                <a:cs typeface="Times New Roman" panose="02020603050405020304" pitchFamily="18" charset="0"/>
              </a:rPr>
              <a:t>Escasos reglamentos gubernamentales</a:t>
            </a:r>
          </a:p>
          <a:p>
            <a:pPr marL="342900" lvl="0" indent="-342900">
              <a:lnSpc>
                <a:spcPct val="107000"/>
              </a:lnSpc>
              <a:spcAft>
                <a:spcPts val="800"/>
              </a:spcAft>
              <a:buFont typeface="Symbol" panose="05050102010706020507" pitchFamily="18" charset="2"/>
              <a:buChar char=""/>
            </a:pPr>
            <a:r>
              <a:rPr lang="es-AR" sz="1600" dirty="0">
                <a:effectLst/>
                <a:latin typeface="Calibri" panose="020F0502020204030204" pitchFamily="34" charset="0"/>
                <a:ea typeface="Times New Roman" panose="02020603050405020304" pitchFamily="18" charset="0"/>
                <a:cs typeface="Times New Roman" panose="02020603050405020304" pitchFamily="18" charset="0"/>
              </a:rPr>
              <a:t>Menores impuestos que las corporaciones</a:t>
            </a:r>
          </a:p>
          <a:p>
            <a:pPr marL="0" indent="0">
              <a:lnSpc>
                <a:spcPct val="107000"/>
              </a:lnSpc>
              <a:spcAft>
                <a:spcPts val="800"/>
              </a:spcAft>
              <a:buNone/>
            </a:pPr>
            <a:r>
              <a:rPr lang="es-AR" sz="1600" dirty="0">
                <a:effectLst/>
                <a:latin typeface="Calibri" panose="020F0502020204030204" pitchFamily="34" charset="0"/>
                <a:ea typeface="Times New Roman" panose="02020603050405020304" pitchFamily="18" charset="0"/>
                <a:cs typeface="Times New Roman" panose="02020603050405020304" pitchFamily="18" charset="0"/>
              </a:rPr>
              <a:t>Limitaciones</a:t>
            </a:r>
          </a:p>
          <a:p>
            <a:pPr marL="342900" lvl="0" indent="-342900">
              <a:lnSpc>
                <a:spcPct val="107000"/>
              </a:lnSpc>
              <a:buFont typeface="Symbol" panose="05050102010706020507" pitchFamily="18" charset="2"/>
              <a:buChar char=""/>
            </a:pPr>
            <a:r>
              <a:rPr lang="es-AR" sz="1600" dirty="0">
                <a:effectLst/>
                <a:latin typeface="Calibri" panose="020F0502020204030204" pitchFamily="34" charset="0"/>
                <a:ea typeface="Times New Roman" panose="02020603050405020304" pitchFamily="18" charset="0"/>
                <a:cs typeface="Times New Roman" panose="02020603050405020304" pitchFamily="18" charset="0"/>
              </a:rPr>
              <a:t>Los dueños tienen responsabilidad ilimitada sobre las deudas de la empresa</a:t>
            </a:r>
          </a:p>
          <a:p>
            <a:pPr marL="342900" lvl="0" indent="-342900">
              <a:lnSpc>
                <a:spcPct val="107000"/>
              </a:lnSpc>
              <a:buFont typeface="Symbol" panose="05050102010706020507" pitchFamily="18" charset="2"/>
              <a:buChar char=""/>
            </a:pPr>
            <a:r>
              <a:rPr lang="es-AR" sz="1600" dirty="0">
                <a:effectLst/>
                <a:latin typeface="Calibri" panose="020F0502020204030204" pitchFamily="34" charset="0"/>
                <a:ea typeface="Times New Roman" panose="02020603050405020304" pitchFamily="18" charset="0"/>
                <a:cs typeface="Times New Roman" panose="02020603050405020304" pitchFamily="18" charset="0"/>
              </a:rPr>
              <a:t>El ciclo de vida coincide con el del individuo y para incorporar capital los inversores requieren un cambio en la estructura de la empresa</a:t>
            </a:r>
          </a:p>
          <a:p>
            <a:pPr marL="342900" lvl="0" indent="-342900">
              <a:lnSpc>
                <a:spcPct val="107000"/>
              </a:lnSpc>
              <a:spcAft>
                <a:spcPts val="800"/>
              </a:spcAft>
              <a:buFont typeface="Symbol" panose="05050102010706020507" pitchFamily="18" charset="2"/>
              <a:buChar char=""/>
            </a:pPr>
            <a:r>
              <a:rPr lang="es-AR" sz="1600" dirty="0">
                <a:effectLst/>
                <a:latin typeface="Calibri" panose="020F0502020204030204" pitchFamily="34" charset="0"/>
                <a:ea typeface="Times New Roman" panose="02020603050405020304" pitchFamily="18" charset="0"/>
                <a:cs typeface="Times New Roman" panose="02020603050405020304" pitchFamily="18" charset="0"/>
              </a:rPr>
              <a:t>Por lo anterior, tienen dificultades para conseguir grandes sumas de dinero. Tiene sentido para pequeños negocios. Llegado el caso se convierten en corporaciones </a:t>
            </a:r>
          </a:p>
        </p:txBody>
      </p:sp>
    </p:spTree>
    <p:extLst>
      <p:ext uri="{BB962C8B-B14F-4D97-AF65-F5344CB8AC3E}">
        <p14:creationId xmlns:p14="http://schemas.microsoft.com/office/powerpoint/2010/main" val="24720653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a:xfrm>
            <a:off x="838200" y="1867189"/>
            <a:ext cx="10515600" cy="4351338"/>
          </a:xfrm>
        </p:spPr>
        <p:txBody>
          <a:bodyPr>
            <a:normAutofit/>
          </a:bodyPr>
          <a:lstStyle/>
          <a:p>
            <a:pPr marL="0" indent="0">
              <a:spcAft>
                <a:spcPts val="800"/>
              </a:spcAft>
              <a:buNone/>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800" dirty="0">
                <a:solidFill>
                  <a:srgbClr val="222222"/>
                </a:solidFill>
                <a:effectLst/>
                <a:latin typeface="Calibri" panose="020F0502020204030204" pitchFamily="34" charset="0"/>
                <a:ea typeface="Times New Roman" panose="02020603050405020304" pitchFamily="18" charset="0"/>
                <a:cs typeface="Times New Roman" panose="02020603050405020304" pitchFamily="18" charset="0"/>
              </a:rPr>
              <a:t>¿Cuál es la diferencia entre un negocio incorporado y uno no incorporado?</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spcAft>
                <a:spcPts val="800"/>
              </a:spcAft>
            </a:pPr>
            <a:r>
              <a:rPr lang="es-AR" sz="1800" dirty="0">
                <a:solidFill>
                  <a:srgbClr val="222222"/>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Un negocio incorporado, o una corporación, es una entidad separada de un propietario de negocios y sus derechos naturales. </a:t>
            </a:r>
          </a:p>
          <a:p>
            <a:pPr>
              <a:spcAft>
                <a:spcPts val="800"/>
              </a:spcAft>
            </a:pPr>
            <a:r>
              <a:rPr lang="es-AR" sz="1800" dirty="0">
                <a:solidFill>
                  <a:srgbClr val="222222"/>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Por el contrario, un propietario de negocios y un negocio no incorporado son lo mismo, y el propietario trata de forma personal con los resultados de su negocio. </a:t>
            </a:r>
          </a:p>
          <a:p>
            <a:pPr>
              <a:spcAft>
                <a:spcPts val="800"/>
              </a:spcAft>
            </a:pPr>
            <a:r>
              <a:rPr lang="es-AR" sz="1800" dirty="0">
                <a:solidFill>
                  <a:srgbClr val="222222"/>
                </a:solidFill>
                <a:effectLst/>
                <a:highlight>
                  <a:srgbClr val="FFFFFF"/>
                </a:highlight>
                <a:latin typeface="Calibri" panose="020F0502020204030204" pitchFamily="34" charset="0"/>
                <a:ea typeface="Times New Roman" panose="02020603050405020304" pitchFamily="18" charset="0"/>
                <a:cs typeface="Times New Roman" panose="02020603050405020304" pitchFamily="18" charset="0"/>
              </a:rPr>
              <a:t>Los negocios no incorporados regularmente tienen un único propietario o son compañías en sociedad. La principal diferencia entre un negocio incorporado y uno no incorporado es la forma en que los propietarios tratan las actividades de negocios.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s-AR" sz="3200" dirty="0"/>
          </a:p>
        </p:txBody>
      </p:sp>
    </p:spTree>
    <p:extLst>
      <p:ext uri="{BB962C8B-B14F-4D97-AF65-F5344CB8AC3E}">
        <p14:creationId xmlns:p14="http://schemas.microsoft.com/office/powerpoint/2010/main" val="35144666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fontScale="92500" lnSpcReduction="10000"/>
          </a:bodyPr>
          <a:lstStyle/>
          <a:p>
            <a:pPr marL="0" lvl="0" indent="0" algn="ctr">
              <a:lnSpc>
                <a:spcPct val="107000"/>
              </a:lnSpc>
              <a:spcAft>
                <a:spcPts val="800"/>
              </a:spcAft>
              <a:buNone/>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Sociedades (</a:t>
            </a:r>
            <a:r>
              <a:rPr lang="es-AR" sz="1800" b="1" dirty="0">
                <a:effectLst/>
                <a:latin typeface="Calibri" panose="020F0502020204030204" pitchFamily="34" charset="0"/>
                <a:ea typeface="Times New Roman" panose="02020603050405020304" pitchFamily="18" charset="0"/>
                <a:cs typeface="Times New Roman" panose="02020603050405020304" pitchFamily="18" charset="0"/>
              </a:rPr>
              <a:t>No incorporada) </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Es un acuerdo legal entre dos o más personas que deciden hacer negocios juntas</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Similar a las de propietario único en lo sencillo y económico para establecerla. </a:t>
            </a:r>
            <a:r>
              <a:rPr lang="es-AR" sz="1800" b="1" dirty="0">
                <a:effectLst/>
                <a:latin typeface="Calibri" panose="020F0502020204030204" pitchFamily="34" charset="0"/>
                <a:ea typeface="Times New Roman" panose="02020603050405020304" pitchFamily="18" charset="0"/>
                <a:cs typeface="Times New Roman" panose="02020603050405020304" pitchFamily="18" charset="0"/>
              </a:rPr>
              <a:t>Son no incorporadas</a:t>
            </a: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Los ingresos se prorratean entre los socios y pagan impuestos en forma individual, </a:t>
            </a:r>
            <a:r>
              <a:rPr lang="es-AR" sz="1800" b="1" dirty="0">
                <a:effectLst/>
                <a:latin typeface="Calibri" panose="020F0502020204030204" pitchFamily="34" charset="0"/>
                <a:ea typeface="Times New Roman" panose="02020603050405020304" pitchFamily="18" charset="0"/>
                <a:cs typeface="Times New Roman" panose="02020603050405020304" pitchFamily="18" charset="0"/>
              </a:rPr>
              <a:t>evitando el impuesto sobre la renta corporativa.</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Responsabilidad ilimitada de los socios. Solidaridad.</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La responsabilidad ilimitada implica Dificultad para conseguir Capital.</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Esto ha sido modificado por los abogados. Socios con distintos niveles de responsabilidad, pero también de Voto, al limitarse su responsabilidad.</a:t>
            </a:r>
          </a:p>
          <a:p>
            <a:pPr marL="0" indent="0">
              <a:lnSpc>
                <a:spcPct val="107000"/>
              </a:lnSpc>
              <a:spcAft>
                <a:spcPts val="800"/>
              </a:spcAft>
              <a:buNone/>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 Menos eficiente desde la responsabilidad que una Corporación, una LLC o una LLP.</a:t>
            </a:r>
          </a:p>
          <a:p>
            <a:pPr marL="0" indent="0">
              <a:buNone/>
            </a:pPr>
            <a:endParaRPr lang="es-AR" dirty="0"/>
          </a:p>
        </p:txBody>
      </p:sp>
    </p:spTree>
    <p:extLst>
      <p:ext uri="{BB962C8B-B14F-4D97-AF65-F5344CB8AC3E}">
        <p14:creationId xmlns:p14="http://schemas.microsoft.com/office/powerpoint/2010/main" val="12428220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vert="horz" lIns="91440" tIns="45720" rIns="91440" bIns="45720" rtlCol="0">
            <a:normAutofit/>
          </a:bodyPr>
          <a:lstStyle/>
          <a:p>
            <a:pPr marL="0" indent="0">
              <a:lnSpc>
                <a:spcPct val="107000"/>
              </a:lnSpc>
              <a:spcAft>
                <a:spcPts val="800"/>
              </a:spcAft>
              <a:buNone/>
            </a:pPr>
            <a:r>
              <a:rPr lang="es-AR" sz="1800" dirty="0">
                <a:latin typeface="Calibri" panose="020F0502020204030204" pitchFamily="34" charset="0"/>
                <a:cs typeface="Times New Roman" panose="02020603050405020304" pitchFamily="18" charset="0"/>
              </a:rPr>
              <a:t>ARGENTINA SOCIEDADES</a:t>
            </a:r>
          </a:p>
          <a:p>
            <a:pPr marL="342900" indent="-342900">
              <a:lnSpc>
                <a:spcPct val="107000"/>
              </a:lnSpc>
              <a:spcAft>
                <a:spcPts val="800"/>
              </a:spcAft>
              <a:buFont typeface="+mj-lt"/>
              <a:buAutoNum type="arabicPeriod"/>
            </a:pPr>
            <a:r>
              <a:rPr lang="es-MX" sz="1800" dirty="0">
                <a:latin typeface="Calibri" panose="020F0502020204030204" pitchFamily="34" charset="0"/>
                <a:cs typeface="Times New Roman" panose="02020603050405020304" pitchFamily="18" charset="0"/>
              </a:rPr>
              <a:t>La ley general de sociedades N°19.550 prevé seis tipos societarios (la sociedad colectiva, la sociedad de capital e industria, la sociedad en comandita simple, la sociedad en comandita por acciones, la sociedad de responsabilidad limitada y la sociedad anónima, esta última como sociedad anónima a secas o como sociedad anónima unipersonal). </a:t>
            </a:r>
          </a:p>
          <a:p>
            <a:pPr marL="342900" indent="-342900">
              <a:lnSpc>
                <a:spcPct val="107000"/>
              </a:lnSpc>
              <a:spcAft>
                <a:spcPts val="800"/>
              </a:spcAft>
              <a:buFont typeface="+mj-lt"/>
              <a:buAutoNum type="arabicPeriod" startAt="2"/>
            </a:pPr>
            <a:r>
              <a:rPr lang="es-MX" sz="1800" dirty="0">
                <a:latin typeface="Calibri" panose="020F0502020204030204" pitchFamily="34" charset="0"/>
                <a:cs typeface="Times New Roman" panose="02020603050405020304" pitchFamily="18" charset="0"/>
              </a:rPr>
              <a:t>Sin embargo, la responsabilidad de todos los socios solamente está limitada en la sociedad de responsabilidad limitada y en la sociedad anónima. </a:t>
            </a:r>
          </a:p>
          <a:p>
            <a:pPr marL="342900" indent="-342900">
              <a:lnSpc>
                <a:spcPct val="107000"/>
              </a:lnSpc>
              <a:spcAft>
                <a:spcPts val="800"/>
              </a:spcAft>
              <a:buFont typeface="+mj-lt"/>
              <a:buAutoNum type="arabicPeriod" startAt="2"/>
            </a:pPr>
            <a:r>
              <a:rPr lang="es-MX" sz="1800" dirty="0">
                <a:latin typeface="Calibri" panose="020F0502020204030204" pitchFamily="34" charset="0"/>
                <a:cs typeface="Times New Roman" panose="02020603050405020304" pitchFamily="18" charset="0"/>
              </a:rPr>
              <a:t>A su vez, la ley 27.349 de Apoyo al Capital Emprendedor incluyó un nuevo tipo social en el cual la responsabilidad de los socios también está limitada: la sociedad por acciones simplificada. </a:t>
            </a:r>
          </a:p>
          <a:p>
            <a:pPr marL="342900" indent="-342900">
              <a:lnSpc>
                <a:spcPct val="107000"/>
              </a:lnSpc>
              <a:spcAft>
                <a:spcPts val="800"/>
              </a:spcAft>
              <a:buFont typeface="+mj-lt"/>
              <a:buAutoNum type="arabicPeriod" startAt="2"/>
            </a:pPr>
            <a:endParaRPr lang="es-AR" sz="1800" dirty="0">
              <a:latin typeface="Calibri" panose="020F0502020204030204" pitchFamily="34" charset="0"/>
              <a:cs typeface="Times New Roman" panose="02020603050405020304" pitchFamily="18" charset="0"/>
            </a:endParaRPr>
          </a:p>
        </p:txBody>
      </p:sp>
      <p:sp>
        <p:nvSpPr>
          <p:cNvPr id="4" name="CuadroTexto 3">
            <a:extLst>
              <a:ext uri="{FF2B5EF4-FFF2-40B4-BE49-F238E27FC236}">
                <a16:creationId xmlns:a16="http://schemas.microsoft.com/office/drawing/2014/main" id="{2FD56CFE-34BA-93B4-5A29-4815FB118714}"/>
              </a:ext>
            </a:extLst>
          </p:cNvPr>
          <p:cNvSpPr txBox="1"/>
          <p:nvPr/>
        </p:nvSpPr>
        <p:spPr>
          <a:xfrm>
            <a:off x="901147" y="5632171"/>
            <a:ext cx="10747513" cy="646331"/>
          </a:xfrm>
          <a:prstGeom prst="rect">
            <a:avLst/>
          </a:prstGeom>
          <a:noFill/>
        </p:spPr>
        <p:txBody>
          <a:bodyPr wrap="square" rtlCol="0">
            <a:spAutoFit/>
          </a:bodyPr>
          <a:lstStyle/>
          <a:p>
            <a:r>
              <a:rPr lang="es-AR" dirty="0"/>
              <a:t>https://abogados.com.ar/comparacion-entre-la-srl-la-sa-y-la-sas/22092#:~:text=En%20la%20SAS%20y%20en,en%20forma%20solidaria%20e%20ilimitada.</a:t>
            </a:r>
          </a:p>
        </p:txBody>
      </p:sp>
    </p:spTree>
    <p:extLst>
      <p:ext uri="{BB962C8B-B14F-4D97-AF65-F5344CB8AC3E}">
        <p14:creationId xmlns:p14="http://schemas.microsoft.com/office/powerpoint/2010/main" val="31390083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a:xfrm>
            <a:off x="838200" y="337416"/>
            <a:ext cx="10515600" cy="1325563"/>
          </a:xfrm>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fontScale="92500" lnSpcReduction="20000"/>
          </a:bodyPr>
          <a:lstStyle/>
          <a:p>
            <a:pPr marL="0" lvl="0" indent="0" algn="ctr">
              <a:lnSpc>
                <a:spcPct val="107000"/>
              </a:lnSpc>
              <a:spcAft>
                <a:spcPts val="800"/>
              </a:spcAft>
              <a:buNone/>
            </a:pPr>
            <a:r>
              <a:rPr lang="es-AR" sz="1900" dirty="0">
                <a:effectLst/>
                <a:latin typeface="Calibri" panose="020F0502020204030204" pitchFamily="34" charset="0"/>
                <a:ea typeface="Times New Roman" panose="02020603050405020304" pitchFamily="18" charset="0"/>
                <a:cs typeface="Times New Roman" panose="02020603050405020304" pitchFamily="18" charset="0"/>
              </a:rPr>
              <a:t>Corporaciones</a:t>
            </a:r>
          </a:p>
          <a:p>
            <a:pPr marL="0" indent="0">
              <a:lnSpc>
                <a:spcPct val="107000"/>
              </a:lnSpc>
              <a:spcAft>
                <a:spcPts val="800"/>
              </a:spcAft>
              <a:buNone/>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 Entidad legal creada por una agrupación de individuos con personalidad jurídica propia y distinta de sus dueños y gerentes. Esto limita las pérdidas de los accionistas al monto invertido en la empresa. La Corporación podría perder todo su dinero, pero sus dueños sólo pueden perder los fondos que invirtieron en la compañía.</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Tienen un ciclo de vida ilimitado, fácil de transferir la propiedad (acciones) en comparación con la participación individual en una sociedad. La responsabilidad es limitada.</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Esto permite a las Corporaciones obtener el Capital necesario para operar grandes actividades. Por eso unipersonales luego se convierten en Corporaciones.</a:t>
            </a:r>
          </a:p>
          <a:p>
            <a:pPr marL="0" indent="0">
              <a:lnSpc>
                <a:spcPct val="107000"/>
              </a:lnSpc>
              <a:spcAft>
                <a:spcPts val="800"/>
              </a:spcAft>
              <a:buNone/>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Desventajas</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Doble imposición. Empresa y luego los accionistas</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Corporaciones S (no pagan renta corporativa, hasta 100 accionistas, tributan como una Sociedad) y Corporaciones C (las que conocemos como Corporaciones)</a:t>
            </a:r>
          </a:p>
          <a:p>
            <a:endParaRPr lang="es-AR" dirty="0"/>
          </a:p>
        </p:txBody>
      </p:sp>
    </p:spTree>
    <p:extLst>
      <p:ext uri="{BB962C8B-B14F-4D97-AF65-F5344CB8AC3E}">
        <p14:creationId xmlns:p14="http://schemas.microsoft.com/office/powerpoint/2010/main" val="19640551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fontScale="92500" lnSpcReduction="20000"/>
          </a:bodyPr>
          <a:lstStyle/>
          <a:p>
            <a:pPr marL="0" lvl="0" indent="0">
              <a:lnSpc>
                <a:spcPct val="107000"/>
              </a:lnSpc>
              <a:spcAft>
                <a:spcPts val="800"/>
              </a:spcAft>
              <a:buNone/>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Compañías de Responsabilidad Limitada (LLC) </a:t>
            </a:r>
            <a:r>
              <a:rPr lang="es-AR" sz="1800" dirty="0" err="1">
                <a:effectLst/>
                <a:latin typeface="Calibri" panose="020F0502020204030204" pitchFamily="34" charset="0"/>
                <a:ea typeface="Times New Roman" panose="02020603050405020304" pitchFamily="18" charset="0"/>
                <a:cs typeface="Times New Roman" panose="02020603050405020304" pitchFamily="18" charset="0"/>
              </a:rPr>
              <a:t>Limited</a:t>
            </a: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800" dirty="0" err="1">
                <a:effectLst/>
                <a:latin typeface="Calibri" panose="020F0502020204030204" pitchFamily="34" charset="0"/>
                <a:ea typeface="Times New Roman" panose="02020603050405020304" pitchFamily="18" charset="0"/>
                <a:cs typeface="Times New Roman" panose="02020603050405020304" pitchFamily="18" charset="0"/>
              </a:rPr>
              <a:t>Liability</a:t>
            </a: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 Company y Sociedades de Responsabilidad Limitada (LLP) </a:t>
            </a:r>
            <a:r>
              <a:rPr lang="es-AR" sz="1800" dirty="0" err="1">
                <a:effectLst/>
                <a:latin typeface="Calibri" panose="020F0502020204030204" pitchFamily="34" charset="0"/>
                <a:ea typeface="Times New Roman" panose="02020603050405020304" pitchFamily="18" charset="0"/>
                <a:cs typeface="Times New Roman" panose="02020603050405020304" pitchFamily="18" charset="0"/>
              </a:rPr>
              <a:t>Limited</a:t>
            </a: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800" dirty="0" err="1">
                <a:effectLst/>
                <a:latin typeface="Calibri" panose="020F0502020204030204" pitchFamily="34" charset="0"/>
                <a:ea typeface="Times New Roman" panose="02020603050405020304" pitchFamily="18" charset="0"/>
                <a:cs typeface="Times New Roman" panose="02020603050405020304" pitchFamily="18" charset="0"/>
              </a:rPr>
              <a:t>Liability</a:t>
            </a: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800" dirty="0" err="1">
                <a:effectLst/>
                <a:latin typeface="Calibri" panose="020F0502020204030204" pitchFamily="34" charset="0"/>
                <a:ea typeface="Times New Roman" panose="02020603050405020304" pitchFamily="18" charset="0"/>
                <a:cs typeface="Times New Roman" panose="02020603050405020304" pitchFamily="18" charset="0"/>
              </a:rPr>
              <a:t>Partnership</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Una LLC es un tipo común de organización híbrida entre sociedad y corporación.</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Una LLP es similar a la LLC. Se utiliza en general para empresas profesionales de Contadores, Abogados, Arquitectos, mientras que las LLC son utilizadas por otras empresas.</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Brindan protección de Responsabilidad Limitada (como una Corporación)</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Se las grava como Sociedades.</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Los inversores conservan el voto en proporción a su inversión (no la retiene un socio general).</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Su desventaja: No tienen el acceso al Capital que tiene una Corporación C para sostener su crecimiento</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Las LLC/LLP son producto del sueño de los abogados, difieren entre los Estados y por ello se necesitan abogados locales</a:t>
            </a:r>
          </a:p>
          <a:p>
            <a:endParaRPr lang="es-AR" dirty="0"/>
          </a:p>
        </p:txBody>
      </p:sp>
    </p:spTree>
    <p:extLst>
      <p:ext uri="{BB962C8B-B14F-4D97-AF65-F5344CB8AC3E}">
        <p14:creationId xmlns:p14="http://schemas.microsoft.com/office/powerpoint/2010/main" val="39030186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a:bodyPr>
          <a:lstStyle/>
          <a:p>
            <a:pPr marL="0" indent="0" algn="ctr">
              <a:lnSpc>
                <a:spcPct val="107000"/>
              </a:lnSpc>
              <a:spcAft>
                <a:spcPts val="800"/>
              </a:spcAft>
              <a:buNone/>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CONCLUSIONES</a:t>
            </a:r>
          </a:p>
          <a:p>
            <a:pPr marL="0" indent="0">
              <a:lnSpc>
                <a:spcPct val="107000"/>
              </a:lnSpc>
              <a:spcAft>
                <a:spcPts val="800"/>
              </a:spcAft>
              <a:buNone/>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Al definir su estructura, una empresa debe evaluar las ventajas y desventajas de los distintos tipos. </a:t>
            </a:r>
          </a:p>
          <a:p>
            <a:pPr marL="0" indent="0">
              <a:lnSpc>
                <a:spcPct val="107000"/>
              </a:lnSpc>
              <a:spcAft>
                <a:spcPts val="800"/>
              </a:spcAft>
              <a:buNone/>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Sin embargo, en las compañías que no sean pequeñas, la figura de Corporación maximizará su valor debido a:</a:t>
            </a:r>
          </a:p>
          <a:p>
            <a:pPr marL="342900" lvl="0" indent="-342900">
              <a:lnSpc>
                <a:spcPct val="107000"/>
              </a:lnSpc>
              <a:buFont typeface="Symbol" panose="05050102010706020507" pitchFamily="18" charset="2"/>
              <a:buChar char=""/>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La Responsabilidad Limitada, que reduce los riesgos de empresa para el inversor, que con todo lo demás igual, aumenta su valor</a:t>
            </a:r>
          </a:p>
          <a:p>
            <a:pPr marL="342900" lvl="0" indent="-342900">
              <a:lnSpc>
                <a:spcPct val="107000"/>
              </a:lnSpc>
              <a:buFont typeface="Symbol" panose="05050102010706020507" pitchFamily="18" charset="2"/>
              <a:buChar char=""/>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El valor de una empresa depende de sus oportunidades de crecimiento, y éstas de su capacidad para atraer capitales. Las corporaciones están en mejor posición para crecer. Implica mayor valor</a:t>
            </a:r>
          </a:p>
          <a:p>
            <a:pPr marL="342900" lvl="0" indent="-342900">
              <a:lnSpc>
                <a:spcPct val="107000"/>
              </a:lnSpc>
              <a:spcAft>
                <a:spcPts val="800"/>
              </a:spcAft>
              <a:buFont typeface="Symbol" panose="05050102010706020507" pitchFamily="18" charset="2"/>
              <a:buChar char=""/>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El valor de un activo depende también de su liquidez. Acciones de Corporaciones más liquidas que de las demás estructuras.</a:t>
            </a:r>
          </a:p>
          <a:p>
            <a:endParaRPr lang="es-AR" dirty="0"/>
          </a:p>
        </p:txBody>
      </p:sp>
    </p:spTree>
    <p:extLst>
      <p:ext uri="{BB962C8B-B14F-4D97-AF65-F5344CB8AC3E}">
        <p14:creationId xmlns:p14="http://schemas.microsoft.com/office/powerpoint/2010/main" val="781058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fontScale="92500" lnSpcReduction="20000"/>
          </a:bodyPr>
          <a:lstStyle/>
          <a:p>
            <a:pPr marL="0" indent="0" algn="ctr">
              <a:lnSpc>
                <a:spcPct val="107000"/>
              </a:lnSpc>
              <a:spcAft>
                <a:spcPts val="800"/>
              </a:spcAft>
              <a:buNone/>
            </a:pPr>
            <a:r>
              <a:rPr lang="es-AR" sz="1800" b="1" u="sng" dirty="0">
                <a:effectLst/>
                <a:latin typeface="Calibri" panose="020F0502020204030204" pitchFamily="34" charset="0"/>
                <a:ea typeface="Times New Roman" panose="02020603050405020304" pitchFamily="18" charset="0"/>
                <a:cs typeface="Times New Roman" panose="02020603050405020304" pitchFamily="18" charset="0"/>
              </a:rPr>
              <a:t>META FINANCIERA PRINCIPAL. CREAR VALOR PARA LOS INVERSORES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lnSpc>
                <a:spcPct val="107000"/>
              </a:lnSpc>
              <a:spcAft>
                <a:spcPts val="800"/>
              </a:spcAft>
              <a:buNone/>
            </a:pP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En las Corporaciones públicas, los gerentes y empleados trabajan en favor de los accionistas y por lo tanto tienen la obligación de aplicar políticas que promuevan el patrimonio de éstos.</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Existen otros objetivos financieros como crecimiento, ganancias por acción y participación de mercado, pero no debieran estar por encima del objetivo de crear valor para el inversor. Éstos han invertido su dinero con un objetivo de largo plazo.</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Además de metas financieras, la empresa tiene metas no financieras que veremos más adelante.</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Para maximizar el patrimonio del accionista, quien gerencia debe saber cómo se determina dicho patrimonio. El valor de cualquier activo es el torrente de flujos de efectivo que el activo proporciona a sus dueños con el paso del tiempo, y no sólo en el próximo período. Esto nos lleva a tener una visión de largo plazo de las operaciones. Al mismo tiempo, los actos gerenciales que afectan el valor de una compañía podrían no verse reflejados de inmediato en el precio de las acciones. </a:t>
            </a:r>
          </a:p>
          <a:p>
            <a:pPr marL="0" indent="0">
              <a:buNone/>
            </a:pPr>
            <a:endParaRPr lang="es-AR" dirty="0"/>
          </a:p>
        </p:txBody>
      </p:sp>
    </p:spTree>
    <p:extLst>
      <p:ext uri="{BB962C8B-B14F-4D97-AF65-F5344CB8AC3E}">
        <p14:creationId xmlns:p14="http://schemas.microsoft.com/office/powerpoint/2010/main" val="23776153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lnSpcReduction="10000"/>
          </a:bodyPr>
          <a:lstStyle/>
          <a:p>
            <a:pPr marL="0" indent="0" algn="ctr">
              <a:buNone/>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DETERMINANTES DE FLUJOS FUTUROS/VALOR</a:t>
            </a:r>
            <a:r>
              <a:rPr lang="es-AR" sz="1800" dirty="0">
                <a:latin typeface="Calibri" panose="020F0502020204030204" pitchFamily="34" charset="0"/>
                <a:ea typeface="Times New Roman" panose="02020603050405020304" pitchFamily="18" charset="0"/>
                <a:cs typeface="Times New Roman" panose="02020603050405020304" pitchFamily="18" charset="0"/>
              </a:rPr>
              <a:t> DE LAS ACCIONES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endParaRPr lang="es-AR" sz="1800" dirty="0">
              <a:latin typeface="Calibri" panose="020F0502020204030204" pitchFamily="34" charset="0"/>
              <a:cs typeface="Times New Roman" panose="02020603050405020304" pitchFamily="18" charset="0"/>
            </a:endParaRPr>
          </a:p>
          <a:p>
            <a:pPr marL="0" indent="0">
              <a:buNone/>
            </a:pPr>
            <a:endParaRPr lang="es-AR" dirty="0"/>
          </a:p>
          <a:p>
            <a:pPr marL="0" indent="0">
              <a:buNone/>
            </a:pPr>
            <a:endParaRPr lang="es-AR" dirty="0"/>
          </a:p>
          <a:p>
            <a:pPr marL="0" indent="0">
              <a:buNone/>
            </a:pPr>
            <a:endParaRPr lang="es-AR" dirty="0"/>
          </a:p>
          <a:p>
            <a:pPr marL="0" indent="0">
              <a:buNone/>
            </a:pPr>
            <a:endParaRPr lang="es-AR" dirty="0"/>
          </a:p>
          <a:p>
            <a:pPr marL="0" indent="0">
              <a:buNone/>
            </a:pPr>
            <a:endParaRPr lang="es-AR" dirty="0"/>
          </a:p>
          <a:p>
            <a:pPr marL="0" indent="0">
              <a:buNone/>
            </a:pPr>
            <a:endParaRPr lang="es-AR" dirty="0"/>
          </a:p>
          <a:p>
            <a:pPr marL="0" indent="0">
              <a:buNone/>
            </a:pPr>
            <a:endParaRPr lang="es-AR" sz="2400" dirty="0"/>
          </a:p>
          <a:p>
            <a:pPr marL="0" indent="0" algn="ctr">
              <a:buNone/>
            </a:pPr>
            <a:r>
              <a:rPr lang="es-AR" sz="2400" dirty="0"/>
              <a:t>El Accionista busca los mayores flujos futuros y el menor riesgo posible</a:t>
            </a:r>
          </a:p>
          <a:p>
            <a:pPr marL="0" indent="0">
              <a:buNone/>
            </a:pPr>
            <a:endParaRPr lang="es-AR" dirty="0"/>
          </a:p>
        </p:txBody>
      </p:sp>
      <p:sp>
        <p:nvSpPr>
          <p:cNvPr id="4" name="Cuadro de texto 19">
            <a:extLst>
              <a:ext uri="{FF2B5EF4-FFF2-40B4-BE49-F238E27FC236}">
                <a16:creationId xmlns:a16="http://schemas.microsoft.com/office/drawing/2014/main" id="{275A079E-09D6-F5ED-0652-433164F3E092}"/>
              </a:ext>
            </a:extLst>
          </p:cNvPr>
          <p:cNvSpPr txBox="1">
            <a:spLocks noChangeArrowheads="1"/>
          </p:cNvSpPr>
          <p:nvPr/>
        </p:nvSpPr>
        <p:spPr bwMode="auto">
          <a:xfrm>
            <a:off x="4462830" y="2278296"/>
            <a:ext cx="2619375" cy="495300"/>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1200" b="0" i="0" u="none" strike="noStrike" cap="none" normalizeH="0" baseline="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Actos gerenciales, entorno económico, impuestos y ambiente político</a:t>
            </a:r>
            <a:endParaRPr kumimoji="0" lang="es-AR" altLang="es-AR" sz="2000" b="0" i="0" u="none" strike="noStrike" cap="none" normalizeH="0" baseline="0">
              <a:ln>
                <a:noFill/>
              </a:ln>
              <a:solidFill>
                <a:schemeClr val="tx1"/>
              </a:solidFill>
              <a:effectLst/>
              <a:latin typeface="Arial" panose="020B0604020202020204" pitchFamily="34" charset="0"/>
            </a:endParaRPr>
          </a:p>
        </p:txBody>
      </p:sp>
      <p:sp>
        <p:nvSpPr>
          <p:cNvPr id="5" name="Cuadro de texto 20">
            <a:extLst>
              <a:ext uri="{FF2B5EF4-FFF2-40B4-BE49-F238E27FC236}">
                <a16:creationId xmlns:a16="http://schemas.microsoft.com/office/drawing/2014/main" id="{A0FB8D88-B818-871F-AC50-D52732053473}"/>
              </a:ext>
            </a:extLst>
          </p:cNvPr>
          <p:cNvSpPr txBox="1">
            <a:spLocks noChangeArrowheads="1"/>
          </p:cNvSpPr>
          <p:nvPr/>
        </p:nvSpPr>
        <p:spPr bwMode="auto">
          <a:xfrm>
            <a:off x="1806942" y="3348271"/>
            <a:ext cx="1809750" cy="514350"/>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1200" b="0" i="0" u="none" strike="noStrike" cap="none" normalizeH="0" baseline="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Flujos de efectivo “reales” para los inversores</a:t>
            </a:r>
            <a:endParaRPr kumimoji="0" lang="es-AR" altLang="es-AR" sz="2000" b="0" i="0" u="none" strike="noStrike" cap="none" normalizeH="0" baseline="0">
              <a:ln>
                <a:noFill/>
              </a:ln>
              <a:solidFill>
                <a:schemeClr val="tx1"/>
              </a:solidFill>
              <a:effectLst/>
              <a:latin typeface="Arial" panose="020B0604020202020204" pitchFamily="34" charset="0"/>
            </a:endParaRPr>
          </a:p>
        </p:txBody>
      </p:sp>
      <p:sp>
        <p:nvSpPr>
          <p:cNvPr id="6" name="Cuadro de texto 21">
            <a:extLst>
              <a:ext uri="{FF2B5EF4-FFF2-40B4-BE49-F238E27FC236}">
                <a16:creationId xmlns:a16="http://schemas.microsoft.com/office/drawing/2014/main" id="{3B962B18-98E0-8218-9DDA-74BDCC78BB85}"/>
              </a:ext>
            </a:extLst>
          </p:cNvPr>
          <p:cNvSpPr txBox="1">
            <a:spLocks noChangeArrowheads="1"/>
          </p:cNvSpPr>
          <p:nvPr/>
        </p:nvSpPr>
        <p:spPr bwMode="auto">
          <a:xfrm>
            <a:off x="4016742" y="3414946"/>
            <a:ext cx="990601" cy="285750"/>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1200" b="0" i="0" u="none" strike="noStrike" cap="none" normalizeH="0" baseline="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Riesgo “real” </a:t>
            </a:r>
            <a:endParaRPr kumimoji="0" lang="es-AR" altLang="es-AR" sz="2000" b="0" i="0" u="none" strike="noStrike" cap="none" normalizeH="0" baseline="0">
              <a:ln>
                <a:noFill/>
              </a:ln>
              <a:solidFill>
                <a:schemeClr val="tx1"/>
              </a:solidFill>
              <a:effectLst/>
              <a:latin typeface="Arial" panose="020B0604020202020204" pitchFamily="34" charset="0"/>
            </a:endParaRPr>
          </a:p>
        </p:txBody>
      </p:sp>
      <p:sp>
        <p:nvSpPr>
          <p:cNvPr id="7" name="Cuadro de texto 22">
            <a:extLst>
              <a:ext uri="{FF2B5EF4-FFF2-40B4-BE49-F238E27FC236}">
                <a16:creationId xmlns:a16="http://schemas.microsoft.com/office/drawing/2014/main" id="{95252CA2-82EB-26D3-F1F1-60F10F5A6147}"/>
              </a:ext>
            </a:extLst>
          </p:cNvPr>
          <p:cNvSpPr txBox="1">
            <a:spLocks noChangeArrowheads="1"/>
          </p:cNvSpPr>
          <p:nvPr/>
        </p:nvSpPr>
        <p:spPr bwMode="auto">
          <a:xfrm>
            <a:off x="6698224" y="3414946"/>
            <a:ext cx="1343025" cy="695325"/>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1200" b="0" i="0" u="none" strike="noStrike" cap="none" normalizeH="0" baseline="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Flujos de Efectivo “percibidos” para los inversores </a:t>
            </a:r>
            <a:endParaRPr kumimoji="0" lang="es-AR" altLang="es-AR" sz="2000" b="0" i="0" u="none" strike="noStrike" cap="none" normalizeH="0" baseline="0">
              <a:ln>
                <a:noFill/>
              </a:ln>
              <a:solidFill>
                <a:schemeClr val="tx1"/>
              </a:solidFill>
              <a:effectLst/>
              <a:latin typeface="Arial" panose="020B0604020202020204" pitchFamily="34" charset="0"/>
            </a:endParaRPr>
          </a:p>
        </p:txBody>
      </p:sp>
      <p:sp>
        <p:nvSpPr>
          <p:cNvPr id="8" name="Cuadro de texto 23">
            <a:extLst>
              <a:ext uri="{FF2B5EF4-FFF2-40B4-BE49-F238E27FC236}">
                <a16:creationId xmlns:a16="http://schemas.microsoft.com/office/drawing/2014/main" id="{948EAD4B-D840-19F8-74E4-747F48E76073}"/>
              </a:ext>
            </a:extLst>
          </p:cNvPr>
          <p:cNvSpPr txBox="1">
            <a:spLocks noChangeArrowheads="1"/>
          </p:cNvSpPr>
          <p:nvPr/>
        </p:nvSpPr>
        <p:spPr bwMode="auto">
          <a:xfrm>
            <a:off x="8357162" y="3414946"/>
            <a:ext cx="1343025" cy="314325"/>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1200" b="0" i="0" u="none" strike="noStrike" cap="none" normalizeH="0" baseline="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Riesgo “percibido”  </a:t>
            </a:r>
            <a:endParaRPr kumimoji="0" lang="es-AR" altLang="es-AR" sz="2000" b="0" i="0" u="none" strike="noStrike" cap="none" normalizeH="0" baseline="0">
              <a:ln>
                <a:noFill/>
              </a:ln>
              <a:solidFill>
                <a:schemeClr val="tx1"/>
              </a:solidFill>
              <a:effectLst/>
              <a:latin typeface="Arial" panose="020B0604020202020204" pitchFamily="34" charset="0"/>
            </a:endParaRPr>
          </a:p>
        </p:txBody>
      </p:sp>
      <p:sp>
        <p:nvSpPr>
          <p:cNvPr id="9" name="Cuadro de texto 24">
            <a:extLst>
              <a:ext uri="{FF2B5EF4-FFF2-40B4-BE49-F238E27FC236}">
                <a16:creationId xmlns:a16="http://schemas.microsoft.com/office/drawing/2014/main" id="{F0896EA9-5B09-4280-248A-A57CA7E388A6}"/>
              </a:ext>
            </a:extLst>
          </p:cNvPr>
          <p:cNvSpPr txBox="1">
            <a:spLocks noChangeArrowheads="1"/>
          </p:cNvSpPr>
          <p:nvPr/>
        </p:nvSpPr>
        <p:spPr bwMode="auto">
          <a:xfrm>
            <a:off x="2410192" y="4303946"/>
            <a:ext cx="1809750" cy="514350"/>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1200" b="0" i="0" u="none" strike="noStrike" cap="none" normalizeH="0" baseline="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Valor intrínseco de las Acciones</a:t>
            </a:r>
            <a:endParaRPr kumimoji="0" lang="es-AR" altLang="es-AR" sz="2000" b="0" i="0" u="none" strike="noStrike" cap="none" normalizeH="0" baseline="0">
              <a:ln>
                <a:noFill/>
              </a:ln>
              <a:solidFill>
                <a:schemeClr val="tx1"/>
              </a:solidFill>
              <a:effectLst/>
              <a:latin typeface="Arial" panose="020B0604020202020204" pitchFamily="34" charset="0"/>
            </a:endParaRPr>
          </a:p>
        </p:txBody>
      </p:sp>
      <p:sp>
        <p:nvSpPr>
          <p:cNvPr id="10" name="Cuadro de texto 25">
            <a:extLst>
              <a:ext uri="{FF2B5EF4-FFF2-40B4-BE49-F238E27FC236}">
                <a16:creationId xmlns:a16="http://schemas.microsoft.com/office/drawing/2014/main" id="{BB25152B-405E-07C3-F4FC-430D1B69F905}"/>
              </a:ext>
            </a:extLst>
          </p:cNvPr>
          <p:cNvSpPr txBox="1">
            <a:spLocks noChangeArrowheads="1"/>
          </p:cNvSpPr>
          <p:nvPr/>
        </p:nvSpPr>
        <p:spPr bwMode="auto">
          <a:xfrm>
            <a:off x="7538439" y="4437296"/>
            <a:ext cx="1809750" cy="485775"/>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Precio de mercado de las Acciones</a:t>
            </a:r>
            <a:endParaRPr kumimoji="0" lang="es-AR" altLang="es-AR" sz="2000" b="0" i="0" u="none" strike="noStrike" cap="none" normalizeH="0" baseline="0" dirty="0">
              <a:ln>
                <a:noFill/>
              </a:ln>
              <a:solidFill>
                <a:schemeClr val="tx1"/>
              </a:solidFill>
              <a:effectLst/>
              <a:latin typeface="Arial" panose="020B0604020202020204" pitchFamily="34" charset="0"/>
            </a:endParaRPr>
          </a:p>
        </p:txBody>
      </p:sp>
      <p:sp>
        <p:nvSpPr>
          <p:cNvPr id="11" name="Cuadro de texto 26">
            <a:extLst>
              <a:ext uri="{FF2B5EF4-FFF2-40B4-BE49-F238E27FC236}">
                <a16:creationId xmlns:a16="http://schemas.microsoft.com/office/drawing/2014/main" id="{5FC4F6A6-E523-BAEE-B501-9C1B9084AC43}"/>
              </a:ext>
            </a:extLst>
          </p:cNvPr>
          <p:cNvSpPr txBox="1">
            <a:spLocks noChangeArrowheads="1"/>
          </p:cNvSpPr>
          <p:nvPr/>
        </p:nvSpPr>
        <p:spPr bwMode="auto">
          <a:xfrm>
            <a:off x="4422855" y="5076189"/>
            <a:ext cx="2533651" cy="609600"/>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1200" b="0" i="0" u="none" strike="noStrike" cap="none" normalizeH="0" baseline="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Equilibrio del mercado: </a:t>
            </a:r>
            <a:endParaRPr kumimoji="0" lang="es-AR" altLang="es-AR" sz="1200" b="0" i="0" u="none" strike="noStrike" cap="none" normalizeH="0" baseline="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1200" b="0" i="0" u="none" strike="noStrike" cap="none" normalizeH="0" baseline="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Valor intrínseco = Precio de las Acciones</a:t>
            </a:r>
            <a:endParaRPr kumimoji="0" lang="es-AR" altLang="es-AR" sz="2000" b="0" i="0" u="none" strike="noStrike" cap="none" normalizeH="0" baseline="0">
              <a:ln>
                <a:noFill/>
              </a:ln>
              <a:solidFill>
                <a:schemeClr val="tx1"/>
              </a:solidFill>
              <a:effectLst/>
              <a:latin typeface="Arial" panose="020B0604020202020204" pitchFamily="34" charset="0"/>
            </a:endParaRPr>
          </a:p>
        </p:txBody>
      </p:sp>
      <p:sp>
        <p:nvSpPr>
          <p:cNvPr id="12" name="Rectangle 9">
            <a:extLst>
              <a:ext uri="{FF2B5EF4-FFF2-40B4-BE49-F238E27FC236}">
                <a16:creationId xmlns:a16="http://schemas.microsoft.com/office/drawing/2014/main" id="{FDDD1A6E-660B-EB25-C38F-3C741667072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13" name="Rectangle 18">
            <a:extLst>
              <a:ext uri="{FF2B5EF4-FFF2-40B4-BE49-F238E27FC236}">
                <a16:creationId xmlns:a16="http://schemas.microsoft.com/office/drawing/2014/main" id="{C0D53309-5D52-B08B-5756-D02551393074}"/>
              </a:ext>
            </a:extLst>
          </p:cNvPr>
          <p:cNvSpPr>
            <a:spLocks noChangeArrowheads="1"/>
          </p:cNvSpPr>
          <p:nvPr/>
        </p:nvSpPr>
        <p:spPr bwMode="auto">
          <a:xfrm>
            <a:off x="0" y="4572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Tree>
    <p:extLst>
      <p:ext uri="{BB962C8B-B14F-4D97-AF65-F5344CB8AC3E}">
        <p14:creationId xmlns:p14="http://schemas.microsoft.com/office/powerpoint/2010/main" val="20706663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fontScale="85000" lnSpcReduction="10000"/>
          </a:bodyPr>
          <a:lstStyle/>
          <a:p>
            <a:pPr marL="0" indent="0">
              <a:lnSpc>
                <a:spcPct val="107000"/>
              </a:lnSpc>
              <a:spcAft>
                <a:spcPts val="800"/>
              </a:spcAft>
              <a:buNone/>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Vemos como los Actos gerenciales, entorno económico, impuestos y ambiente político influyen en el nivel y riesgo de los flujos de efectivo futuros de una compañía, que son los que determinan el precio de sus Acciones. </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Por otra parte, tenemos la percepción de riesgo y flujos esperados, </a:t>
            </a:r>
            <a:r>
              <a:rPr lang="es-AR" sz="1800" b="1" dirty="0">
                <a:effectLst/>
                <a:latin typeface="Calibri" panose="020F0502020204030204" pitchFamily="34" charset="0"/>
                <a:ea typeface="Times New Roman" panose="02020603050405020304" pitchFamily="18" charset="0"/>
                <a:cs typeface="Times New Roman" panose="02020603050405020304" pitchFamily="18" charset="0"/>
              </a:rPr>
              <a:t>con información disponible</a:t>
            </a: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 mientras que al hablar de </a:t>
            </a:r>
            <a:r>
              <a:rPr lang="es-AR" sz="1800" b="1" dirty="0">
                <a:effectLst/>
                <a:latin typeface="Calibri" panose="020F0502020204030204" pitchFamily="34" charset="0"/>
                <a:ea typeface="Times New Roman" panose="02020603050405020304" pitchFamily="18" charset="0"/>
                <a:cs typeface="Times New Roman" panose="02020603050405020304" pitchFamily="18" charset="0"/>
              </a:rPr>
              <a:t>“real”</a:t>
            </a: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 nos referimos a si </a:t>
            </a:r>
            <a:r>
              <a:rPr lang="es-AR" sz="1800" b="1" dirty="0">
                <a:effectLst/>
                <a:latin typeface="Calibri" panose="020F0502020204030204" pitchFamily="34" charset="0"/>
                <a:ea typeface="Times New Roman" panose="02020603050405020304" pitchFamily="18" charset="0"/>
                <a:cs typeface="Times New Roman" panose="02020603050405020304" pitchFamily="18" charset="0"/>
              </a:rPr>
              <a:t>se dispusiera de toda la información existente </a:t>
            </a: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sobre una compañía.</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Ejemplo, Enron en 2001, debido a la asimetría entre la información de los inversores y los ejecutivos hacía parecer a Enron con un valor que no tenía.</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Valor intrínseco, calculado por un analista competente con el máximo de información disponible</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Precio de mercado, el precio de mercado real basado en información percibida pero posiblemente incorrecta y visto por el inversor marginal (Cree que el precio actual es más o menos adecuado), que como veremos más adelante es el que determina el precio real de mercado. No todos los inversores tienen la misma percepción del precio actual.</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Cuando el precio real de mercado de una acción iguala a su valor intrínseco la acción está en equilibrio. En tal caso no hay presiones de cambio sobre el precio. Los precios de mercado difieren en general del valor intrínseco, pero conforme pasa el tiempo tienden a converger.</a:t>
            </a:r>
          </a:p>
          <a:p>
            <a:endParaRPr lang="es-AR" dirty="0"/>
          </a:p>
        </p:txBody>
      </p:sp>
    </p:spTree>
    <p:extLst>
      <p:ext uri="{BB962C8B-B14F-4D97-AF65-F5344CB8AC3E}">
        <p14:creationId xmlns:p14="http://schemas.microsoft.com/office/powerpoint/2010/main" val="3989979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fontScale="92500" lnSpcReduction="10000"/>
          </a:bodyPr>
          <a:lstStyle/>
          <a:p>
            <a:pPr marL="0" indent="0">
              <a:lnSpc>
                <a:spcPct val="107000"/>
              </a:lnSpc>
              <a:spcAft>
                <a:spcPts val="800"/>
              </a:spcAft>
              <a:buNone/>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VALOR INTRÍNSECO</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El valor real de una acción está disponible en internet. El valor intrínseco, no. Diferentes analistas con diferente información y visión del futuro crean estimaciones diferentes.</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Estimar valores intrínsecos es justamente de lo que se ocupa el análisis de valores y lo que distingue a los inversores exitosos de los que no lo son.</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Con información perfecta sería muy sencillo invertir. Los gerentes son quienes disponen de la mejor información de las perspectivas futuras de la empresa, siendo sus estimaciones mejores que la de los inversores externos, y sin embargo pueden estar equivocados.</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Los gerentes debieran permanentemente estimar el valor intrínseco y tomar acciones para maximizarlo. Además, debieran proveer de información (no estratégica) a los analistas para ayudarlos a mejorar sus estimaciones.</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 El optimismo y pesimismo a lo largo del tiempo junto a información imperfecta hace que el precio difiera del valor.</a:t>
            </a:r>
          </a:p>
          <a:p>
            <a:endParaRPr lang="es-AR" dirty="0"/>
          </a:p>
        </p:txBody>
      </p:sp>
    </p:spTree>
    <p:extLst>
      <p:ext uri="{BB962C8B-B14F-4D97-AF65-F5344CB8AC3E}">
        <p14:creationId xmlns:p14="http://schemas.microsoft.com/office/powerpoint/2010/main" val="1834311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graphicFrame>
        <p:nvGraphicFramePr>
          <p:cNvPr id="7" name="Gráfico 6">
            <a:extLst>
              <a:ext uri="{FF2B5EF4-FFF2-40B4-BE49-F238E27FC236}">
                <a16:creationId xmlns:a16="http://schemas.microsoft.com/office/drawing/2014/main" id="{341A9F7D-1452-5AC7-48C5-9588030A2D50}"/>
              </a:ext>
            </a:extLst>
          </p:cNvPr>
          <p:cNvGraphicFramePr>
            <a:graphicFrameLocks/>
          </p:cNvGraphicFramePr>
          <p:nvPr>
            <p:extLst>
              <p:ext uri="{D42A27DB-BD31-4B8C-83A1-F6EECF244321}">
                <p14:modId xmlns:p14="http://schemas.microsoft.com/office/powerpoint/2010/main" val="875614213"/>
              </p:ext>
            </p:extLst>
          </p:nvPr>
        </p:nvGraphicFramePr>
        <p:xfrm>
          <a:off x="2502475" y="2005229"/>
          <a:ext cx="7057159" cy="410462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743940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fontScale="92500" lnSpcReduction="10000"/>
          </a:bodyPr>
          <a:lstStyle/>
          <a:p>
            <a:pPr marL="0" indent="0">
              <a:buNone/>
            </a:pPr>
            <a:r>
              <a:rPr lang="es-AR" sz="2400" dirty="0">
                <a:effectLst/>
                <a:latin typeface="Calibri" panose="020F0502020204030204" pitchFamily="34" charset="0"/>
                <a:ea typeface="Times New Roman" panose="02020603050405020304" pitchFamily="18" charset="0"/>
                <a:cs typeface="Times New Roman" panose="02020603050405020304" pitchFamily="18" charset="0"/>
              </a:rPr>
              <a:t>El valor intrínseco es un concepto de largo plazo. La meta de la gerencia debe ser emprender acciones diseñadas para maximizar el valor intrínseco de la empresa y no su precio de mercado en vigor.</a:t>
            </a:r>
          </a:p>
          <a:p>
            <a:pPr marL="0" indent="0">
              <a:buNone/>
            </a:pPr>
            <a:endParaRPr lang="es-AR" sz="24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r>
              <a:rPr lang="es-AR" sz="2400" dirty="0">
                <a:effectLst/>
                <a:latin typeface="Calibri" panose="020F0502020204030204" pitchFamily="34" charset="0"/>
                <a:ea typeface="Times New Roman" panose="02020603050405020304" pitchFamily="18" charset="0"/>
                <a:cs typeface="Times New Roman" panose="02020603050405020304" pitchFamily="18" charset="0"/>
              </a:rPr>
              <a:t>El aumento del valor intrínseco hará aumentar el precio promedio en el largo plazo, pero no necesariamente el precio en vigor en cada punto.</a:t>
            </a:r>
          </a:p>
          <a:p>
            <a:pPr marL="0" indent="0">
              <a:buNone/>
            </a:pPr>
            <a:endParaRPr lang="es-AR" sz="24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r>
              <a:rPr lang="es-AR" sz="2400" dirty="0">
                <a:effectLst/>
                <a:latin typeface="Calibri" panose="020F0502020204030204" pitchFamily="34" charset="0"/>
                <a:ea typeface="Times New Roman" panose="02020603050405020304" pitchFamily="18" charset="0"/>
                <a:cs typeface="Times New Roman" panose="02020603050405020304" pitchFamily="18" charset="0"/>
              </a:rPr>
              <a:t>Ejemplo, inversiones que reducen las ganancias del año en curso, y por falta de información reducen el precio de la acción. Si la gerencia diera mejor información, el valor y precio tenderían a mantenerse más cerca del nivel de equilibrio.</a:t>
            </a:r>
          </a:p>
          <a:p>
            <a:pPr marL="0" indent="0">
              <a:buNone/>
            </a:pPr>
            <a:endParaRPr lang="es-AR" sz="24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r>
              <a:rPr lang="es-AR" sz="2400" dirty="0">
                <a:effectLst/>
                <a:latin typeface="Calibri" panose="020F0502020204030204" pitchFamily="34" charset="0"/>
                <a:ea typeface="Times New Roman" panose="02020603050405020304" pitchFamily="18" charset="0"/>
                <a:cs typeface="Times New Roman" panose="02020603050405020304" pitchFamily="18" charset="0"/>
              </a:rPr>
              <a:t>Pero muchas veces dicha información es estratégica y no puede divulgarse.</a:t>
            </a:r>
          </a:p>
          <a:p>
            <a:endParaRPr lang="es-AR" sz="2400" dirty="0"/>
          </a:p>
        </p:txBody>
      </p:sp>
    </p:spTree>
    <p:extLst>
      <p:ext uri="{BB962C8B-B14F-4D97-AF65-F5344CB8AC3E}">
        <p14:creationId xmlns:p14="http://schemas.microsoft.com/office/powerpoint/2010/main" val="15029220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lnSpcReduction="10000"/>
          </a:bodyPr>
          <a:lstStyle/>
          <a:p>
            <a:pPr marL="0" indent="0">
              <a:lnSpc>
                <a:spcPct val="107000"/>
              </a:lnSpc>
              <a:spcAft>
                <a:spcPts val="800"/>
              </a:spcAft>
              <a:buNone/>
            </a:pPr>
            <a:r>
              <a:rPr lang="es-AR" sz="2400" b="1" dirty="0">
                <a:effectLst/>
                <a:latin typeface="Calibri" panose="020F0502020204030204" pitchFamily="34" charset="0"/>
                <a:ea typeface="Times New Roman" panose="02020603050405020304" pitchFamily="18" charset="0"/>
                <a:cs typeface="Times New Roman" panose="02020603050405020304" pitchFamily="18" charset="0"/>
              </a:rPr>
              <a:t>CONSECUENCIAS DE TENER UN ENFOQUE A CORTO PLAZO</a:t>
            </a:r>
            <a:endParaRPr lang="es-AR" sz="24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AR" sz="2400" dirty="0">
                <a:effectLst/>
                <a:latin typeface="Calibri" panose="020F0502020204030204" pitchFamily="34" charset="0"/>
                <a:ea typeface="Times New Roman" panose="02020603050405020304" pitchFamily="18" charset="0"/>
                <a:cs typeface="Times New Roman" panose="02020603050405020304" pitchFamily="18" charset="0"/>
              </a:rPr>
              <a:t>Los enfoques de corto plazo, los incentivos para lograr crecimiento o colocar nuevos productos han generado una infinidad de problemas y por ello los profesionales subrayan la necesidad de contar con un consejo de administración y consejeros que establezcan eficaces procedimientos de</a:t>
            </a:r>
            <a:r>
              <a:rPr lang="es-AR" sz="2400" b="1" dirty="0">
                <a:effectLst/>
                <a:latin typeface="Calibri" panose="020F0502020204030204" pitchFamily="34" charset="0"/>
                <a:ea typeface="Times New Roman" panose="02020603050405020304" pitchFamily="18" charset="0"/>
                <a:cs typeface="Times New Roman" panose="02020603050405020304" pitchFamily="18" charset="0"/>
              </a:rPr>
              <a:t> Gobernanza Corporativa</a:t>
            </a:r>
            <a:r>
              <a:rPr lang="es-AR" sz="2400" dirty="0">
                <a:effectLst/>
                <a:latin typeface="Calibri" panose="020F0502020204030204" pitchFamily="34" charset="0"/>
                <a:ea typeface="Times New Roman" panose="02020603050405020304" pitchFamily="18" charset="0"/>
                <a:cs typeface="Times New Roman" panose="02020603050405020304" pitchFamily="18" charset="0"/>
              </a:rPr>
              <a:t>. </a:t>
            </a:r>
          </a:p>
          <a:p>
            <a:pPr>
              <a:lnSpc>
                <a:spcPct val="107000"/>
              </a:lnSpc>
              <a:spcAft>
                <a:spcPts val="800"/>
              </a:spcAft>
            </a:pPr>
            <a:r>
              <a:rPr lang="es-AR" sz="2400" dirty="0">
                <a:effectLst/>
                <a:latin typeface="Calibri" panose="020F0502020204030204" pitchFamily="34" charset="0"/>
                <a:ea typeface="Times New Roman" panose="02020603050405020304" pitchFamily="18" charset="0"/>
                <a:cs typeface="Times New Roman" panose="02020603050405020304" pitchFamily="18" charset="0"/>
              </a:rPr>
              <a:t>Establecer una serie de reglas y prácticas que garanticen que todos los gerentes actúen en beneficio de los accionistas al mismo tiempo que equilibran las necesidades de otros sectores claves como los clientes, empleados y ciudadanos afectados. Tener un consejo de administración sólido e independiente se considera un componente importante de una gobernanza firme.</a:t>
            </a:r>
          </a:p>
          <a:p>
            <a:pPr marL="0" indent="0">
              <a:buNone/>
            </a:pPr>
            <a:endParaRPr lang="es-AR" sz="3600" dirty="0"/>
          </a:p>
        </p:txBody>
      </p:sp>
    </p:spTree>
    <p:extLst>
      <p:ext uri="{BB962C8B-B14F-4D97-AF65-F5344CB8AC3E}">
        <p14:creationId xmlns:p14="http://schemas.microsoft.com/office/powerpoint/2010/main" val="38623567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lnSpcReduction="10000"/>
          </a:bodyPr>
          <a:lstStyle/>
          <a:p>
            <a:pPr marL="0" indent="0">
              <a:lnSpc>
                <a:spcPct val="107000"/>
              </a:lnSpc>
              <a:spcAft>
                <a:spcPts val="800"/>
              </a:spcAft>
              <a:buNone/>
            </a:pPr>
            <a:r>
              <a:rPr lang="es-AR" sz="2400" b="1" dirty="0">
                <a:effectLst/>
                <a:latin typeface="Calibri" panose="020F0502020204030204" pitchFamily="34" charset="0"/>
                <a:ea typeface="Times New Roman" panose="02020603050405020304" pitchFamily="18" charset="0"/>
                <a:cs typeface="Times New Roman" panose="02020603050405020304" pitchFamily="18" charset="0"/>
              </a:rPr>
              <a:t>CONSECUENCIAS DE TENER UN ENFOQUE A CORTO PLAZO</a:t>
            </a:r>
            <a:endParaRPr lang="es-AR" sz="24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AR" sz="2400" dirty="0">
                <a:effectLst/>
                <a:latin typeface="Calibri" panose="020F0502020204030204" pitchFamily="34" charset="0"/>
                <a:ea typeface="Times New Roman" panose="02020603050405020304" pitchFamily="18" charset="0"/>
                <a:cs typeface="Times New Roman" panose="02020603050405020304" pitchFamily="18" charset="0"/>
              </a:rPr>
              <a:t>Se debe tratar </a:t>
            </a:r>
            <a:r>
              <a:rPr lang="es-AR" sz="2400" dirty="0">
                <a:latin typeface="Calibri" panose="020F0502020204030204" pitchFamily="34" charset="0"/>
                <a:ea typeface="Times New Roman" panose="02020603050405020304" pitchFamily="18" charset="0"/>
                <a:cs typeface="Times New Roman" panose="02020603050405020304" pitchFamily="18" charset="0"/>
              </a:rPr>
              <a:t>de e</a:t>
            </a:r>
            <a:r>
              <a:rPr lang="es-AR" sz="2400" dirty="0">
                <a:effectLst/>
                <a:latin typeface="Calibri" panose="020F0502020204030204" pitchFamily="34" charset="0"/>
                <a:ea typeface="Times New Roman" panose="02020603050405020304" pitchFamily="18" charset="0"/>
                <a:cs typeface="Times New Roman" panose="02020603050405020304" pitchFamily="18" charset="0"/>
              </a:rPr>
              <a:t>vitar incentivos atados a ganancias de corto plazo, que no tienen en cuenta el valor de largo plazo. -&gt; Parte clave de las Remuneraciones en acciones y opciones de acciones para que los gerentes piensen como accionistas y busquen aumentar el patrimonio accionario.</a:t>
            </a:r>
          </a:p>
          <a:p>
            <a:pPr>
              <a:lnSpc>
                <a:spcPct val="107000"/>
              </a:lnSpc>
              <a:spcAft>
                <a:spcPts val="800"/>
              </a:spcAft>
            </a:pPr>
            <a:r>
              <a:rPr lang="es-AR" sz="2400" dirty="0">
                <a:effectLst/>
                <a:latin typeface="Calibri" panose="020F0502020204030204" pitchFamily="34" charset="0"/>
                <a:ea typeface="Times New Roman" panose="02020603050405020304" pitchFamily="18" charset="0"/>
                <a:cs typeface="Times New Roman" panose="02020603050405020304" pitchFamily="18" charset="0"/>
              </a:rPr>
              <a:t>Sin embargo, esto no siempre funciona, y tiene sus riesgos en la elección objetiva de proyectos por parte de los gerentes. También hubo exageración en ganancias (no eran reales) para subir el valor de la acción y luego de ejercer la opción de venta que se les otorgaba, dejaban a los accionistas con el costo y la caída en los valores.</a:t>
            </a:r>
          </a:p>
          <a:p>
            <a:endParaRPr lang="es-AR" sz="3600" dirty="0"/>
          </a:p>
        </p:txBody>
      </p:sp>
    </p:spTree>
    <p:extLst>
      <p:ext uri="{BB962C8B-B14F-4D97-AF65-F5344CB8AC3E}">
        <p14:creationId xmlns:p14="http://schemas.microsoft.com/office/powerpoint/2010/main" val="25099542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a:bodyPr>
          <a:lstStyle/>
          <a:p>
            <a:pPr marL="0" indent="0">
              <a:buNone/>
            </a:pPr>
            <a:r>
              <a:rPr lang="es-AR" sz="1800" dirty="0">
                <a:effectLst/>
                <a:ea typeface="Times New Roman" panose="02020603050405020304" pitchFamily="18" charset="0"/>
                <a:cs typeface="Times New Roman" panose="02020603050405020304" pitchFamily="18" charset="0"/>
              </a:rPr>
              <a:t>CONFLICTOS ENTRE ACCIONISTAS Y GERENTES</a:t>
            </a:r>
          </a:p>
          <a:p>
            <a:pPr marL="0" indent="0">
              <a:lnSpc>
                <a:spcPct val="107000"/>
              </a:lnSpc>
              <a:spcAft>
                <a:spcPts val="800"/>
              </a:spcAft>
              <a:buNone/>
            </a:pPr>
            <a:r>
              <a:rPr lang="es-AR" sz="1800" dirty="0">
                <a:effectLst/>
                <a:ea typeface="Times New Roman" panose="02020603050405020304" pitchFamily="18" charset="0"/>
                <a:cs typeface="Times New Roman" panose="02020603050405020304" pitchFamily="18" charset="0"/>
              </a:rPr>
              <a:t>Gerentes pensando más en su propio patrimonio que en el de los accionistas. Podrían asignarse sueldos excesivos.</a:t>
            </a:r>
          </a:p>
          <a:p>
            <a:pPr marL="0" indent="0">
              <a:lnSpc>
                <a:spcPct val="107000"/>
              </a:lnSpc>
              <a:spcAft>
                <a:spcPts val="800"/>
              </a:spcAft>
              <a:buNone/>
            </a:pPr>
            <a:r>
              <a:rPr lang="es-AR" sz="1800" dirty="0">
                <a:effectLst/>
                <a:ea typeface="Times New Roman" panose="02020603050405020304" pitchFamily="18" charset="0"/>
                <a:cs typeface="Times New Roman" panose="02020603050405020304" pitchFamily="18" charset="0"/>
              </a:rPr>
              <a:t>Los planes eficaces de compensación motivan a los gerentes actuar en beneficio de los accionistas </a:t>
            </a:r>
          </a:p>
          <a:p>
            <a:pPr marL="800100" lvl="1" indent="-342900">
              <a:lnSpc>
                <a:spcPct val="107000"/>
              </a:lnSpc>
              <a:spcAft>
                <a:spcPts val="800"/>
              </a:spcAft>
              <a:buFont typeface="+mj-lt"/>
              <a:buAutoNum type="arabicPeriod"/>
            </a:pPr>
            <a:r>
              <a:rPr lang="es-AR" sz="1800" dirty="0">
                <a:effectLst/>
                <a:ea typeface="Times New Roman" panose="02020603050405020304" pitchFamily="18" charset="0"/>
                <a:cs typeface="Times New Roman" panose="02020603050405020304" pitchFamily="18" charset="0"/>
              </a:rPr>
              <a:t>Paquetes de compensaciones razonables</a:t>
            </a:r>
          </a:p>
          <a:p>
            <a:pPr marL="800100" lvl="1" indent="-342900">
              <a:lnSpc>
                <a:spcPct val="107000"/>
              </a:lnSpc>
              <a:spcAft>
                <a:spcPts val="800"/>
              </a:spcAft>
              <a:buFont typeface="+mj-lt"/>
              <a:buAutoNum type="arabicPeriod"/>
            </a:pPr>
            <a:r>
              <a:rPr lang="es-AR" sz="1800" dirty="0">
                <a:ea typeface="Times New Roman" panose="02020603050405020304" pitchFamily="18" charset="0"/>
                <a:cs typeface="Times New Roman" panose="02020603050405020304" pitchFamily="18" charset="0"/>
              </a:rPr>
              <a:t>D</a:t>
            </a:r>
            <a:r>
              <a:rPr lang="es-AR" sz="1800" dirty="0">
                <a:effectLst/>
                <a:ea typeface="Times New Roman" panose="02020603050405020304" pitchFamily="18" charset="0"/>
                <a:cs typeface="Times New Roman" panose="02020603050405020304" pitchFamily="18" charset="0"/>
              </a:rPr>
              <a:t>espido de gerentes que no se desempeñan en forma adecuada</a:t>
            </a:r>
          </a:p>
          <a:p>
            <a:pPr marL="800100" lvl="1" indent="-342900">
              <a:lnSpc>
                <a:spcPct val="107000"/>
              </a:lnSpc>
              <a:spcAft>
                <a:spcPts val="800"/>
              </a:spcAft>
              <a:buFont typeface="+mj-lt"/>
              <a:buAutoNum type="arabicPeriod"/>
            </a:pPr>
            <a:r>
              <a:rPr lang="es-AR" sz="1800" dirty="0">
                <a:effectLst/>
                <a:ea typeface="Times New Roman" panose="02020603050405020304" pitchFamily="18" charset="0"/>
                <a:cs typeface="Times New Roman" panose="02020603050405020304" pitchFamily="18" charset="0"/>
              </a:rPr>
              <a:t>Amenaza de adquisiciones hostiles</a:t>
            </a:r>
          </a:p>
          <a:p>
            <a:r>
              <a:rPr lang="es-AR" sz="1800" dirty="0">
                <a:solidFill>
                  <a:srgbClr val="202124"/>
                </a:solidFill>
                <a:effectLst/>
                <a:ea typeface="Times New Roman" panose="02020603050405020304" pitchFamily="18" charset="0"/>
                <a:cs typeface="Segoe UI" panose="020B0502040204020203" pitchFamily="34" charset="0"/>
              </a:rPr>
              <a:t>¿Qué es una adquisición hostil?</a:t>
            </a:r>
            <a:endParaRPr lang="es-AR" sz="1800" dirty="0">
              <a:effectLst/>
              <a:ea typeface="Times New Roman" panose="02020603050405020304" pitchFamily="18" charset="0"/>
            </a:endParaRPr>
          </a:p>
          <a:p>
            <a:pPr marL="0" indent="0">
              <a:buNone/>
            </a:pPr>
            <a:r>
              <a:rPr lang="es-AR" sz="1800" dirty="0">
                <a:solidFill>
                  <a:srgbClr val="202124"/>
                </a:solidFill>
                <a:effectLst/>
                <a:ea typeface="Times New Roman" panose="02020603050405020304" pitchFamily="18" charset="0"/>
                <a:cs typeface="Segoe UI" panose="020B0502040204020203" pitchFamily="34" charset="0"/>
              </a:rPr>
              <a:t>La definición común adopta el punto de vista de la dirección: de acuerdo con esto, la </a:t>
            </a:r>
            <a:r>
              <a:rPr lang="es-AR" sz="1800" b="1" dirty="0">
                <a:solidFill>
                  <a:srgbClr val="202124"/>
                </a:solidFill>
                <a:effectLst/>
                <a:ea typeface="Times New Roman" panose="02020603050405020304" pitchFamily="18" charset="0"/>
                <a:cs typeface="Segoe UI" panose="020B0502040204020203" pitchFamily="34" charset="0"/>
              </a:rPr>
              <a:t>adquisición</a:t>
            </a:r>
            <a:r>
              <a:rPr lang="es-AR" sz="1800" dirty="0">
                <a:solidFill>
                  <a:srgbClr val="202124"/>
                </a:solidFill>
                <a:effectLst/>
                <a:ea typeface="Times New Roman" panose="02020603050405020304" pitchFamily="18" charset="0"/>
                <a:cs typeface="Segoe UI" panose="020B0502040204020203" pitchFamily="34" charset="0"/>
              </a:rPr>
              <a:t> de una empresa es </a:t>
            </a:r>
            <a:r>
              <a:rPr lang="es-AR" sz="1800" b="1" dirty="0">
                <a:solidFill>
                  <a:srgbClr val="202124"/>
                </a:solidFill>
                <a:effectLst/>
                <a:ea typeface="Times New Roman" panose="02020603050405020304" pitchFamily="18" charset="0"/>
                <a:cs typeface="Segoe UI" panose="020B0502040204020203" pitchFamily="34" charset="0"/>
              </a:rPr>
              <a:t>hostil</a:t>
            </a:r>
            <a:r>
              <a:rPr lang="es-AR" sz="1800" dirty="0">
                <a:solidFill>
                  <a:srgbClr val="202124"/>
                </a:solidFill>
                <a:effectLst/>
                <a:ea typeface="Times New Roman" panose="02020603050405020304" pitchFamily="18" charset="0"/>
                <a:cs typeface="Segoe UI" panose="020B0502040204020203" pitchFamily="34" charset="0"/>
              </a:rPr>
              <a:t> si los compradores la hacen cumplir contra la voluntad o al menos sin el consentimiento de los altos directivos de la empresa que está siendo absorbida.</a:t>
            </a:r>
            <a:endParaRPr lang="es-AR" sz="1800" dirty="0">
              <a:effectLst/>
              <a:ea typeface="Times New Roman" panose="02020603050405020304" pitchFamily="18" charset="0"/>
            </a:endParaRPr>
          </a:p>
          <a:p>
            <a:endParaRPr lang="es-AR" sz="1800" dirty="0"/>
          </a:p>
        </p:txBody>
      </p:sp>
    </p:spTree>
    <p:extLst>
      <p:ext uri="{BB962C8B-B14F-4D97-AF65-F5344CB8AC3E}">
        <p14:creationId xmlns:p14="http://schemas.microsoft.com/office/powerpoint/2010/main" val="8760476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a:bodyPr>
          <a:lstStyle/>
          <a:p>
            <a:r>
              <a:rPr lang="es-AR" sz="1800" dirty="0">
                <a:solidFill>
                  <a:srgbClr val="202124"/>
                </a:solidFill>
                <a:effectLst/>
                <a:latin typeface="Segoe UI" panose="020B0502040204020203" pitchFamily="34" charset="0"/>
                <a:ea typeface="Times New Roman" panose="02020603050405020304" pitchFamily="18" charset="0"/>
                <a:cs typeface="Segoe UI" panose="020B0502040204020203" pitchFamily="34" charset="0"/>
              </a:rPr>
              <a:t>¿Qué es una OPA en bolsa hostil?</a:t>
            </a:r>
            <a:endParaRPr lang="es-AR" sz="1800" dirty="0">
              <a:effectLst/>
              <a:latin typeface="Times New Roman" panose="02020603050405020304" pitchFamily="18" charset="0"/>
              <a:ea typeface="Times New Roman" panose="02020603050405020304" pitchFamily="18" charset="0"/>
            </a:endParaRPr>
          </a:p>
          <a:p>
            <a:r>
              <a:rPr lang="es-AR" sz="1800" dirty="0">
                <a:solidFill>
                  <a:srgbClr val="202124"/>
                </a:solidFill>
                <a:effectLst/>
                <a:latin typeface="Segoe UI" panose="020B0502040204020203" pitchFamily="34" charset="0"/>
                <a:ea typeface="Times New Roman" panose="02020603050405020304" pitchFamily="18" charset="0"/>
                <a:cs typeface="Segoe UI" panose="020B0502040204020203" pitchFamily="34" charset="0"/>
              </a:rPr>
              <a:t>Las </a:t>
            </a:r>
            <a:r>
              <a:rPr lang="es-AR" sz="1800" b="1" dirty="0" err="1">
                <a:solidFill>
                  <a:srgbClr val="202124"/>
                </a:solidFill>
                <a:effectLst/>
                <a:latin typeface="Segoe UI" panose="020B0502040204020203" pitchFamily="34" charset="0"/>
                <a:ea typeface="Times New Roman" panose="02020603050405020304" pitchFamily="18" charset="0"/>
                <a:cs typeface="Segoe UI" panose="020B0502040204020203" pitchFamily="34" charset="0"/>
              </a:rPr>
              <a:t>OPAs</a:t>
            </a:r>
            <a:r>
              <a:rPr lang="es-AR" sz="1800" b="1" dirty="0">
                <a:solidFill>
                  <a:srgbClr val="202124"/>
                </a:solidFill>
                <a:effectLst/>
                <a:latin typeface="Segoe UI" panose="020B0502040204020203" pitchFamily="34" charset="0"/>
                <a:ea typeface="Times New Roman" panose="02020603050405020304" pitchFamily="18" charset="0"/>
                <a:cs typeface="Segoe UI" panose="020B0502040204020203" pitchFamily="34" charset="0"/>
              </a:rPr>
              <a:t> hostiles</a:t>
            </a:r>
            <a:r>
              <a:rPr lang="es-AR" sz="1800" dirty="0">
                <a:solidFill>
                  <a:srgbClr val="202124"/>
                </a:solidFill>
                <a:effectLst/>
                <a:latin typeface="Segoe UI" panose="020B0502040204020203" pitchFamily="34" charset="0"/>
                <a:ea typeface="Times New Roman" panose="02020603050405020304" pitchFamily="18" charset="0"/>
                <a:cs typeface="Segoe UI" panose="020B0502040204020203" pitchFamily="34" charset="0"/>
              </a:rPr>
              <a:t> son ofertas públicas de adquisición lanzadas con la finalidad de adquirir el control de una sociedad, en contra de la voluntad de los administradores o los accionistas que detentan dicho control.</a:t>
            </a:r>
            <a:endParaRPr lang="es-AR" sz="1800" dirty="0">
              <a:effectLst/>
              <a:latin typeface="Times New Roman" panose="02020603050405020304" pitchFamily="18" charset="0"/>
              <a:ea typeface="Times New Roman" panose="02020603050405020304" pitchFamily="18" charset="0"/>
            </a:endParaRPr>
          </a:p>
          <a:p>
            <a:pPr>
              <a:lnSpc>
                <a:spcPct val="107000"/>
              </a:lnSpc>
              <a:spcAft>
                <a:spcPts val="800"/>
              </a:spcAft>
            </a:pPr>
            <a:r>
              <a:rPr lang="es-AR" sz="1800"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Las adquisiciones hostiles ocurren cuando una empresa (el "adquirente") busca comprar otra empresa (el "objetivo") a pesar de la oposición al movimiento de la empresa objetivo. Las adquisiciones hostiles difieren de las adquisiciones amistosas, en las que ambas empresas trabajan para lograr un resultado mutuamente beneficioso. Por lo tanto, una adquisición hostil ocurre cuando una empresa intenta apoderarse del control de otra empresa a pesar de las objeciones de esa empresa.</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s-AR" dirty="0"/>
          </a:p>
        </p:txBody>
      </p:sp>
    </p:spTree>
    <p:extLst>
      <p:ext uri="{BB962C8B-B14F-4D97-AF65-F5344CB8AC3E}">
        <p14:creationId xmlns:p14="http://schemas.microsoft.com/office/powerpoint/2010/main" val="30774658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fontScale="92500" lnSpcReduction="20000"/>
          </a:bodyPr>
          <a:lstStyle/>
          <a:p>
            <a:pPr marL="0" indent="0">
              <a:lnSpc>
                <a:spcPct val="107000"/>
              </a:lnSpc>
              <a:spcAft>
                <a:spcPts val="800"/>
              </a:spcAft>
              <a:buNone/>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PAQUETES DE COMPENSACIONES</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Un paquete de compensaciones eficaz deberá tener presente los riesgos de manejos espurios por parte de los gerentes, estructurarse en plazos largos para incentivar a los mismos a maximizar el valor intrínseco, y basarse más en valores promedios que en valores puntuales a cierta fecha. Lo ideal sería compensar en base a valor intrínseco, pero el mismo no está disponible</a:t>
            </a:r>
          </a:p>
          <a:p>
            <a:pPr marL="0" indent="0">
              <a:lnSpc>
                <a:spcPct val="107000"/>
              </a:lnSpc>
              <a:spcAft>
                <a:spcPts val="800"/>
              </a:spcAft>
              <a:buNone/>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INTERVENCIÓN DIRECTA DE LOS ACCIONISTAS</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Antes, la propiedad de las acciones estaba fundamentalmente en manos de particulares. Hoy están en manos de inversores institucionales, como Aseguradoras, fondos de pensiones, sociedades de inversión que están en condiciones y están dispuestos a hacerse cargo de empresas de bajo desempeño. Tienen acceso a los gerentes y opinan sobre cómo debiera dirigirse la empresa. Cuando estos grandes accionistas hablan, las compañías escuchan. Y pueden hacer cambios en los planes de compensaciones (Coca Cola – Warren Buffet, por ejemplo)</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Los cambios en la SEC (Comisión de Bolsa y Valores) hicieron que grupos de accionistas activistas pudieran hacer renunciar a ejecutivos a consecuencia de sus malas performances.</a:t>
            </a:r>
          </a:p>
          <a:p>
            <a:endParaRPr lang="es-AR" dirty="0"/>
          </a:p>
        </p:txBody>
      </p:sp>
    </p:spTree>
    <p:extLst>
      <p:ext uri="{BB962C8B-B14F-4D97-AF65-F5344CB8AC3E}">
        <p14:creationId xmlns:p14="http://schemas.microsoft.com/office/powerpoint/2010/main" val="30735897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a:bodyPr>
          <a:lstStyle/>
          <a:p>
            <a:pPr marL="0" indent="0">
              <a:lnSpc>
                <a:spcPct val="107000"/>
              </a:lnSpc>
              <a:spcAft>
                <a:spcPts val="800"/>
              </a:spcAft>
              <a:buNone/>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RESPUESTA DE LOS GERENTES</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Frente a precios </a:t>
            </a:r>
            <a:r>
              <a:rPr lang="es-AR" sz="1800" b="1" dirty="0">
                <a:effectLst/>
                <a:latin typeface="Calibri" panose="020F0502020204030204" pitchFamily="34" charset="0"/>
                <a:ea typeface="Times New Roman" panose="02020603050405020304" pitchFamily="18" charset="0"/>
                <a:cs typeface="Times New Roman" panose="02020603050405020304" pitchFamily="18" charset="0"/>
              </a:rPr>
              <a:t>subvaluados</a:t>
            </a: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 de las acciones los gerentes se enfrentan al riesgo de adquisiciones hostiles por parte de piratas corporativos, y su posterior despido. Los </a:t>
            </a:r>
            <a:r>
              <a:rPr lang="es-AR" sz="1800" b="1" dirty="0">
                <a:effectLst/>
                <a:latin typeface="Calibri" panose="020F0502020204030204" pitchFamily="34" charset="0"/>
                <a:ea typeface="Times New Roman" panose="02020603050405020304" pitchFamily="18" charset="0"/>
                <a:cs typeface="Times New Roman" panose="02020603050405020304" pitchFamily="18" charset="0"/>
              </a:rPr>
              <a:t>piratas corporativos</a:t>
            </a: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 justamente son inversores que seleccionan corporaciones subvaluadas para adquirirlas en forma hostil</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Este es un incentivo para maximizar el precio de las acciones, no a una fecha puntual sino en el promedio. Maximizar el valor intrínseco. “Si quieres conservar tu empleo, no permitas que tus acciones se vuelvan una ganga”</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Los gerentes deben comunicarse eficazmente con los accionistas, sin revelar información estratégica, a fin de mantener el valor real cerca del intrínseco.</a:t>
            </a:r>
          </a:p>
          <a:p>
            <a:endParaRPr lang="es-AR" dirty="0"/>
          </a:p>
        </p:txBody>
      </p:sp>
    </p:spTree>
    <p:extLst>
      <p:ext uri="{BB962C8B-B14F-4D97-AF65-F5344CB8AC3E}">
        <p14:creationId xmlns:p14="http://schemas.microsoft.com/office/powerpoint/2010/main" val="24205022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a:bodyPr>
          <a:lstStyle/>
          <a:p>
            <a:pPr marL="0" indent="0">
              <a:lnSpc>
                <a:spcPct val="107000"/>
              </a:lnSpc>
              <a:spcAft>
                <a:spcPts val="800"/>
              </a:spcAft>
              <a:buNone/>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RESPUESTA DE LOS GERENTES</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Es malo para accionistas y gerentes precios de mercado bajos aun con valores intrínsecos elevados, ya que los expone a compras hostiles y despidos.</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POR LO TANTO, “Los gerentes deben tratar de maximizar el valor intrínseco de las acciones y después comunicarse eficazmente con los accionistas. Esto causará que el valor intrínseco sea alto y el precio real permanezca cerca del mismo al paso del tiempo”</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Valor intrínseco no puede observarse. Sí puede estimarse con modelos que los gerentes debieran usar para analizar cursos alternos de acción y ver como estos impactan en el valor de la empresa. No es una forma precisa, pero sí la mejor forma de dirigir una empresa.</a:t>
            </a:r>
          </a:p>
          <a:p>
            <a:endParaRPr lang="es-AR" dirty="0"/>
          </a:p>
        </p:txBody>
      </p:sp>
    </p:spTree>
    <p:extLst>
      <p:ext uri="{BB962C8B-B14F-4D97-AF65-F5344CB8AC3E}">
        <p14:creationId xmlns:p14="http://schemas.microsoft.com/office/powerpoint/2010/main" val="30172804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fontScale="92500" lnSpcReduction="20000"/>
          </a:bodyPr>
          <a:lstStyle/>
          <a:p>
            <a:pPr marL="0" indent="0">
              <a:lnSpc>
                <a:spcPct val="107000"/>
              </a:lnSpc>
              <a:spcAft>
                <a:spcPts val="800"/>
              </a:spcAft>
              <a:buNone/>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CONFLICTOS ENTRE ACCIONISTAS Y TENEDORES DE DEUDA </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Los tenedores de deuda, bancos y tenedores de bonos reciben pagos fijos independientemente de cómo está yendo la compañía, mientras que a los accionistas les va mejor cuanto mejor le va a la compañía. Esto genera conflicto entre ambas partes al punto que los accionistas están dispuestos a asumir proyectos más riesgosos. Se supone que Gerente=Accionista y por ende existe conflicto también entre Gerentes y tomadores de deuda.</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Veamos un ejemplo donde una compañía obtuvo 2.000 en partes iguales, 1.000 por la colocación de bonos a un año al 8% anual y 1.000 de sus accionistas.</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El plan de la compañía es invertir los 2.000 en el proyecto “L” que si el mercado es bueno tendrá un valor de 2.400 (50% de probabilidad) y si el mercado es malo, de 2.000.- (50%).</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En cualquier caso, habrá dinero suficiente para devolverle a los bonistas sus 1.000 + 80 (ya que habrá 2.000 o 2.400). Los accionistas recibirán el resto, luego del pago a los bonistas. O sea, corren un riesgo mayor al depender su cobro de la situación del mercado, pero también tienen un rendimiento esperado mayor. 1.320 * 0.5 + 920 * 0.5 = 1.120</a:t>
            </a:r>
          </a:p>
          <a:p>
            <a:pPr marL="0" indent="0">
              <a:buNone/>
            </a:pPr>
            <a:endParaRPr lang="es-AR" dirty="0"/>
          </a:p>
        </p:txBody>
      </p:sp>
    </p:spTree>
    <p:extLst>
      <p:ext uri="{BB962C8B-B14F-4D97-AF65-F5344CB8AC3E}">
        <p14:creationId xmlns:p14="http://schemas.microsoft.com/office/powerpoint/2010/main" val="13564790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lnSpcReduction="10000"/>
          </a:bodyPr>
          <a:lstStyle/>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Surge un nuevo proyecto posible, el “H”, que tiene un riesgo bastante mayor. Produce 4.400 si las condiciones del mercado son buenas y $ 0.- si son malas. El valor esperado es igual al del proyecto “L”: 2.200.</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A los tenedores de bonos este proyecto no les interesa ya que no reciben más dinero en el caso positivo y se exponen a recibir 0.- en el mercado negativo.</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Para los accionistas, el proyecto “H” tiene un rendimiento esperado superior que el “L”, porque recibirán todos los rendimientos extras en el caso positivo. Si bien este proyecto es más riesgoso, en algunas circunstancias los gerentes (actúan a favor de los accionistas) podrían decidir que el mayor rendimiento esperado basta para justificar el riesgo adicional, y procederían con el proyecto “H” pese a las fuertes objeciones de los tenedores de Bonos.</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Esto llevaría a los tenedores de deuda a exigir una tasa de rendimiento más elevada porque perciben el mayor riesgo sin compensación alguna, o directamente no estarían dispuestos a invertir, salvo que los gerentes los convenzan de que no se involucrarán en proyectos riesgosos.</a:t>
            </a:r>
          </a:p>
        </p:txBody>
      </p:sp>
    </p:spTree>
    <p:extLst>
      <p:ext uri="{BB962C8B-B14F-4D97-AF65-F5344CB8AC3E}">
        <p14:creationId xmlns:p14="http://schemas.microsoft.com/office/powerpoint/2010/main" val="40473414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a:bodyPr>
          <a:lstStyle/>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Otro conflicto entre accionistas y tenedores de deuda surge del uso de deuda adicional. Como veremos más adelante, cuanta más deuda emplee una empresa para financiar un monto dado de activos, más riesgosa se volverá.</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Si 100 MM de activos se financian con 5MM de deuda y 95MM en acciones, el riesgo de no cobrar es mínimo para los tenedores de deuda, mientras que si la financiación fuera 95 y 5, con una leve pérdida de valor, los tenedores no cobrarían el total de su dinero.</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Los tenedores de bonos intentan protegerse incluyendo convenios que limitan a la empresa del uso adicional de deuda y restringen los actos de los gerentes en otros sentidos.</a:t>
            </a:r>
          </a:p>
          <a:p>
            <a:pPr marL="0" indent="0">
              <a:buNone/>
            </a:pPr>
            <a:endParaRPr lang="es-AR" dirty="0"/>
          </a:p>
        </p:txBody>
      </p:sp>
    </p:spTree>
    <p:extLst>
      <p:ext uri="{BB962C8B-B14F-4D97-AF65-F5344CB8AC3E}">
        <p14:creationId xmlns:p14="http://schemas.microsoft.com/office/powerpoint/2010/main" val="2481423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a:xfrm>
            <a:off x="838200" y="1812373"/>
            <a:ext cx="10515600" cy="4351338"/>
          </a:xfrm>
        </p:spPr>
        <p:txBody>
          <a:bodyPr>
            <a:normAutofit/>
          </a:bodyPr>
          <a:lstStyle/>
          <a:p>
            <a:pPr marL="0" indent="0">
              <a:lnSpc>
                <a:spcPct val="107000"/>
              </a:lnSpc>
              <a:spcAft>
                <a:spcPts val="800"/>
              </a:spcAft>
              <a:buNone/>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EQUILIBRIO ENTRE LOS INTERESES DE LOS ACCIONISTAS Y LOS DE LA SOCIEDAD GENERAL</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Nos centramos en empresas que cotizan en bolsa, de ahí que operemos con el supuesto que la principal meta financiera de la gerencia es maximizar el patrimonio de los accionistas. Pero no a cualquier precio. Los gerentes deben actuar éticamente, seguir las leyes y demás restricciones impuestas por la sociedad.</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No actuar con responsabilidad social implicará consecuencias negativas que irán contra el valor de las acciones de la compañía. Podemos mencionar, empleados, proveedores, inversores en general que no estén dispuestos a trabajar, vender, comprar o invertir en ellas.</a:t>
            </a:r>
          </a:p>
          <a:p>
            <a:pPr marL="0" indent="0">
              <a:buNone/>
            </a:pPr>
            <a:endParaRPr lang="es-AR" dirty="0"/>
          </a:p>
        </p:txBody>
      </p:sp>
    </p:spTree>
    <p:extLst>
      <p:ext uri="{BB962C8B-B14F-4D97-AF65-F5344CB8AC3E}">
        <p14:creationId xmlns:p14="http://schemas.microsoft.com/office/powerpoint/2010/main" val="6221401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a:xfrm>
            <a:off x="838200" y="1414808"/>
            <a:ext cx="10515600" cy="4351338"/>
          </a:xfrm>
        </p:spPr>
        <p:txBody>
          <a:bodyPr vert="horz" lIns="91440" tIns="45720" rIns="91440" bIns="45720" rtlCol="0">
            <a:noAutofit/>
          </a:bodyPr>
          <a:lstStyle/>
          <a:p>
            <a:pPr marL="0" indent="0">
              <a:lnSpc>
                <a:spcPct val="107000"/>
              </a:lnSpc>
              <a:spcBef>
                <a:spcPts val="400"/>
              </a:spcBef>
              <a:spcAft>
                <a:spcPts val="400"/>
              </a:spcAft>
              <a:buNone/>
            </a:pPr>
            <a:r>
              <a:rPr lang="es-AR" sz="2000" dirty="0">
                <a:latin typeface="Calibri" panose="020F0502020204030204" pitchFamily="34" charset="0"/>
                <a:cs typeface="Times New Roman" panose="02020603050405020304" pitchFamily="18" charset="0"/>
              </a:rPr>
              <a:t>ÉTICA EN LOS NEGOCIOS</a:t>
            </a:r>
          </a:p>
          <a:p>
            <a:pPr>
              <a:lnSpc>
                <a:spcPct val="107000"/>
              </a:lnSpc>
              <a:spcBef>
                <a:spcPts val="400"/>
              </a:spcBef>
              <a:spcAft>
                <a:spcPts val="400"/>
              </a:spcAft>
            </a:pPr>
            <a:r>
              <a:rPr lang="es-AR" sz="2000" dirty="0">
                <a:latin typeface="Calibri" panose="020F0502020204030204" pitchFamily="34" charset="0"/>
                <a:cs typeface="Times New Roman" panose="02020603050405020304" pitchFamily="18" charset="0"/>
              </a:rPr>
              <a:t>Reputación de empresas y personas, como medida de su comportamiento ético o no ético.</a:t>
            </a:r>
          </a:p>
          <a:p>
            <a:pPr>
              <a:lnSpc>
                <a:spcPct val="107000"/>
              </a:lnSpc>
              <a:spcBef>
                <a:spcPts val="400"/>
              </a:spcBef>
              <a:spcAft>
                <a:spcPts val="400"/>
              </a:spcAft>
            </a:pPr>
            <a:r>
              <a:rPr lang="es-AR" sz="2000" dirty="0">
                <a:latin typeface="Calibri" panose="020F0502020204030204" pitchFamily="34" charset="0"/>
                <a:cs typeface="Times New Roman" panose="02020603050405020304" pitchFamily="18" charset="0"/>
              </a:rPr>
              <a:t>Ética: Normas de conducta o comportamiento moral.</a:t>
            </a:r>
          </a:p>
          <a:p>
            <a:pPr>
              <a:lnSpc>
                <a:spcPct val="107000"/>
              </a:lnSpc>
              <a:spcBef>
                <a:spcPts val="400"/>
              </a:spcBef>
              <a:spcAft>
                <a:spcPts val="400"/>
              </a:spcAft>
            </a:pPr>
            <a:r>
              <a:rPr lang="es-AR" sz="2000" dirty="0">
                <a:latin typeface="Calibri" panose="020F0502020204030204" pitchFamily="34" charset="0"/>
                <a:cs typeface="Times New Roman" panose="02020603050405020304" pitchFamily="18" charset="0"/>
              </a:rPr>
              <a:t>La ética de negocios puede concebirse como la actitud y conducta de una compañía para con sus empleados, clientes, comunidad y accionistas.</a:t>
            </a:r>
          </a:p>
          <a:p>
            <a:pPr>
              <a:lnSpc>
                <a:spcPct val="107000"/>
              </a:lnSpc>
              <a:spcBef>
                <a:spcPts val="400"/>
              </a:spcBef>
              <a:spcAft>
                <a:spcPts val="400"/>
              </a:spcAft>
            </a:pPr>
            <a:r>
              <a:rPr lang="es-AR" sz="2000" dirty="0">
                <a:latin typeface="Calibri" panose="020F0502020204030204" pitchFamily="34" charset="0"/>
                <a:cs typeface="Times New Roman" panose="02020603050405020304" pitchFamily="18" charset="0"/>
              </a:rPr>
              <a:t>El compromiso de una empresa con la ética puede medirse con la tendencia de sus empleados, de arriba para abajo a adherirse a:</a:t>
            </a:r>
          </a:p>
          <a:p>
            <a:pPr lvl="1">
              <a:lnSpc>
                <a:spcPct val="107000"/>
              </a:lnSpc>
              <a:spcBef>
                <a:spcPts val="400"/>
              </a:spcBef>
              <a:spcAft>
                <a:spcPts val="400"/>
              </a:spcAft>
            </a:pPr>
            <a:r>
              <a:rPr lang="es-AR" sz="1600" dirty="0">
                <a:latin typeface="Calibri" panose="020F0502020204030204" pitchFamily="34" charset="0"/>
                <a:cs typeface="Times New Roman" panose="02020603050405020304" pitchFamily="18" charset="0"/>
              </a:rPr>
              <a:t>Las leyes y reglamentos y normas morales relativas a la inocuidad y calidad de sus productos</a:t>
            </a:r>
          </a:p>
          <a:p>
            <a:pPr lvl="1">
              <a:lnSpc>
                <a:spcPct val="107000"/>
              </a:lnSpc>
              <a:spcBef>
                <a:spcPts val="400"/>
              </a:spcBef>
              <a:spcAft>
                <a:spcPts val="400"/>
              </a:spcAft>
            </a:pPr>
            <a:r>
              <a:rPr lang="es-AR" sz="1600" dirty="0">
                <a:latin typeface="Calibri" panose="020F0502020204030204" pitchFamily="34" charset="0"/>
                <a:cs typeface="Times New Roman" panose="02020603050405020304" pitchFamily="18" charset="0"/>
              </a:rPr>
              <a:t>Prácticas laborales, de marketing y ventas justas</a:t>
            </a:r>
          </a:p>
          <a:p>
            <a:pPr lvl="1">
              <a:lnSpc>
                <a:spcPct val="107000"/>
              </a:lnSpc>
              <a:spcBef>
                <a:spcPts val="400"/>
              </a:spcBef>
              <a:spcAft>
                <a:spcPts val="400"/>
              </a:spcAft>
            </a:pPr>
            <a:r>
              <a:rPr lang="es-AR" sz="1600" dirty="0">
                <a:latin typeface="Calibri" panose="020F0502020204030204" pitchFamily="34" charset="0"/>
                <a:cs typeface="Times New Roman" panose="02020603050405020304" pitchFamily="18" charset="0"/>
              </a:rPr>
              <a:t>El uso de información confidencial en beneficio personal</a:t>
            </a:r>
          </a:p>
          <a:p>
            <a:pPr lvl="1">
              <a:lnSpc>
                <a:spcPct val="107000"/>
              </a:lnSpc>
              <a:spcBef>
                <a:spcPts val="400"/>
              </a:spcBef>
              <a:spcAft>
                <a:spcPts val="400"/>
              </a:spcAft>
            </a:pPr>
            <a:r>
              <a:rPr lang="es-AR" sz="1600" dirty="0">
                <a:latin typeface="Calibri" panose="020F0502020204030204" pitchFamily="34" charset="0"/>
                <a:cs typeface="Times New Roman" panose="02020603050405020304" pitchFamily="18" charset="0"/>
              </a:rPr>
              <a:t>Involucramiento con la sociedad</a:t>
            </a:r>
          </a:p>
          <a:p>
            <a:pPr lvl="1">
              <a:lnSpc>
                <a:spcPct val="107000"/>
              </a:lnSpc>
              <a:spcBef>
                <a:spcPts val="400"/>
              </a:spcBef>
              <a:spcAft>
                <a:spcPts val="400"/>
              </a:spcAft>
            </a:pPr>
            <a:r>
              <a:rPr lang="es-AR" sz="1600" dirty="0">
                <a:latin typeface="Calibri" panose="020F0502020204030204" pitchFamily="34" charset="0"/>
                <a:cs typeface="Times New Roman" panose="02020603050405020304" pitchFamily="18" charset="0"/>
              </a:rPr>
              <a:t>Pagos ilegales para conseguir ventas</a:t>
            </a:r>
          </a:p>
          <a:p>
            <a:pPr marL="0" indent="0">
              <a:lnSpc>
                <a:spcPct val="107000"/>
              </a:lnSpc>
              <a:spcBef>
                <a:spcPts val="400"/>
              </a:spcBef>
              <a:spcAft>
                <a:spcPts val="400"/>
              </a:spcAft>
              <a:buNone/>
            </a:pPr>
            <a:endParaRPr lang="es-AR" sz="2000" dirty="0">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691153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a:xfrm>
            <a:off x="838200" y="1414808"/>
            <a:ext cx="10515600" cy="4351338"/>
          </a:xfrm>
        </p:spPr>
        <p:txBody>
          <a:bodyPr vert="horz" lIns="91440" tIns="45720" rIns="91440" bIns="45720" rtlCol="0">
            <a:noAutofit/>
          </a:bodyPr>
          <a:lstStyle/>
          <a:p>
            <a:pPr marL="0" indent="0">
              <a:lnSpc>
                <a:spcPct val="107000"/>
              </a:lnSpc>
              <a:spcBef>
                <a:spcPts val="400"/>
              </a:spcBef>
              <a:spcAft>
                <a:spcPts val="400"/>
              </a:spcAft>
              <a:buNone/>
            </a:pPr>
            <a:r>
              <a:rPr lang="es-AR" sz="1800" dirty="0">
                <a:latin typeface="Calibri" panose="020F0502020204030204" pitchFamily="34" charset="0"/>
                <a:cs typeface="Times New Roman" panose="02020603050405020304" pitchFamily="18" charset="0"/>
              </a:rPr>
              <a:t>ÉTICA EN LOS NEGOCIOS</a:t>
            </a:r>
          </a:p>
          <a:p>
            <a:pPr>
              <a:lnSpc>
                <a:spcPct val="107000"/>
              </a:lnSpc>
              <a:spcBef>
                <a:spcPts val="400"/>
              </a:spcBef>
              <a:spcAft>
                <a:spcPts val="400"/>
              </a:spcAft>
            </a:pPr>
            <a:r>
              <a:rPr lang="es-AR" sz="1800" dirty="0">
                <a:latin typeface="Calibri" panose="020F0502020204030204" pitchFamily="34" charset="0"/>
                <a:cs typeface="Times New Roman" panose="02020603050405020304" pitchFamily="18" charset="0"/>
              </a:rPr>
              <a:t>La existencia de organizaciones que evalúan la ética de las empresas fomenta el buen comportamiento y los claros mensajes hacia los empleados de cómo comportarse.</a:t>
            </a:r>
          </a:p>
          <a:p>
            <a:pPr marL="0" indent="0">
              <a:lnSpc>
                <a:spcPct val="107000"/>
              </a:lnSpc>
              <a:spcAft>
                <a:spcPts val="800"/>
              </a:spcAft>
              <a:buNone/>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QUÉ HACEN LAS COMPAÑÍAS</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 Rigurosos códigos de conducta, escritos, los distribuyen a los empleados. Capacitación sobre cómo comportarse en las distintas situaciones.</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Frente a conflictos entre ganancias y ética, en general predominan estas últimas. En otros casos, la decisión correcta no es clara. Por ejemplo, una empresa que contamina dentro de los límites legales, y reducirlos es muy costoso ¿qué debiera hacer?</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Un laboratorio que produce un medicamento y hay algunas evidencias, no contundentes, de efectos secundarios. Luego se confirman ¿En qué momento debe/debió dar la información?</a:t>
            </a:r>
          </a:p>
          <a:p>
            <a:pPr marL="0" indent="0">
              <a:lnSpc>
                <a:spcPct val="107000"/>
              </a:lnSpc>
              <a:spcBef>
                <a:spcPts val="400"/>
              </a:spcBef>
              <a:spcAft>
                <a:spcPts val="400"/>
              </a:spcAft>
              <a:buNone/>
            </a:pPr>
            <a:endParaRPr lang="es-AR" sz="1800" dirty="0">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407602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a:bodyPr>
          <a:lstStyle/>
          <a:p>
            <a:pPr marL="0" indent="0">
              <a:lnSpc>
                <a:spcPct val="107000"/>
              </a:lnSpc>
              <a:spcAft>
                <a:spcPts val="800"/>
              </a:spcAft>
              <a:buNone/>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CONSECUENCIAS DE LA CONDUCTA INMORAL</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 Multas, pérdida de reputación y sus consecuencias, despidos, indemnizaciones millonarias, retiro de inversores. </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¿Las empresas son inmorales o sólo algunos empleados? Caso Arthur Andersen. Fallo que llevó al cierre de la firma y pérdidas millonarias para sus socios. 85.000 empleados en la calle.</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Otros fallos sólo condenaron a ciertas personas, pero las empresas sufrieron daños a su reputación.</a:t>
            </a:r>
          </a:p>
          <a:p>
            <a:pPr marL="0" indent="0">
              <a:lnSpc>
                <a:spcPct val="107000"/>
              </a:lnSpc>
              <a:spcAft>
                <a:spcPts val="800"/>
              </a:spcAft>
              <a:buNone/>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¿CÓMO DEBERÍAN ENFRENTAR LOS EMPLEADOS LA CONDUCTA INMORAL?</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Los riesgos de denunciar y de callar, al menos en EE.UU. Despidos, cortar la carrera vs riesgo de ir a la cárcel.</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Fraudes en balances, en ganancias, en productos a retirar del mercado o modificarlos.</a:t>
            </a:r>
          </a:p>
          <a:p>
            <a:endParaRPr lang="es-AR" dirty="0"/>
          </a:p>
        </p:txBody>
      </p:sp>
    </p:spTree>
    <p:extLst>
      <p:ext uri="{BB962C8B-B14F-4D97-AF65-F5344CB8AC3E}">
        <p14:creationId xmlns:p14="http://schemas.microsoft.com/office/powerpoint/2010/main" val="9756998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r>
              <a:rPr lang="es-AR" sz="3200" b="1" dirty="0">
                <a:effectLst/>
                <a:latin typeface="Calibri" panose="020F0502020204030204" pitchFamily="34" charset="0"/>
                <a:ea typeface="Times New Roman" panose="02020603050405020304" pitchFamily="18" charset="0"/>
                <a:cs typeface="Times New Roman" panose="02020603050405020304" pitchFamily="18" charset="0"/>
              </a:rPr>
              <a:t>UNA VISIÓN PANORÁMICA DE LA ADMINISTRACIÓN FINANCIERA</a:t>
            </a:r>
            <a:endParaRPr lang="es-AR" sz="3200" dirty="0"/>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a:bodyPr>
          <a:lstStyle/>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RESUMEN FINAL DE LO ANALIZADO</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Las principales tareas del Director Financiero son:</a:t>
            </a:r>
          </a:p>
          <a:p>
            <a:pPr marL="342900" lvl="0" indent="-342900">
              <a:lnSpc>
                <a:spcPct val="107000"/>
              </a:lnSpc>
              <a:buFont typeface="+mj-lt"/>
              <a:buAutoNum type="arabicPeriod"/>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Confirmar que el sistema contable proporcione números válidos para la toma de decisiones internas y para los inversores</a:t>
            </a:r>
          </a:p>
          <a:p>
            <a:pPr marL="342900" lvl="0" indent="-342900">
              <a:lnSpc>
                <a:spcPct val="107000"/>
              </a:lnSpc>
              <a:buFont typeface="+mj-lt"/>
              <a:buAutoNum type="arabicPeriod"/>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Garantizar que la empresa sea financiada en la forma adecuada</a:t>
            </a:r>
          </a:p>
          <a:p>
            <a:pPr marL="342900" lvl="0" indent="-342900">
              <a:lnSpc>
                <a:spcPct val="107000"/>
              </a:lnSpc>
              <a:buFont typeface="+mj-lt"/>
              <a:buAutoNum type="arabicPeriod"/>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Evaluar a las unidades de operaciones para confirmar que se desempeñen </a:t>
            </a:r>
            <a:r>
              <a:rPr lang="es-AR" sz="1800" dirty="0">
                <a:latin typeface="Calibri" panose="020F0502020204030204" pitchFamily="34" charset="0"/>
                <a:ea typeface="Times New Roman" panose="02020603050405020304" pitchFamily="18" charset="0"/>
                <a:cs typeface="Times New Roman" panose="02020603050405020304" pitchFamily="18" charset="0"/>
              </a:rPr>
              <a:t>de</a:t>
            </a: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 manera óptima</a:t>
            </a:r>
          </a:p>
          <a:p>
            <a:pPr marL="342900" lvl="0" indent="-342900">
              <a:lnSpc>
                <a:spcPct val="107000"/>
              </a:lnSpc>
              <a:spcAft>
                <a:spcPts val="800"/>
              </a:spcAft>
              <a:buFont typeface="+mj-lt"/>
              <a:buAutoNum type="arabicPeriod"/>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Evaluar todas las propuestas de erogaciones de capital para cerciorarse de que aumentarán el valor de la empresa</a:t>
            </a:r>
          </a:p>
          <a:p>
            <a:endParaRPr lang="es-AR" dirty="0"/>
          </a:p>
        </p:txBody>
      </p:sp>
    </p:spTree>
    <p:extLst>
      <p:ext uri="{BB962C8B-B14F-4D97-AF65-F5344CB8AC3E}">
        <p14:creationId xmlns:p14="http://schemas.microsoft.com/office/powerpoint/2010/main" val="42913222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lnSpc>
                <a:spcPct val="107000"/>
              </a:lnSpc>
              <a:spcAft>
                <a:spcPts val="800"/>
              </a:spcAft>
            </a:pPr>
            <a:r>
              <a:rPr lang="es-AR" sz="32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sz="32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a:bodyPr>
          <a:lstStyle/>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La economía depende de un sólido sistema financiero</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La historia demuestra que un sistema financiero sólido es un ingrediente necesario para una economía creciente y próspera. Para obtener recursos tanto como para invertir los ahorros se necesitan mercados e instituciones que funciones bien.</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Avances tecnológicos -&gt; Globalización. Ampliación de mercados. Fácil acceso</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Atracción de talentos, y nuevos productos. </a:t>
            </a:r>
            <a:r>
              <a:rPr lang="es-AR" sz="1800" dirty="0">
                <a:latin typeface="Calibri" panose="020F0502020204030204" pitchFamily="34" charset="0"/>
                <a:ea typeface="Times New Roman" panose="02020603050405020304" pitchFamily="18" charset="0"/>
                <a:cs typeface="Times New Roman" panose="02020603050405020304" pitchFamily="18" charset="0"/>
              </a:rPr>
              <a:t>¡</a:t>
            </a: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EXCESOS! Crisis financiera 2007/2008</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Los efectos en el sector financiero se extendieron a otros mercados, dificultando la obtención de dinero en las Ofertas Públicas Iniciales (OPI) para las nuevas empresas. </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Caída de los papeles, algunos de los cuales luego se recuperaron fuertemente</a:t>
            </a:r>
          </a:p>
          <a:p>
            <a:endParaRPr lang="es-AR" dirty="0"/>
          </a:p>
        </p:txBody>
      </p:sp>
    </p:spTree>
    <p:extLst>
      <p:ext uri="{BB962C8B-B14F-4D97-AF65-F5344CB8AC3E}">
        <p14:creationId xmlns:p14="http://schemas.microsoft.com/office/powerpoint/2010/main" val="28567489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lnSpc>
                <a:spcPct val="107000"/>
              </a:lnSpc>
              <a:spcAft>
                <a:spcPts val="800"/>
              </a:spcAft>
            </a:pPr>
            <a:r>
              <a:rPr lang="es-AR" sz="32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sz="32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a:bodyPr>
          <a:lstStyle/>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Luego hubo grandes OPI como Alibaba (USD 25.000 MM) pero también hubo varios Unicornios que accedieron con éxito a recaudar fondos privados sin necesidad de salir a la bolsa (Uber, Airbnb) valuadas en más de USD 20.000 MM</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Casi todas las empresas se han visto afectadas por la reciente tecnología y globalización.</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Los gerentes toman decisiones en entornos globalizados y más complejos, donde importan los mercados, instituciones, sistemas impositivos, regulatorios y realidades económicas.</a:t>
            </a:r>
          </a:p>
          <a:p>
            <a:pPr>
              <a:lnSpc>
                <a:spcPct val="107000"/>
              </a:lnSpc>
              <a:spcAft>
                <a:spcPts val="800"/>
              </a:spcAft>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El entorno determina las opciones financieras disponibles y afecta al resultado de varias decisiones, por lo que su conocimiento resulta crucial para administradores financieros e inversores.</a:t>
            </a:r>
          </a:p>
          <a:p>
            <a:pPr marL="0" indent="0">
              <a:lnSpc>
                <a:spcPct val="107000"/>
              </a:lnSpc>
              <a:spcAft>
                <a:spcPts val="800"/>
              </a:spcAft>
              <a:buNone/>
            </a:pP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75262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lnSpc>
                <a:spcPct val="107000"/>
              </a:lnSpc>
              <a:spcAft>
                <a:spcPts val="800"/>
              </a:spcAft>
            </a:pPr>
            <a:r>
              <a:rPr lang="es-AR" sz="32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sz="32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a:bodyPr>
          <a:lstStyle/>
          <a:p>
            <a:pPr>
              <a:lnSpc>
                <a:spcPct val="107000"/>
              </a:lnSpc>
              <a:spcAft>
                <a:spcPts val="800"/>
              </a:spcAft>
            </a:pPr>
            <a:r>
              <a:rPr lang="es-AR" sz="1800" dirty="0">
                <a:solidFill>
                  <a:srgbClr val="202124"/>
                </a:solidFill>
                <a:effectLst/>
                <a:latin typeface="Arial" panose="020B0604020202020204" pitchFamily="34" charset="0"/>
                <a:ea typeface="Times New Roman" panose="02020603050405020304" pitchFamily="18" charset="0"/>
                <a:cs typeface="Times New Roman" panose="02020603050405020304" pitchFamily="18" charset="0"/>
              </a:rPr>
              <a:t>¿Qué es una oferta inicial de acciones?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ES" sz="1800" dirty="0">
                <a:solidFill>
                  <a:srgbClr val="202124"/>
                </a:solidFill>
                <a:effectLst/>
                <a:latin typeface="Arial" panose="020B0604020202020204" pitchFamily="34" charset="0"/>
                <a:ea typeface="Times New Roman" panose="02020603050405020304" pitchFamily="18" charset="0"/>
                <a:cs typeface="Times New Roman" panose="02020603050405020304" pitchFamily="18" charset="0"/>
              </a:rPr>
              <a:t>Las ofertas públicas iniciales (OPI) pueden ayudar a las empresas a conseguir el capital que necesitan para desbloquear sus ambiciones de crecimiento, convertirse en líderes del mercado y ofrecerle a los accionistas mayores alternativas de liquidez.</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r>
              <a:rPr lang="es-AR" sz="1800" b="1" dirty="0">
                <a:solidFill>
                  <a:srgbClr val="212529"/>
                </a:solidFill>
                <a:effectLst/>
                <a:latin typeface="Segoe UI" panose="020B0502040204020203" pitchFamily="34" charset="0"/>
                <a:ea typeface="Times New Roman" panose="02020603050405020304" pitchFamily="18" charset="0"/>
              </a:rPr>
              <a:t>La oferta pública inicial es el proceso por el cual una empresa de capitales privados pasa a ofrecer participaciones en su accionariado al público. Esto, mediante la emisión de nuevas acciones</a:t>
            </a:r>
            <a:endParaRPr lang="es-AR" sz="1800" dirty="0">
              <a:effectLst/>
              <a:latin typeface="Times New Roman" panose="02020603050405020304" pitchFamily="18" charset="0"/>
              <a:ea typeface="Times New Roman" panose="02020603050405020304" pitchFamily="18" charset="0"/>
            </a:endParaRPr>
          </a:p>
          <a:p>
            <a:r>
              <a:rPr lang="es-AR" sz="1800" dirty="0">
                <a:solidFill>
                  <a:srgbClr val="212529"/>
                </a:solidFill>
                <a:effectLst/>
                <a:latin typeface="Segoe UI" panose="020B0502040204020203" pitchFamily="34" charset="0"/>
                <a:ea typeface="Times New Roman" panose="02020603050405020304" pitchFamily="18" charset="0"/>
              </a:rPr>
              <a:t>Es decir, mediante una oferta pública inicial, una compañía emite por primera vez acciones para recibir capital de nuevos inversionistas. Para esto, se realiza un acto público.</a:t>
            </a:r>
            <a:endParaRPr lang="es-AR" sz="1800" dirty="0">
              <a:effectLst/>
              <a:latin typeface="Times New Roman" panose="02020603050405020304" pitchFamily="18" charset="0"/>
              <a:ea typeface="Times New Roman" panose="02020603050405020304" pitchFamily="18" charset="0"/>
            </a:endParaRPr>
          </a:p>
          <a:p>
            <a:pPr marL="0" indent="0">
              <a:lnSpc>
                <a:spcPct val="107000"/>
              </a:lnSpc>
              <a:spcAft>
                <a:spcPts val="800"/>
              </a:spcAft>
              <a:buNone/>
            </a:pP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18270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lnSpc>
                <a:spcPct val="107000"/>
              </a:lnSpc>
              <a:spcAft>
                <a:spcPts val="800"/>
              </a:spcAft>
            </a:pPr>
            <a:r>
              <a:rPr lang="es-AR" sz="32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sz="32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a:bodyPr>
          <a:lstStyle/>
          <a:p>
            <a:r>
              <a:rPr lang="es-AR" sz="1800" dirty="0">
                <a:solidFill>
                  <a:srgbClr val="212529"/>
                </a:solidFill>
                <a:effectLst/>
                <a:latin typeface="Segoe UI" panose="020B0502040204020203" pitchFamily="34" charset="0"/>
                <a:ea typeface="Times New Roman" panose="02020603050405020304" pitchFamily="18" charset="0"/>
              </a:rPr>
              <a:t>A este procedimiento se le conoce en inglés como </a:t>
            </a:r>
            <a:r>
              <a:rPr lang="es-AR" sz="1800" i="1" dirty="0" err="1">
                <a:solidFill>
                  <a:srgbClr val="212529"/>
                </a:solidFill>
                <a:effectLst/>
                <a:latin typeface="Segoe UI" panose="020B0502040204020203" pitchFamily="34" charset="0"/>
                <a:ea typeface="Times New Roman" panose="02020603050405020304" pitchFamily="18" charset="0"/>
              </a:rPr>
              <a:t>initial</a:t>
            </a:r>
            <a:r>
              <a:rPr lang="es-AR" sz="1800" i="1" dirty="0">
                <a:solidFill>
                  <a:srgbClr val="212529"/>
                </a:solidFill>
                <a:effectLst/>
                <a:latin typeface="Segoe UI" panose="020B0502040204020203" pitchFamily="34" charset="0"/>
                <a:ea typeface="Times New Roman" panose="02020603050405020304" pitchFamily="18" charset="0"/>
              </a:rPr>
              <a:t> </a:t>
            </a:r>
            <a:r>
              <a:rPr lang="es-AR" sz="1800" i="1" dirty="0" err="1">
                <a:solidFill>
                  <a:srgbClr val="212529"/>
                </a:solidFill>
                <a:effectLst/>
                <a:latin typeface="Segoe UI" panose="020B0502040204020203" pitchFamily="34" charset="0"/>
                <a:ea typeface="Times New Roman" panose="02020603050405020304" pitchFamily="18" charset="0"/>
              </a:rPr>
              <a:t>public</a:t>
            </a:r>
            <a:r>
              <a:rPr lang="es-AR" sz="1800" i="1" dirty="0">
                <a:solidFill>
                  <a:srgbClr val="212529"/>
                </a:solidFill>
                <a:effectLst/>
                <a:latin typeface="Segoe UI" panose="020B0502040204020203" pitchFamily="34" charset="0"/>
                <a:ea typeface="Times New Roman" panose="02020603050405020304" pitchFamily="18" charset="0"/>
              </a:rPr>
              <a:t> </a:t>
            </a:r>
            <a:r>
              <a:rPr lang="es-AR" sz="1800" i="1" dirty="0" err="1">
                <a:solidFill>
                  <a:srgbClr val="212529"/>
                </a:solidFill>
                <a:effectLst/>
                <a:latin typeface="Segoe UI" panose="020B0502040204020203" pitchFamily="34" charset="0"/>
                <a:ea typeface="Times New Roman" panose="02020603050405020304" pitchFamily="18" charset="0"/>
              </a:rPr>
              <a:t>offering</a:t>
            </a:r>
            <a:r>
              <a:rPr lang="es-AR" sz="1800" i="1" dirty="0">
                <a:solidFill>
                  <a:srgbClr val="212529"/>
                </a:solidFill>
                <a:effectLst/>
                <a:latin typeface="Segoe UI" panose="020B0502040204020203" pitchFamily="34" charset="0"/>
                <a:ea typeface="Times New Roman" panose="02020603050405020304" pitchFamily="18" charset="0"/>
              </a:rPr>
              <a:t> (IPO)</a:t>
            </a:r>
            <a:r>
              <a:rPr lang="es-AR" sz="1800" dirty="0">
                <a:solidFill>
                  <a:srgbClr val="212529"/>
                </a:solidFill>
                <a:effectLst/>
                <a:latin typeface="Segoe UI" panose="020B0502040204020203" pitchFamily="34" charset="0"/>
                <a:ea typeface="Times New Roman" panose="02020603050405020304" pitchFamily="18" charset="0"/>
              </a:rPr>
              <a:t>. Se trata de un hito muy importante para cualquier firma, pues pasa de ser una entidad privada a ser pública. Pero, vale aclarar, pública no en el sentido de pertenecer al Estado, sino que su información es pública.</a:t>
            </a:r>
          </a:p>
          <a:p>
            <a:pPr marL="0" indent="0">
              <a:buNone/>
            </a:pPr>
            <a:endParaRPr lang="es-AR" sz="1800" dirty="0">
              <a:effectLst/>
              <a:latin typeface="Times New Roman" panose="02020603050405020304" pitchFamily="18" charset="0"/>
              <a:ea typeface="Times New Roman" panose="02020603050405020304" pitchFamily="18" charset="0"/>
            </a:endParaRPr>
          </a:p>
          <a:p>
            <a:r>
              <a:rPr lang="es-AR" sz="1800" dirty="0">
                <a:solidFill>
                  <a:srgbClr val="212529"/>
                </a:solidFill>
                <a:effectLst/>
                <a:latin typeface="Segoe UI" panose="020B0502040204020203" pitchFamily="34" charset="0"/>
                <a:ea typeface="Times New Roman" panose="02020603050405020304" pitchFamily="18" charset="0"/>
              </a:rPr>
              <a:t>¿Por qué la información de la empresa se vuelve pública? Porque esto es un requisito para poder cotizar en los mercados bursátiles. Así lo exigen los entes reguladores correspondientes.</a:t>
            </a:r>
          </a:p>
          <a:p>
            <a:endParaRPr lang="es-AR" sz="1800" dirty="0">
              <a:effectLst/>
              <a:latin typeface="Times New Roman" panose="02020603050405020304" pitchFamily="18" charset="0"/>
              <a:ea typeface="Times New Roman" panose="02020603050405020304" pitchFamily="18" charset="0"/>
            </a:endParaRPr>
          </a:p>
          <a:p>
            <a:pPr>
              <a:lnSpc>
                <a:spcPct val="107000"/>
              </a:lnSpc>
              <a:spcAft>
                <a:spcPts val="800"/>
              </a:spcAft>
            </a:pPr>
            <a:r>
              <a:rPr lang="es-AR" sz="1800" dirty="0">
                <a:solidFill>
                  <a:srgbClr val="212529"/>
                </a:solidFill>
                <a:latin typeface="Segoe UI" panose="020B0502040204020203" pitchFamily="34" charset="0"/>
              </a:rPr>
              <a:t>Toda empresa que quiera cotizar en los Mercados Secundarios, como la bolsa de valores, tiene que hacer públicos sus estados financieros y reportar de manera continua hechos de importancia que sean de interés para los inversionistas.</a:t>
            </a:r>
          </a:p>
          <a:p>
            <a:pPr marL="0" indent="0">
              <a:lnSpc>
                <a:spcPct val="107000"/>
              </a:lnSpc>
              <a:spcAft>
                <a:spcPts val="800"/>
              </a:spcAft>
              <a:buNone/>
            </a:pP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05759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lnSpc>
                <a:spcPct val="107000"/>
              </a:lnSpc>
              <a:spcAft>
                <a:spcPts val="800"/>
              </a:spcAft>
            </a:pPr>
            <a:r>
              <a:rPr lang="es-AR" sz="32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sz="32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a:bodyPr>
          <a:lstStyle/>
          <a:p>
            <a:pPr marL="0" indent="0">
              <a:lnSpc>
                <a:spcPct val="107000"/>
              </a:lnSpc>
              <a:spcBef>
                <a:spcPts val="200"/>
              </a:spcBef>
              <a:spcAft>
                <a:spcPts val="1500"/>
              </a:spcAft>
              <a:buNone/>
            </a:pPr>
            <a:r>
              <a:rPr lang="es-AR" sz="1800" b="1" dirty="0">
                <a:solidFill>
                  <a:srgbClr val="212529"/>
                </a:solidFill>
                <a:effectLst/>
                <a:latin typeface="var(--font1)"/>
                <a:ea typeface="Times New Roman" panose="02020603050405020304" pitchFamily="18" charset="0"/>
                <a:cs typeface="Times New Roman" panose="02020603050405020304" pitchFamily="18" charset="0"/>
              </a:rPr>
              <a:t>¿Por qué se realiza una oferta pública inicial?</a:t>
            </a:r>
            <a:endParaRPr lang="es-AR" sz="18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r>
              <a:rPr lang="es-AR" sz="1800" dirty="0">
                <a:solidFill>
                  <a:srgbClr val="212529"/>
                </a:solidFill>
                <a:effectLst/>
                <a:latin typeface="Times New Roman" panose="02020603050405020304" pitchFamily="18" charset="0"/>
                <a:ea typeface="Times New Roman" panose="02020603050405020304" pitchFamily="18" charset="0"/>
              </a:rPr>
              <a:t>Una oferta pública inicial se ejecuta fundamentalmente para obtener financiamiento de nuevos inversionistas. A cambio, dichos agentes reciben una participación en el capital de la compañía.</a:t>
            </a:r>
            <a:endParaRPr lang="es-AR" sz="1800" dirty="0">
              <a:effectLst/>
              <a:latin typeface="Times New Roman" panose="02020603050405020304" pitchFamily="18" charset="0"/>
              <a:ea typeface="Times New Roman" panose="02020603050405020304" pitchFamily="18" charset="0"/>
            </a:endParaRPr>
          </a:p>
          <a:p>
            <a:r>
              <a:rPr lang="es-AR" sz="1800" dirty="0">
                <a:solidFill>
                  <a:srgbClr val="212529"/>
                </a:solidFill>
                <a:effectLst/>
                <a:latin typeface="Times New Roman" panose="02020603050405020304" pitchFamily="18" charset="0"/>
                <a:ea typeface="Times New Roman" panose="02020603050405020304" pitchFamily="18" charset="0"/>
              </a:rPr>
              <a:t>Así, esta oferta pública es una alternativa, por ejemplo, a la adquisición de deuda o al financiamiento mediante mayores aportes por parte de los actuales socios de la firma.</a:t>
            </a:r>
            <a:endParaRPr lang="es-AR" sz="1800" dirty="0">
              <a:effectLst/>
              <a:latin typeface="Times New Roman" panose="02020603050405020304" pitchFamily="18" charset="0"/>
              <a:ea typeface="Times New Roman" panose="02020603050405020304" pitchFamily="18" charset="0"/>
            </a:endParaRPr>
          </a:p>
          <a:p>
            <a:r>
              <a:rPr lang="es-AR" sz="1800" dirty="0">
                <a:solidFill>
                  <a:srgbClr val="212529"/>
                </a:solidFill>
                <a:effectLst/>
                <a:latin typeface="Times New Roman" panose="02020603050405020304" pitchFamily="18" charset="0"/>
                <a:ea typeface="Times New Roman" panose="02020603050405020304" pitchFamily="18" charset="0"/>
              </a:rPr>
              <a:t>Una IPO se efectúa en un contexto en el que la empresa va a expandirse. Antes de este hito, sus fuentes de financiamiento han sido los fondos provenientes de un reducido número de accionistas. Estos son usualmente los fundadores y sus allegados (familia y amigos), inversores ángeles y fondos de venture capital, por ejemplo.</a:t>
            </a:r>
          </a:p>
          <a:p>
            <a:r>
              <a:rPr lang="es-MX" sz="1200" b="0" i="0" dirty="0">
                <a:solidFill>
                  <a:srgbClr val="202124"/>
                </a:solidFill>
                <a:effectLst/>
                <a:latin typeface="arial" panose="020B0604020202020204" pitchFamily="34" charset="0"/>
              </a:rPr>
              <a:t>Se entiende por Venture Capital </a:t>
            </a:r>
            <a:r>
              <a:rPr lang="es-MX" sz="1200" b="1" i="0" dirty="0">
                <a:solidFill>
                  <a:srgbClr val="202124"/>
                </a:solidFill>
                <a:effectLst/>
                <a:latin typeface="arial" panose="020B0604020202020204" pitchFamily="34" charset="0"/>
              </a:rPr>
              <a:t>todas aquellas inversiones que se realizan a través de acciones y que tienen por objeto financiar pequeñas y medianas empresas, normalmente startups</a:t>
            </a:r>
            <a:r>
              <a:rPr lang="es-MX" sz="1200" b="0" i="0" dirty="0">
                <a:solidFill>
                  <a:srgbClr val="202124"/>
                </a:solidFill>
                <a:effectLst/>
                <a:latin typeface="arial" panose="020B0604020202020204" pitchFamily="34" charset="0"/>
              </a:rPr>
              <a:t>.</a:t>
            </a:r>
            <a:endParaRPr lang="es-AR" sz="1800" dirty="0">
              <a:effectLst/>
              <a:latin typeface="Times New Roman" panose="02020603050405020304" pitchFamily="18" charset="0"/>
              <a:ea typeface="Times New Roman" panose="02020603050405020304" pitchFamily="18" charset="0"/>
            </a:endParaRPr>
          </a:p>
          <a:p>
            <a:r>
              <a:rPr lang="es-AR" sz="1800" dirty="0">
                <a:solidFill>
                  <a:srgbClr val="212529"/>
                </a:solidFill>
                <a:effectLst/>
                <a:latin typeface="Times New Roman" panose="02020603050405020304" pitchFamily="18" charset="0"/>
                <a:ea typeface="Times New Roman" panose="02020603050405020304" pitchFamily="18" charset="0"/>
              </a:rPr>
              <a:t>Sin embargo, con la IPO se da un salto importante. La empresa recibe un mayor número de inversionistas y un mayor volumen de capital para financiar sus operaciones.</a:t>
            </a:r>
            <a:endParaRPr lang="es-AR" sz="1800" dirty="0">
              <a:effectLst/>
              <a:latin typeface="Times New Roman" panose="02020603050405020304" pitchFamily="18" charset="0"/>
              <a:ea typeface="Times New Roman" panose="02020603050405020304" pitchFamily="18" charset="0"/>
            </a:endParaRPr>
          </a:p>
          <a:p>
            <a:endParaRPr lang="es-AR" dirty="0"/>
          </a:p>
        </p:txBody>
      </p:sp>
    </p:spTree>
    <p:extLst>
      <p:ext uri="{BB962C8B-B14F-4D97-AF65-F5344CB8AC3E}">
        <p14:creationId xmlns:p14="http://schemas.microsoft.com/office/powerpoint/2010/main" val="36348124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lnSpc>
                <a:spcPct val="107000"/>
              </a:lnSpc>
              <a:spcAft>
                <a:spcPts val="800"/>
              </a:spcAft>
            </a:pPr>
            <a:r>
              <a:rPr lang="es-AR" sz="32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sz="32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a:bodyPr>
          <a:lstStyle/>
          <a:p>
            <a:r>
              <a:rPr lang="es-AR" sz="1800" dirty="0">
                <a:solidFill>
                  <a:srgbClr val="212529"/>
                </a:solidFill>
                <a:effectLst/>
                <a:latin typeface="Times New Roman" panose="02020603050405020304" pitchFamily="18" charset="0"/>
                <a:ea typeface="Times New Roman" panose="02020603050405020304" pitchFamily="18" charset="0"/>
              </a:rPr>
              <a:t>En ese sentido, es valioso recalcar que esta oferta pública no es posible en una etapa temprana, sino cuando la compañía ya se encuentra medianamente consolidada. Es decir, se ha comprobado la rentabilidad de su negocio.</a:t>
            </a:r>
          </a:p>
          <a:p>
            <a:pPr marL="0" indent="0">
              <a:buNone/>
            </a:pPr>
            <a:endParaRPr lang="es-AR" sz="1800" dirty="0">
              <a:effectLst/>
              <a:latin typeface="Times New Roman" panose="02020603050405020304" pitchFamily="18" charset="0"/>
              <a:ea typeface="Times New Roman" panose="02020603050405020304" pitchFamily="18" charset="0"/>
            </a:endParaRPr>
          </a:p>
          <a:p>
            <a:pPr>
              <a:lnSpc>
                <a:spcPct val="107000"/>
              </a:lnSpc>
              <a:spcBef>
                <a:spcPts val="200"/>
              </a:spcBef>
              <a:spcAft>
                <a:spcPts val="1500"/>
              </a:spcAft>
            </a:pPr>
            <a:r>
              <a:rPr lang="es-AR" sz="1800" b="1" dirty="0">
                <a:solidFill>
                  <a:srgbClr val="212529"/>
                </a:solidFill>
                <a:effectLst/>
                <a:latin typeface="var(--font1)"/>
                <a:ea typeface="Times New Roman" panose="02020603050405020304" pitchFamily="18" charset="0"/>
                <a:cs typeface="Times New Roman" panose="02020603050405020304" pitchFamily="18" charset="0"/>
              </a:rPr>
              <a:t>¿Cómo se hace una IPO?</a:t>
            </a:r>
            <a:endParaRPr lang="es-AR" sz="18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r>
              <a:rPr lang="es-AR" sz="1800" dirty="0">
                <a:solidFill>
                  <a:srgbClr val="212529"/>
                </a:solidFill>
                <a:effectLst/>
                <a:latin typeface="Times New Roman" panose="02020603050405020304" pitchFamily="18" charset="0"/>
                <a:ea typeface="Times New Roman" panose="02020603050405020304" pitchFamily="18" charset="0"/>
              </a:rPr>
              <a:t>Para efectuar una oferta pública inicial, primero se solicitará propuestas de manera privada a suscriptores potenciales. O también se puede lanzar un anuncio público.</a:t>
            </a:r>
            <a:endParaRPr lang="es-AR" sz="1800" dirty="0">
              <a:effectLst/>
              <a:latin typeface="Times New Roman" panose="02020603050405020304" pitchFamily="18" charset="0"/>
              <a:ea typeface="Times New Roman" panose="02020603050405020304" pitchFamily="18" charset="0"/>
            </a:endParaRPr>
          </a:p>
          <a:p>
            <a:r>
              <a:rPr lang="es-AR" sz="1800" dirty="0">
                <a:solidFill>
                  <a:srgbClr val="212529"/>
                </a:solidFill>
                <a:effectLst/>
                <a:latin typeface="Times New Roman" panose="02020603050405020304" pitchFamily="18" charset="0"/>
                <a:ea typeface="Times New Roman" panose="02020603050405020304" pitchFamily="18" charset="0"/>
              </a:rPr>
              <a:t>Cada suscriptor aspirante presenta su plan, con un precio de oferta para las acciones, cantidad de acciones, un periodo estimado para la salida al mercado, etc. Así, se discuten las diferentes ofertas recibidas.</a:t>
            </a:r>
            <a:endParaRPr lang="es-AR" sz="1800" dirty="0">
              <a:effectLst/>
              <a:latin typeface="Times New Roman" panose="02020603050405020304" pitchFamily="18" charset="0"/>
              <a:ea typeface="Times New Roman" panose="02020603050405020304" pitchFamily="18" charset="0"/>
            </a:endParaRPr>
          </a:p>
          <a:p>
            <a:r>
              <a:rPr lang="es-AR" sz="1800" dirty="0">
                <a:solidFill>
                  <a:srgbClr val="212529"/>
                </a:solidFill>
                <a:effectLst/>
                <a:latin typeface="Times New Roman" panose="02020603050405020304" pitchFamily="18" charset="0"/>
                <a:ea typeface="Times New Roman" panose="02020603050405020304" pitchFamily="18" charset="0"/>
              </a:rPr>
              <a:t>El suscriptor elegido se encarga de la preparación de los documentos exigidos por el regulador, de la presentación de la empresa a los inversionistas, así como de la emisión de las acciones.</a:t>
            </a:r>
            <a:endParaRPr lang="es-AR" sz="1800" dirty="0">
              <a:effectLst/>
              <a:latin typeface="Times New Roman" panose="02020603050405020304" pitchFamily="18" charset="0"/>
              <a:ea typeface="Times New Roman" panose="02020603050405020304" pitchFamily="18" charset="0"/>
            </a:endParaRPr>
          </a:p>
          <a:p>
            <a:pPr marL="0" indent="0">
              <a:lnSpc>
                <a:spcPct val="107000"/>
              </a:lnSpc>
              <a:spcAft>
                <a:spcPts val="800"/>
              </a:spcAft>
              <a:buNone/>
            </a:pP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13206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lnSpc>
                <a:spcPct val="107000"/>
              </a:lnSpc>
              <a:spcAft>
                <a:spcPts val="800"/>
              </a:spcAft>
            </a:pPr>
            <a:r>
              <a:rPr lang="es-AR" sz="32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sz="32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vert="horz" lIns="91440" tIns="45720" rIns="91440" bIns="45720" rtlCol="0">
            <a:normAutofit/>
          </a:bodyPr>
          <a:lstStyle/>
          <a:p>
            <a:pPr marL="0" indent="0">
              <a:buNone/>
            </a:pPr>
            <a:r>
              <a:rPr lang="es-AR" sz="2000" b="1" u="sng" dirty="0">
                <a:solidFill>
                  <a:srgbClr val="212529"/>
                </a:solidFill>
                <a:latin typeface="Times New Roman" panose="02020603050405020304" pitchFamily="18" charset="0"/>
              </a:rPr>
              <a:t>Ventajas y desventajas</a:t>
            </a:r>
          </a:p>
          <a:p>
            <a:endParaRPr lang="es-AR" sz="2000" dirty="0">
              <a:solidFill>
                <a:srgbClr val="212529"/>
              </a:solidFill>
              <a:latin typeface="Times New Roman" panose="02020603050405020304" pitchFamily="18" charset="0"/>
            </a:endParaRPr>
          </a:p>
          <a:p>
            <a:r>
              <a:rPr lang="es-AR" sz="2000" dirty="0">
                <a:solidFill>
                  <a:srgbClr val="212529"/>
                </a:solidFill>
                <a:latin typeface="Times New Roman" panose="02020603050405020304" pitchFamily="18" charset="0"/>
              </a:rPr>
              <a:t>Entre las ventajas de una oferta pública inicial podemos destacar:</a:t>
            </a:r>
          </a:p>
          <a:p>
            <a:endParaRPr lang="es-AR" sz="2000" dirty="0">
              <a:solidFill>
                <a:srgbClr val="212529"/>
              </a:solidFill>
              <a:latin typeface="Times New Roman" panose="02020603050405020304" pitchFamily="18" charset="0"/>
            </a:endParaRPr>
          </a:p>
          <a:p>
            <a:pPr lvl="1"/>
            <a:r>
              <a:rPr lang="es-AR" sz="2000" dirty="0">
                <a:solidFill>
                  <a:srgbClr val="212529"/>
                </a:solidFill>
                <a:latin typeface="Times New Roman" panose="02020603050405020304" pitchFamily="18" charset="0"/>
              </a:rPr>
              <a:t>La empresa accede a un mercado más amplio para obtener financiamiento.</a:t>
            </a:r>
          </a:p>
          <a:p>
            <a:pPr lvl="1"/>
            <a:r>
              <a:rPr lang="es-AR" sz="2000" dirty="0">
                <a:solidFill>
                  <a:srgbClr val="212529"/>
                </a:solidFill>
                <a:latin typeface="Times New Roman" panose="02020603050405020304" pitchFamily="18" charset="0"/>
              </a:rPr>
              <a:t>Aumenta el prestigio y mejora la imagen pública de la compañía.</a:t>
            </a:r>
          </a:p>
          <a:p>
            <a:pPr lvl="1"/>
            <a:r>
              <a:rPr lang="es-AR" sz="2000" dirty="0">
                <a:solidFill>
                  <a:srgbClr val="212529"/>
                </a:solidFill>
                <a:latin typeface="Times New Roman" panose="02020603050405020304" pitchFamily="18" charset="0"/>
              </a:rPr>
              <a:t>Al ser su información financiera pública, la empresa puede acceder a crédito con mejores condiciones.</a:t>
            </a:r>
          </a:p>
          <a:p>
            <a:endParaRPr lang="es-AR" sz="2000" dirty="0">
              <a:solidFill>
                <a:srgbClr val="212529"/>
              </a:solidFill>
              <a:latin typeface="Times New Roman" panose="02020603050405020304" pitchFamily="18" charset="0"/>
            </a:endParaRPr>
          </a:p>
          <a:p>
            <a:pPr marL="0" indent="0">
              <a:buNone/>
            </a:pPr>
            <a:r>
              <a:rPr lang="es-AR" sz="2000" dirty="0">
                <a:solidFill>
                  <a:srgbClr val="212529"/>
                </a:solidFill>
                <a:latin typeface="Times New Roman" panose="02020603050405020304" pitchFamily="18" charset="0"/>
              </a:rPr>
              <a:t>Veamos en la próxima página sus desventajas</a:t>
            </a:r>
          </a:p>
        </p:txBody>
      </p:sp>
    </p:spTree>
    <p:extLst>
      <p:ext uri="{BB962C8B-B14F-4D97-AF65-F5344CB8AC3E}">
        <p14:creationId xmlns:p14="http://schemas.microsoft.com/office/powerpoint/2010/main" val="25484986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lnSpc>
                <a:spcPct val="107000"/>
              </a:lnSpc>
              <a:spcAft>
                <a:spcPts val="800"/>
              </a:spcAft>
            </a:pPr>
            <a:r>
              <a:rPr lang="es-AR" sz="32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sz="32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vert="horz" lIns="91440" tIns="45720" rIns="91440" bIns="45720" rtlCol="0">
            <a:normAutofit lnSpcReduction="10000"/>
          </a:bodyPr>
          <a:lstStyle/>
          <a:p>
            <a:pPr marL="0" indent="0">
              <a:buNone/>
            </a:pPr>
            <a:r>
              <a:rPr lang="es-AR" sz="2000" b="1" u="sng" dirty="0">
                <a:solidFill>
                  <a:srgbClr val="212529"/>
                </a:solidFill>
                <a:latin typeface="Times New Roman" panose="02020603050405020304" pitchFamily="18" charset="0"/>
              </a:rPr>
              <a:t>Ventajas y desventajas</a:t>
            </a:r>
          </a:p>
          <a:p>
            <a:endParaRPr lang="es-AR" sz="2000" dirty="0">
              <a:solidFill>
                <a:srgbClr val="212529"/>
              </a:solidFill>
              <a:latin typeface="Times New Roman" panose="02020603050405020304" pitchFamily="18" charset="0"/>
            </a:endParaRPr>
          </a:p>
          <a:p>
            <a:r>
              <a:rPr lang="es-AR" sz="2000" dirty="0">
                <a:solidFill>
                  <a:srgbClr val="212529"/>
                </a:solidFill>
                <a:latin typeface="Times New Roman" panose="02020603050405020304" pitchFamily="18" charset="0"/>
              </a:rPr>
              <a:t>Podemos señalar algunas desventajas como:</a:t>
            </a:r>
          </a:p>
          <a:p>
            <a:endParaRPr lang="es-AR" sz="2000" dirty="0">
              <a:solidFill>
                <a:srgbClr val="212529"/>
              </a:solidFill>
              <a:latin typeface="Times New Roman" panose="02020603050405020304" pitchFamily="18" charset="0"/>
            </a:endParaRPr>
          </a:p>
          <a:p>
            <a:pPr lvl="1"/>
            <a:r>
              <a:rPr lang="es-AR" sz="2000" dirty="0">
                <a:solidFill>
                  <a:srgbClr val="212529"/>
                </a:solidFill>
                <a:latin typeface="Times New Roman" panose="02020603050405020304" pitchFamily="18" charset="0"/>
              </a:rPr>
              <a:t>Una IPO implica una inversión, tanto en el proceso como posteriormente a la oferta pública. Esto, debido a que la empresa debe preocuparse por su relación con el público inversionista.</a:t>
            </a:r>
          </a:p>
          <a:p>
            <a:pPr lvl="1"/>
            <a:r>
              <a:rPr lang="es-AR" sz="2000" dirty="0">
                <a:solidFill>
                  <a:srgbClr val="212529"/>
                </a:solidFill>
                <a:latin typeface="Times New Roman" panose="02020603050405020304" pitchFamily="18" charset="0"/>
              </a:rPr>
              <a:t>En línea con lo anteriormente mencionado, el precio de las acciones de la empresa en la bolsa de valores puede convertirse en un elemento distractor para la gestión. Es decir, puede llegar a tomarse mayor atención a la cotización de la compañía que a los resultados de la utilidad neta, por ejemplo.</a:t>
            </a:r>
          </a:p>
          <a:p>
            <a:pPr lvl="1"/>
            <a:r>
              <a:rPr lang="es-AR" sz="2000" dirty="0">
                <a:solidFill>
                  <a:srgbClr val="212529"/>
                </a:solidFill>
                <a:latin typeface="Times New Roman" panose="02020603050405020304" pitchFamily="18" charset="0"/>
              </a:rPr>
              <a:t>La empresa está obligada a notificar hechos de relevancia, como habíamos mencionado anteriormente. Esto puede significar revelar acciones o estrategias del negocio que, a la firma, en principio le convendría mantener en secreto para que sus competidores no conozcan esa información, por ejemplo.</a:t>
            </a:r>
          </a:p>
          <a:p>
            <a:endParaRPr lang="es-AR" sz="2000" dirty="0">
              <a:solidFill>
                <a:srgbClr val="212529"/>
              </a:solidFill>
              <a:latin typeface="Times New Roman" panose="02020603050405020304" pitchFamily="18" charset="0"/>
            </a:endParaRPr>
          </a:p>
        </p:txBody>
      </p:sp>
    </p:spTree>
    <p:extLst>
      <p:ext uri="{BB962C8B-B14F-4D97-AF65-F5344CB8AC3E}">
        <p14:creationId xmlns:p14="http://schemas.microsoft.com/office/powerpoint/2010/main" val="18100746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lnSpc>
                <a:spcPct val="107000"/>
              </a:lnSpc>
              <a:spcAft>
                <a:spcPts val="800"/>
              </a:spcAft>
            </a:pPr>
            <a:r>
              <a:rPr lang="es-AR" sz="32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sz="32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a:bodyPr>
          <a:lstStyle/>
          <a:p>
            <a:pPr marL="0" indent="0">
              <a:lnSpc>
                <a:spcPct val="107000"/>
              </a:lnSpc>
              <a:spcAft>
                <a:spcPts val="800"/>
              </a:spcAft>
              <a:buNone/>
            </a:pPr>
            <a:r>
              <a:rPr lang="es-AR" sz="2000" b="1" u="sng" dirty="0">
                <a:effectLst/>
                <a:latin typeface="Calibri" panose="020F0502020204030204" pitchFamily="34" charset="0"/>
                <a:ea typeface="Times New Roman" panose="02020603050405020304" pitchFamily="18" charset="0"/>
                <a:cs typeface="Times New Roman" panose="02020603050405020304" pitchFamily="18" charset="0"/>
              </a:rPr>
              <a:t>Mercados Primarios y Secundarios</a:t>
            </a:r>
          </a:p>
          <a:p>
            <a:r>
              <a:rPr lang="es-AR" sz="2000" b="1" dirty="0">
                <a:solidFill>
                  <a:srgbClr val="212529"/>
                </a:solidFill>
                <a:effectLst/>
                <a:latin typeface="Segoe UI" panose="020B0502040204020203" pitchFamily="34" charset="0"/>
                <a:ea typeface="Times New Roman" panose="02020603050405020304" pitchFamily="18" charset="0"/>
              </a:rPr>
              <a:t>El mercado secundario es el mercado de negociación o de transacción de operaciones, dónde se negocia cualquier título financiero tanto de renta fija como de renta variable, mixto o activos del mercado monetario con la capacidad de convertirse fácilmente en dinero.</a:t>
            </a:r>
            <a:endParaRPr lang="es-AR" sz="2000" dirty="0">
              <a:effectLst/>
              <a:latin typeface="Times New Roman" panose="02020603050405020304" pitchFamily="18" charset="0"/>
              <a:ea typeface="Times New Roman" panose="02020603050405020304" pitchFamily="18" charset="0"/>
            </a:endParaRPr>
          </a:p>
          <a:p>
            <a:r>
              <a:rPr lang="es-AR" sz="2000" dirty="0">
                <a:solidFill>
                  <a:srgbClr val="212529"/>
                </a:solidFill>
                <a:effectLst/>
                <a:latin typeface="Segoe UI" panose="020B0502040204020203" pitchFamily="34" charset="0"/>
                <a:ea typeface="Times New Roman" panose="02020603050405020304" pitchFamily="18" charset="0"/>
              </a:rPr>
              <a:t>Los títulos financieros se emiten en el mercado Primario y después pasan a negociarse en el mercado secundario. En el mercado primario solo se negocian una vez. Entre el emisor y el primer comprador. Si este primer comprador quiere vender el título a un tercero tiene que acudir al mercado secundario, donde se comercian los títulos ya emitidos para la negociación entre las fuerzas de mercado, esto es, la oferta y la demanda. En éste, el precio varía en función de muchas variables (económicas y no económicas).</a:t>
            </a:r>
            <a:endParaRPr lang="es-AR" sz="2000" dirty="0">
              <a:effectLst/>
              <a:latin typeface="Times New Roman" panose="02020603050405020304" pitchFamily="18" charset="0"/>
              <a:ea typeface="Times New Roman" panose="02020603050405020304" pitchFamily="18" charset="0"/>
            </a:endParaRPr>
          </a:p>
          <a:p>
            <a:pPr marL="0" indent="0">
              <a:lnSpc>
                <a:spcPct val="107000"/>
              </a:lnSpc>
              <a:spcAft>
                <a:spcPts val="800"/>
              </a:spcAft>
              <a:buNone/>
            </a:pPr>
            <a:endParaRPr lang="es-AR" sz="2000" dirty="0">
              <a:latin typeface="Calibri" panose="020F0502020204030204" pitchFamily="34" charset="0"/>
              <a:ea typeface="Times New Roman" panose="02020603050405020304" pitchFamily="18" charset="0"/>
              <a:cs typeface="Times New Roman" panose="02020603050405020304" pitchFamily="18" charset="0"/>
            </a:endParaRPr>
          </a:p>
          <a:p>
            <a:pPr marL="0" indent="0">
              <a:lnSpc>
                <a:spcPct val="107000"/>
              </a:lnSpc>
              <a:spcAft>
                <a:spcPts val="800"/>
              </a:spcAft>
              <a:buNone/>
            </a:pPr>
            <a:endParaRPr lang="es-AR" sz="20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18314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lnSpc>
                <a:spcPct val="107000"/>
              </a:lnSpc>
              <a:spcAft>
                <a:spcPts val="800"/>
              </a:spcAft>
            </a:pPr>
            <a:r>
              <a:rPr lang="es-AR" sz="32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sz="32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a:bodyPr>
          <a:lstStyle/>
          <a:p>
            <a:pPr marL="0" indent="0">
              <a:lnSpc>
                <a:spcPct val="107000"/>
              </a:lnSpc>
              <a:spcAft>
                <a:spcPts val="800"/>
              </a:spcAft>
              <a:buNone/>
            </a:pPr>
            <a:r>
              <a:rPr lang="es-AR" sz="1800" b="1" u="sng" dirty="0">
                <a:effectLst/>
                <a:latin typeface="Calibri" panose="020F0502020204030204" pitchFamily="34" charset="0"/>
                <a:ea typeface="Times New Roman" panose="02020603050405020304" pitchFamily="18" charset="0"/>
                <a:cs typeface="Times New Roman" panose="02020603050405020304" pitchFamily="18" charset="0"/>
              </a:rPr>
              <a:t>Mercados Primarios y Secundarios</a:t>
            </a:r>
          </a:p>
          <a:p>
            <a:r>
              <a:rPr lang="es-AR" sz="1800" dirty="0">
                <a:solidFill>
                  <a:srgbClr val="212529"/>
                </a:solidFill>
                <a:effectLst/>
                <a:latin typeface="Segoe UI" panose="020B0502040204020203" pitchFamily="34" charset="0"/>
                <a:ea typeface="Times New Roman" panose="02020603050405020304" pitchFamily="18" charset="0"/>
              </a:rPr>
              <a:t>El mercado secundario es de vital importancia ya que permite que los “ahorradores” y consumidores canalicen sus intereses y permitan el intercambio, en su gran mayoría de forma electrónica, a través de un desarrollo tecnológico muy potente y accesible para cualquier inversor tan sólo con pulsar una tecla.</a:t>
            </a:r>
            <a:endParaRPr lang="es-AR" sz="1800" dirty="0">
              <a:effectLst/>
              <a:latin typeface="Times New Roman" panose="02020603050405020304" pitchFamily="18" charset="0"/>
              <a:ea typeface="Times New Roman" panose="02020603050405020304" pitchFamily="18" charset="0"/>
            </a:endParaRPr>
          </a:p>
          <a:p>
            <a:pPr marL="0" indent="0">
              <a:lnSpc>
                <a:spcPct val="107000"/>
              </a:lnSpc>
              <a:spcAft>
                <a:spcPts val="800"/>
              </a:spcAft>
              <a:buNone/>
            </a:pPr>
            <a:endParaRPr lang="es-AR" sz="1800" dirty="0">
              <a:latin typeface="Calibri" panose="020F0502020204030204" pitchFamily="34" charset="0"/>
              <a:ea typeface="Times New Roman" panose="02020603050405020304" pitchFamily="18" charset="0"/>
              <a:cs typeface="Times New Roman" panose="02020603050405020304" pitchFamily="18" charset="0"/>
            </a:endParaRPr>
          </a:p>
          <a:p>
            <a:pPr marL="0" indent="0">
              <a:lnSpc>
                <a:spcPct val="107000"/>
              </a:lnSpc>
              <a:spcAft>
                <a:spcPts val="800"/>
              </a:spcAft>
              <a:buNone/>
            </a:pP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37569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lnSpc>
                <a:spcPct val="107000"/>
              </a:lnSpc>
              <a:spcAft>
                <a:spcPts val="800"/>
              </a:spcAft>
            </a:pPr>
            <a:r>
              <a:rPr lang="es-AR" sz="32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sz="32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fontScale="92500" lnSpcReduction="10000"/>
          </a:bodyPr>
          <a:lstStyle/>
          <a:p>
            <a:pPr marL="0" indent="0">
              <a:lnSpc>
                <a:spcPct val="107000"/>
              </a:lnSpc>
              <a:spcBef>
                <a:spcPts val="200"/>
              </a:spcBef>
              <a:spcAft>
                <a:spcPts val="1500"/>
              </a:spcAft>
              <a:buNone/>
            </a:pPr>
            <a:r>
              <a:rPr lang="es-AR" sz="1800" b="1" u="sng" dirty="0">
                <a:solidFill>
                  <a:srgbClr val="212529"/>
                </a:solidFill>
                <a:effectLst/>
                <a:latin typeface="var(--font1)"/>
                <a:ea typeface="Times New Roman" panose="02020603050405020304" pitchFamily="18" charset="0"/>
                <a:cs typeface="Segoe UI" panose="020B0502040204020203" pitchFamily="34" charset="0"/>
              </a:rPr>
              <a:t>Tipos de mercado Secundario</a:t>
            </a:r>
            <a:endParaRPr lang="es-AR" sz="1800" b="1" u="sng"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r>
              <a:rPr lang="es-AR" sz="1800" dirty="0">
                <a:solidFill>
                  <a:srgbClr val="212529"/>
                </a:solidFill>
                <a:effectLst/>
                <a:latin typeface="Segoe UI" panose="020B0502040204020203" pitchFamily="34" charset="0"/>
                <a:ea typeface="Times New Roman" panose="02020603050405020304" pitchFamily="18" charset="0"/>
              </a:rPr>
              <a:t>En el mercado secundario existen dos tipos de mercados dentro de éste: el mercado organizado y el mercado no organizado, cuya importancia en los últimos años está siendo muy grande.</a:t>
            </a:r>
            <a:endParaRPr lang="es-AR" sz="1800" dirty="0">
              <a:effectLst/>
              <a:latin typeface="Times New Roman" panose="02020603050405020304" pitchFamily="18" charset="0"/>
              <a:ea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Mercado Organizado:</a:t>
            </a: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Es aquel mercado de negociación regulado dónde se realizan las transacciones a través de una </a:t>
            </a:r>
            <a:r>
              <a:rPr lang="es-AR" sz="1800" b="1" u="sng"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hlinkClick r:id="rId2"/>
              </a:rPr>
              <a:t>cámara de compensación</a:t>
            </a: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que vela por el buen funcionamiento del mismo. Este tipo de mercado es mucho más transparente que el mercado no organizado. Un ejemplo de mercado organizado es el mercado de </a:t>
            </a:r>
            <a:r>
              <a:rPr lang="es-AR" sz="1800" b="1" u="sng" dirty="0">
                <a:solidFill>
                  <a:srgbClr val="0000FF"/>
                </a:solidFill>
                <a:effectLst/>
                <a:latin typeface="Segoe UI" panose="020B0502040204020203" pitchFamily="34" charset="0"/>
                <a:ea typeface="Times New Roman" panose="02020603050405020304" pitchFamily="18" charset="0"/>
                <a:cs typeface="Times New Roman" panose="02020603050405020304" pitchFamily="18" charset="0"/>
                <a:hlinkClick r:id="rId3"/>
              </a:rPr>
              <a:t>Futuros</a:t>
            </a: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s-AR" sz="1800" dirty="0">
              <a:solidFill>
                <a:srgbClr val="212529"/>
              </a:solidFill>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s-AR" sz="1800" b="1"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Mercado no organizado: </a:t>
            </a: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También denominado </a:t>
            </a:r>
            <a:r>
              <a:rPr lang="es-AR" sz="1800" b="1" u="sng" dirty="0">
                <a:solidFill>
                  <a:srgbClr val="0000FF"/>
                </a:solidFill>
                <a:effectLst/>
                <a:latin typeface="Segoe UI" panose="020B0502040204020203" pitchFamily="34" charset="0"/>
                <a:ea typeface="Times New Roman" panose="02020603050405020304" pitchFamily="18" charset="0"/>
                <a:cs typeface="Times New Roman" panose="02020603050405020304" pitchFamily="18" charset="0"/>
                <a:hlinkClick r:id="rId4"/>
              </a:rPr>
              <a:t>mercado OTC (</a:t>
            </a:r>
            <a:r>
              <a:rPr lang="es-AR" sz="1800" b="1" u="sng" dirty="0" err="1">
                <a:solidFill>
                  <a:srgbClr val="0000FF"/>
                </a:solidFill>
                <a:effectLst/>
                <a:latin typeface="Segoe UI" panose="020B0502040204020203" pitchFamily="34" charset="0"/>
                <a:ea typeface="Times New Roman" panose="02020603050405020304" pitchFamily="18" charset="0"/>
                <a:cs typeface="Times New Roman" panose="02020603050405020304" pitchFamily="18" charset="0"/>
                <a:hlinkClick r:id="rId4"/>
              </a:rPr>
              <a:t>Over</a:t>
            </a:r>
            <a:r>
              <a:rPr lang="es-AR" sz="1800" b="1" u="sng" dirty="0">
                <a:solidFill>
                  <a:srgbClr val="0000FF"/>
                </a:solidFill>
                <a:effectLst/>
                <a:latin typeface="Segoe UI" panose="020B0502040204020203" pitchFamily="34" charset="0"/>
                <a:ea typeface="Times New Roman" panose="02020603050405020304" pitchFamily="18" charset="0"/>
                <a:cs typeface="Times New Roman" panose="02020603050405020304" pitchFamily="18" charset="0"/>
                <a:hlinkClick r:id="rId4"/>
              </a:rPr>
              <a:t> </a:t>
            </a:r>
            <a:r>
              <a:rPr lang="es-AR" sz="1800" b="1" u="sng" dirty="0" err="1">
                <a:solidFill>
                  <a:srgbClr val="0000FF"/>
                </a:solidFill>
                <a:effectLst/>
                <a:latin typeface="Segoe UI" panose="020B0502040204020203" pitchFamily="34" charset="0"/>
                <a:ea typeface="Times New Roman" panose="02020603050405020304" pitchFamily="18" charset="0"/>
                <a:cs typeface="Times New Roman" panose="02020603050405020304" pitchFamily="18" charset="0"/>
                <a:hlinkClick r:id="rId4"/>
              </a:rPr>
              <a:t>the</a:t>
            </a:r>
            <a:r>
              <a:rPr lang="es-AR" sz="1800" b="1" u="sng" dirty="0">
                <a:solidFill>
                  <a:srgbClr val="0000FF"/>
                </a:solidFill>
                <a:effectLst/>
                <a:latin typeface="Segoe UI" panose="020B0502040204020203" pitchFamily="34" charset="0"/>
                <a:ea typeface="Times New Roman" panose="02020603050405020304" pitchFamily="18" charset="0"/>
                <a:cs typeface="Times New Roman" panose="02020603050405020304" pitchFamily="18" charset="0"/>
                <a:hlinkClick r:id="rId4"/>
              </a:rPr>
              <a:t> </a:t>
            </a:r>
            <a:r>
              <a:rPr lang="es-AR" sz="1800" b="1" u="sng" dirty="0" err="1">
                <a:solidFill>
                  <a:srgbClr val="0000FF"/>
                </a:solidFill>
                <a:effectLst/>
                <a:latin typeface="Segoe UI" panose="020B0502040204020203" pitchFamily="34" charset="0"/>
                <a:ea typeface="Times New Roman" panose="02020603050405020304" pitchFamily="18" charset="0"/>
                <a:cs typeface="Times New Roman" panose="02020603050405020304" pitchFamily="18" charset="0"/>
                <a:hlinkClick r:id="rId4"/>
              </a:rPr>
              <a:t>Counter</a:t>
            </a:r>
            <a:r>
              <a:rPr lang="es-AR" sz="1800" b="1" u="sng" dirty="0">
                <a:solidFill>
                  <a:srgbClr val="0000FF"/>
                </a:solidFill>
                <a:effectLst/>
                <a:latin typeface="Segoe UI" panose="020B0502040204020203" pitchFamily="34" charset="0"/>
                <a:ea typeface="Times New Roman" panose="02020603050405020304" pitchFamily="18" charset="0"/>
                <a:cs typeface="Times New Roman" panose="02020603050405020304" pitchFamily="18" charset="0"/>
                <a:hlinkClick r:id="rId4"/>
              </a:rPr>
              <a:t>)</a:t>
            </a:r>
            <a:r>
              <a:rPr lang="es-AR" sz="1800" b="1" u="sng"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hlinkClick r:id="rId4"/>
              </a:rPr>
              <a:t>.</a:t>
            </a: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En este mercado no existe regulación y ha proliferado mucho en los últimos años debido a que los costes son menores, las garantías son más pequeñas y los contratos son personalizados permitiendo un </a:t>
            </a:r>
            <a:r>
              <a:rPr lang="es-AR" sz="1800" b="1" u="sng"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hlinkClick r:id="rId5"/>
              </a:rPr>
              <a:t>apalancamiento</a:t>
            </a:r>
            <a:r>
              <a:rPr lang="es-AR" sz="1800" b="1"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mayor. Además, la publicidad que se ha dado a este mercado ha sido muy fuerte y se ha puesto de moda la figura de los </a:t>
            </a:r>
            <a:r>
              <a:rPr lang="es-AR"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market</a:t>
            </a: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s-AR"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maker</a:t>
            </a: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o los </a:t>
            </a:r>
            <a:r>
              <a:rPr lang="es-AR" sz="1800" b="1" u="sng"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hlinkClick r:id="rId6"/>
              </a:rPr>
              <a:t>creadores de mercado</a:t>
            </a: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Los mercados OTC son mercados dónde el precio es poco transparente y en muchos de los casos existen conflictos de interés. Un ejemplo de este mercado son los </a:t>
            </a:r>
            <a:r>
              <a:rPr lang="es-AR" sz="1800" b="1" u="sng" dirty="0" err="1">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hlinkClick r:id="rId7"/>
              </a:rPr>
              <a:t>CFDs</a:t>
            </a:r>
            <a:r>
              <a:rPr lang="es-AR" sz="1800" b="1"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o el</a:t>
            </a:r>
            <a:r>
              <a:rPr lang="es-AR" sz="1800" b="1"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s-AR" sz="1800" b="1" u="sng"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hlinkClick r:id="rId8"/>
              </a:rPr>
              <a:t>mercado Forex</a:t>
            </a:r>
            <a:r>
              <a:rPr lang="es-AR" sz="1800" b="1"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s-AR" sz="1800" dirty="0">
              <a:solidFill>
                <a:srgbClr val="212529"/>
              </a:solidFill>
              <a:effectLst/>
              <a:latin typeface="Calibri" panose="020F0502020204030204" pitchFamily="34" charset="0"/>
              <a:ea typeface="Times New Roman" panose="02020603050405020304" pitchFamily="18" charset="0"/>
              <a:cs typeface="Times New Roman" panose="02020603050405020304" pitchFamily="18" charset="0"/>
            </a:endParaRPr>
          </a:p>
          <a:p>
            <a:pPr marL="0" indent="0">
              <a:lnSpc>
                <a:spcPct val="107000"/>
              </a:lnSpc>
              <a:spcAft>
                <a:spcPts val="800"/>
              </a:spcAft>
              <a:buNone/>
            </a:pP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1516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lnSpc>
                <a:spcPct val="107000"/>
              </a:lnSpc>
              <a:spcAft>
                <a:spcPts val="800"/>
              </a:spcAft>
            </a:pPr>
            <a:r>
              <a:rPr lang="es-AR" sz="32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sz="32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a:bodyPr>
          <a:lstStyle/>
          <a:p>
            <a:pPr indent="0">
              <a:lnSpc>
                <a:spcPct val="107000"/>
              </a:lnSpc>
              <a:spcAft>
                <a:spcPts val="800"/>
              </a:spcAft>
              <a:buNone/>
            </a:pPr>
            <a:r>
              <a:rPr lang="es-AR" sz="1800" dirty="0">
                <a:solidFill>
                  <a:srgbClr val="212529"/>
                </a:solidFill>
                <a:latin typeface="Segoe UI" panose="020B0502040204020203" pitchFamily="34" charset="0"/>
                <a:ea typeface="Times New Roman" panose="02020603050405020304" pitchFamily="18" charset="0"/>
                <a:cs typeface="Times New Roman" panose="02020603050405020304" pitchFamily="18" charset="0"/>
              </a:rPr>
              <a:t>Recordemos que</a:t>
            </a:r>
          </a:p>
          <a:p>
            <a:pPr marL="457200">
              <a:lnSpc>
                <a:spcPct val="107000"/>
              </a:lnSpc>
              <a:spcAft>
                <a:spcPts val="800"/>
              </a:spcAft>
            </a:pPr>
            <a:r>
              <a:rPr lang="es-AR" sz="1800" b="1"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La meta primaria es maximizar el patrimonio del accionista</a:t>
            </a: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Ese patrimonio se determina en los mercados financieros, por lo que los gerentes deben conocer dichos mercados para tomar buenas decisiones. Lo mismo vale para el inversor particular.</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0">
              <a:lnSpc>
                <a:spcPct val="107000"/>
              </a:lnSpc>
              <a:spcAft>
                <a:spcPts val="8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Por ello veremos los mercados donde se consigue capital, se operan valores y se fijan precio de las acciones, como así también las instituciones que allí se desempeñan. Veremos el concepto de eficiencia del mercado y cómo los mercados eficientes contribuyen a la efectiva asignación del capital.</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457200">
              <a:lnSpc>
                <a:spcPct val="107000"/>
              </a:lnSpc>
              <a:spcAft>
                <a:spcPts val="8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Las fluctuaciones de precios en los últimos años han llevado a preguntarse si los mercados son siempre eficientes. Teoría conductual de las finanzas. Factores psicológicos afectando decisiones individuales (a veces en formas perversas) y su impacto en los mercados financieros.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lnSpc>
                <a:spcPct val="107000"/>
              </a:lnSpc>
              <a:spcAft>
                <a:spcPts val="800"/>
              </a:spcAft>
              <a:buNone/>
            </a:pP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839249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lnSpc>
                <a:spcPct val="107000"/>
              </a:lnSpc>
              <a:spcAft>
                <a:spcPts val="800"/>
              </a:spcAft>
            </a:pPr>
            <a:r>
              <a:rPr lang="es-AR" sz="32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sz="32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Autofit/>
          </a:bodyPr>
          <a:lstStyle/>
          <a:p>
            <a:pPr indent="0">
              <a:lnSpc>
                <a:spcPct val="107000"/>
              </a:lnSpc>
              <a:spcAft>
                <a:spcPts val="800"/>
              </a:spcAft>
              <a:buNone/>
            </a:pPr>
            <a:r>
              <a:rPr lang="es-AR" sz="1800" dirty="0">
                <a:solidFill>
                  <a:srgbClr val="212529"/>
                </a:solidFill>
                <a:effectLst/>
                <a:ea typeface="Times New Roman" panose="02020603050405020304" pitchFamily="18" charset="0"/>
                <a:cs typeface="Times New Roman" panose="02020603050405020304" pitchFamily="18" charset="0"/>
              </a:rPr>
              <a:t>EL PROCESO DE ASIGNACIÓN DE CAPITAL</a:t>
            </a:r>
            <a:endParaRPr lang="es-AR" sz="1800" dirty="0">
              <a:effectLst/>
              <a:ea typeface="Times New Roman" panose="02020603050405020304" pitchFamily="18" charset="0"/>
              <a:cs typeface="Times New Roman" panose="02020603050405020304" pitchFamily="18" charset="0"/>
            </a:endParaRPr>
          </a:p>
          <a:p>
            <a:pPr marL="457200">
              <a:lnSpc>
                <a:spcPct val="107000"/>
              </a:lnSpc>
              <a:spcBef>
                <a:spcPts val="400"/>
              </a:spcBef>
              <a:spcAft>
                <a:spcPts val="400"/>
              </a:spcAft>
            </a:pPr>
            <a:r>
              <a:rPr lang="es-AR" sz="1800" dirty="0">
                <a:solidFill>
                  <a:srgbClr val="212529"/>
                </a:solidFill>
                <a:effectLst/>
                <a:ea typeface="Times New Roman" panose="02020603050405020304" pitchFamily="18" charset="0"/>
                <a:cs typeface="Times New Roman" panose="02020603050405020304" pitchFamily="18" charset="0"/>
              </a:rPr>
              <a:t>Necesidades frecuentes de reunir Capital</a:t>
            </a:r>
            <a:endParaRPr lang="es-AR" sz="1800" dirty="0">
              <a:effectLst/>
              <a:ea typeface="Times New Roman" panose="02020603050405020304" pitchFamily="18" charset="0"/>
              <a:cs typeface="Times New Roman" panose="02020603050405020304" pitchFamily="18" charset="0"/>
            </a:endParaRPr>
          </a:p>
          <a:p>
            <a:pPr marL="914400" lvl="1">
              <a:lnSpc>
                <a:spcPct val="107000"/>
              </a:lnSpc>
              <a:spcBef>
                <a:spcPts val="400"/>
              </a:spcBef>
              <a:spcAft>
                <a:spcPts val="400"/>
              </a:spcAft>
            </a:pPr>
            <a:r>
              <a:rPr lang="es-AR" sz="1400" dirty="0">
                <a:solidFill>
                  <a:srgbClr val="212529"/>
                </a:solidFill>
                <a:effectLst/>
                <a:ea typeface="Times New Roman" panose="02020603050405020304" pitchFamily="18" charset="0"/>
                <a:cs typeface="Times New Roman" panose="02020603050405020304" pitchFamily="18" charset="0"/>
              </a:rPr>
              <a:t>Empresas -&gt; Proyectos de inversión/Ampliación</a:t>
            </a:r>
            <a:endParaRPr lang="es-AR" sz="1400" dirty="0">
              <a:effectLst/>
              <a:ea typeface="Times New Roman" panose="02020603050405020304" pitchFamily="18" charset="0"/>
              <a:cs typeface="Times New Roman" panose="02020603050405020304" pitchFamily="18" charset="0"/>
            </a:endParaRPr>
          </a:p>
          <a:p>
            <a:pPr marL="914400" lvl="1">
              <a:lnSpc>
                <a:spcPct val="107000"/>
              </a:lnSpc>
              <a:spcBef>
                <a:spcPts val="400"/>
              </a:spcBef>
              <a:spcAft>
                <a:spcPts val="400"/>
              </a:spcAft>
            </a:pPr>
            <a:r>
              <a:rPr lang="es-AR" sz="1400" dirty="0">
                <a:solidFill>
                  <a:srgbClr val="212529"/>
                </a:solidFill>
                <a:effectLst/>
                <a:ea typeface="Times New Roman" panose="02020603050405020304" pitchFamily="18" charset="0"/>
                <a:cs typeface="Times New Roman" panose="02020603050405020304" pitchFamily="18" charset="0"/>
              </a:rPr>
              <a:t>Personas -&gt; Ampliar su negocio. Comprar una casa más grande</a:t>
            </a:r>
            <a:endParaRPr lang="es-AR" sz="1400" dirty="0">
              <a:effectLst/>
              <a:ea typeface="Times New Roman" panose="02020603050405020304" pitchFamily="18" charset="0"/>
              <a:cs typeface="Times New Roman" panose="02020603050405020304" pitchFamily="18" charset="0"/>
            </a:endParaRPr>
          </a:p>
          <a:p>
            <a:pPr marL="914400" lvl="1">
              <a:lnSpc>
                <a:spcPct val="107000"/>
              </a:lnSpc>
              <a:spcBef>
                <a:spcPts val="400"/>
              </a:spcBef>
              <a:spcAft>
                <a:spcPts val="400"/>
              </a:spcAft>
            </a:pPr>
            <a:r>
              <a:rPr lang="es-AR" sz="1400" dirty="0">
                <a:solidFill>
                  <a:srgbClr val="212529"/>
                </a:solidFill>
                <a:effectLst/>
                <a:ea typeface="Times New Roman" panose="02020603050405020304" pitchFamily="18" charset="0"/>
                <a:cs typeface="Times New Roman" panose="02020603050405020304" pitchFamily="18" charset="0"/>
              </a:rPr>
              <a:t>Gobiernos -&gt; Proyectos gubernamentales</a:t>
            </a:r>
            <a:endParaRPr lang="es-AR" sz="1400" dirty="0">
              <a:effectLst/>
              <a:ea typeface="Times New Roman" panose="02020603050405020304" pitchFamily="18" charset="0"/>
              <a:cs typeface="Times New Roman" panose="02020603050405020304" pitchFamily="18" charset="0"/>
            </a:endParaRPr>
          </a:p>
          <a:p>
            <a:pPr marL="457200">
              <a:lnSpc>
                <a:spcPct val="107000"/>
              </a:lnSpc>
              <a:spcBef>
                <a:spcPts val="400"/>
              </a:spcBef>
              <a:spcAft>
                <a:spcPts val="400"/>
              </a:spcAft>
            </a:pPr>
            <a:r>
              <a:rPr lang="es-AR" sz="1800" dirty="0">
                <a:solidFill>
                  <a:srgbClr val="212529"/>
                </a:solidFill>
                <a:effectLst/>
                <a:ea typeface="Times New Roman" panose="02020603050405020304" pitchFamily="18" charset="0"/>
                <a:cs typeface="Times New Roman" panose="02020603050405020304" pitchFamily="18" charset="0"/>
              </a:rPr>
              <a:t>Excedentes temporales a invertir para un uso futuro provienen de</a:t>
            </a:r>
            <a:endParaRPr lang="es-AR" sz="1800" dirty="0">
              <a:effectLst/>
              <a:ea typeface="Times New Roman" panose="02020603050405020304" pitchFamily="18" charset="0"/>
              <a:cs typeface="Times New Roman" panose="02020603050405020304" pitchFamily="18" charset="0"/>
            </a:endParaRPr>
          </a:p>
          <a:p>
            <a:pPr marL="914400" lvl="1">
              <a:lnSpc>
                <a:spcPct val="107000"/>
              </a:lnSpc>
              <a:spcBef>
                <a:spcPts val="400"/>
              </a:spcBef>
              <a:spcAft>
                <a:spcPts val="400"/>
              </a:spcAft>
            </a:pPr>
            <a:r>
              <a:rPr lang="es-AR" sz="1400" dirty="0">
                <a:solidFill>
                  <a:srgbClr val="212529"/>
                </a:solidFill>
                <a:effectLst/>
                <a:ea typeface="Times New Roman" panose="02020603050405020304" pitchFamily="18" charset="0"/>
                <a:cs typeface="Times New Roman" panose="02020603050405020304" pitchFamily="18" charset="0"/>
              </a:rPr>
              <a:t>Personas</a:t>
            </a:r>
            <a:endParaRPr lang="es-AR" sz="1400" dirty="0">
              <a:effectLst/>
              <a:ea typeface="Times New Roman" panose="02020603050405020304" pitchFamily="18" charset="0"/>
              <a:cs typeface="Times New Roman" panose="02020603050405020304" pitchFamily="18" charset="0"/>
            </a:endParaRPr>
          </a:p>
          <a:p>
            <a:pPr marL="914400" lvl="1">
              <a:lnSpc>
                <a:spcPct val="107000"/>
              </a:lnSpc>
              <a:spcBef>
                <a:spcPts val="400"/>
              </a:spcBef>
              <a:spcAft>
                <a:spcPts val="400"/>
              </a:spcAft>
            </a:pPr>
            <a:r>
              <a:rPr lang="es-AR" sz="1400" dirty="0">
                <a:solidFill>
                  <a:srgbClr val="212529"/>
                </a:solidFill>
                <a:effectLst/>
                <a:ea typeface="Times New Roman" panose="02020603050405020304" pitchFamily="18" charset="0"/>
                <a:cs typeface="Times New Roman" panose="02020603050405020304" pitchFamily="18" charset="0"/>
              </a:rPr>
              <a:t>Empresas</a:t>
            </a:r>
            <a:endParaRPr lang="es-AR" sz="1400" dirty="0">
              <a:effectLst/>
              <a:ea typeface="Times New Roman" panose="02020603050405020304" pitchFamily="18" charset="0"/>
              <a:cs typeface="Times New Roman" panose="02020603050405020304" pitchFamily="18" charset="0"/>
            </a:endParaRPr>
          </a:p>
          <a:p>
            <a:pPr marL="457200">
              <a:lnSpc>
                <a:spcPct val="107000"/>
              </a:lnSpc>
              <a:spcBef>
                <a:spcPts val="400"/>
              </a:spcBef>
              <a:spcAft>
                <a:spcPts val="400"/>
              </a:spcAft>
            </a:pPr>
            <a:r>
              <a:rPr lang="es-AR" sz="1800" dirty="0">
                <a:solidFill>
                  <a:srgbClr val="212529"/>
                </a:solidFill>
                <a:effectLst/>
                <a:ea typeface="Times New Roman" panose="02020603050405020304" pitchFamily="18" charset="0"/>
                <a:cs typeface="Times New Roman" panose="02020603050405020304" pitchFamily="18" charset="0"/>
              </a:rPr>
              <a:t>Quienes invierten dinero quieren un rendimiento sobre el mismo, y quienes lo necesitan, saben que deberán pagar por el uso del capital</a:t>
            </a:r>
            <a:endParaRPr lang="es-AR" sz="1800" dirty="0">
              <a:effectLst/>
              <a:ea typeface="Times New Roman" panose="02020603050405020304" pitchFamily="18" charset="0"/>
              <a:cs typeface="Times New Roman" panose="02020603050405020304" pitchFamily="18" charset="0"/>
            </a:endParaRPr>
          </a:p>
          <a:p>
            <a:pPr marL="457200">
              <a:lnSpc>
                <a:spcPct val="107000"/>
              </a:lnSpc>
              <a:spcBef>
                <a:spcPts val="400"/>
              </a:spcBef>
              <a:spcAft>
                <a:spcPts val="400"/>
              </a:spcAft>
            </a:pPr>
            <a:r>
              <a:rPr lang="es-AR" sz="1800" dirty="0">
                <a:solidFill>
                  <a:srgbClr val="212529"/>
                </a:solidFill>
                <a:effectLst/>
                <a:ea typeface="Times New Roman" panose="02020603050405020304" pitchFamily="18" charset="0"/>
                <a:cs typeface="Times New Roman" panose="02020603050405020304" pitchFamily="18" charset="0"/>
              </a:rPr>
              <a:t>En una economía funcional, el capital fluye de unos a otros de manera eficiente, en una de estas tres formas</a:t>
            </a:r>
            <a:endParaRPr lang="es-AR" sz="1800" dirty="0">
              <a:effectLst/>
              <a:ea typeface="Times New Roman" panose="02020603050405020304" pitchFamily="18" charset="0"/>
              <a:cs typeface="Times New Roman" panose="02020603050405020304" pitchFamily="18" charset="0"/>
            </a:endParaRPr>
          </a:p>
          <a:p>
            <a:pPr marL="457200">
              <a:lnSpc>
                <a:spcPct val="107000"/>
              </a:lnSpc>
              <a:spcBef>
                <a:spcPts val="400"/>
              </a:spcBef>
              <a:spcAft>
                <a:spcPts val="400"/>
              </a:spcAft>
            </a:pPr>
            <a:endParaRPr lang="es-AR" sz="1800" dirty="0">
              <a:effectLs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148159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lnSpc>
                <a:spcPct val="107000"/>
              </a:lnSpc>
              <a:spcAft>
                <a:spcPts val="800"/>
              </a:spcAft>
            </a:pPr>
            <a:r>
              <a:rPr lang="es-AR" sz="32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sz="32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fontScale="92500" lnSpcReduction="10000"/>
          </a:bodyPr>
          <a:lstStyle/>
          <a:p>
            <a:pPr indent="0">
              <a:lnSpc>
                <a:spcPct val="107000"/>
              </a:lnSpc>
              <a:spcAft>
                <a:spcPts val="800"/>
              </a:spcAft>
              <a:buNone/>
            </a:pPr>
            <a:r>
              <a:rPr lang="es-AR" sz="1800" u="sng"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Tres tipos de transferencias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buFont typeface="+mj-lt"/>
              <a:buAutoNum type="arabicPeriod"/>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Directas: Sin intermediarios financieros. Pequeñas empresas. Pequeños montos de capital</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buFont typeface="+mj-lt"/>
              <a:buAutoNum type="arabicPeriod"/>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Indirectas, por medio de la banca de inversión: Por ejemplo, Morgan Stanley, el cual suscribe la emisión. El suscriptor facilita la emisión de valores. La empresa vende sus bonos o acciones al banco de inversión quien luego vende esos mismos valores a los ahorradores. Riesgo por el tiempo en que los retiene. Se dice que es una operación de mercado primario ya que se trata de nuevos valores y la corporación recibe el dinero de esa venta. </a:t>
            </a:r>
          </a:p>
          <a:p>
            <a:pPr marL="342900" lvl="0" indent="-342900">
              <a:lnSpc>
                <a:spcPct val="107000"/>
              </a:lnSpc>
              <a:buFont typeface="+mj-lt"/>
              <a:buAutoNum type="arabicPeriod"/>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Indirectas, por medio de un intermediario financiero: pueden ser bancos, fondos de inversión o compañías de seguros. Aquí el ahorrador compra valores del intermediario, que a su vez compra y conserva valores de las empresas. Los ahorradores conservan los valores del intermediario. Por ejemplo, una persona constituye un plazo fijo, recibe un certificado por su depósito, y el banco le presta dinero a una empresa a través de una hipoteca. Así, los intermediarios crean nuevas formas de capital. En este caso, el certificado de depósito, más seguros y líquidos que una hipoteca y por lo tanto mejores para la mayoría de los ahorradores. Entonces la existencia de intermediarios incrementa en alto grado la eficiencia de los mercados de dinero y capital.</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lnSpc>
                <a:spcPct val="107000"/>
              </a:lnSpc>
              <a:spcAft>
                <a:spcPts val="800"/>
              </a:spcAft>
              <a:buNone/>
            </a:pP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86295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lnSpc>
                <a:spcPct val="107000"/>
              </a:lnSpc>
              <a:spcAft>
                <a:spcPts val="800"/>
              </a:spcAft>
            </a:pPr>
            <a:r>
              <a:rPr lang="es-AR" sz="32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sz="32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rmAutofit/>
          </a:bodyPr>
          <a:lstStyle/>
          <a:p>
            <a:pPr marL="0" indent="0">
              <a:lnSpc>
                <a:spcPct val="97000"/>
              </a:lnSpc>
              <a:buNone/>
            </a:pPr>
            <a:r>
              <a:rPr lang="es-AR" sz="1700" dirty="0">
                <a:solidFill>
                  <a:srgbClr val="212529"/>
                </a:solidFill>
                <a:latin typeface="Segoe UI" panose="020B0502040204020203" pitchFamily="34" charset="0"/>
                <a:cs typeface="Times New Roman" panose="02020603050405020304" pitchFamily="18" charset="0"/>
              </a:rPr>
              <a:t>A menudo la entidad con necesidad de capital es una corporación, pero también lo puede ser una pequeña empresa o un individuo. Usted podría obtener un préstamo a través de un intermediario financiero, como un banco hipotecario local. Este banco podría vender su hipoteca a un banco de inversión el cual podría utilizarla como colateral para un bono adquirido por un fondo de pensiones.</a:t>
            </a:r>
          </a:p>
          <a:p>
            <a:pPr marL="342900" indent="-342900">
              <a:lnSpc>
                <a:spcPct val="97000"/>
              </a:lnSpc>
              <a:buFont typeface="+mj-lt"/>
              <a:buAutoNum type="arabicPeriod"/>
            </a:pPr>
            <a:endParaRPr lang="es-AR" sz="1700" dirty="0">
              <a:solidFill>
                <a:srgbClr val="212529"/>
              </a:solidFill>
              <a:latin typeface="Segoe UI" panose="020B0502040204020203" pitchFamily="34" charset="0"/>
              <a:cs typeface="Times New Roman" panose="02020603050405020304" pitchFamily="18" charset="0"/>
            </a:endParaRPr>
          </a:p>
          <a:p>
            <a:pPr marL="0" indent="0">
              <a:lnSpc>
                <a:spcPct val="97000"/>
              </a:lnSpc>
              <a:buNone/>
            </a:pPr>
            <a:r>
              <a:rPr lang="es-AR" sz="1700" dirty="0">
                <a:solidFill>
                  <a:srgbClr val="212529"/>
                </a:solidFill>
                <a:latin typeface="Segoe UI" panose="020B0502040204020203" pitchFamily="34" charset="0"/>
                <a:cs typeface="Times New Roman" panose="02020603050405020304" pitchFamily="18" charset="0"/>
              </a:rPr>
              <a:t>Colateral: Activo que se ofrece como garantía adicional, en un crédito o emisión de bonos. Puesto que supone una reducción del riesgo de crédito también disminuye el coste de la financiación, es decir, los intereses ofrecidos al inversor.</a:t>
            </a:r>
          </a:p>
          <a:p>
            <a:pPr marL="342900" indent="-342900">
              <a:lnSpc>
                <a:spcPct val="97000"/>
              </a:lnSpc>
              <a:buFont typeface="+mj-lt"/>
              <a:buAutoNum type="arabicPeriod"/>
            </a:pPr>
            <a:endParaRPr lang="es-AR" sz="1700" dirty="0">
              <a:solidFill>
                <a:srgbClr val="212529"/>
              </a:solidFill>
              <a:latin typeface="Segoe UI" panose="020B0502040204020203" pitchFamily="34" charset="0"/>
              <a:cs typeface="Times New Roman" panose="02020603050405020304" pitchFamily="18" charset="0"/>
            </a:endParaRPr>
          </a:p>
          <a:p>
            <a:pPr marL="0" indent="0">
              <a:lnSpc>
                <a:spcPct val="97000"/>
              </a:lnSpc>
              <a:spcAft>
                <a:spcPts val="800"/>
              </a:spcAft>
              <a:buNone/>
            </a:pPr>
            <a:r>
              <a:rPr lang="es-AR" sz="1700" dirty="0">
                <a:solidFill>
                  <a:srgbClr val="212529"/>
                </a:solidFill>
                <a:latin typeface="Segoe UI" panose="020B0502040204020203" pitchFamily="34" charset="0"/>
                <a:cs typeface="Times New Roman" panose="02020603050405020304" pitchFamily="18" charset="0"/>
              </a:rPr>
              <a:t>Es difícil que una economía alcance todo su potencial sin el acceso a un sistema financiero funcional. Economías como la de EEUU han evolucionado con el tiempo para facilitar la eficiente asignación del capital. De allí la necesidad de conocimiento de gerentes y ahorristas del funcionamiento de los mercados</a:t>
            </a:r>
          </a:p>
          <a:p>
            <a:pPr marL="0" indent="0">
              <a:lnSpc>
                <a:spcPct val="107000"/>
              </a:lnSpc>
              <a:spcAft>
                <a:spcPts val="800"/>
              </a:spcAft>
              <a:buNone/>
            </a:pP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105210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normAutofit/>
          </a:bodyPr>
          <a:lstStyle/>
          <a:p>
            <a:pPr algn="ctr">
              <a:lnSpc>
                <a:spcPct val="107000"/>
              </a:lnSpc>
              <a:spcAft>
                <a:spcPts val="800"/>
              </a:spcAft>
            </a:pPr>
            <a:r>
              <a:rPr lang="es-AR" sz="32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sz="32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Autofit/>
          </a:bodyPr>
          <a:lstStyle/>
          <a:p>
            <a:pPr marL="0" indent="0">
              <a:lnSpc>
                <a:spcPct val="107000"/>
              </a:lnSpc>
              <a:spcAft>
                <a:spcPts val="800"/>
              </a:spcAft>
              <a:buNone/>
            </a:pPr>
            <a:r>
              <a:rPr lang="es-AR" sz="1800" dirty="0">
                <a:solidFill>
                  <a:srgbClr val="202124"/>
                </a:solidFill>
                <a:effectLst/>
                <a:ea typeface="Times New Roman" panose="02020603050405020304" pitchFamily="18" charset="0"/>
                <a:cs typeface="Times New Roman" panose="02020603050405020304" pitchFamily="18" charset="0"/>
              </a:rPr>
              <a:t>MERCADOS FINANCIEROS</a:t>
            </a:r>
            <a:endParaRPr lang="es-AR" sz="1800" dirty="0">
              <a:ea typeface="Times New Roman" panose="02020603050405020304" pitchFamily="18" charset="0"/>
              <a:cs typeface="Times New Roman" panose="02020603050405020304" pitchFamily="18" charset="0"/>
            </a:endParaRPr>
          </a:p>
          <a:p>
            <a:pPr marL="0" indent="0">
              <a:lnSpc>
                <a:spcPct val="107000"/>
              </a:lnSpc>
              <a:spcAft>
                <a:spcPts val="800"/>
              </a:spcAft>
              <a:buNone/>
            </a:pPr>
            <a:r>
              <a:rPr lang="es-AR" sz="1800" dirty="0">
                <a:solidFill>
                  <a:srgbClr val="202124"/>
                </a:solidFill>
                <a:effectLst/>
                <a:ea typeface="Times New Roman" panose="02020603050405020304" pitchFamily="18" charset="0"/>
                <a:cs typeface="Times New Roman" panose="02020603050405020304" pitchFamily="18" charset="0"/>
              </a:rPr>
              <a:t>Quienes necesitan pedir dinero se reúnen con quienes tienen excedentes en los mercados financieros. Hablamos en plural, ya que existen diferentes mercados en economías desarrolladas como la de EEUU</a:t>
            </a:r>
            <a:endParaRPr lang="es-AR" sz="1800" dirty="0">
              <a:effectLst/>
              <a:ea typeface="Times New Roman" panose="02020603050405020304" pitchFamily="18" charset="0"/>
              <a:cs typeface="Times New Roman" panose="02020603050405020304" pitchFamily="18" charset="0"/>
            </a:endParaRPr>
          </a:p>
          <a:p>
            <a:pPr marL="0" indent="0">
              <a:lnSpc>
                <a:spcPct val="107000"/>
              </a:lnSpc>
              <a:spcAft>
                <a:spcPts val="800"/>
              </a:spcAft>
              <a:buNone/>
            </a:pPr>
            <a:r>
              <a:rPr lang="es-AR" sz="1800" dirty="0">
                <a:solidFill>
                  <a:srgbClr val="202124"/>
                </a:solidFill>
                <a:effectLst/>
                <a:ea typeface="Times New Roman" panose="02020603050405020304" pitchFamily="18" charset="0"/>
                <a:cs typeface="Times New Roman" panose="02020603050405020304" pitchFamily="18" charset="0"/>
              </a:rPr>
              <a:t>TIPOS DE MERCADOS</a:t>
            </a:r>
            <a:endParaRPr lang="es-AR" sz="1800" dirty="0">
              <a:effectLst/>
              <a:ea typeface="Times New Roman" panose="02020603050405020304" pitchFamily="18" charset="0"/>
              <a:cs typeface="Times New Roman" panose="02020603050405020304" pitchFamily="18" charset="0"/>
            </a:endParaRPr>
          </a:p>
          <a:p>
            <a:pPr marL="0" indent="0">
              <a:lnSpc>
                <a:spcPct val="107000"/>
              </a:lnSpc>
              <a:spcAft>
                <a:spcPts val="800"/>
              </a:spcAft>
              <a:buNone/>
            </a:pPr>
            <a:r>
              <a:rPr lang="es-AR" sz="1800" dirty="0">
                <a:solidFill>
                  <a:srgbClr val="202124"/>
                </a:solidFill>
                <a:effectLst/>
                <a:ea typeface="Times New Roman" panose="02020603050405020304" pitchFamily="18" charset="0"/>
                <a:cs typeface="Times New Roman" panose="02020603050405020304" pitchFamily="18" charset="0"/>
              </a:rPr>
              <a:t>Diferentes mercados atienden diferentes tipos de clientes o partes de un país. Los mercados también varían dependiendo del vencimiento de los valores operados y los tipos de activos usados para respaldar esos valores. Clasificamos entonces:</a:t>
            </a:r>
            <a:endParaRPr lang="es-AR" sz="1800" dirty="0">
              <a:effectLst/>
              <a:ea typeface="Times New Roman" panose="02020603050405020304" pitchFamily="18" charset="0"/>
              <a:cs typeface="Times New Roman" panose="02020603050405020304" pitchFamily="18" charset="0"/>
            </a:endParaRPr>
          </a:p>
          <a:p>
            <a:pPr marL="0" indent="0">
              <a:lnSpc>
                <a:spcPct val="107000"/>
              </a:lnSpc>
              <a:spcAft>
                <a:spcPts val="800"/>
              </a:spcAft>
              <a:buNone/>
            </a:pPr>
            <a:endParaRPr lang="es-AR" sz="1800" dirty="0">
              <a:effectLs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37343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lstStyle/>
          <a:p>
            <a:pPr algn="ctr">
              <a:lnSpc>
                <a:spcPct val="107000"/>
              </a:lnSpc>
              <a:spcAft>
                <a:spcPts val="800"/>
              </a:spcAft>
            </a:pPr>
            <a:r>
              <a:rPr lang="es-AR" sz="18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Autofit/>
          </a:bodyPr>
          <a:lstStyle/>
          <a:p>
            <a:pPr marL="342900" lvl="0" indent="-342900">
              <a:lnSpc>
                <a:spcPct val="107000"/>
              </a:lnSpc>
              <a:buFont typeface="+mj-lt"/>
              <a:buAutoNum type="arabicPeriod"/>
            </a:pPr>
            <a:r>
              <a:rPr lang="es-AR" sz="1800" b="1" dirty="0">
                <a:solidFill>
                  <a:srgbClr val="202124"/>
                </a:solidFill>
                <a:effectLst/>
                <a:ea typeface="Times New Roman" panose="02020603050405020304" pitchFamily="18" charset="0"/>
                <a:cs typeface="Times New Roman" panose="02020603050405020304" pitchFamily="18" charset="0"/>
              </a:rPr>
              <a:t>Mercados de activos físicos versus mercados de activos financieros.</a:t>
            </a:r>
            <a:r>
              <a:rPr lang="es-AR" sz="1800" dirty="0">
                <a:solidFill>
                  <a:srgbClr val="202124"/>
                </a:solidFill>
                <a:effectLst/>
                <a:ea typeface="Times New Roman" panose="02020603050405020304" pitchFamily="18" charset="0"/>
                <a:cs typeface="Times New Roman" panose="02020603050405020304" pitchFamily="18" charset="0"/>
              </a:rPr>
              <a:t> Los financieros son los de las acciones, bonos, obligaciones e hipotecas. También con los títulos derivados cuyos valores se derivan de cambios en los precios de otros activos. Una acción de Ford es un activo financiero puro, mientras que una opción para comprar acciones de Ford es un título derivado cuyo valor depende del precio de las acciones de Ford.</a:t>
            </a:r>
            <a:endParaRPr lang="es-AR" sz="1800" dirty="0">
              <a:effectLst/>
              <a:ea typeface="Times New Roman" panose="02020603050405020304" pitchFamily="18" charset="0"/>
              <a:cs typeface="Times New Roman" panose="02020603050405020304" pitchFamily="18" charset="0"/>
            </a:endParaRPr>
          </a:p>
          <a:p>
            <a:pPr marL="342900" lvl="0" indent="-342900">
              <a:lnSpc>
                <a:spcPct val="107000"/>
              </a:lnSpc>
              <a:buFont typeface="+mj-lt"/>
              <a:buAutoNum type="arabicPeriod"/>
            </a:pPr>
            <a:r>
              <a:rPr lang="es-AR" sz="1800" b="1" dirty="0">
                <a:solidFill>
                  <a:srgbClr val="202124"/>
                </a:solidFill>
                <a:effectLst/>
                <a:ea typeface="Times New Roman" panose="02020603050405020304" pitchFamily="18" charset="0"/>
                <a:cs typeface="Times New Roman" panose="02020603050405020304" pitchFamily="18" charset="0"/>
              </a:rPr>
              <a:t>Mercados al contado versus mercados de futuros.</a:t>
            </a:r>
            <a:r>
              <a:rPr lang="es-AR" sz="1800" dirty="0">
                <a:solidFill>
                  <a:srgbClr val="202124"/>
                </a:solidFill>
                <a:effectLst/>
                <a:ea typeface="Times New Roman" panose="02020603050405020304" pitchFamily="18" charset="0"/>
                <a:cs typeface="Times New Roman" panose="02020603050405020304" pitchFamily="18" charset="0"/>
              </a:rPr>
              <a:t> Los de contado son mercados en los que se compran y venden activos al contado, lo que implica la entrega del bien en pocos días. Los “a futuro” son mercados donde las partes aceptan comprar o vender un activo en fecha futura. Ejemplo, un agricultor suscribe un contrato en el que acepta vender 5.000 </a:t>
            </a:r>
            <a:r>
              <a:rPr lang="es-AR" sz="1800" dirty="0" err="1">
                <a:solidFill>
                  <a:srgbClr val="202124"/>
                </a:solidFill>
                <a:effectLst/>
                <a:ea typeface="Times New Roman" panose="02020603050405020304" pitchFamily="18" charset="0"/>
                <a:cs typeface="Times New Roman" panose="02020603050405020304" pitchFamily="18" charset="0"/>
              </a:rPr>
              <a:t>bushels</a:t>
            </a:r>
            <a:r>
              <a:rPr lang="es-AR" sz="1800" dirty="0">
                <a:solidFill>
                  <a:srgbClr val="202124"/>
                </a:solidFill>
                <a:effectLst/>
                <a:ea typeface="Times New Roman" panose="02020603050405020304" pitchFamily="18" charset="0"/>
                <a:cs typeface="Times New Roman" panose="02020603050405020304" pitchFamily="18" charset="0"/>
              </a:rPr>
              <a:t> (136.080 kilos) de soja dentro de 6 meses a USD 10,275 por bushel. Una planta procesadora de alimentos celebra un contrato donde acepta hoy comprar soja dentro de 6 meses. Esta transacción cubre o reduce los riesgos que enfrentan ambas partes.</a:t>
            </a:r>
          </a:p>
          <a:p>
            <a:pPr marL="342900" lvl="0" indent="-342900">
              <a:lnSpc>
                <a:spcPct val="107000"/>
              </a:lnSpc>
              <a:buFont typeface="+mj-lt"/>
              <a:buAutoNum type="arabicPeriod"/>
            </a:pPr>
            <a:r>
              <a:rPr lang="es-AR" sz="1800" b="1" dirty="0">
                <a:solidFill>
                  <a:srgbClr val="202124"/>
                </a:solidFill>
                <a:effectLst/>
                <a:ea typeface="Times New Roman" panose="02020603050405020304" pitchFamily="18" charset="0"/>
                <a:cs typeface="Times New Roman" panose="02020603050405020304" pitchFamily="18" charset="0"/>
              </a:rPr>
              <a:t>Mercados de dinero versus mercados de capital.</a:t>
            </a:r>
            <a:r>
              <a:rPr lang="es-AR" sz="1800" dirty="0">
                <a:solidFill>
                  <a:srgbClr val="202124"/>
                </a:solidFill>
                <a:effectLst/>
                <a:ea typeface="Times New Roman" panose="02020603050405020304" pitchFamily="18" charset="0"/>
                <a:cs typeface="Times New Roman" panose="02020603050405020304" pitchFamily="18" charset="0"/>
              </a:rPr>
              <a:t> Los de dinero son mercados de empréstitos de corto plazo, altamente líquidos y de bajo riesgo. Los de Capital son los mercados de deuda y acciones corporativos a mediano (1 a 10 años) o largo plazo (+ de 10 años).</a:t>
            </a:r>
            <a:endParaRPr lang="es-AR" sz="1800" dirty="0">
              <a:effectLst/>
              <a:ea typeface="Times New Roman" panose="02020603050405020304" pitchFamily="18" charset="0"/>
              <a:cs typeface="Times New Roman" panose="02020603050405020304" pitchFamily="18" charset="0"/>
            </a:endParaRPr>
          </a:p>
          <a:p>
            <a:pPr marL="0" indent="0">
              <a:lnSpc>
                <a:spcPct val="107000"/>
              </a:lnSpc>
              <a:spcAft>
                <a:spcPts val="800"/>
              </a:spcAft>
              <a:buNone/>
            </a:pP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583640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5FB21-A927-2A9F-7EA7-9C5409593579}"/>
              </a:ext>
            </a:extLst>
          </p:cNvPr>
          <p:cNvSpPr>
            <a:spLocks noGrp="1"/>
          </p:cNvSpPr>
          <p:nvPr>
            <p:ph type="title"/>
          </p:nvPr>
        </p:nvSpPr>
        <p:spPr/>
        <p:txBody>
          <a:bodyPr/>
          <a:lstStyle/>
          <a:p>
            <a:pPr>
              <a:lnSpc>
                <a:spcPct val="107000"/>
              </a:lnSpc>
              <a:spcAft>
                <a:spcPts val="800"/>
              </a:spcAft>
            </a:pPr>
            <a:r>
              <a:rPr lang="es-AR" sz="18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a16="http://schemas.microsoft.com/office/drawing/2014/main" id="{726059B2-8A34-FAD2-9056-3EA575F8D639}"/>
              </a:ext>
            </a:extLst>
          </p:cNvPr>
          <p:cNvSpPr>
            <a:spLocks noGrp="1"/>
          </p:cNvSpPr>
          <p:nvPr>
            <p:ph idx="1"/>
          </p:nvPr>
        </p:nvSpPr>
        <p:spPr/>
        <p:txBody>
          <a:bodyPr>
            <a:noAutofit/>
          </a:bodyPr>
          <a:lstStyle/>
          <a:p>
            <a:pPr marL="342900" lvl="0" indent="-342900">
              <a:lnSpc>
                <a:spcPct val="107000"/>
              </a:lnSpc>
              <a:buFont typeface="+mj-lt"/>
              <a:buAutoNum type="arabicPeriod" startAt="4"/>
            </a:pPr>
            <a:r>
              <a:rPr lang="es-AR" sz="1800" b="1" dirty="0">
                <a:solidFill>
                  <a:srgbClr val="202124"/>
                </a:solidFill>
                <a:effectLst/>
                <a:ea typeface="Times New Roman" panose="02020603050405020304" pitchFamily="18" charset="0"/>
                <a:cs typeface="Times New Roman" panose="02020603050405020304" pitchFamily="18" charset="0"/>
              </a:rPr>
              <a:t>Mercados primarios versus mercados secundarios.</a:t>
            </a:r>
            <a:r>
              <a:rPr lang="es-AR" sz="1800" dirty="0">
                <a:solidFill>
                  <a:srgbClr val="202124"/>
                </a:solidFill>
                <a:effectLst/>
                <a:ea typeface="Times New Roman" panose="02020603050405020304" pitchFamily="18" charset="0"/>
                <a:cs typeface="Times New Roman" panose="02020603050405020304" pitchFamily="18" charset="0"/>
              </a:rPr>
              <a:t> Los mercados primarios es donde las corporaciones obtienen nuevo capital. Por ejemplo, nueva emisión de acciones comunes. Los mercados secundarios son aquellos donde valores existentes ya en circulación se negocian entre inversores. Hay mercados secundarios de hipotecas, otros tipos de préstamos y de activos financieros. </a:t>
            </a:r>
          </a:p>
          <a:p>
            <a:pPr marL="342900" lvl="0" indent="-342900">
              <a:lnSpc>
                <a:spcPct val="107000"/>
              </a:lnSpc>
              <a:buFont typeface="+mj-lt"/>
              <a:buAutoNum type="arabicPeriod" startAt="4"/>
            </a:pPr>
            <a:r>
              <a:rPr lang="es-AR" sz="1800" b="1" dirty="0">
                <a:solidFill>
                  <a:srgbClr val="202124"/>
                </a:solidFill>
                <a:cs typeface="Times New Roman" panose="02020603050405020304" pitchFamily="18" charset="0"/>
              </a:rPr>
              <a:t>Mercados privados versus mercados públicos. </a:t>
            </a:r>
            <a:r>
              <a:rPr lang="es-AR" sz="1800" dirty="0">
                <a:solidFill>
                  <a:srgbClr val="202124"/>
                </a:solidFill>
                <a:cs typeface="Times New Roman" panose="02020603050405020304" pitchFamily="18" charset="0"/>
              </a:rPr>
              <a:t>Los mercados privados, donde las transacciones se negocian directamente entre dos o más partes, se diferencian de los públicos que operan con contratos estandarizados en bolsas organizadas. Los préstamos bancarios son el ejemplo más sencillo de colocaciones en mercados privados. Se estructuran según convengan las partes. En contraste, los valores que se negocian en el mercado público (acciones y bonos corporativos, por ejemplo) se hallan en manos de un gran número de individuos. Deben ser altamente estandarizados. Esto les otorga liquidez por sobre los hechos a medida. </a:t>
            </a:r>
          </a:p>
          <a:p>
            <a:pPr marL="0" indent="0">
              <a:lnSpc>
                <a:spcPct val="107000"/>
              </a:lnSpc>
              <a:spcAft>
                <a:spcPts val="800"/>
              </a:spcAft>
              <a:buNone/>
            </a:pP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480536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0758A-9264-EEA9-8E2D-3BFA14447073}"/>
              </a:ext>
            </a:extLst>
          </p:cNvPr>
          <p:cNvSpPr>
            <a:spLocks noGrp="1"/>
          </p:cNvSpPr>
          <p:nvPr>
            <p:ph type="title"/>
          </p:nvPr>
        </p:nvSpPr>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dirty="0"/>
          </a:p>
        </p:txBody>
      </p:sp>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p:txBody>
          <a:bodyPr>
            <a:normAutofit/>
          </a:bodyPr>
          <a:lstStyle/>
          <a:p>
            <a:pPr marL="0" indent="0">
              <a:lnSpc>
                <a:spcPct val="107000"/>
              </a:lnSpc>
              <a:buNone/>
            </a:pPr>
            <a:r>
              <a:rPr lang="es-AR" sz="2400" dirty="0">
                <a:solidFill>
                  <a:srgbClr val="202124"/>
                </a:solidFill>
                <a:effectLst/>
                <a:ea typeface="Times New Roman" panose="02020603050405020304" pitchFamily="18" charset="0"/>
                <a:cs typeface="Times New Roman" panose="02020603050405020304" pitchFamily="18" charset="0"/>
              </a:rPr>
              <a:t>Podríamos hacer otras clasificaciones, y es casi lo mismo un préstamo a 11 que, a 13 meses, aunque uno lo clasificaríamos dentro del mercado de dinero y el otro, de capital. No hay que ser rígidos al respecto.</a:t>
            </a:r>
          </a:p>
          <a:p>
            <a:pPr marL="0" indent="0">
              <a:lnSpc>
                <a:spcPct val="107000"/>
              </a:lnSpc>
              <a:buNone/>
            </a:pPr>
            <a:endParaRPr lang="es-AR" sz="2400" dirty="0">
              <a:solidFill>
                <a:srgbClr val="202124"/>
              </a:solidFill>
              <a:effectLst/>
              <a:ea typeface="Times New Roman" panose="02020603050405020304" pitchFamily="18" charset="0"/>
              <a:cs typeface="Times New Roman" panose="02020603050405020304" pitchFamily="18" charset="0"/>
            </a:endParaRPr>
          </a:p>
          <a:p>
            <a:pPr marL="0" indent="0" algn="ctr">
              <a:lnSpc>
                <a:spcPct val="107000"/>
              </a:lnSpc>
              <a:buNone/>
            </a:pPr>
            <a:r>
              <a:rPr lang="es-AR" sz="3200" dirty="0">
                <a:solidFill>
                  <a:srgbClr val="202124"/>
                </a:solidFill>
                <a:effectLst/>
                <a:ea typeface="Times New Roman" panose="02020603050405020304" pitchFamily="18" charset="0"/>
                <a:cs typeface="Times New Roman" panose="02020603050405020304" pitchFamily="18" charset="0"/>
              </a:rPr>
              <a:t>Para que una economía funcione bien es necesario el acceso a los distintos mercados, rápido y a bajo costo.</a:t>
            </a:r>
            <a:endParaRPr lang="es-AR" sz="3200" dirty="0">
              <a:effectLst/>
              <a:ea typeface="Times New Roman" panose="02020603050405020304" pitchFamily="18" charset="0"/>
              <a:cs typeface="Times New Roman" panose="02020603050405020304" pitchFamily="18" charset="0"/>
            </a:endParaRPr>
          </a:p>
          <a:p>
            <a:pPr marL="90170">
              <a:lnSpc>
                <a:spcPct val="107000"/>
              </a:lnSpc>
            </a:pPr>
            <a:endParaRPr lang="es-AR" sz="2400" dirty="0">
              <a:solidFill>
                <a:srgbClr val="202124"/>
              </a:solidFill>
              <a:effectLst/>
              <a:ea typeface="Times New Roman" panose="02020603050405020304" pitchFamily="18" charset="0"/>
              <a:cs typeface="Times New Roman" panose="02020603050405020304" pitchFamily="18" charset="0"/>
            </a:endParaRPr>
          </a:p>
          <a:p>
            <a:endParaRPr lang="es-AR" sz="2400" dirty="0"/>
          </a:p>
        </p:txBody>
      </p:sp>
    </p:spTree>
    <p:extLst>
      <p:ext uri="{BB962C8B-B14F-4D97-AF65-F5344CB8AC3E}">
        <p14:creationId xmlns:p14="http://schemas.microsoft.com/office/powerpoint/2010/main" val="197810901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0758A-9264-EEA9-8E2D-3BFA14447073}"/>
              </a:ext>
            </a:extLst>
          </p:cNvPr>
          <p:cNvSpPr>
            <a:spLocks noGrp="1"/>
          </p:cNvSpPr>
          <p:nvPr>
            <p:ph type="title"/>
          </p:nvPr>
        </p:nvSpPr>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dirty="0"/>
          </a:p>
        </p:txBody>
      </p:sp>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p:txBody>
          <a:bodyPr>
            <a:normAutofit fontScale="92500" lnSpcReduction="20000"/>
          </a:bodyPr>
          <a:lstStyle/>
          <a:p>
            <a:pPr marL="0" indent="0">
              <a:lnSpc>
                <a:spcPct val="107000"/>
              </a:lnSpc>
              <a:spcAft>
                <a:spcPts val="800"/>
              </a:spcAft>
              <a:buNone/>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TENDENCIAS RECIENTES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Globalización, mercados eficientes globales, pero mayor necesidad de regulación. Tecnología y comunicación.</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Globalización -&gt; Necesidad de mayor cooperación entre organismos reguladores a nivel internacional. </a:t>
            </a:r>
          </a:p>
          <a:p>
            <a:pPr marL="0" indent="0">
              <a:lnSpc>
                <a:spcPct val="107000"/>
              </a:lnSpc>
              <a:spcAft>
                <a:spcPts val="800"/>
              </a:spcAft>
              <a:buNone/>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La tarea no es fácil debido a:</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buFont typeface="Symbol" panose="05050102010706020507" pitchFamily="18" charset="2"/>
              <a:buChar char=""/>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Las diferentes estructuras bancarias y bursátiles entre las naciones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buFont typeface="Symbol" panose="05050102010706020507" pitchFamily="18" charset="2"/>
              <a:buChar char=""/>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Tendencia hacia conglomerados de servicios financieros que impide ver con claridad lo que ocurre en varios segmentos del mercado</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Renuencia de los países a ceder el control de su política monetaria</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Aun así, los reguladores coinciden en la necesidad de cerrar brechas en la supervisión de los mercados mundiales.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s-AR" dirty="0"/>
          </a:p>
        </p:txBody>
      </p:sp>
    </p:spTree>
    <p:extLst>
      <p:ext uri="{BB962C8B-B14F-4D97-AF65-F5344CB8AC3E}">
        <p14:creationId xmlns:p14="http://schemas.microsoft.com/office/powerpoint/2010/main" val="236584724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0758A-9264-EEA9-8E2D-3BFA14447073}"/>
              </a:ext>
            </a:extLst>
          </p:cNvPr>
          <p:cNvSpPr>
            <a:spLocks noGrp="1"/>
          </p:cNvSpPr>
          <p:nvPr>
            <p:ph type="title"/>
          </p:nvPr>
        </p:nvSpPr>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dirty="0"/>
          </a:p>
        </p:txBody>
      </p:sp>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p:txBody>
          <a:bodyPr>
            <a:normAutofit fontScale="92500" lnSpcReduction="20000"/>
          </a:bodyPr>
          <a:lstStyle/>
          <a:p>
            <a:pPr>
              <a:lnSpc>
                <a:spcPct val="107000"/>
              </a:lnSpc>
              <a:spcAft>
                <a:spcPts val="8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TENDENCIAS RECIENTES</a:t>
            </a:r>
          </a:p>
          <a:p>
            <a:pPr>
              <a:lnSpc>
                <a:spcPct val="107000"/>
              </a:lnSpc>
              <a:spcAft>
                <a:spcPts val="8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Otra </a:t>
            </a:r>
            <a:r>
              <a:rPr lang="es-AR" sz="1900" dirty="0">
                <a:solidFill>
                  <a:srgbClr val="212529"/>
                </a:solidFill>
                <a:effectLst/>
                <a:latin typeface="Calibri (Cuerpo)"/>
                <a:ea typeface="Times New Roman" panose="02020603050405020304" pitchFamily="18" charset="0"/>
                <a:cs typeface="Times New Roman" panose="02020603050405020304" pitchFamily="18" charset="0"/>
              </a:rPr>
              <a:t>importante</a:t>
            </a: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tendencia es el uso de </a:t>
            </a:r>
            <a:r>
              <a:rPr lang="es-AR" sz="1800" b="1"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derivados</a:t>
            </a: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que son cualquier activo financiero cuyo valor se deriva de otro activo “subyacente”, brindando a los inversores nuevas oportunidades, como así también los expone a nuevos riesgos. </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Para ilustrar la creciente importancia de los derivados, consideremos el caso de los </a:t>
            </a:r>
            <a:r>
              <a:rPr lang="es-AR" sz="1800" b="1"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Credit</a:t>
            </a:r>
            <a:r>
              <a:rPr lang="es-AR" sz="1800" b="1"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Default Swaps </a:t>
            </a: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(CDS) que pasó de 900.000 MM a 60 Billones de 2000 al 2008 para luego caer a 10 Billones (2017) por el impacto de la crisis 2008. Contribuyeron a crear la crisis del 2008</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Son contratos que ofrecen protección contra el incumplimiento de un valor particular. Un banco se asegura contra el impago de un cliente mediante pagos regulares a otra entidad financiera.</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Los derivados pueden usarse para reducir riesgos o para especular.</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Comprar futuros de trigo. Cobertura. Reducir la exposición al riesgo de aumento de precio</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Comprar futuros de trigo como especulación, por ejemplo, un banco que no está expuesto al riesgo por fluctuaciones en el precio del trigo.</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s-AR" dirty="0"/>
          </a:p>
        </p:txBody>
      </p:sp>
    </p:spTree>
    <p:extLst>
      <p:ext uri="{BB962C8B-B14F-4D97-AF65-F5344CB8AC3E}">
        <p14:creationId xmlns:p14="http://schemas.microsoft.com/office/powerpoint/2010/main" val="287975680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0758A-9264-EEA9-8E2D-3BFA14447073}"/>
              </a:ext>
            </a:extLst>
          </p:cNvPr>
          <p:cNvSpPr>
            <a:spLocks noGrp="1"/>
          </p:cNvSpPr>
          <p:nvPr>
            <p:ph type="title"/>
          </p:nvPr>
        </p:nvSpPr>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dirty="0"/>
          </a:p>
        </p:txBody>
      </p:sp>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p:txBody>
          <a:bodyPr vert="horz" lIns="91440" tIns="45720" rIns="91440" bIns="45720" rtlCol="0">
            <a:normAutofit/>
          </a:bodyPr>
          <a:lstStyle/>
          <a:p>
            <a:pPr>
              <a:lnSpc>
                <a:spcPct val="107000"/>
              </a:lnSpc>
              <a:spcAft>
                <a:spcPts val="800"/>
              </a:spcAft>
            </a:pPr>
            <a:r>
              <a:rPr lang="es-AR" sz="1800" dirty="0">
                <a:solidFill>
                  <a:srgbClr val="212529"/>
                </a:solidFill>
                <a:latin typeface="Segoe UI" panose="020B0502040204020203" pitchFamily="34" charset="0"/>
                <a:cs typeface="Times New Roman" panose="02020603050405020304" pitchFamily="18" charset="0"/>
              </a:rPr>
              <a:t>¿Pero cómo saber si un banco o compañía invierte en derivados como cobertura o como especulación? Es muy difícil saber cómo estos derivados afectan al perfil de riesgo de la empresa.</a:t>
            </a:r>
          </a:p>
          <a:p>
            <a:pPr>
              <a:lnSpc>
                <a:spcPct val="107000"/>
              </a:lnSpc>
              <a:spcAft>
                <a:spcPts val="800"/>
              </a:spcAft>
            </a:pPr>
            <a:r>
              <a:rPr lang="es-AR" sz="1800" dirty="0">
                <a:solidFill>
                  <a:srgbClr val="212529"/>
                </a:solidFill>
                <a:latin typeface="Segoe UI" panose="020B0502040204020203" pitchFamily="34" charset="0"/>
                <a:cs typeface="Times New Roman" panose="02020603050405020304" pitchFamily="18" charset="0"/>
              </a:rPr>
              <a:t>En el caso de instituciones financieras es más complicado aun, donde entran en juego tasas de interés, tipos de cambio y valor de acciones. Instituciones con inversiones en decenas de miles de derivados. Preocupación por su uso en Reguladores, Académicos y Congresistas en EE. UU. </a:t>
            </a:r>
          </a:p>
          <a:p>
            <a:pPr>
              <a:lnSpc>
                <a:spcPct val="107000"/>
              </a:lnSpc>
              <a:spcAft>
                <a:spcPts val="800"/>
              </a:spcAft>
            </a:pPr>
            <a:r>
              <a:rPr lang="es-AR" sz="1800" dirty="0">
                <a:solidFill>
                  <a:srgbClr val="212529"/>
                </a:solidFill>
                <a:latin typeface="Segoe UI" panose="020B0502040204020203" pitchFamily="34" charset="0"/>
                <a:cs typeface="Times New Roman" panose="02020603050405020304" pitchFamily="18" charset="0"/>
              </a:rPr>
              <a:t>P&amp;G reportó pérdidas por USD 150 MM en derivados. Los derivados relacionados con hipotecas, como ya mencionamos, contribuyeron al colapso del crédito en 2008.</a:t>
            </a:r>
          </a:p>
          <a:p>
            <a:pPr>
              <a:lnSpc>
                <a:spcPct val="107000"/>
              </a:lnSpc>
              <a:spcAft>
                <a:spcPts val="800"/>
              </a:spcAft>
            </a:pPr>
            <a:endParaRPr lang="es-AR" sz="1800" dirty="0">
              <a:solidFill>
                <a:srgbClr val="212529"/>
              </a:solidFill>
              <a:latin typeface="Segoe UI" panose="020B0502040204020203" pitchFamily="34" charset="0"/>
              <a:cs typeface="Times New Roman" panose="02020603050405020304" pitchFamily="18" charset="0"/>
            </a:endParaRPr>
          </a:p>
        </p:txBody>
      </p:sp>
    </p:spTree>
    <p:extLst>
      <p:ext uri="{BB962C8B-B14F-4D97-AF65-F5344CB8AC3E}">
        <p14:creationId xmlns:p14="http://schemas.microsoft.com/office/powerpoint/2010/main" val="174985712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0758A-9264-EEA9-8E2D-3BFA14447073}"/>
              </a:ext>
            </a:extLst>
          </p:cNvPr>
          <p:cNvSpPr>
            <a:spLocks noGrp="1"/>
          </p:cNvSpPr>
          <p:nvPr>
            <p:ph type="title"/>
          </p:nvPr>
        </p:nvSpPr>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dirty="0"/>
          </a:p>
        </p:txBody>
      </p:sp>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p:txBody>
          <a:bodyPr>
            <a:normAutofit fontScale="92500" lnSpcReduction="10000"/>
          </a:bodyPr>
          <a:lstStyle/>
          <a:p>
            <a:pPr marL="0" indent="0">
              <a:lnSpc>
                <a:spcPct val="107000"/>
              </a:lnSpc>
              <a:spcAft>
                <a:spcPts val="800"/>
              </a:spcAft>
              <a:buNone/>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INSTITUCIONES FINANCIERAS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Las grandes empresas utilizan instituciones financieras a la hora de reunir capital.</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En EE.UU. y otros países desarrollados han evolucionado una serie de intermediarios financieros muy eficientes. Pasaron de ser muy específicos a diversificarse, gracias a la flexibilización en las regulaciones. Otros, prefieren tener subsidiarias dedicadas a segmentos en particular.</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Las principales funciones de las instituciones son:</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buFont typeface="+mj-lt"/>
              <a:buAutoNum type="arabicPeriod"/>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Bancos de Inversión: tradicionalmente ayudan a las empresas a reunir capital.</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742950" lvl="1" indent="-285750">
              <a:lnSpc>
                <a:spcPct val="107000"/>
              </a:lnSpc>
              <a:buFont typeface="+mj-lt"/>
              <a:buAutoNum type="alphaLcPeriod"/>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Asisten a las corporaciones en el diseño de valores con características atractivas para el momento en que se ofrecen</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742950" lvl="1" indent="-285750">
              <a:lnSpc>
                <a:spcPct val="107000"/>
              </a:lnSpc>
              <a:spcAft>
                <a:spcPts val="800"/>
              </a:spcAft>
              <a:buFont typeface="+mj-lt"/>
              <a:buAutoNum type="alphaLcPeriod"/>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Compran esos valores a la corporación</a:t>
            </a:r>
          </a:p>
          <a:p>
            <a:pPr marL="3200400" lvl="7" indent="0">
              <a:lnSpc>
                <a:spcPct val="107000"/>
              </a:lnSpc>
              <a:spcAft>
                <a:spcPts val="800"/>
              </a:spcAft>
              <a:buNone/>
            </a:pPr>
            <a:r>
              <a:rPr lang="es-AR" sz="1100" dirty="0">
                <a:solidFill>
                  <a:srgbClr val="212529"/>
                </a:solidFill>
                <a:latin typeface="Segoe UI" panose="020B0502040204020203" pitchFamily="34" charset="0"/>
                <a:ea typeface="Times New Roman" panose="02020603050405020304" pitchFamily="18" charset="0"/>
                <a:cs typeface="Times New Roman" panose="02020603050405020304" pitchFamily="18" charset="0"/>
              </a:rPr>
              <a:t>					</a:t>
            </a:r>
            <a:r>
              <a:rPr lang="es-AR" sz="3200" dirty="0">
                <a:solidFill>
                  <a:srgbClr val="212529"/>
                </a:solidFill>
                <a:latin typeface="Segoe UI" panose="020B0502040204020203" pitchFamily="34" charset="0"/>
                <a:ea typeface="Times New Roman" panose="02020603050405020304" pitchFamily="18" charset="0"/>
                <a:cs typeface="Times New Roman" panose="02020603050405020304" pitchFamily="18" charset="0"/>
              </a:rPr>
              <a:t>	(sigue)</a:t>
            </a:r>
            <a:endParaRPr lang="es-AR" sz="11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777880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0758A-9264-EEA9-8E2D-3BFA14447073}"/>
              </a:ext>
            </a:extLst>
          </p:cNvPr>
          <p:cNvSpPr>
            <a:spLocks noGrp="1"/>
          </p:cNvSpPr>
          <p:nvPr>
            <p:ph type="title"/>
          </p:nvPr>
        </p:nvSpPr>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dirty="0"/>
          </a:p>
        </p:txBody>
      </p:sp>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p:txBody>
          <a:bodyPr>
            <a:normAutofit/>
          </a:bodyPr>
          <a:lstStyle/>
          <a:p>
            <a:pPr marL="0" indent="0">
              <a:lnSpc>
                <a:spcPct val="107000"/>
              </a:lnSpc>
              <a:spcAft>
                <a:spcPts val="800"/>
              </a:spcAft>
              <a:buNone/>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INSTITUCIONES FINANCIERAS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buFont typeface="+mj-lt"/>
              <a:buAutoNum type="arabicPeriod"/>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Bancos de Inversión:</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800100" lvl="1" indent="-342900">
              <a:lnSpc>
                <a:spcPct val="107000"/>
              </a:lnSpc>
              <a:spcAft>
                <a:spcPts val="800"/>
              </a:spcAft>
              <a:buFont typeface="+mj-lt"/>
              <a:buAutoNum type="alphaLcPeriod" startAt="3"/>
            </a:pPr>
            <a:r>
              <a:rPr lang="es-AR" sz="1800" dirty="0">
                <a:solidFill>
                  <a:srgbClr val="212529"/>
                </a:solidFill>
                <a:effectLst/>
                <a:latin typeface="Segoe UI" panose="020B0502040204020203" pitchFamily="34" charset="0"/>
                <a:ea typeface="Times New Roman" panose="02020603050405020304" pitchFamily="18" charset="0"/>
              </a:rPr>
              <a:t>Los revenden a los ahorristas. Como el Banco de inversión generalmente garantiza la obtención del capital necesario, estos bancos de inversión también son llamados Suscriptores. La crisis del crédito tuvo un drástico efecto en la industria de la banca de inversión. Bear </a:t>
            </a:r>
            <a:r>
              <a:rPr lang="es-AR" sz="1800" dirty="0" err="1">
                <a:solidFill>
                  <a:srgbClr val="212529"/>
                </a:solidFill>
                <a:effectLst/>
                <a:latin typeface="Segoe UI" panose="020B0502040204020203" pitchFamily="34" charset="0"/>
                <a:ea typeface="Times New Roman" panose="02020603050405020304" pitchFamily="18" charset="0"/>
              </a:rPr>
              <a:t>Stearns</a:t>
            </a:r>
            <a:r>
              <a:rPr lang="es-AR" sz="1800" dirty="0">
                <a:solidFill>
                  <a:srgbClr val="212529"/>
                </a:solidFill>
                <a:effectLst/>
                <a:latin typeface="Segoe UI" panose="020B0502040204020203" pitchFamily="34" charset="0"/>
                <a:ea typeface="Times New Roman" panose="02020603050405020304" pitchFamily="18" charset="0"/>
              </a:rPr>
              <a:t> se desplomó y fue comprada por JPMorgan, Lehman </a:t>
            </a:r>
            <a:r>
              <a:rPr lang="es-AR" sz="1800" dirty="0" err="1">
                <a:solidFill>
                  <a:srgbClr val="212529"/>
                </a:solidFill>
                <a:effectLst/>
                <a:latin typeface="Segoe UI" panose="020B0502040204020203" pitchFamily="34" charset="0"/>
                <a:ea typeface="Times New Roman" panose="02020603050405020304" pitchFamily="18" charset="0"/>
              </a:rPr>
              <a:t>Brothers</a:t>
            </a:r>
            <a:r>
              <a:rPr lang="es-AR" sz="1800" dirty="0">
                <a:solidFill>
                  <a:srgbClr val="212529"/>
                </a:solidFill>
                <a:effectLst/>
                <a:latin typeface="Segoe UI" panose="020B0502040204020203" pitchFamily="34" charset="0"/>
                <a:ea typeface="Times New Roman" panose="02020603050405020304" pitchFamily="18" charset="0"/>
              </a:rPr>
              <a:t> quebró y Merrill Lynch fue forzada a venderse al </a:t>
            </a:r>
            <a:r>
              <a:rPr lang="es-AR" sz="1800" dirty="0" err="1">
                <a:solidFill>
                  <a:srgbClr val="212529"/>
                </a:solidFill>
                <a:effectLst/>
                <a:latin typeface="Segoe UI" panose="020B0502040204020203" pitchFamily="34" charset="0"/>
                <a:ea typeface="Times New Roman" panose="02020603050405020304" pitchFamily="18" charset="0"/>
              </a:rPr>
              <a:t>BoA</a:t>
            </a:r>
            <a:r>
              <a:rPr lang="es-AR" sz="1800" dirty="0">
                <a:solidFill>
                  <a:srgbClr val="212529"/>
                </a:solidFill>
                <a:effectLst/>
                <a:latin typeface="Segoe UI" panose="020B0502040204020203" pitchFamily="34" charset="0"/>
                <a:ea typeface="Times New Roman" panose="02020603050405020304" pitchFamily="18" charset="0"/>
              </a:rPr>
              <a:t>. Los dos grandes sobrevivientes, Morgan Stanley y Goldman Sachs recibieron la aprobación de la Reserva Federal para convertirse en compañías tenedoras de bancos comerciales.</a:t>
            </a:r>
            <a:endParaRPr lang="es-AR" sz="1800" dirty="0"/>
          </a:p>
        </p:txBody>
      </p:sp>
    </p:spTree>
    <p:extLst>
      <p:ext uri="{BB962C8B-B14F-4D97-AF65-F5344CB8AC3E}">
        <p14:creationId xmlns:p14="http://schemas.microsoft.com/office/powerpoint/2010/main" val="205243929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0758A-9264-EEA9-8E2D-3BFA14447073}"/>
              </a:ext>
            </a:extLst>
          </p:cNvPr>
          <p:cNvSpPr>
            <a:spLocks noGrp="1"/>
          </p:cNvSpPr>
          <p:nvPr>
            <p:ph type="title"/>
          </p:nvPr>
        </p:nvSpPr>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dirty="0"/>
          </a:p>
        </p:txBody>
      </p:sp>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p:txBody>
          <a:bodyPr>
            <a:normAutofit fontScale="85000" lnSpcReduction="10000"/>
          </a:bodyPr>
          <a:lstStyle/>
          <a:p>
            <a:pPr marL="0" indent="0">
              <a:lnSpc>
                <a:spcPct val="107000"/>
              </a:lnSpc>
              <a:buNone/>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INSTITUCIONES FINANCIERAS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lvl="0" indent="0">
              <a:lnSpc>
                <a:spcPct val="107000"/>
              </a:lnSpc>
              <a:buNone/>
            </a:pPr>
            <a:endPar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endParaRPr>
          </a:p>
          <a:p>
            <a:pPr marL="342900" lvl="0" indent="-342900">
              <a:lnSpc>
                <a:spcPct val="107000"/>
              </a:lnSpc>
              <a:buFont typeface="+mj-lt"/>
              <a:buAutoNum type="arabicPeriod" startAt="2"/>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Bancos Comerciales: La tradicional tienda departamental de las finanzas, que atiende a una amplia variedad de ahorristas y deudores. </a:t>
            </a:r>
            <a:r>
              <a:rPr lang="es-AR"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BoA</a:t>
            </a: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Citibank, Wells Fargo y JPMorgan Chase. Históricamente manejaban las cuentas de cheques a través de las cuales el Sistema de la Reserva Federal expandía o contraía la oferta de dinero. Hoy hay otras instituciones que brindan </a:t>
            </a:r>
            <a:r>
              <a:rPr lang="es-AR" sz="1800" dirty="0">
                <a:solidFill>
                  <a:srgbClr val="212529"/>
                </a:solidFill>
                <a:latin typeface="Segoe UI" panose="020B0502040204020203" pitchFamily="34" charset="0"/>
                <a:ea typeface="Times New Roman" panose="02020603050405020304" pitchFamily="18" charset="0"/>
                <a:cs typeface="Times New Roman" panose="02020603050405020304" pitchFamily="18" charset="0"/>
              </a:rPr>
              <a:t>los mismos </a:t>
            </a: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servicios. Los Bancos más grandes suelen formar parte de </a:t>
            </a:r>
            <a:r>
              <a:rPr lang="es-AR" sz="1800" b="1"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Corporaciones de Servicios Financieros</a:t>
            </a: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buFont typeface="+mj-lt"/>
              <a:buAutoNum type="arabicPeriod" startAt="2"/>
            </a:pPr>
            <a:r>
              <a:rPr lang="es-AR" sz="1800" b="1"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Corporaciones de Servicios Financieros</a:t>
            </a: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son grandes conglomerados que combinan muchas instituciones financieras en una sola corporación. La mayoría empezó en un área y se fue ampliando. Citigroup tiene un banco Comercial, uno de Inversión, una Casa de Bolsa, Compañías de Seguros y </a:t>
            </a:r>
            <a:r>
              <a:rPr lang="es-AR" sz="1800" dirty="0">
                <a:solidFill>
                  <a:srgbClr val="212529"/>
                </a:solidFill>
                <a:latin typeface="Segoe UI" panose="020B0502040204020203" pitchFamily="34" charset="0"/>
                <a:ea typeface="Times New Roman" panose="02020603050405020304" pitchFamily="18" charset="0"/>
                <a:cs typeface="Times New Roman" panose="02020603050405020304" pitchFamily="18" charset="0"/>
              </a:rPr>
              <a:t>Compañías</a:t>
            </a: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Arrendadoras.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buFont typeface="+mj-lt"/>
              <a:buAutoNum type="arabicPeriod" startAt="2"/>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Uniones de Crédito: Cooperativas donde sus miembros tienen un lazo común. Préstamos entre miembros. Muy baratos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spcAft>
                <a:spcPts val="800"/>
              </a:spcAft>
              <a:buFont typeface="+mj-lt"/>
              <a:buAutoNum type="arabicPeriod" startAt="2"/>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Fondos de Pensiones: son planes de retiro financiados por corporaciones o entes gubernamentales para sus trabajadores y administrado principalmente por los departamentos fiduciarios de bancos Comerciales o Compañías de </a:t>
            </a:r>
            <a:r>
              <a:rPr lang="es-AR" sz="1800" dirty="0">
                <a:solidFill>
                  <a:srgbClr val="212529"/>
                </a:solidFill>
                <a:latin typeface="Segoe UI" panose="020B0502040204020203" pitchFamily="34" charset="0"/>
                <a:ea typeface="Times New Roman" panose="02020603050405020304" pitchFamily="18" charset="0"/>
                <a:cs typeface="Times New Roman" panose="02020603050405020304" pitchFamily="18" charset="0"/>
              </a:rPr>
              <a:t>S</a:t>
            </a: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eguros de Vida (Retiro en Argentina). Invierten en bonos, acciones, hipotecas y bienes raíces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s-AR" dirty="0"/>
          </a:p>
        </p:txBody>
      </p:sp>
    </p:spTree>
    <p:extLst>
      <p:ext uri="{BB962C8B-B14F-4D97-AF65-F5344CB8AC3E}">
        <p14:creationId xmlns:p14="http://schemas.microsoft.com/office/powerpoint/2010/main" val="314682727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p:txBody>
          <a:bodyPr>
            <a:normAutofit fontScale="92500" lnSpcReduction="10000"/>
          </a:bodyPr>
          <a:lstStyle/>
          <a:p>
            <a:pPr marL="0" indent="0">
              <a:lnSpc>
                <a:spcPct val="107000"/>
              </a:lnSpc>
              <a:buNone/>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INSTITUCIONES FINANCIERAS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lvl="0" indent="0">
              <a:lnSpc>
                <a:spcPct val="107000"/>
              </a:lnSpc>
              <a:buNone/>
            </a:pPr>
            <a:endPar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endParaRPr>
          </a:p>
          <a:p>
            <a:pPr marL="342900" lvl="0" indent="-342900">
              <a:lnSpc>
                <a:spcPct val="107000"/>
              </a:lnSpc>
              <a:buFont typeface="+mj-lt"/>
              <a:buAutoNum type="arabicPeriod" startAt="6"/>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Compañías de Seguros de Vida: toman fondos en forma de primas anuales e invierten en bonos, acciones, bienes raíces e hipotecas, y hacen pagos a los asegurados. Las aseguradoras se fueron sofisticando y ofreciendo fondos de ahorro con diferimiento de impuestos.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buFont typeface="+mj-lt"/>
              <a:buAutoNum type="arabicPeriod" startAt="6"/>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Fondos de inversión: Organizaciones que aceptan dinero de los ahorristas y después lo utilizan para comprar distintos instrumentos financieros para reducir el riesgo mediante la diversificación. Economías de escala en el análisis de instrumentos, gestión de carteras y compraventa de valores. Distintos fondos para distintos perfiles de ahorristas. También hay fondos del mercado de dinero, con liquidez inmediata y que pagan intereses. Hay una gran diferencia entre fondos activamente administrados (comisiones más altas, rendimientos esperados superiores) y fondos indizados (su objetivo es replicar índices).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spcAft>
                <a:spcPts val="800"/>
              </a:spcAft>
              <a:buFont typeface="+mj-lt"/>
              <a:buAutoNum type="arabicPeriod" startAt="6"/>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Fondos en tiempo Real (ETF). Operados normalmente por compañías de fondos de inversión. Adquieren activos de cierta característica y venden sus propias acciones al público. Es una forma de invertir en un tipo de activos para el ahorrista (</a:t>
            </a:r>
            <a:r>
              <a:rPr lang="es-AR"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p.e</a:t>
            </a: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Empresas Chinas)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s-AR" dirty="0"/>
          </a:p>
        </p:txBody>
      </p:sp>
      <p:sp>
        <p:nvSpPr>
          <p:cNvPr id="4" name="Título 1">
            <a:extLst>
              <a:ext uri="{FF2B5EF4-FFF2-40B4-BE49-F238E27FC236}">
                <a16:creationId xmlns:a16="http://schemas.microsoft.com/office/drawing/2014/main" id="{D4F52391-3674-E7E5-3271-8C8DF460E7D8}"/>
              </a:ext>
            </a:extLst>
          </p:cNvPr>
          <p:cNvSpPr>
            <a:spLocks noGrp="1"/>
          </p:cNvSpPr>
          <p:nvPr>
            <p:ph type="title"/>
          </p:nvPr>
        </p:nvSpPr>
        <p:spPr>
          <a:xfrm>
            <a:off x="838200" y="365125"/>
            <a:ext cx="10515600" cy="1325563"/>
          </a:xfrm>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dirty="0"/>
          </a:p>
        </p:txBody>
      </p:sp>
    </p:spTree>
    <p:extLst>
      <p:ext uri="{BB962C8B-B14F-4D97-AF65-F5344CB8AC3E}">
        <p14:creationId xmlns:p14="http://schemas.microsoft.com/office/powerpoint/2010/main" val="195492521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p:txBody>
          <a:bodyPr>
            <a:normAutofit fontScale="92500" lnSpcReduction="10000"/>
          </a:bodyPr>
          <a:lstStyle/>
          <a:p>
            <a:pPr marL="0" indent="0">
              <a:spcBef>
                <a:spcPts val="300"/>
              </a:spcBef>
              <a:spcAft>
                <a:spcPts val="2100"/>
              </a:spcAft>
              <a:buNone/>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INSTITUCIONES FINANCIERAS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spcBef>
                <a:spcPts val="300"/>
              </a:spcBef>
              <a:spcAft>
                <a:spcPts val="2100"/>
              </a:spcAft>
            </a:pPr>
            <a:r>
              <a:rPr lang="es-AR" sz="1800" dirty="0">
                <a:solidFill>
                  <a:srgbClr val="212529"/>
                </a:solidFill>
                <a:latin typeface="Segoe UI" panose="020B0502040204020203" pitchFamily="34" charset="0"/>
                <a:cs typeface="Times New Roman" panose="02020603050405020304" pitchFamily="18" charset="0"/>
              </a:rPr>
              <a:t>Un ETF es un instrumento de inversión que ofrece el mercado internacional, a partir del cual, con un mínimo capital, se puede participar en diferentes empresas a la vez.</a:t>
            </a:r>
          </a:p>
          <a:p>
            <a:pPr>
              <a:spcBef>
                <a:spcPts val="300"/>
              </a:spcBef>
              <a:spcAft>
                <a:spcPts val="2100"/>
              </a:spcAft>
            </a:pPr>
            <a:r>
              <a:rPr lang="es-AR" sz="1800" dirty="0">
                <a:solidFill>
                  <a:srgbClr val="212529"/>
                </a:solidFill>
                <a:latin typeface="Segoe UI" panose="020B0502040204020203" pitchFamily="34" charset="0"/>
                <a:cs typeface="Times New Roman" panose="02020603050405020304" pitchFamily="18" charset="0"/>
              </a:rPr>
              <a:t>Un Exchange </a:t>
            </a:r>
            <a:r>
              <a:rPr lang="es-AR" sz="1800" dirty="0" err="1">
                <a:solidFill>
                  <a:srgbClr val="212529"/>
                </a:solidFill>
                <a:latin typeface="Segoe UI" panose="020B0502040204020203" pitchFamily="34" charset="0"/>
                <a:cs typeface="Times New Roman" panose="02020603050405020304" pitchFamily="18" charset="0"/>
              </a:rPr>
              <a:t>Traded</a:t>
            </a:r>
            <a:r>
              <a:rPr lang="es-AR" sz="1800" dirty="0">
                <a:solidFill>
                  <a:srgbClr val="212529"/>
                </a:solidFill>
                <a:latin typeface="Segoe UI" panose="020B0502040204020203" pitchFamily="34" charset="0"/>
                <a:cs typeface="Times New Roman" panose="02020603050405020304" pitchFamily="18" charset="0"/>
              </a:rPr>
              <a:t> </a:t>
            </a:r>
            <a:r>
              <a:rPr lang="es-AR" sz="1800" dirty="0" err="1">
                <a:solidFill>
                  <a:srgbClr val="212529"/>
                </a:solidFill>
                <a:latin typeface="Segoe UI" panose="020B0502040204020203" pitchFamily="34" charset="0"/>
                <a:cs typeface="Times New Roman" panose="02020603050405020304" pitchFamily="18" charset="0"/>
              </a:rPr>
              <a:t>Fund</a:t>
            </a:r>
            <a:r>
              <a:rPr lang="es-AR" sz="1800" dirty="0">
                <a:solidFill>
                  <a:srgbClr val="212529"/>
                </a:solidFill>
                <a:latin typeface="Segoe UI" panose="020B0502040204020203" pitchFamily="34" charset="0"/>
                <a:cs typeface="Times New Roman" panose="02020603050405020304" pitchFamily="18" charset="0"/>
              </a:rPr>
              <a:t> (ETF) es un activo que generalmente se define como un híbrido entre un fondo de inversión y otro activo de cotización en el mercado, como, por ejemplo, las acciones. En argentina se pueden acceder a ellos por medio de </a:t>
            </a:r>
            <a:r>
              <a:rPr lang="es-AR" sz="1800" dirty="0" err="1">
                <a:solidFill>
                  <a:srgbClr val="212529"/>
                </a:solidFill>
                <a:latin typeface="Segoe UI" panose="020B0502040204020203" pitchFamily="34" charset="0"/>
                <a:cs typeface="Times New Roman" panose="02020603050405020304" pitchFamily="18" charset="0"/>
              </a:rPr>
              <a:t>CEDEARs</a:t>
            </a:r>
            <a:r>
              <a:rPr lang="es-AR" sz="1800" dirty="0">
                <a:solidFill>
                  <a:srgbClr val="212529"/>
                </a:solidFill>
                <a:latin typeface="Segoe UI" panose="020B0502040204020203" pitchFamily="34" charset="0"/>
                <a:cs typeface="Times New Roman" panose="02020603050405020304" pitchFamily="18" charset="0"/>
              </a:rPr>
              <a:t> de ETFS. Este instrumento financiero le permite al inversor comprar o vender el ETF como cualquier otra acción operada en el mercado bursátil.</a:t>
            </a:r>
          </a:p>
          <a:p>
            <a:pPr>
              <a:spcBef>
                <a:spcPts val="300"/>
              </a:spcBef>
              <a:spcAft>
                <a:spcPts val="2100"/>
              </a:spcAft>
            </a:pPr>
            <a:r>
              <a:rPr lang="es-AR" sz="1800" dirty="0">
                <a:solidFill>
                  <a:srgbClr val="212529"/>
                </a:solidFill>
                <a:latin typeface="Segoe UI" panose="020B0502040204020203" pitchFamily="34" charset="0"/>
                <a:cs typeface="Times New Roman" panose="02020603050405020304" pitchFamily="18" charset="0"/>
              </a:rPr>
              <a:t>De esta manera, al comprar un CEDEAR de ETF, estamos comprando un conjunto de activos, que son manejados por expertos que analizan y eligen las mejores opciones de inversión.</a:t>
            </a:r>
          </a:p>
          <a:p>
            <a:pPr>
              <a:spcBef>
                <a:spcPts val="300"/>
              </a:spcBef>
              <a:spcAft>
                <a:spcPts val="2100"/>
              </a:spcAft>
            </a:pPr>
            <a:r>
              <a:rPr lang="es-AR" sz="1800" dirty="0">
                <a:solidFill>
                  <a:srgbClr val="212529"/>
                </a:solidFill>
                <a:latin typeface="Segoe UI" panose="020B0502040204020203" pitchFamily="34" charset="0"/>
                <a:cs typeface="Times New Roman" panose="02020603050405020304" pitchFamily="18" charset="0"/>
              </a:rPr>
              <a:t>Actualmente hay más de 8.000 ETF a nivel mundial. Este tipo de instrumento tiene como fin replicar el rendimiento de otros activos. Estos pueden ser índices, industrias, </a:t>
            </a:r>
            <a:r>
              <a:rPr lang="es-AR" sz="1800" dirty="0" err="1">
                <a:solidFill>
                  <a:srgbClr val="212529"/>
                </a:solidFill>
                <a:latin typeface="Segoe UI" panose="020B0502040204020203" pitchFamily="34" charset="0"/>
                <a:cs typeface="Times New Roman" panose="02020603050405020304" pitchFamily="18" charset="0"/>
              </a:rPr>
              <a:t>commodities</a:t>
            </a:r>
            <a:r>
              <a:rPr lang="es-AR" sz="1800" dirty="0">
                <a:solidFill>
                  <a:srgbClr val="212529"/>
                </a:solidFill>
                <a:latin typeface="Segoe UI" panose="020B0502040204020203" pitchFamily="34" charset="0"/>
                <a:cs typeface="Times New Roman" panose="02020603050405020304" pitchFamily="18" charset="0"/>
              </a:rPr>
              <a:t>, monedas, etc. Algunas similitudes con los Fondos Comunes de Inversión son que en ambos el inversor compra una participación y están gestionados por un portfolio manager.</a:t>
            </a:r>
          </a:p>
          <a:p>
            <a:endParaRPr lang="es-AR" dirty="0"/>
          </a:p>
        </p:txBody>
      </p:sp>
      <p:sp>
        <p:nvSpPr>
          <p:cNvPr id="4" name="Título 1">
            <a:extLst>
              <a:ext uri="{FF2B5EF4-FFF2-40B4-BE49-F238E27FC236}">
                <a16:creationId xmlns:a16="http://schemas.microsoft.com/office/drawing/2014/main" id="{AC2CE0E4-4C1F-541C-B423-3C580AB1A485}"/>
              </a:ext>
            </a:extLst>
          </p:cNvPr>
          <p:cNvSpPr>
            <a:spLocks noGrp="1"/>
          </p:cNvSpPr>
          <p:nvPr>
            <p:ph type="title"/>
          </p:nvPr>
        </p:nvSpPr>
        <p:spPr>
          <a:xfrm>
            <a:off x="838200" y="365125"/>
            <a:ext cx="10515600" cy="1325563"/>
          </a:xfrm>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dirty="0"/>
          </a:p>
        </p:txBody>
      </p:sp>
    </p:spTree>
    <p:extLst>
      <p:ext uri="{BB962C8B-B14F-4D97-AF65-F5344CB8AC3E}">
        <p14:creationId xmlns:p14="http://schemas.microsoft.com/office/powerpoint/2010/main" val="274957753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p:txBody>
          <a:bodyPr>
            <a:normAutofit/>
          </a:bodyPr>
          <a:lstStyle/>
          <a:p>
            <a:pPr marL="0" indent="0">
              <a:spcBef>
                <a:spcPts val="300"/>
              </a:spcBef>
              <a:spcAft>
                <a:spcPts val="300"/>
              </a:spcAft>
              <a:buNone/>
            </a:pPr>
            <a:r>
              <a:rPr lang="es-AR" sz="1800" dirty="0">
                <a:solidFill>
                  <a:srgbClr val="0D2055"/>
                </a:solidFill>
                <a:effectLst/>
                <a:latin typeface="var(--font-body)"/>
                <a:ea typeface="Times New Roman" panose="02020603050405020304" pitchFamily="18" charset="0"/>
                <a:cs typeface="Open Sans" panose="020B0606030504020204" pitchFamily="34" charset="0"/>
              </a:rPr>
              <a:t>Existen muchos tipos de </a:t>
            </a:r>
            <a:r>
              <a:rPr lang="es-AR" sz="1800" dirty="0" err="1">
                <a:solidFill>
                  <a:srgbClr val="0D2055"/>
                </a:solidFill>
                <a:effectLst/>
                <a:latin typeface="var(--font-body)"/>
                <a:ea typeface="Times New Roman" panose="02020603050405020304" pitchFamily="18" charset="0"/>
                <a:cs typeface="Open Sans" panose="020B0606030504020204" pitchFamily="34" charset="0"/>
              </a:rPr>
              <a:t>ETFs</a:t>
            </a:r>
            <a:r>
              <a:rPr lang="es-AR" sz="1800" dirty="0">
                <a:solidFill>
                  <a:srgbClr val="0D2055"/>
                </a:solidFill>
                <a:effectLst/>
                <a:latin typeface="var(--font-body)"/>
                <a:ea typeface="Times New Roman" panose="02020603050405020304" pitchFamily="18" charset="0"/>
                <a:cs typeface="Open Sans" panose="020B0606030504020204" pitchFamily="34" charset="0"/>
              </a:rPr>
              <a:t> en el mundo:</a:t>
            </a:r>
            <a:endParaRPr lang="es-AR" sz="1800" dirty="0">
              <a:effectLst/>
              <a:latin typeface="Times New Roman" panose="02020603050405020304" pitchFamily="18" charset="0"/>
              <a:ea typeface="Times New Roman" panose="02020603050405020304" pitchFamily="18" charset="0"/>
            </a:endParaRPr>
          </a:p>
          <a:p>
            <a:pPr marL="342900" lvl="0" indent="-342900">
              <a:lnSpc>
                <a:spcPct val="107000"/>
              </a:lnSpc>
              <a:spcBef>
                <a:spcPts val="300"/>
              </a:spcBef>
              <a:spcAft>
                <a:spcPts val="300"/>
              </a:spcAft>
              <a:buSzPts val="1000"/>
              <a:buFont typeface="Symbol" panose="05050102010706020507" pitchFamily="18" charset="2"/>
              <a:buChar char=""/>
              <a:tabLst>
                <a:tab pos="457200" algn="l"/>
              </a:tabLst>
            </a:pPr>
            <a:r>
              <a:rPr lang="es-AR" sz="1800" b="1" dirty="0">
                <a:solidFill>
                  <a:srgbClr val="0D2055"/>
                </a:solidFill>
                <a:effectLst/>
                <a:latin typeface="var(--font-body)"/>
                <a:ea typeface="Times New Roman" panose="02020603050405020304" pitchFamily="18" charset="0"/>
                <a:cs typeface="Open Sans" panose="020B0606030504020204" pitchFamily="34" charset="0"/>
              </a:rPr>
              <a:t>ETF de acumulación:</a:t>
            </a:r>
            <a:r>
              <a:rPr lang="es-AR" sz="1800" dirty="0">
                <a:solidFill>
                  <a:srgbClr val="0D2055"/>
                </a:solidFill>
                <a:effectLst/>
                <a:latin typeface="var(--font-body)"/>
                <a:ea typeface="Times New Roman" panose="02020603050405020304" pitchFamily="18" charset="0"/>
                <a:cs typeface="Open Sans" panose="020B0606030504020204" pitchFamily="34" charset="0"/>
              </a:rPr>
              <a:t> se trata de aquellos fondos que no distribuyen dividendos porque estos se reinvierten.</a:t>
            </a:r>
            <a:endParaRPr lang="es-AR" sz="1800" dirty="0">
              <a:solidFill>
                <a:srgbClr val="0D2055"/>
              </a:solidFill>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spcBef>
                <a:spcPts val="300"/>
              </a:spcBef>
              <a:spcAft>
                <a:spcPts val="300"/>
              </a:spcAft>
              <a:buSzPts val="1000"/>
              <a:buFont typeface="Symbol" panose="05050102010706020507" pitchFamily="18" charset="2"/>
              <a:buChar char=""/>
              <a:tabLst>
                <a:tab pos="457200" algn="l"/>
              </a:tabLst>
            </a:pPr>
            <a:r>
              <a:rPr lang="es-AR" sz="1800" b="1" dirty="0">
                <a:solidFill>
                  <a:srgbClr val="0D2055"/>
                </a:solidFill>
                <a:effectLst/>
                <a:latin typeface="var(--font-body)"/>
                <a:ea typeface="Times New Roman" panose="02020603050405020304" pitchFamily="18" charset="0"/>
                <a:cs typeface="Open Sans" panose="020B0606030504020204" pitchFamily="34" charset="0"/>
              </a:rPr>
              <a:t>ETF de distribución:</a:t>
            </a:r>
            <a:r>
              <a:rPr lang="es-AR" sz="1800" dirty="0">
                <a:solidFill>
                  <a:srgbClr val="0D2055"/>
                </a:solidFill>
                <a:effectLst/>
                <a:latin typeface="var(--font-body)"/>
                <a:ea typeface="Times New Roman" panose="02020603050405020304" pitchFamily="18" charset="0"/>
                <a:cs typeface="Open Sans" panose="020B0606030504020204" pitchFamily="34" charset="0"/>
              </a:rPr>
              <a:t> este tipo de fondo reparte dividendos que acumula en una cuenta no remunerada hasta el período de pago que fue definido.</a:t>
            </a:r>
            <a:endParaRPr lang="es-AR" sz="1800" dirty="0">
              <a:solidFill>
                <a:srgbClr val="0D2055"/>
              </a:solidFill>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spcBef>
                <a:spcPts val="300"/>
              </a:spcBef>
              <a:spcAft>
                <a:spcPts val="300"/>
              </a:spcAft>
              <a:buSzPts val="1000"/>
              <a:buFont typeface="Symbol" panose="05050102010706020507" pitchFamily="18" charset="2"/>
              <a:buChar char=""/>
              <a:tabLst>
                <a:tab pos="457200" algn="l"/>
              </a:tabLst>
            </a:pPr>
            <a:r>
              <a:rPr lang="es-AR" sz="1800" b="1" dirty="0">
                <a:solidFill>
                  <a:srgbClr val="0D2055"/>
                </a:solidFill>
                <a:effectLst/>
                <a:latin typeface="var(--font-body)"/>
                <a:ea typeface="Times New Roman" panose="02020603050405020304" pitchFamily="18" charset="0"/>
                <a:cs typeface="Open Sans" panose="020B0606030504020204" pitchFamily="34" charset="0"/>
              </a:rPr>
              <a:t>ETF de gestión activa:</a:t>
            </a:r>
            <a:r>
              <a:rPr lang="es-AR" sz="1800" dirty="0">
                <a:solidFill>
                  <a:srgbClr val="0D2055"/>
                </a:solidFill>
                <a:effectLst/>
                <a:latin typeface="var(--font-body)"/>
                <a:ea typeface="Times New Roman" panose="02020603050405020304" pitchFamily="18" charset="0"/>
                <a:cs typeface="Open Sans" panose="020B0606030504020204" pitchFamily="34" charset="0"/>
              </a:rPr>
              <a:t> la cartera puede variar, ofrece la posibilidad de obtener rentabilidades positivas aun en años negativos para la bolsa o, incluso rentabilidades superiores al índice.</a:t>
            </a:r>
            <a:endParaRPr lang="es-AR" sz="1800" dirty="0">
              <a:solidFill>
                <a:srgbClr val="0D2055"/>
              </a:solidFill>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spcBef>
                <a:spcPts val="300"/>
              </a:spcBef>
              <a:spcAft>
                <a:spcPts val="300"/>
              </a:spcAft>
              <a:buSzPts val="1000"/>
              <a:buFont typeface="Symbol" panose="05050102010706020507" pitchFamily="18" charset="2"/>
              <a:buChar char=""/>
              <a:tabLst>
                <a:tab pos="457200" algn="l"/>
              </a:tabLst>
            </a:pPr>
            <a:r>
              <a:rPr lang="es-AR" sz="1800" b="1" dirty="0">
                <a:solidFill>
                  <a:srgbClr val="0D2055"/>
                </a:solidFill>
                <a:effectLst/>
                <a:latin typeface="var(--font-body)"/>
                <a:ea typeface="Times New Roman" panose="02020603050405020304" pitchFamily="18" charset="0"/>
                <a:cs typeface="Open Sans" panose="020B0606030504020204" pitchFamily="34" charset="0"/>
              </a:rPr>
              <a:t>ETF de gestión pasiva:</a:t>
            </a:r>
            <a:r>
              <a:rPr lang="es-AR" sz="1800" dirty="0">
                <a:solidFill>
                  <a:srgbClr val="0D2055"/>
                </a:solidFill>
                <a:effectLst/>
                <a:latin typeface="var(--font-body)"/>
                <a:ea typeface="Times New Roman" panose="02020603050405020304" pitchFamily="18" charset="0"/>
                <a:cs typeface="Open Sans" panose="020B0606030504020204" pitchFamily="34" charset="0"/>
              </a:rPr>
              <a:t> Se busca correlacionar los retornos del ETF con los de índice de referencia, este tipo de fondos puede ser de réplica física o de réplica sintética.</a:t>
            </a:r>
            <a:endParaRPr lang="es-AR" sz="1800" dirty="0">
              <a:solidFill>
                <a:srgbClr val="0D2055"/>
              </a:solidFill>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spcBef>
                <a:spcPts val="300"/>
              </a:spcBef>
              <a:spcAft>
                <a:spcPts val="300"/>
              </a:spcAft>
              <a:buSzPts val="1000"/>
              <a:buFont typeface="Symbol" panose="05050102010706020507" pitchFamily="18" charset="2"/>
              <a:buChar char=""/>
              <a:tabLst>
                <a:tab pos="457200" algn="l"/>
              </a:tabLst>
            </a:pPr>
            <a:r>
              <a:rPr lang="es-AR" sz="1800" b="1" dirty="0">
                <a:solidFill>
                  <a:srgbClr val="0D2055"/>
                </a:solidFill>
                <a:effectLst/>
                <a:latin typeface="var(--font-body)"/>
                <a:ea typeface="Times New Roman" panose="02020603050405020304" pitchFamily="18" charset="0"/>
                <a:cs typeface="Open Sans" panose="020B0606030504020204" pitchFamily="34" charset="0"/>
              </a:rPr>
              <a:t>ETF de réplica física:</a:t>
            </a:r>
            <a:r>
              <a:rPr lang="es-AR" sz="1800" dirty="0">
                <a:solidFill>
                  <a:srgbClr val="0D2055"/>
                </a:solidFill>
                <a:effectLst/>
                <a:latin typeface="var(--font-body)"/>
                <a:ea typeface="Times New Roman" panose="02020603050405020304" pitchFamily="18" charset="0"/>
                <a:cs typeface="Open Sans" panose="020B0606030504020204" pitchFamily="34" charset="0"/>
              </a:rPr>
              <a:t> son aquellos en los que el fondo cotizado invierte en los valores que componen el índice en su misma proporción.</a:t>
            </a:r>
            <a:endParaRPr lang="es-AR" sz="1800" dirty="0">
              <a:solidFill>
                <a:srgbClr val="0D2055"/>
              </a:solidFill>
              <a:effectLst/>
              <a:latin typeface="Calibri" panose="020F0502020204030204" pitchFamily="34" charset="0"/>
              <a:ea typeface="Times New Roman" panose="02020603050405020304" pitchFamily="18" charset="0"/>
              <a:cs typeface="Times New Roman" panose="02020603050405020304" pitchFamily="18" charset="0"/>
            </a:endParaRPr>
          </a:p>
          <a:p>
            <a:pPr marL="0" indent="0">
              <a:spcBef>
                <a:spcPts val="300"/>
              </a:spcBef>
              <a:spcAft>
                <a:spcPts val="300"/>
              </a:spcAft>
              <a:buNone/>
            </a:pPr>
            <a:endParaRPr lang="es-AR" dirty="0"/>
          </a:p>
        </p:txBody>
      </p:sp>
      <p:sp>
        <p:nvSpPr>
          <p:cNvPr id="4" name="Título 1">
            <a:extLst>
              <a:ext uri="{FF2B5EF4-FFF2-40B4-BE49-F238E27FC236}">
                <a16:creationId xmlns:a16="http://schemas.microsoft.com/office/drawing/2014/main" id="{7DE1687D-1F80-7190-CCCB-6BB2CFEC51B5}"/>
              </a:ext>
            </a:extLst>
          </p:cNvPr>
          <p:cNvSpPr>
            <a:spLocks noGrp="1"/>
          </p:cNvSpPr>
          <p:nvPr>
            <p:ph type="title"/>
          </p:nvPr>
        </p:nvSpPr>
        <p:spPr>
          <a:xfrm>
            <a:off x="838200" y="365125"/>
            <a:ext cx="10515600" cy="1325563"/>
          </a:xfrm>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a:t>
            </a:r>
            <a:r>
              <a:rPr lang="es-AR" sz="4400" b="1" u="sng" dirty="0" err="1">
                <a:effectLst/>
                <a:latin typeface="Calibri" panose="020F0502020204030204" pitchFamily="34" charset="0"/>
                <a:ea typeface="Times New Roman" panose="02020603050405020304" pitchFamily="18" charset="0"/>
                <a:cs typeface="Times New Roman" panose="02020603050405020304" pitchFamily="18" charset="0"/>
              </a:rPr>
              <a:t>FINANCIEROSc</a:t>
            </a:r>
            <a:endParaRPr lang="es-AR" dirty="0"/>
          </a:p>
        </p:txBody>
      </p:sp>
    </p:spTree>
    <p:extLst>
      <p:ext uri="{BB962C8B-B14F-4D97-AF65-F5344CB8AC3E}">
        <p14:creationId xmlns:p14="http://schemas.microsoft.com/office/powerpoint/2010/main" val="261328360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p:txBody>
          <a:bodyPr>
            <a:normAutofit/>
          </a:bodyPr>
          <a:lstStyle/>
          <a:p>
            <a:pPr marL="0" indent="0">
              <a:spcBef>
                <a:spcPts val="300"/>
              </a:spcBef>
              <a:spcAft>
                <a:spcPts val="300"/>
              </a:spcAft>
              <a:buNone/>
            </a:pPr>
            <a:r>
              <a:rPr lang="es-AR" sz="1800" dirty="0">
                <a:solidFill>
                  <a:srgbClr val="0D2055"/>
                </a:solidFill>
                <a:effectLst/>
                <a:latin typeface="var(--font-body)"/>
                <a:ea typeface="Times New Roman" panose="02020603050405020304" pitchFamily="18" charset="0"/>
                <a:cs typeface="Open Sans" panose="020B0606030504020204" pitchFamily="34" charset="0"/>
              </a:rPr>
              <a:t>Existen muchos tipos de </a:t>
            </a:r>
            <a:r>
              <a:rPr lang="es-AR" sz="1800" dirty="0" err="1">
                <a:solidFill>
                  <a:srgbClr val="0D2055"/>
                </a:solidFill>
                <a:effectLst/>
                <a:latin typeface="var(--font-body)"/>
                <a:ea typeface="Times New Roman" panose="02020603050405020304" pitchFamily="18" charset="0"/>
                <a:cs typeface="Open Sans" panose="020B0606030504020204" pitchFamily="34" charset="0"/>
              </a:rPr>
              <a:t>ETFs</a:t>
            </a:r>
            <a:r>
              <a:rPr lang="es-AR" sz="1800" dirty="0">
                <a:solidFill>
                  <a:srgbClr val="0D2055"/>
                </a:solidFill>
                <a:effectLst/>
                <a:latin typeface="var(--font-body)"/>
                <a:ea typeface="Times New Roman" panose="02020603050405020304" pitchFamily="18" charset="0"/>
                <a:cs typeface="Open Sans" panose="020B0606030504020204" pitchFamily="34" charset="0"/>
              </a:rPr>
              <a:t> en el mundo:</a:t>
            </a:r>
            <a:endParaRPr lang="es-AR" sz="1800" dirty="0">
              <a:effectLst/>
              <a:latin typeface="Times New Roman" panose="02020603050405020304" pitchFamily="18" charset="0"/>
              <a:ea typeface="Times New Roman" panose="02020603050405020304" pitchFamily="18" charset="0"/>
            </a:endParaRPr>
          </a:p>
          <a:p>
            <a:pPr marL="342900" lvl="0" indent="-342900">
              <a:lnSpc>
                <a:spcPct val="107000"/>
              </a:lnSpc>
              <a:spcBef>
                <a:spcPts val="300"/>
              </a:spcBef>
              <a:spcAft>
                <a:spcPts val="300"/>
              </a:spcAft>
              <a:buSzPts val="1000"/>
              <a:buFont typeface="Symbol" panose="05050102010706020507" pitchFamily="18" charset="2"/>
              <a:buChar char=""/>
              <a:tabLst>
                <a:tab pos="457200" algn="l"/>
              </a:tabLst>
            </a:pPr>
            <a:r>
              <a:rPr lang="es-AR" sz="1800" b="1" dirty="0">
                <a:solidFill>
                  <a:srgbClr val="0D2055"/>
                </a:solidFill>
                <a:effectLst/>
                <a:latin typeface="var(--font-body)"/>
                <a:ea typeface="Times New Roman" panose="02020603050405020304" pitchFamily="18" charset="0"/>
                <a:cs typeface="Open Sans" panose="020B0606030504020204" pitchFamily="34" charset="0"/>
              </a:rPr>
              <a:t>ETF de réplica física sintética:</a:t>
            </a:r>
            <a:r>
              <a:rPr lang="es-AR" sz="1800" dirty="0">
                <a:solidFill>
                  <a:srgbClr val="0D2055"/>
                </a:solidFill>
                <a:effectLst/>
                <a:latin typeface="var(--font-body)"/>
                <a:ea typeface="Times New Roman" panose="02020603050405020304" pitchFamily="18" charset="0"/>
                <a:cs typeface="Open Sans" panose="020B0606030504020204" pitchFamily="34" charset="0"/>
              </a:rPr>
              <a:t> este tipo de fondos no se construye directamente con los activos que integran la cartera del índice que pretenden seguir, sino mediante swaps que replican la rentabilidad asociada a un índice de referencia.</a:t>
            </a:r>
            <a:endParaRPr lang="es-AR" sz="1800" dirty="0">
              <a:solidFill>
                <a:srgbClr val="0D2055"/>
              </a:solidFill>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spcBef>
                <a:spcPts val="300"/>
              </a:spcBef>
              <a:spcAft>
                <a:spcPts val="300"/>
              </a:spcAft>
              <a:buSzPts val="1000"/>
              <a:buFont typeface="Symbol" panose="05050102010706020507" pitchFamily="18" charset="2"/>
              <a:buChar char=""/>
              <a:tabLst>
                <a:tab pos="457200" algn="l"/>
              </a:tabLst>
            </a:pPr>
            <a:r>
              <a:rPr lang="es-AR" sz="1800" b="1" dirty="0">
                <a:solidFill>
                  <a:srgbClr val="0D2055"/>
                </a:solidFill>
                <a:effectLst/>
                <a:latin typeface="var(--font-body)"/>
                <a:ea typeface="Times New Roman" panose="02020603050405020304" pitchFamily="18" charset="0"/>
                <a:cs typeface="Open Sans" panose="020B0606030504020204" pitchFamily="34" charset="0"/>
              </a:rPr>
              <a:t>ETF inverso:</a:t>
            </a:r>
            <a:r>
              <a:rPr lang="es-AR" sz="1800" dirty="0">
                <a:solidFill>
                  <a:srgbClr val="0D2055"/>
                </a:solidFill>
                <a:effectLst/>
                <a:latin typeface="var(--font-body)"/>
                <a:ea typeface="Times New Roman" panose="02020603050405020304" pitchFamily="18" charset="0"/>
                <a:cs typeface="Open Sans" panose="020B0606030504020204" pitchFamily="34" charset="0"/>
              </a:rPr>
              <a:t> fondo que evoluciona en sentido opuesto al mercado. Tiene una correlación negativa con el índice de referencia de un mercado; cuando este aumenta, el ETF disminuye y viceversa.</a:t>
            </a:r>
            <a:endParaRPr lang="es-AR" sz="1800" dirty="0">
              <a:solidFill>
                <a:srgbClr val="0D2055"/>
              </a:solidFill>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spcBef>
                <a:spcPts val="300"/>
              </a:spcBef>
              <a:spcAft>
                <a:spcPts val="300"/>
              </a:spcAft>
              <a:buSzPts val="1000"/>
              <a:buFont typeface="Symbol" panose="05050102010706020507" pitchFamily="18" charset="2"/>
              <a:buChar char=""/>
              <a:tabLst>
                <a:tab pos="457200" algn="l"/>
              </a:tabLst>
            </a:pPr>
            <a:r>
              <a:rPr lang="es-AR" sz="1800" b="1" dirty="0">
                <a:solidFill>
                  <a:srgbClr val="0D2055"/>
                </a:solidFill>
                <a:effectLst/>
                <a:latin typeface="var(--font-body)"/>
                <a:ea typeface="Times New Roman" panose="02020603050405020304" pitchFamily="18" charset="0"/>
                <a:cs typeface="Open Sans" panose="020B0606030504020204" pitchFamily="34" charset="0"/>
              </a:rPr>
              <a:t>ETF apalancados:</a:t>
            </a:r>
            <a:r>
              <a:rPr lang="es-AR" sz="1800" dirty="0">
                <a:solidFill>
                  <a:srgbClr val="0D2055"/>
                </a:solidFill>
                <a:effectLst/>
                <a:latin typeface="var(--font-body)"/>
                <a:ea typeface="Times New Roman" panose="02020603050405020304" pitchFamily="18" charset="0"/>
                <a:cs typeface="Open Sans" panose="020B0606030504020204" pitchFamily="34" charset="0"/>
              </a:rPr>
              <a:t> se trata de un fondo que replica los retornos de un índice bursátil, pero incrementándolos en una proporción o nivel de apalancamiento.</a:t>
            </a:r>
            <a:endParaRPr lang="es-AR" sz="1800" dirty="0">
              <a:solidFill>
                <a:srgbClr val="0D2055"/>
              </a:solidFill>
              <a:effectLst/>
              <a:latin typeface="Calibri" panose="020F0502020204030204" pitchFamily="34" charset="0"/>
              <a:ea typeface="Times New Roman" panose="02020603050405020304" pitchFamily="18" charset="0"/>
              <a:cs typeface="Times New Roman" panose="02020603050405020304" pitchFamily="18" charset="0"/>
            </a:endParaRPr>
          </a:p>
          <a:p>
            <a:pPr marL="0" indent="0">
              <a:spcBef>
                <a:spcPts val="300"/>
              </a:spcBef>
              <a:spcAft>
                <a:spcPts val="300"/>
              </a:spcAft>
              <a:buNone/>
            </a:pPr>
            <a:endParaRPr lang="es-AR" dirty="0"/>
          </a:p>
        </p:txBody>
      </p:sp>
      <p:sp>
        <p:nvSpPr>
          <p:cNvPr id="4" name="Título 1">
            <a:extLst>
              <a:ext uri="{FF2B5EF4-FFF2-40B4-BE49-F238E27FC236}">
                <a16:creationId xmlns:a16="http://schemas.microsoft.com/office/drawing/2014/main" id="{0253758A-492C-1CCB-B4D1-60F0BF93B175}"/>
              </a:ext>
            </a:extLst>
          </p:cNvPr>
          <p:cNvSpPr>
            <a:spLocks noGrp="1"/>
          </p:cNvSpPr>
          <p:nvPr>
            <p:ph type="title"/>
          </p:nvPr>
        </p:nvSpPr>
        <p:spPr>
          <a:xfrm>
            <a:off x="838200" y="365125"/>
            <a:ext cx="10515600" cy="1325563"/>
          </a:xfrm>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dirty="0"/>
          </a:p>
        </p:txBody>
      </p:sp>
    </p:spTree>
    <p:extLst>
      <p:ext uri="{BB962C8B-B14F-4D97-AF65-F5344CB8AC3E}">
        <p14:creationId xmlns:p14="http://schemas.microsoft.com/office/powerpoint/2010/main" val="116859677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0758A-9264-EEA9-8E2D-3BFA14447073}"/>
              </a:ext>
            </a:extLst>
          </p:cNvPr>
          <p:cNvSpPr>
            <a:spLocks noGrp="1"/>
          </p:cNvSpPr>
          <p:nvPr>
            <p:ph type="title"/>
          </p:nvPr>
        </p:nvSpPr>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dirty="0"/>
          </a:p>
        </p:txBody>
      </p:sp>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p:txBody>
          <a:bodyPr>
            <a:normAutofit fontScale="92500" lnSpcReduction="10000"/>
          </a:bodyPr>
          <a:lstStyle/>
          <a:p>
            <a:pPr marL="342900" indent="-342900">
              <a:lnSpc>
                <a:spcPct val="107000"/>
              </a:lnSpc>
              <a:spcAft>
                <a:spcPts val="800"/>
              </a:spcAft>
              <a:buFont typeface="+mj-lt"/>
              <a:buAutoNum type="arabicPeriod" startAt="9"/>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Fondos de Cobertura: similares a los fondos de inversión pues reciben fondos de ahorristas y los usan para comprar diversos valores. Diferencias, en general no están regulados por la SEC, ya que están destinados a grandes inversiones (&gt;1MM) y se comercializan fundamentalmente entre instituciones e individuos con patrimonios elevados. Su nombre proviene del hecho de ser fondos tradicionalmente utilizados para cubrirse contra riesgos. Por ejemplo, un administrador de uno de estos fondos cree que los diferenciales de tasa de interés entre bonos corporativos y del Tesoro son demasiado grandes y podría comprar simultáneamente una cartera de bonos corporativos y vender una cartera de bonos del Tesoro. En este caso, la cartera sería “cubierta” contra movimientos generales de las tasas de interés, pero se desempeñaría especialmente bien si el diferencial entre esos valores se redujera.</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lnSpc>
                <a:spcPct val="107000"/>
              </a:lnSpc>
              <a:spcAft>
                <a:spcPts val="800"/>
              </a:spcAft>
              <a:buNone/>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Sin embargo, algunos </a:t>
            </a:r>
            <a:r>
              <a:rPr lang="es-AR"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Hedge</a:t>
            </a: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s-AR"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Funds</a:t>
            </a: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asumen riesgos considerablemente más altos apostando por una empresa o industria en particular.</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lnSpc>
                <a:spcPct val="107000"/>
              </a:lnSpc>
              <a:spcAft>
                <a:spcPts val="800"/>
              </a:spcAft>
              <a:buNone/>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Normalmente con altas comisiones, perdieron volumen con la crisis 2008 y recién se recuperaron en 2013. Frente a productos similares y asesores de inversión, debieron salir a ofrecer menores requerimientos para entrar, y menores comisiones.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lnSpc>
                <a:spcPct val="107000"/>
              </a:lnSpc>
              <a:spcAft>
                <a:spcPts val="800"/>
              </a:spcAft>
              <a:buNone/>
            </a:pPr>
            <a:endParaRPr lang="es-AR" sz="3200" dirty="0"/>
          </a:p>
        </p:txBody>
      </p:sp>
    </p:spTree>
    <p:extLst>
      <p:ext uri="{BB962C8B-B14F-4D97-AF65-F5344CB8AC3E}">
        <p14:creationId xmlns:p14="http://schemas.microsoft.com/office/powerpoint/2010/main" val="48134060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0758A-9264-EEA9-8E2D-3BFA14447073}"/>
              </a:ext>
            </a:extLst>
          </p:cNvPr>
          <p:cNvSpPr>
            <a:spLocks noGrp="1"/>
          </p:cNvSpPr>
          <p:nvPr>
            <p:ph type="title"/>
          </p:nvPr>
        </p:nvSpPr>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dirty="0"/>
          </a:p>
        </p:txBody>
      </p:sp>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p:txBody>
          <a:bodyPr>
            <a:normAutofit lnSpcReduction="10000"/>
          </a:bodyPr>
          <a:lstStyle/>
          <a:p>
            <a:pPr marL="0" indent="0">
              <a:lnSpc>
                <a:spcPct val="107000"/>
              </a:lnSpc>
              <a:spcAft>
                <a:spcPts val="800"/>
              </a:spcAft>
              <a:buNone/>
            </a:pP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EL MERCADO DE VALORES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El 75% de las acciones de EEUU son de inversores de largo plazo, y el 25% de corto plazo. Por mucho, el mercado de valores (mercado secundario) es el más importante, donde se establecen los precios de las acciones de las empresas. Para los administradores, que deben maximizar el precio, es crítico conocer este tipo de mercados.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Existen varios mercados de valores, siendo los principales en NYSE y el NASDAQ (</a:t>
            </a:r>
            <a:r>
              <a:rPr lang="es-E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National</a:t>
            </a: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s-E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Association</a:t>
            </a: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s-E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of</a:t>
            </a: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s-E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Securities</a:t>
            </a: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Dealers </a:t>
            </a:r>
            <a:r>
              <a:rPr lang="es-E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Automated</a:t>
            </a: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s-E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Quotation</a:t>
            </a: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Se operan acciones con distintos tipos de procedimientos, pero fundamentalmente con </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buFont typeface="Symbol" panose="05050102010706020507" pitchFamily="18" charset="2"/>
              <a:buChar char=""/>
            </a:pP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Bolsas físicas, que incluye al NYSE y varias bolsas de valores regionales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Mercado de Intermediarios Electrónicos, que incluyen al NASDAQ , el mercado extrabursátil menos formal y las recién desarrolladas redes de comunicaciones electrónicas (ECN).</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s-AR" dirty="0"/>
          </a:p>
        </p:txBody>
      </p:sp>
    </p:spTree>
    <p:extLst>
      <p:ext uri="{BB962C8B-B14F-4D97-AF65-F5344CB8AC3E}">
        <p14:creationId xmlns:p14="http://schemas.microsoft.com/office/powerpoint/2010/main" val="94870831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0758A-9264-EEA9-8E2D-3BFA14447073}"/>
              </a:ext>
            </a:extLst>
          </p:cNvPr>
          <p:cNvSpPr>
            <a:spLocks noGrp="1"/>
          </p:cNvSpPr>
          <p:nvPr>
            <p:ph type="title"/>
          </p:nvPr>
        </p:nvSpPr>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dirty="0"/>
          </a:p>
        </p:txBody>
      </p:sp>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p:txBody>
          <a:bodyPr>
            <a:normAutofit/>
          </a:bodyPr>
          <a:lstStyle/>
          <a:p>
            <a:pPr marL="0" indent="0">
              <a:lnSpc>
                <a:spcPct val="107000"/>
              </a:lnSpc>
              <a:spcAft>
                <a:spcPts val="800"/>
              </a:spcAft>
              <a:buNone/>
            </a:pP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EL MERCADO DE VALORES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El 75% de las acciones de EEUU son de inversores de largo plazo, y el 25% de corto plazo. Por mucho, el mercado de valores (mercado secundario) es el más importante, donde se establecen los precios de las acciones de las empresas. Para los administradores, que deben maximizar el precio, es crítico conocer este tipo de mercados.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Existen varios mercados de valores, siendo los principales en NYSE y el NASDAQ (</a:t>
            </a:r>
            <a:r>
              <a:rPr lang="es-E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National</a:t>
            </a: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s-E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Association</a:t>
            </a: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s-E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of</a:t>
            </a: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s-E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Securities</a:t>
            </a: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Dealers </a:t>
            </a:r>
            <a:r>
              <a:rPr lang="es-E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Automated</a:t>
            </a: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r>
              <a:rPr lang="es-ES"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Quotation</a:t>
            </a: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Se operan acciones con distintos tipos de procedimientos, pero fundamentalmente con </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buFont typeface="Symbol" panose="05050102010706020507" pitchFamily="18" charset="2"/>
              <a:buChar char=""/>
            </a:pP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Bolsas físicas, que incluye al NYSE y varias bolsas de valores regionales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Mercado de Intermediarios Electrónicos, que incluyen al NASDAQ.</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s-AR" dirty="0"/>
          </a:p>
        </p:txBody>
      </p:sp>
    </p:spTree>
    <p:extLst>
      <p:ext uri="{BB962C8B-B14F-4D97-AF65-F5344CB8AC3E}">
        <p14:creationId xmlns:p14="http://schemas.microsoft.com/office/powerpoint/2010/main" val="88804346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0758A-9264-EEA9-8E2D-3BFA14447073}"/>
              </a:ext>
            </a:extLst>
          </p:cNvPr>
          <p:cNvSpPr>
            <a:spLocks noGrp="1"/>
          </p:cNvSpPr>
          <p:nvPr>
            <p:ph type="title"/>
          </p:nvPr>
        </p:nvSpPr>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dirty="0"/>
          </a:p>
        </p:txBody>
      </p:sp>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p:txBody>
          <a:bodyPr>
            <a:normAutofit/>
          </a:bodyPr>
          <a:lstStyle/>
          <a:p>
            <a:pPr marL="0" indent="0">
              <a:lnSpc>
                <a:spcPct val="107000"/>
              </a:lnSpc>
              <a:spcAft>
                <a:spcPts val="800"/>
              </a:spcAft>
              <a:buNone/>
            </a:pP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EL MERCADO DE VALORES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BOLSAS FÍSICAS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Son organizaciones formales con una ubicación física tangible que alojan mercados de subastas en valores designados. Limitado número de operadores. Junta de gobierno. Antes asientos en el recinto. Hoy son licencias de operaciones (valen USD 50.000 al año) La mayoría de los bancos de inversión cuentan con Departamentos bursátiles, compran licencias para sus ejecutivos. Las grandes casas de bolsas reciben órdenes y las transmiten a sus representantes en el NYSE donde se concretan por oferta y demanda. </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s-AR" dirty="0"/>
          </a:p>
        </p:txBody>
      </p:sp>
    </p:spTree>
    <p:extLst>
      <p:ext uri="{BB962C8B-B14F-4D97-AF65-F5344CB8AC3E}">
        <p14:creationId xmlns:p14="http://schemas.microsoft.com/office/powerpoint/2010/main" val="152765975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0758A-9264-EEA9-8E2D-3BFA14447073}"/>
              </a:ext>
            </a:extLst>
          </p:cNvPr>
          <p:cNvSpPr>
            <a:spLocks noGrp="1"/>
          </p:cNvSpPr>
          <p:nvPr>
            <p:ph type="title"/>
          </p:nvPr>
        </p:nvSpPr>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dirty="0"/>
          </a:p>
        </p:txBody>
      </p:sp>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p:txBody>
          <a:bodyPr>
            <a:normAutofit fontScale="85000" lnSpcReduction="20000"/>
          </a:bodyPr>
          <a:lstStyle/>
          <a:p>
            <a:pPr marL="0" indent="0">
              <a:lnSpc>
                <a:spcPct val="107000"/>
              </a:lnSpc>
              <a:spcAft>
                <a:spcPts val="800"/>
              </a:spcAft>
              <a:buNone/>
            </a:pP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EL MERCADO DE VALORES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lnSpc>
                <a:spcPct val="107000"/>
              </a:lnSpc>
              <a:spcAft>
                <a:spcPts val="800"/>
              </a:spcAft>
              <a:buNone/>
            </a:pP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LOS MERCADOS EXTRABURSÁTILES (OTC) Y LA NASDAQ</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La mayoría de las acciones de las grandes compañías se negocian en la NYSE, pero un gran número de acciones se operan en el Mercado extrabursátil OTC. NYSE opera como un mercado de subastas, para las acciones de pequeñas compañías podría ser más difícil calzar oferta y demanda en un corto tiempo.  Para evitar ese problema, algunas CASAS DE BOLSAS mantienen un inventario de esas acciones y se preparan para crear mercado para ellas. Estos agentes compran cuando los pequeños ahorristas quieren vender y venden cuando quieren comprar. Se pasaban los papeles físicos OTC.</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Hoy estos mercados se llaman mercados de intermediarios, que incluye todos los centros indispensables para realizar transacciones bursátiles fuera de las bolsas físicas. El Sistema consta de:</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buFont typeface="Symbol" panose="05050102010706020507" pitchFamily="18" charset="2"/>
              <a:buChar char=""/>
            </a:pP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Los relativamente pocos intermediarios que mantienen inventarios de esos valores y de quienes se dice que “hacen un mercado” en ellos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buFont typeface="Symbol" panose="05050102010706020507" pitchFamily="18" charset="2"/>
              <a:buChar char=""/>
            </a:pP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Los miles de corredores que actúan como agentes para hacer coincidir a intermediarios e inversores, y</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Las computadoras, terminales y redes electrónicas que brindan el enlace entre intermediarios y corredores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95701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0758A-9264-EEA9-8E2D-3BFA14447073}"/>
              </a:ext>
            </a:extLst>
          </p:cNvPr>
          <p:cNvSpPr>
            <a:spLocks noGrp="1"/>
          </p:cNvSpPr>
          <p:nvPr>
            <p:ph type="title"/>
          </p:nvPr>
        </p:nvSpPr>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dirty="0"/>
          </a:p>
        </p:txBody>
      </p:sp>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p:txBody>
          <a:bodyPr>
            <a:normAutofit/>
          </a:bodyPr>
          <a:lstStyle/>
          <a:p>
            <a:pPr marL="0" indent="0">
              <a:lnSpc>
                <a:spcPct val="107000"/>
              </a:lnSpc>
              <a:spcAft>
                <a:spcPts val="800"/>
              </a:spcAft>
              <a:buNone/>
            </a:pP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EL MERCADO DE VALORES</a:t>
            </a:r>
          </a:p>
          <a:p>
            <a:pPr>
              <a:lnSpc>
                <a:spcPct val="107000"/>
              </a:lnSpc>
              <a:spcAft>
                <a:spcPts val="800"/>
              </a:spcAft>
            </a:pP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Los intermediarios que hacen un mercado en acciones particulares establecen el precio que pagarán por las acciones y el precio al que las venderán. Estos precios se ven en las pantallas del mundo entero. El riesgo del intermediario sube con la volatilidad y poco volumen de las acciones, lo que lleva a brechas de precio mayores.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Los corredores e intermediarios son miembros de un cuerpo autorregulado -FINRA- que utiliza la red de computación NASDAQ.</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La NASDAQ empezó como un sistema de cotizaciones para luego convertirse en un mercado bursátil organizado con sus propios requerimientos de inscripción.</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Feroz competencia entre NYSE y NASDAQ. Hay empresas que pudiendo estar en NYSE eligen estar en NASDAQ (Microsoft, Google, Intel)</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endParaRPr lang="es-AR" dirty="0"/>
          </a:p>
        </p:txBody>
      </p:sp>
    </p:spTree>
    <p:extLst>
      <p:ext uri="{BB962C8B-B14F-4D97-AF65-F5344CB8AC3E}">
        <p14:creationId xmlns:p14="http://schemas.microsoft.com/office/powerpoint/2010/main" val="416680368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0758A-9264-EEA9-8E2D-3BFA14447073}"/>
              </a:ext>
            </a:extLst>
          </p:cNvPr>
          <p:cNvSpPr>
            <a:spLocks noGrp="1"/>
          </p:cNvSpPr>
          <p:nvPr>
            <p:ph type="title"/>
          </p:nvPr>
        </p:nvSpPr>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dirty="0"/>
          </a:p>
        </p:txBody>
      </p:sp>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p:txBody>
          <a:bodyPr>
            <a:normAutofit/>
          </a:bodyPr>
          <a:lstStyle/>
          <a:p>
            <a:pPr marL="0" indent="0">
              <a:lnSpc>
                <a:spcPct val="107000"/>
              </a:lnSpc>
              <a:spcAft>
                <a:spcPts val="800"/>
              </a:spcAft>
              <a:buNone/>
            </a:pP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EL MERCADO DE VALORES</a:t>
            </a:r>
          </a:p>
          <a:p>
            <a:pPr marL="0" indent="0">
              <a:lnSpc>
                <a:spcPct val="107000"/>
              </a:lnSpc>
              <a:spcAft>
                <a:spcPts val="800"/>
              </a:spcAft>
              <a:buNone/>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EL MERCADO DE ACCIONES COMUNES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Algunas compañías son tan pequeñas que sus acciones comunes no se negocian activamente, son propiedad de pocas personas, que pueden ser sus gerentes. Se dice que son corporaciones de propiedad minoritaria o privada. Sus acciones se llaman de propiedad minoritaria.</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En contraste, las acciones de la mayoría de las grandes compañías son propiedad de miles de personas que no participan de la administración. Se llaman corporaciones de propiedad pública y sus acciones se denominan de propiedad pública.</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endParaRPr lang="es-AR" dirty="0"/>
          </a:p>
        </p:txBody>
      </p:sp>
    </p:spTree>
    <p:extLst>
      <p:ext uri="{BB962C8B-B14F-4D97-AF65-F5344CB8AC3E}">
        <p14:creationId xmlns:p14="http://schemas.microsoft.com/office/powerpoint/2010/main" val="315175505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0758A-9264-EEA9-8E2D-3BFA14447073}"/>
              </a:ext>
            </a:extLst>
          </p:cNvPr>
          <p:cNvSpPr>
            <a:spLocks noGrp="1"/>
          </p:cNvSpPr>
          <p:nvPr>
            <p:ph type="title"/>
          </p:nvPr>
        </p:nvSpPr>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dirty="0"/>
          </a:p>
        </p:txBody>
      </p:sp>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p:txBody>
          <a:bodyPr>
            <a:normAutofit/>
          </a:bodyPr>
          <a:lstStyle/>
          <a:p>
            <a:pPr marL="0" indent="0">
              <a:lnSpc>
                <a:spcPct val="107000"/>
              </a:lnSpc>
              <a:spcAft>
                <a:spcPts val="800"/>
              </a:spcAft>
              <a:buNone/>
            </a:pPr>
            <a:r>
              <a:rPr lang="es-ES"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EL MERCADO DE VALORES</a:t>
            </a:r>
          </a:p>
          <a:p>
            <a:pPr marL="0" indent="0">
              <a:lnSpc>
                <a:spcPct val="107000"/>
              </a:lnSpc>
              <a:spcAft>
                <a:spcPts val="800"/>
              </a:spcAft>
              <a:buNone/>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TIPOS DE TRANSACCIONES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Tres Categorías: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buFont typeface="+mj-lt"/>
              <a:buAutoNum type="arabicPeriod"/>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Acciones circulantes, de propiedad pública establecidas, operaciones bursátiles de mercado secundario. También llamadas “acciones usadas”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buFont typeface="+mj-lt"/>
              <a:buAutoNum type="arabicPeriod"/>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Acciones adicionales vendidas por compañías de propiedad pública establecidas. Mercado primario. Adquirir capital adicional. Requiere la aprobación de los accionistas, que normalmente ocurre sin discusión.</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spcAft>
                <a:spcPts val="800"/>
              </a:spcAft>
              <a:buFont typeface="+mj-lt"/>
              <a:buAutoNum type="arabicPeriod"/>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Ofertas Públicas Iniciales realizadas por empresas de propiedad privada. Mercado OPI. Es lo que se llama salir a bolsa. Mercado de OPI. Recientes: </a:t>
            </a:r>
            <a:r>
              <a:rPr lang="es-AR"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Linkedin</a:t>
            </a: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FB, Alibaba, Twitter, Snap.</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endParaRPr lang="es-AR" dirty="0"/>
          </a:p>
        </p:txBody>
      </p:sp>
    </p:spTree>
    <p:extLst>
      <p:ext uri="{BB962C8B-B14F-4D97-AF65-F5344CB8AC3E}">
        <p14:creationId xmlns:p14="http://schemas.microsoft.com/office/powerpoint/2010/main" val="197023508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0758A-9264-EEA9-8E2D-3BFA14447073}"/>
              </a:ext>
            </a:extLst>
          </p:cNvPr>
          <p:cNvSpPr>
            <a:spLocks noGrp="1"/>
          </p:cNvSpPr>
          <p:nvPr>
            <p:ph type="title"/>
          </p:nvPr>
        </p:nvSpPr>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dirty="0"/>
          </a:p>
        </p:txBody>
      </p:sp>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p:txBody>
          <a:bodyPr>
            <a:normAutofit/>
          </a:bodyPr>
          <a:lstStyle/>
          <a:p>
            <a:pPr marL="228600">
              <a:lnSpc>
                <a:spcPct val="107000"/>
              </a:lnSpc>
              <a:spcAft>
                <a:spcPts val="8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Como es lógico, el número de nuevas OPI sube y baja con el mercado accionario. Atraer nuevo capital cuando se está creciendo y permitir a los propietarios originales hacerse de dinero. No todas las OPI son lo que se espera. FB salió a 38 y llegó a valer 17.55. Luego se recuperó y mucho. Twitter tardó mucho más en recuperarse. Las ofertas suelen estar sobre suscritas y la banca de inversión favorece a los grandes inversores institucionales siendo muy difícil entrar para los pequeños inversores, que luego lo pueden hacer en el mercado secundario. </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228600">
              <a:lnSpc>
                <a:spcPct val="107000"/>
              </a:lnSpc>
              <a:spcAft>
                <a:spcPts val="8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Google, subasta holandesa. Marcó un hito en </a:t>
            </a:r>
            <a:r>
              <a:rPr lang="es-AR"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OPIs</a:t>
            </a: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bajo esta forma.</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228600">
              <a:lnSpc>
                <a:spcPct val="107000"/>
              </a:lnSpc>
              <a:spcAft>
                <a:spcPts val="8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Ford salió a la bolsa, pero sin intención/necesidad de reunir capital. La Ford </a:t>
            </a:r>
            <a:r>
              <a:rPr lang="es-AR"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Foundation</a:t>
            </a: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vendió parte de sus acciones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s-AR" dirty="0"/>
          </a:p>
        </p:txBody>
      </p:sp>
    </p:spTree>
    <p:extLst>
      <p:ext uri="{BB962C8B-B14F-4D97-AF65-F5344CB8AC3E}">
        <p14:creationId xmlns:p14="http://schemas.microsoft.com/office/powerpoint/2010/main" val="69142239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0758A-9264-EEA9-8E2D-3BFA14447073}"/>
              </a:ext>
            </a:extLst>
          </p:cNvPr>
          <p:cNvSpPr>
            <a:spLocks noGrp="1"/>
          </p:cNvSpPr>
          <p:nvPr>
            <p:ph type="title"/>
          </p:nvPr>
        </p:nvSpPr>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dirty="0"/>
          </a:p>
        </p:txBody>
      </p:sp>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p:txBody>
          <a:bodyPr>
            <a:normAutofit/>
          </a:bodyPr>
          <a:lstStyle/>
          <a:p>
            <a:pPr marL="228600" indent="-228600">
              <a:lnSpc>
                <a:spcPct val="107000"/>
              </a:lnSpc>
              <a:spcAft>
                <a:spcPts val="8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2.6 MERCADO DE VALORES Y RENDIMIENTOS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Habrá siempre variaciones entre precios y rendimientos esperados y realizados. El rendimiento esperado de los inversores marginales siempre es positivo, ya que de otro modo no hubieran comprado las acciones. Pero en algunos años los rendimientos reales son negativos. </a:t>
            </a:r>
            <a:r>
              <a:rPr lang="es-AR" sz="1800" dirty="0">
                <a:solidFill>
                  <a:srgbClr val="FF0000"/>
                </a:solidFill>
                <a:effectLst/>
                <a:latin typeface="Segoe UI" panose="020B0502040204020203" pitchFamily="34" charset="0"/>
                <a:ea typeface="Times New Roman" panose="02020603050405020304" pitchFamily="18" charset="0"/>
                <a:cs typeface="Times New Roman" panose="02020603050405020304" pitchFamily="18" charset="0"/>
              </a:rPr>
              <a:t> </a:t>
            </a:r>
            <a:endParaRPr lang="es-AR" dirty="0"/>
          </a:p>
        </p:txBody>
      </p:sp>
      <p:pic>
        <p:nvPicPr>
          <p:cNvPr id="5" name="Imagen 4" descr="Escala de tiempo&#10;&#10;Descripción generada automáticamente">
            <a:extLst>
              <a:ext uri="{FF2B5EF4-FFF2-40B4-BE49-F238E27FC236}">
                <a16:creationId xmlns:a16="http://schemas.microsoft.com/office/drawing/2014/main" id="{ECB0229D-45E4-1DF7-2D3A-00E9937526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5722" y="3313043"/>
            <a:ext cx="6306089" cy="3480579"/>
          </a:xfrm>
          <a:prstGeom prst="rect">
            <a:avLst/>
          </a:prstGeom>
        </p:spPr>
      </p:pic>
    </p:spTree>
    <p:extLst>
      <p:ext uri="{BB962C8B-B14F-4D97-AF65-F5344CB8AC3E}">
        <p14:creationId xmlns:p14="http://schemas.microsoft.com/office/powerpoint/2010/main" val="60829493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0758A-9264-EEA9-8E2D-3BFA14447073}"/>
              </a:ext>
            </a:extLst>
          </p:cNvPr>
          <p:cNvSpPr>
            <a:spLocks noGrp="1"/>
          </p:cNvSpPr>
          <p:nvPr>
            <p:ph type="title"/>
          </p:nvPr>
        </p:nvSpPr>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dirty="0"/>
          </a:p>
        </p:txBody>
      </p:sp>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p:txBody>
          <a:bodyPr>
            <a:normAutofit lnSpcReduction="10000"/>
          </a:bodyPr>
          <a:lstStyle/>
          <a:p>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2.6A REPORTE DE INFORMACIÓN DEL MERCADO DE VALORES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endParaRPr lang="es-AR" dirty="0"/>
          </a:p>
          <a:p>
            <a:pPr marL="0" indent="0">
              <a:buNone/>
            </a:pPr>
            <a:endParaRPr lang="es-AR" dirty="0"/>
          </a:p>
          <a:p>
            <a:pPr marL="0" indent="0">
              <a:buNone/>
            </a:pPr>
            <a:endParaRPr lang="es-AR" dirty="0"/>
          </a:p>
          <a:p>
            <a:pPr marL="0" indent="0">
              <a:buNone/>
            </a:pPr>
            <a:endParaRPr lang="es-AR" dirty="0"/>
          </a:p>
          <a:p>
            <a:pPr marL="0" indent="0">
              <a:buNone/>
            </a:pPr>
            <a:endParaRPr lang="es-AR" dirty="0"/>
          </a:p>
          <a:p>
            <a:pPr>
              <a:lnSpc>
                <a:spcPct val="107000"/>
              </a:lnSpc>
              <a:spcBef>
                <a:spcPts val="200"/>
              </a:spcBef>
              <a:spcAft>
                <a:spcPts val="2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Símbolo</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Bef>
                <a:spcPts val="200"/>
              </a:spcBef>
              <a:spcAft>
                <a:spcPts val="2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Mercado en el que opera</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Bef>
                <a:spcPts val="200"/>
              </a:spcBef>
              <a:spcAft>
                <a:spcPts val="2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Cotización y la hora de esta. Variación respecto al día anterior en USD y %</a:t>
            </a:r>
          </a:p>
          <a:p>
            <a:pPr>
              <a:lnSpc>
                <a:spcPct val="107000"/>
              </a:lnSpc>
              <a:spcBef>
                <a:spcPts val="200"/>
              </a:spcBef>
              <a:spcAft>
                <a:spcPts val="200"/>
              </a:spcAft>
            </a:pPr>
            <a:r>
              <a:rPr lang="es-AR" sz="1800" dirty="0">
                <a:solidFill>
                  <a:srgbClr val="212529"/>
                </a:solidFill>
                <a:latin typeface="Segoe UI" panose="020B0502040204020203" pitchFamily="34" charset="0"/>
                <a:ea typeface="Times New Roman" panose="02020603050405020304" pitchFamily="18" charset="0"/>
                <a:cs typeface="Times New Roman" panose="02020603050405020304" pitchFamily="18" charset="0"/>
              </a:rPr>
              <a:t>Pre Mercado</a:t>
            </a:r>
          </a:p>
          <a:p>
            <a:pPr>
              <a:lnSpc>
                <a:spcPct val="107000"/>
              </a:lnSpc>
              <a:spcBef>
                <a:spcPts val="200"/>
              </a:spcBef>
              <a:spcAft>
                <a:spcPts val="2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Anuncios sobre dividendos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endParaRPr lang="es-AR" dirty="0"/>
          </a:p>
        </p:txBody>
      </p:sp>
      <p:pic>
        <p:nvPicPr>
          <p:cNvPr id="7" name="Imagen 6">
            <a:extLst>
              <a:ext uri="{FF2B5EF4-FFF2-40B4-BE49-F238E27FC236}">
                <a16:creationId xmlns:a16="http://schemas.microsoft.com/office/drawing/2014/main" id="{CB834938-172A-6DDF-E119-2739457560C1}"/>
              </a:ext>
            </a:extLst>
          </p:cNvPr>
          <p:cNvPicPr>
            <a:picLocks noChangeAspect="1"/>
          </p:cNvPicPr>
          <p:nvPr/>
        </p:nvPicPr>
        <p:blipFill>
          <a:blip r:embed="rId2"/>
          <a:stretch>
            <a:fillRect/>
          </a:stretch>
        </p:blipFill>
        <p:spPr>
          <a:xfrm>
            <a:off x="3171825" y="2571750"/>
            <a:ext cx="5848350" cy="1714500"/>
          </a:xfrm>
          <a:prstGeom prst="rect">
            <a:avLst/>
          </a:prstGeom>
        </p:spPr>
      </p:pic>
    </p:spTree>
    <p:extLst>
      <p:ext uri="{BB962C8B-B14F-4D97-AF65-F5344CB8AC3E}">
        <p14:creationId xmlns:p14="http://schemas.microsoft.com/office/powerpoint/2010/main" val="368379365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0758A-9264-EEA9-8E2D-3BFA14447073}"/>
              </a:ext>
            </a:extLst>
          </p:cNvPr>
          <p:cNvSpPr>
            <a:spLocks noGrp="1"/>
          </p:cNvSpPr>
          <p:nvPr>
            <p:ph type="title"/>
          </p:nvPr>
        </p:nvSpPr>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dirty="0"/>
          </a:p>
        </p:txBody>
      </p:sp>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a:xfrm>
            <a:off x="838200" y="1825625"/>
            <a:ext cx="5146811" cy="4351338"/>
          </a:xfrm>
        </p:spPr>
        <p:txBody>
          <a:bodyPr>
            <a:normAutofit/>
          </a:bodyPr>
          <a:lstStyle/>
          <a:p>
            <a:endParaRPr lang="es-AR" sz="2400" dirty="0"/>
          </a:p>
          <a:p>
            <a:r>
              <a:rPr lang="es-AR" sz="2400" dirty="0"/>
              <a:t>Cierre previo</a:t>
            </a:r>
          </a:p>
          <a:p>
            <a:r>
              <a:rPr lang="es-AR" sz="2400" dirty="0"/>
              <a:t>Apertura</a:t>
            </a:r>
          </a:p>
          <a:p>
            <a:r>
              <a:rPr lang="es-AR" sz="2400" dirty="0" err="1"/>
              <a:t>Mín-Máx</a:t>
            </a:r>
            <a:r>
              <a:rPr lang="es-AR" sz="2400" dirty="0"/>
              <a:t> diario y del año</a:t>
            </a:r>
          </a:p>
          <a:p>
            <a:r>
              <a:rPr lang="es-AR" sz="2400" dirty="0"/>
              <a:t>Precio de venta (</a:t>
            </a:r>
            <a:r>
              <a:rPr lang="es-AR" sz="2400" dirty="0" err="1"/>
              <a:t>bid</a:t>
            </a:r>
            <a:r>
              <a:rPr lang="es-AR" sz="2400" dirty="0"/>
              <a:t>) y compra (</a:t>
            </a:r>
            <a:r>
              <a:rPr lang="es-AR" sz="2400" dirty="0" err="1"/>
              <a:t>ask</a:t>
            </a:r>
            <a:r>
              <a:rPr lang="es-AR" sz="2400" dirty="0"/>
              <a:t>) y las acciones disponibles a dichos precios</a:t>
            </a:r>
          </a:p>
          <a:p>
            <a:r>
              <a:rPr lang="es-AR" sz="2400" dirty="0"/>
              <a:t>Volumen operado</a:t>
            </a:r>
          </a:p>
          <a:p>
            <a:r>
              <a:rPr lang="es-AR" sz="2400" dirty="0"/>
              <a:t>Promedio Vol. diario operado (3 meses)</a:t>
            </a:r>
          </a:p>
          <a:p>
            <a:pPr marL="0" indent="0">
              <a:buNone/>
            </a:pPr>
            <a:endParaRPr lang="es-AR" sz="2400" dirty="0"/>
          </a:p>
        </p:txBody>
      </p:sp>
      <p:pic>
        <p:nvPicPr>
          <p:cNvPr id="4" name="Marcador de contenido 8">
            <a:extLst>
              <a:ext uri="{FF2B5EF4-FFF2-40B4-BE49-F238E27FC236}">
                <a16:creationId xmlns:a16="http://schemas.microsoft.com/office/drawing/2014/main" id="{CAD0DC0B-B297-93C6-0ADD-030A39C1826A}"/>
              </a:ext>
            </a:extLst>
          </p:cNvPr>
          <p:cNvPicPr>
            <a:picLocks noChangeAspect="1"/>
          </p:cNvPicPr>
          <p:nvPr/>
        </p:nvPicPr>
        <p:blipFill>
          <a:blip r:embed="rId2"/>
          <a:stretch>
            <a:fillRect/>
          </a:stretch>
        </p:blipFill>
        <p:spPr>
          <a:xfrm>
            <a:off x="7018682" y="2204210"/>
            <a:ext cx="4413597" cy="3003564"/>
          </a:xfrm>
          <a:prstGeom prst="rect">
            <a:avLst/>
          </a:prstGeom>
        </p:spPr>
      </p:pic>
    </p:spTree>
    <p:extLst>
      <p:ext uri="{BB962C8B-B14F-4D97-AF65-F5344CB8AC3E}">
        <p14:creationId xmlns:p14="http://schemas.microsoft.com/office/powerpoint/2010/main" val="422504201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0758A-9264-EEA9-8E2D-3BFA14447073}"/>
              </a:ext>
            </a:extLst>
          </p:cNvPr>
          <p:cNvSpPr>
            <a:spLocks noGrp="1"/>
          </p:cNvSpPr>
          <p:nvPr>
            <p:ph type="title"/>
          </p:nvPr>
        </p:nvSpPr>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dirty="0"/>
          </a:p>
        </p:txBody>
      </p:sp>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a:xfrm>
            <a:off x="838200" y="1825625"/>
            <a:ext cx="5146811" cy="4351338"/>
          </a:xfrm>
        </p:spPr>
        <p:txBody>
          <a:bodyPr>
            <a:normAutofit/>
          </a:bodyPr>
          <a:lstStyle/>
          <a:p>
            <a:r>
              <a:rPr lang="es-AR" sz="1800" dirty="0" err="1"/>
              <a:t>Market</a:t>
            </a:r>
            <a:r>
              <a:rPr lang="es-AR" sz="1800" dirty="0"/>
              <a:t> </a:t>
            </a:r>
            <a:r>
              <a:rPr lang="es-AR" sz="1800" dirty="0" err="1"/>
              <a:t>Cap</a:t>
            </a:r>
            <a:r>
              <a:rPr lang="es-AR" sz="1800" dirty="0"/>
              <a:t> – </a:t>
            </a:r>
            <a:r>
              <a:rPr lang="es-AR" sz="1800" dirty="0" err="1"/>
              <a:t>Large</a:t>
            </a:r>
            <a:r>
              <a:rPr lang="es-AR" sz="1800" dirty="0"/>
              <a:t> (+10,000) </a:t>
            </a:r>
            <a:r>
              <a:rPr lang="es-AR" sz="1800" dirty="0" err="1"/>
              <a:t>Mid</a:t>
            </a:r>
            <a:r>
              <a:rPr lang="es-AR" sz="1800" dirty="0"/>
              <a:t> (2,000-10,000) Small (&lt;2,000) Valor de Mercado de la Corporación</a:t>
            </a:r>
          </a:p>
          <a:p>
            <a:r>
              <a:rPr lang="es-AR" sz="1800" dirty="0"/>
              <a:t>Beta</a:t>
            </a:r>
          </a:p>
          <a:p>
            <a:r>
              <a:rPr lang="es-AR" sz="1800" dirty="0"/>
              <a:t>Price/</a:t>
            </a:r>
            <a:r>
              <a:rPr lang="es-AR" sz="1800" dirty="0" err="1"/>
              <a:t>Earning</a:t>
            </a:r>
            <a:r>
              <a:rPr lang="es-AR" sz="1800" dirty="0"/>
              <a:t> Ratio</a:t>
            </a:r>
          </a:p>
          <a:p>
            <a:r>
              <a:rPr lang="es-AR" sz="1800" dirty="0"/>
              <a:t>EPS (12 meses)</a:t>
            </a:r>
          </a:p>
          <a:p>
            <a:r>
              <a:rPr lang="es-AR" sz="1800" dirty="0" err="1"/>
              <a:t>Earnings</a:t>
            </a:r>
            <a:r>
              <a:rPr lang="es-AR" sz="1800" dirty="0"/>
              <a:t> Date – Cuándo se informan</a:t>
            </a:r>
          </a:p>
          <a:p>
            <a:r>
              <a:rPr lang="es-AR" sz="1800" dirty="0"/>
              <a:t>Dividendo en $ y %. Anual</a:t>
            </a:r>
          </a:p>
          <a:p>
            <a:r>
              <a:rPr lang="es-AR" sz="1800" dirty="0"/>
              <a:t>Ex-</a:t>
            </a:r>
            <a:r>
              <a:rPr lang="es-AR" sz="1800" dirty="0" err="1"/>
              <a:t>Dividend</a:t>
            </a:r>
            <a:r>
              <a:rPr lang="es-AR" sz="1800" dirty="0"/>
              <a:t> Date – Marca quién cobra el Dividendo</a:t>
            </a:r>
          </a:p>
          <a:p>
            <a:r>
              <a:rPr lang="es-AR" sz="1800" dirty="0"/>
              <a:t>Estimación a 1 año – Mediana de los analistas</a:t>
            </a:r>
          </a:p>
          <a:p>
            <a:endParaRPr lang="es-AR" sz="1800" dirty="0"/>
          </a:p>
          <a:p>
            <a:endParaRPr lang="es-AR" sz="1800" dirty="0"/>
          </a:p>
        </p:txBody>
      </p:sp>
      <p:pic>
        <p:nvPicPr>
          <p:cNvPr id="4" name="Marcador de contenido 8">
            <a:extLst>
              <a:ext uri="{FF2B5EF4-FFF2-40B4-BE49-F238E27FC236}">
                <a16:creationId xmlns:a16="http://schemas.microsoft.com/office/drawing/2014/main" id="{CAD0DC0B-B297-93C6-0ADD-030A39C1826A}"/>
              </a:ext>
            </a:extLst>
          </p:cNvPr>
          <p:cNvPicPr>
            <a:picLocks noChangeAspect="1"/>
          </p:cNvPicPr>
          <p:nvPr/>
        </p:nvPicPr>
        <p:blipFill>
          <a:blip r:embed="rId2"/>
          <a:stretch>
            <a:fillRect/>
          </a:stretch>
        </p:blipFill>
        <p:spPr>
          <a:xfrm>
            <a:off x="7018682" y="2204210"/>
            <a:ext cx="4413597" cy="3003564"/>
          </a:xfrm>
          <a:prstGeom prst="rect">
            <a:avLst/>
          </a:prstGeom>
        </p:spPr>
      </p:pic>
    </p:spTree>
    <p:extLst>
      <p:ext uri="{BB962C8B-B14F-4D97-AF65-F5344CB8AC3E}">
        <p14:creationId xmlns:p14="http://schemas.microsoft.com/office/powerpoint/2010/main" val="368948106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0758A-9264-EEA9-8E2D-3BFA14447073}"/>
              </a:ext>
            </a:extLst>
          </p:cNvPr>
          <p:cNvSpPr>
            <a:spLocks noGrp="1"/>
          </p:cNvSpPr>
          <p:nvPr>
            <p:ph type="title"/>
          </p:nvPr>
        </p:nvSpPr>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dirty="0"/>
          </a:p>
        </p:txBody>
      </p:sp>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p:txBody>
          <a:bodyPr>
            <a:normAutofit/>
          </a:bodyPr>
          <a:lstStyle/>
          <a:p>
            <a:endParaRPr lang="es-AR" dirty="0"/>
          </a:p>
        </p:txBody>
      </p:sp>
      <p:pic>
        <p:nvPicPr>
          <p:cNvPr id="5" name="Imagen 4">
            <a:extLst>
              <a:ext uri="{FF2B5EF4-FFF2-40B4-BE49-F238E27FC236}">
                <a16:creationId xmlns:a16="http://schemas.microsoft.com/office/drawing/2014/main" id="{8D254CA8-5B6E-3897-E0CA-BF2092609A78}"/>
              </a:ext>
            </a:extLst>
          </p:cNvPr>
          <p:cNvPicPr>
            <a:picLocks noChangeAspect="1"/>
          </p:cNvPicPr>
          <p:nvPr/>
        </p:nvPicPr>
        <p:blipFill>
          <a:blip r:embed="rId2"/>
          <a:stretch>
            <a:fillRect/>
          </a:stretch>
        </p:blipFill>
        <p:spPr>
          <a:xfrm>
            <a:off x="1219614" y="3110120"/>
            <a:ext cx="4133850" cy="2705100"/>
          </a:xfrm>
          <a:prstGeom prst="rect">
            <a:avLst/>
          </a:prstGeom>
        </p:spPr>
      </p:pic>
      <p:pic>
        <p:nvPicPr>
          <p:cNvPr id="7" name="Imagen 6">
            <a:extLst>
              <a:ext uri="{FF2B5EF4-FFF2-40B4-BE49-F238E27FC236}">
                <a16:creationId xmlns:a16="http://schemas.microsoft.com/office/drawing/2014/main" id="{246B4EF8-B28B-029A-FD83-08352B83EF75}"/>
              </a:ext>
            </a:extLst>
          </p:cNvPr>
          <p:cNvPicPr>
            <a:picLocks noChangeAspect="1"/>
          </p:cNvPicPr>
          <p:nvPr/>
        </p:nvPicPr>
        <p:blipFill>
          <a:blip r:embed="rId3"/>
          <a:stretch>
            <a:fillRect/>
          </a:stretch>
        </p:blipFill>
        <p:spPr>
          <a:xfrm>
            <a:off x="5981493" y="3110120"/>
            <a:ext cx="4257675" cy="2771775"/>
          </a:xfrm>
          <a:prstGeom prst="rect">
            <a:avLst/>
          </a:prstGeom>
        </p:spPr>
      </p:pic>
    </p:spTree>
    <p:extLst>
      <p:ext uri="{BB962C8B-B14F-4D97-AF65-F5344CB8AC3E}">
        <p14:creationId xmlns:p14="http://schemas.microsoft.com/office/powerpoint/2010/main" val="82718099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0758A-9264-EEA9-8E2D-3BFA14447073}"/>
              </a:ext>
            </a:extLst>
          </p:cNvPr>
          <p:cNvSpPr>
            <a:spLocks noGrp="1"/>
          </p:cNvSpPr>
          <p:nvPr>
            <p:ph type="title"/>
          </p:nvPr>
        </p:nvSpPr>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dirty="0"/>
          </a:p>
        </p:txBody>
      </p:sp>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p:txBody>
          <a:bodyPr>
            <a:normAutofit fontScale="92500" lnSpcReduction="20000"/>
          </a:bodyPr>
          <a:lstStyle/>
          <a:p>
            <a:pPr marL="0" indent="0">
              <a:lnSpc>
                <a:spcPct val="107000"/>
              </a:lnSpc>
              <a:spcAft>
                <a:spcPts val="800"/>
              </a:spcAft>
              <a:buNone/>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MEDICIÓN DEL MERCADO</a:t>
            </a:r>
          </a:p>
          <a:p>
            <a:pPr marL="0" indent="0">
              <a:lnSpc>
                <a:spcPct val="107000"/>
              </a:lnSpc>
              <a:spcAft>
                <a:spcPts val="800"/>
              </a:spcAft>
              <a:buNone/>
            </a:pPr>
            <a:r>
              <a:rPr lang="es-AR" sz="1800" dirty="0">
                <a:effectLst/>
                <a:latin typeface="Calibri" panose="020F0502020204030204" pitchFamily="34" charset="0"/>
                <a:ea typeface="Times New Roman" panose="02020603050405020304" pitchFamily="18" charset="0"/>
                <a:cs typeface="Times New Roman" panose="02020603050405020304" pitchFamily="18" charset="0"/>
              </a:rPr>
              <a:t>Los índices del mercado de valores están diseñados para mostrar el dese</a:t>
            </a:r>
            <a:r>
              <a:rPr lang="es-AR" sz="1800" dirty="0">
                <a:latin typeface="Calibri" panose="020F0502020204030204" pitchFamily="34" charset="0"/>
                <a:ea typeface="Times New Roman" panose="02020603050405020304" pitchFamily="18" charset="0"/>
                <a:cs typeface="Times New Roman" panose="02020603050405020304" pitchFamily="18" charset="0"/>
              </a:rPr>
              <a:t>mpeño de cada mercado. Hay muchos y es difícil determinar cuál de ellos mejor refleja el mercado.</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lnSpc>
                <a:spcPct val="107000"/>
              </a:lnSpc>
              <a:spcAft>
                <a:spcPts val="800"/>
              </a:spcAft>
              <a:buNone/>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ÍNDICES: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Promedio Industrial Dow Jones – 30 Compañías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S&amp;P 500. Compañías líderes de las industrias líderes. Índice ponderado respecto al valor de mercado. Punto de referencia de uso más común en el mercado de valores de EE.UU. </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Fondos de Índices en permanente crecimiento, buscan replicar el mercado</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Índice Compuesto NASDAQ – Incluye todas las empresas inscritas (3000). Indicador de la industria de alta tecnología. Apple, Microsoft, Google, FB, Intel son las 5 más grandes. </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NASDAQ 100</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s-AR" dirty="0"/>
          </a:p>
        </p:txBody>
      </p:sp>
    </p:spTree>
    <p:extLst>
      <p:ext uri="{BB962C8B-B14F-4D97-AF65-F5344CB8AC3E}">
        <p14:creationId xmlns:p14="http://schemas.microsoft.com/office/powerpoint/2010/main" val="303465389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0758A-9264-EEA9-8E2D-3BFA14447073}"/>
              </a:ext>
            </a:extLst>
          </p:cNvPr>
          <p:cNvSpPr>
            <a:spLocks noGrp="1"/>
          </p:cNvSpPr>
          <p:nvPr>
            <p:ph type="title"/>
          </p:nvPr>
        </p:nvSpPr>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dirty="0"/>
          </a:p>
        </p:txBody>
      </p:sp>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p:txBody>
          <a:bodyPr>
            <a:normAutofit fontScale="92500" lnSpcReduction="10000"/>
          </a:bodyPr>
          <a:lstStyle/>
          <a:p>
            <a:pPr marL="0" indent="0">
              <a:lnSpc>
                <a:spcPct val="107000"/>
              </a:lnSpc>
              <a:spcAft>
                <a:spcPts val="800"/>
              </a:spcAft>
              <a:buNone/>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EFICIENCIA DEL MERCADO DE VALORES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lnSpc>
                <a:spcPct val="107000"/>
              </a:lnSpc>
              <a:spcAft>
                <a:spcPts val="800"/>
              </a:spcAft>
              <a:buNone/>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Tenemos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buFont typeface="Symbol" panose="05050102010706020507" pitchFamily="18" charset="2"/>
              <a:buChar char=""/>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Precio de Mercado</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buFont typeface="Symbol" panose="05050102010706020507" pitchFamily="18" charset="2"/>
              <a:buChar char=""/>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Valor Intrínseco</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buFont typeface="Symbol" panose="05050102010706020507" pitchFamily="18" charset="2"/>
              <a:buChar char=""/>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Precio de Equilibrio. Nivel al que se igualan las órdenes de compra y de venta. Cuando una acción está en equilibrio el precio no varía significativamente hasta que exista nueva información de la compañía</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Mercado Eficiente. Es un mercado donde los precios tienden al valor intrínseco y las acciones parecen estar en equilibrio</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lnSpc>
                <a:spcPct val="107000"/>
              </a:lnSpc>
              <a:spcAft>
                <a:spcPts val="800"/>
              </a:spcAft>
              <a:buNone/>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Mercados eficientes implican tranquilidad para inversores de estar comprando y vendiendo a precios justos. Esto evita temor a invertir y la subsecuente asignación deficiente del capital (lo guardo en el colchón) </a:t>
            </a:r>
            <a:r>
              <a:rPr lang="es-AR" sz="1800" dirty="0" err="1">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yel</a:t>
            </a: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 estancamiento económico. Entonces, desde el punto de vista de la economía, la eficiencia del mercado es buena.</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250938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0758A-9264-EEA9-8E2D-3BFA14447073}"/>
              </a:ext>
            </a:extLst>
          </p:cNvPr>
          <p:cNvSpPr>
            <a:spLocks noGrp="1"/>
          </p:cNvSpPr>
          <p:nvPr>
            <p:ph type="title"/>
          </p:nvPr>
        </p:nvSpPr>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dirty="0"/>
          </a:p>
        </p:txBody>
      </p:sp>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p:txBody>
          <a:bodyPr>
            <a:normAutofit/>
          </a:bodyPr>
          <a:lstStyle/>
          <a:p>
            <a:pPr marL="0" indent="0">
              <a:lnSpc>
                <a:spcPct val="107000"/>
              </a:lnSpc>
              <a:spcAft>
                <a:spcPts val="800"/>
              </a:spcAft>
              <a:buNone/>
            </a:pPr>
            <a:r>
              <a:rPr lang="es-AR" sz="16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Algunos creen que los mercados son eficientes</a:t>
            </a:r>
            <a:endParaRPr lang="es-AR"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AR" sz="1600" dirty="0">
                <a:solidFill>
                  <a:srgbClr val="212529"/>
                </a:solidFill>
                <a:latin typeface="Segoe UI" panose="020B0502040204020203" pitchFamily="34" charset="0"/>
                <a:ea typeface="Times New Roman" panose="02020603050405020304" pitchFamily="18" charset="0"/>
                <a:cs typeface="Times New Roman" panose="02020603050405020304" pitchFamily="18" charset="0"/>
              </a:rPr>
              <a:t>Existen 1</a:t>
            </a:r>
            <a:r>
              <a:rPr lang="es-AR" sz="16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00,000 analistas para menos de 3,000 grandes conjuntos accionarios. Además, están las estrictas normas de la SEC y redes de información electrónica. O sea, todos reciben la información casi al mismo instante.</a:t>
            </a:r>
            <a:endParaRPr lang="es-AR"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AR" sz="16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Quienes piensan lo contrario muestran hechos puntuales con variaciones inexplicables y señalan, además, que si hay quienes le ganan permanentemente al mercado la información no es igual para todos ni los valores de mercado se acercan a sus valores intrínsecos.</a:t>
            </a:r>
            <a:endParaRPr lang="es-AR"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AR" sz="16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Hay mercados de acciones muy eficientes y otros muy ineficientes. Las grandes compañías tienen muchos analistas siguiéndolas y sus gerentes se comunican con los analistas.</a:t>
            </a:r>
            <a:endParaRPr lang="es-AR"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AR" sz="16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Las más pequeñas tienden a ser ineficientes.</a:t>
            </a:r>
            <a:endParaRPr lang="es-AR"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AR" sz="16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En mercados ineficientes se puede arbitrar. ¿Usted que quisiera, mercados eficientes o ineficientes? Los organismos reguladores buscan la eficiencia de los mercados.</a:t>
            </a:r>
            <a:endParaRPr lang="es-AR" sz="16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s-AR" dirty="0"/>
          </a:p>
        </p:txBody>
      </p:sp>
    </p:spTree>
    <p:extLst>
      <p:ext uri="{BB962C8B-B14F-4D97-AF65-F5344CB8AC3E}">
        <p14:creationId xmlns:p14="http://schemas.microsoft.com/office/powerpoint/2010/main" val="161718030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0758A-9264-EEA9-8E2D-3BFA14447073}"/>
              </a:ext>
            </a:extLst>
          </p:cNvPr>
          <p:cNvSpPr>
            <a:spLocks noGrp="1"/>
          </p:cNvSpPr>
          <p:nvPr>
            <p:ph type="title"/>
          </p:nvPr>
        </p:nvSpPr>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dirty="0"/>
          </a:p>
        </p:txBody>
      </p:sp>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p:txBody>
          <a:bodyPr>
            <a:normAutofit/>
          </a:bodyPr>
          <a:lstStyle/>
          <a:p>
            <a:pPr>
              <a:lnSpc>
                <a:spcPct val="107000"/>
              </a:lnSpc>
              <a:spcAft>
                <a:spcPts val="8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Destacamos que la eficiencia de mercados se aplica a cualquier tipo de activos. El aumento desmedido y posterior desplome en los mercados de viviendas de EE.UU. muestran que era un mercado altamente ineficiente.</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AR" sz="1800" dirty="0">
                <a:solidFill>
                  <a:srgbClr val="212529"/>
                </a:solidFill>
                <a:effectLst/>
                <a:latin typeface="Segoe UI" panose="020B0502040204020203" pitchFamily="34" charset="0"/>
                <a:ea typeface="Times New Roman" panose="02020603050405020304" pitchFamily="18" charset="0"/>
                <a:cs typeface="Times New Roman" panose="02020603050405020304" pitchFamily="18" charset="0"/>
              </a:rPr>
              <a:t>La eficiencia de un mercado no es un concepto estático, es dinámico. Menores comisiones y un mayor número de analistas harán que el mercado tienda a una mayor eficiencia. Pero lo mencionado en lo referente a las viviendas, y la burbuja de las acciones de internet –por ejemplo- muestran lo contrario. Muchos expertos creen deber esto a cuestiones psicológicas en los decisores.</a:t>
            </a:r>
            <a:endParaRPr lang="es-AR"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s-AR" dirty="0"/>
          </a:p>
        </p:txBody>
      </p:sp>
    </p:spTree>
    <p:extLst>
      <p:ext uri="{BB962C8B-B14F-4D97-AF65-F5344CB8AC3E}">
        <p14:creationId xmlns:p14="http://schemas.microsoft.com/office/powerpoint/2010/main" val="168974585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0758A-9264-EEA9-8E2D-3BFA14447073}"/>
              </a:ext>
            </a:extLst>
          </p:cNvPr>
          <p:cNvSpPr>
            <a:spLocks noGrp="1"/>
          </p:cNvSpPr>
          <p:nvPr>
            <p:ph type="title"/>
          </p:nvPr>
        </p:nvSpPr>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dirty="0"/>
          </a:p>
        </p:txBody>
      </p:sp>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p:txBody>
          <a:bodyPr>
            <a:normAutofit/>
          </a:bodyPr>
          <a:lstStyle/>
          <a:p>
            <a:pPr marL="0" indent="0">
              <a:buNone/>
            </a:pPr>
            <a:r>
              <a:rPr lang="es-AR" sz="1800" dirty="0">
                <a:solidFill>
                  <a:srgbClr val="212529"/>
                </a:solidFill>
                <a:effectLst/>
                <a:ea typeface="Times New Roman" panose="02020603050405020304" pitchFamily="18" charset="0"/>
                <a:cs typeface="Times New Roman" panose="02020603050405020304" pitchFamily="18" charset="0"/>
              </a:rPr>
              <a:t>TEORÍA CONDUCTUAL DE LAS FINANZAS</a:t>
            </a:r>
            <a:endParaRPr lang="es-AR" sz="1800" dirty="0">
              <a:effectLst/>
              <a:ea typeface="Times New Roman" panose="02020603050405020304" pitchFamily="18" charset="0"/>
              <a:cs typeface="Times New Roman" panose="02020603050405020304" pitchFamily="18" charset="0"/>
            </a:endParaRPr>
          </a:p>
          <a:p>
            <a:endParaRPr lang="es-AR" sz="1800" dirty="0"/>
          </a:p>
          <a:p>
            <a:r>
              <a:rPr lang="es-AR" sz="1800" dirty="0"/>
              <a:t>La hipótesis de mercados eficientes sigue siendo la piedra angular de la Teoría Moderna de las Finanzas. El arbitraje hace que rápidamente los precios tiendan a su valor intrínseco, no pueden permanecer equivocados</a:t>
            </a:r>
          </a:p>
          <a:p>
            <a:r>
              <a:rPr lang="es-AR" sz="1800" dirty="0"/>
              <a:t>Hechos que muestran lo contrario, burbujas, etc., llevaron a desarrollar la teoría Conductual, con base en conceptos psicológicos</a:t>
            </a:r>
          </a:p>
          <a:p>
            <a:r>
              <a:rPr lang="es-AR" sz="1800" dirty="0"/>
              <a:t>Los precios equivocados pueden persistir poque quien observa el error no puede saber cuándo se va a corregir y teme pérdidas en el corto plazo</a:t>
            </a:r>
          </a:p>
          <a:p>
            <a:r>
              <a:rPr lang="es-AR" sz="1800" dirty="0"/>
              <a:t>Está muy bajo porque exageraron reacción ante una notica. Compro. ¿Y si el mercado sostiene la posición que lo llevó a sobre reaccionar a la baja?</a:t>
            </a:r>
          </a:p>
          <a:p>
            <a:r>
              <a:rPr lang="es-AR" sz="1800" dirty="0"/>
              <a:t>Hay una burbuja. Vendo. ¿Es ya el momento de vender o hay todavía margen de suba antes de que explote?</a:t>
            </a:r>
          </a:p>
          <a:p>
            <a:r>
              <a:rPr lang="es-AR" sz="1800" dirty="0"/>
              <a:t>Así los precios equivocados pueden persistir</a:t>
            </a:r>
          </a:p>
          <a:p>
            <a:endParaRPr lang="es-AR" sz="1800" dirty="0"/>
          </a:p>
        </p:txBody>
      </p:sp>
    </p:spTree>
    <p:extLst>
      <p:ext uri="{BB962C8B-B14F-4D97-AF65-F5344CB8AC3E}">
        <p14:creationId xmlns:p14="http://schemas.microsoft.com/office/powerpoint/2010/main" val="335485532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0758A-9264-EEA9-8E2D-3BFA14447073}"/>
              </a:ext>
            </a:extLst>
          </p:cNvPr>
          <p:cNvSpPr>
            <a:spLocks noGrp="1"/>
          </p:cNvSpPr>
          <p:nvPr>
            <p:ph type="title"/>
          </p:nvPr>
        </p:nvSpPr>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dirty="0"/>
          </a:p>
        </p:txBody>
      </p:sp>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p:txBody>
          <a:bodyPr>
            <a:normAutofit fontScale="92500" lnSpcReduction="10000"/>
          </a:bodyPr>
          <a:lstStyle/>
          <a:p>
            <a:r>
              <a:rPr lang="es-AR" dirty="0"/>
              <a:t>Distinta visión sobre pérdidas y ganancias potenciales </a:t>
            </a:r>
          </a:p>
          <a:p>
            <a:pPr lvl="1"/>
            <a:r>
              <a:rPr lang="es-AR" dirty="0"/>
              <a:t>Estudios muestran que en general una persona prefiere $ 500 seguros a tener 50% de probabilidad de $ 0.- y 50% de probabilidad de $ 1.000.-</a:t>
            </a:r>
          </a:p>
          <a:p>
            <a:pPr lvl="1"/>
            <a:r>
              <a:rPr lang="es-AR" dirty="0"/>
              <a:t>Sin embargo, elegiría tirar una moneda para poder pagar $ 0.-, con el riesgo de pagar $ 1.000.-, en lugar de pagar $ 500.- seguro</a:t>
            </a:r>
          </a:p>
          <a:p>
            <a:r>
              <a:rPr lang="es-AR" dirty="0"/>
              <a:t>La disposición depende del desempeño reciente, con lo que los decisores no actúan de igual modo en mercados al alza o a la baja, si vienen ganando o vienen perdiendo</a:t>
            </a:r>
          </a:p>
          <a:p>
            <a:r>
              <a:rPr lang="es-AR" dirty="0"/>
              <a:t>Explicaría las burbujas</a:t>
            </a:r>
          </a:p>
          <a:p>
            <a:r>
              <a:rPr lang="es-AR" dirty="0"/>
              <a:t>Exceso de confianza en las propias capacidades</a:t>
            </a:r>
          </a:p>
          <a:p>
            <a:r>
              <a:rPr lang="es-AR" dirty="0"/>
              <a:t>Tampoco al ser humano le gusta asumir pérdidas. No vende una acción por debajo de su valor de compra</a:t>
            </a:r>
          </a:p>
        </p:txBody>
      </p:sp>
    </p:spTree>
    <p:extLst>
      <p:ext uri="{BB962C8B-B14F-4D97-AF65-F5344CB8AC3E}">
        <p14:creationId xmlns:p14="http://schemas.microsoft.com/office/powerpoint/2010/main" val="379800311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70758A-9264-EEA9-8E2D-3BFA14447073}"/>
              </a:ext>
            </a:extLst>
          </p:cNvPr>
          <p:cNvSpPr>
            <a:spLocks noGrp="1"/>
          </p:cNvSpPr>
          <p:nvPr>
            <p:ph type="title"/>
          </p:nvPr>
        </p:nvSpPr>
        <p:spPr/>
        <p:txBody>
          <a:bodyPr/>
          <a:lstStyle/>
          <a:p>
            <a:r>
              <a:rPr lang="es-AR" sz="4400" b="1" u="sng" dirty="0">
                <a:effectLst/>
                <a:latin typeface="Calibri" panose="020F0502020204030204" pitchFamily="34" charset="0"/>
                <a:ea typeface="Times New Roman" panose="02020603050405020304" pitchFamily="18" charset="0"/>
                <a:cs typeface="Times New Roman" panose="02020603050405020304" pitchFamily="18" charset="0"/>
              </a:rPr>
              <a:t>MERCADOS E INSTITUCIONES FINANCIEROS</a:t>
            </a:r>
            <a:endParaRPr lang="es-AR" dirty="0"/>
          </a:p>
        </p:txBody>
      </p:sp>
      <p:sp>
        <p:nvSpPr>
          <p:cNvPr id="3" name="Marcador de contenido 2">
            <a:extLst>
              <a:ext uri="{FF2B5EF4-FFF2-40B4-BE49-F238E27FC236}">
                <a16:creationId xmlns:a16="http://schemas.microsoft.com/office/drawing/2014/main" id="{22C28219-72C1-F750-980E-788BD1E1E036}"/>
              </a:ext>
            </a:extLst>
          </p:cNvPr>
          <p:cNvSpPr>
            <a:spLocks noGrp="1"/>
          </p:cNvSpPr>
          <p:nvPr>
            <p:ph idx="1"/>
          </p:nvPr>
        </p:nvSpPr>
        <p:spPr/>
        <p:txBody>
          <a:bodyPr>
            <a:normAutofit/>
          </a:bodyPr>
          <a:lstStyle/>
          <a:p>
            <a:pPr marL="0" indent="0">
              <a:buNone/>
            </a:pPr>
            <a:r>
              <a:rPr lang="es-AR" dirty="0"/>
              <a:t>ALGUNAS CONCLUSIONES</a:t>
            </a:r>
          </a:p>
          <a:p>
            <a:r>
              <a:rPr lang="es-AR" dirty="0"/>
              <a:t>El mercado no es totalmente eficiente</a:t>
            </a:r>
          </a:p>
          <a:p>
            <a:r>
              <a:rPr lang="es-AR" dirty="0"/>
              <a:t>No es lo mismo buscar arbitrar como pequeño inversor que como gerente de un fondo multimillonario. Fondos de índices para los pequeños</a:t>
            </a:r>
          </a:p>
          <a:p>
            <a:r>
              <a:rPr lang="es-AR" dirty="0"/>
              <a:t>La eficiencia es mayor a nivel acciones que a nivel compañía. Los inversores podrían buscar empresas con capacidad de mejorar sensiblemente su performance y consecuentemente su precio</a:t>
            </a:r>
          </a:p>
          <a:p>
            <a:r>
              <a:rPr lang="es-AR" dirty="0"/>
              <a:t>Luego veremos las ventajas de la Diversificación</a:t>
            </a:r>
          </a:p>
        </p:txBody>
      </p:sp>
    </p:spTree>
    <p:extLst>
      <p:ext uri="{BB962C8B-B14F-4D97-AF65-F5344CB8AC3E}">
        <p14:creationId xmlns:p14="http://schemas.microsoft.com/office/powerpoint/2010/main" val="272369435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20668E3FE9A3174EAF1AA80B147CEE15" ma:contentTypeVersion="0" ma:contentTypeDescription="Crear nuevo documento." ma:contentTypeScope="" ma:versionID="4c4c9cf10a59085c21e113dc9d5614d3">
  <xsd:schema xmlns:xsd="http://www.w3.org/2001/XMLSchema" xmlns:xs="http://www.w3.org/2001/XMLSchema" xmlns:p="http://schemas.microsoft.com/office/2006/metadata/properties" targetNamespace="http://schemas.microsoft.com/office/2006/metadata/properties" ma:root="true" ma:fieldsID="6f811a6767019e7426d133b423302158">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80DFF13-EC20-4253-8F1A-B520CEBCD045}"/>
</file>

<file path=customXml/itemProps2.xml><?xml version="1.0" encoding="utf-8"?>
<ds:datastoreItem xmlns:ds="http://schemas.openxmlformats.org/officeDocument/2006/customXml" ds:itemID="{CC0EDBA0-1607-4DB1-868F-D21035F2208B}"/>
</file>

<file path=customXml/itemProps3.xml><?xml version="1.0" encoding="utf-8"?>
<ds:datastoreItem xmlns:ds="http://schemas.openxmlformats.org/officeDocument/2006/customXml" ds:itemID="{B3752618-6684-4D3C-ADF8-517FC9D6A179}"/>
</file>

<file path=docProps/app.xml><?xml version="1.0" encoding="utf-8"?>
<Properties xmlns="http://schemas.openxmlformats.org/officeDocument/2006/extended-properties" xmlns:vt="http://schemas.openxmlformats.org/officeDocument/2006/docPropsVTypes">
  <TotalTime>2576</TotalTime>
  <Words>12205</Words>
  <Application>Microsoft Office PowerPoint</Application>
  <PresentationFormat>Panorámica</PresentationFormat>
  <Paragraphs>696</Paragraphs>
  <Slides>101</Slides>
  <Notes>0</Notes>
  <HiddenSlides>2</HiddenSlides>
  <MMClips>0</MMClips>
  <ScaleCrop>false</ScaleCrop>
  <HeadingPairs>
    <vt:vector size="6" baseType="variant">
      <vt:variant>
        <vt:lpstr>Fuentes usadas</vt:lpstr>
      </vt:variant>
      <vt:variant>
        <vt:i4>11</vt:i4>
      </vt:variant>
      <vt:variant>
        <vt:lpstr>Tema</vt:lpstr>
      </vt:variant>
      <vt:variant>
        <vt:i4>1</vt:i4>
      </vt:variant>
      <vt:variant>
        <vt:lpstr>Títulos de diapositiva</vt:lpstr>
      </vt:variant>
      <vt:variant>
        <vt:i4>101</vt:i4>
      </vt:variant>
    </vt:vector>
  </HeadingPairs>
  <TitlesOfParts>
    <vt:vector size="113" baseType="lpstr">
      <vt:lpstr>Arial</vt:lpstr>
      <vt:lpstr>Arial</vt:lpstr>
      <vt:lpstr>Calibri</vt:lpstr>
      <vt:lpstr>Calibri (Cuerpo)</vt:lpstr>
      <vt:lpstr>Calibri Light</vt:lpstr>
      <vt:lpstr>Courier New</vt:lpstr>
      <vt:lpstr>Segoe UI</vt:lpstr>
      <vt:lpstr>Symbol</vt:lpstr>
      <vt:lpstr>Times New Roman</vt:lpstr>
      <vt:lpstr>var(--font1)</vt:lpstr>
      <vt:lpstr>var(--font-body)</vt:lpstr>
      <vt:lpstr>Tema de Office</vt:lpstr>
      <vt:lpstr>MAESTRIA EN GESTION ECONOMICA Y FINANCIERA DE RIESGOS</vt:lpstr>
      <vt:lpstr>Objetivos de la Materia</vt:lpstr>
      <vt:lpstr>Objetivos de la Materia De qué estaremos hablando</vt:lpstr>
      <vt:lpstr>Objetivos de la Materia De qué estaremos hablando</vt:lpstr>
      <vt:lpstr>Definiciones – A COMPLETAR</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UNA VISIÓN PANORÁMICA DE LA ADMINISTRACIÓN FINANCIERA</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FINANCIEROSc</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lpstr>MERCADOS E INSTITUCIONES FINANCIEROS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MAESTRIA EN GESTION ECONOMICA Y FINANCIERA DE RIESGOS</dc:title>
  <dc:creator>Gustavo Grinblat</dc:creator>
  <cp:lastModifiedBy>GRINBLAT GUSTAVO GABRIEL</cp:lastModifiedBy>
  <cp:revision>51</cp:revision>
  <dcterms:created xsi:type="dcterms:W3CDTF">2023-02-07T15:37:58Z</dcterms:created>
  <dcterms:modified xsi:type="dcterms:W3CDTF">2024-03-28T15:59:14Z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0x01010020668E3FE9A3174EAF1AA80B147CEE15</vt:lpwstr>
  </property>
</Properties>
</file>