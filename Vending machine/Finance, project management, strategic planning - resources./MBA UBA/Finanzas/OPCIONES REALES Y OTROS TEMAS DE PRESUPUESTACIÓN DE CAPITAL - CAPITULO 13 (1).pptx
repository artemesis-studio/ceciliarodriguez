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70DE0-4B97-CC8B-DA2B-D60A2C0FB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CE1EAE-CFDC-004A-8AD0-B51F2403A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0B6E68-C188-7EEF-0E02-F4E28889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66B6E-0635-0E1F-4379-C36A419E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0A89BD-292B-7733-6B8D-EB945709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80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55550-A5A3-28B0-87A6-8BFA8585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66766-5859-4C0F-EE4B-095181ED3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49D55-9129-2BCB-CC58-BE8A5A02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8981B-655E-868D-A913-990DA313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E03A5C-2E50-F104-6EF2-328548C6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85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39DAC-2954-AAC3-037A-EE7F5657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8DAC5-5A1D-5565-6BE0-F8F9CBDC3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3658DC-F3F3-6928-E77C-724A8CE3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300DF-7CC3-8B85-E0CB-780F59CD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390DF-3D5D-2441-8768-0FF17274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2757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F108A-B6FD-4DD3-E57D-35251CCA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ED3077-0282-9BA1-9647-34DCFFE91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063130-158D-0337-1366-179AEC517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EA4455-1040-78B0-9A83-CCFB496E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995CC5-9BF9-C25B-E551-617C0C74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C6B983-CC89-87A7-83C5-E8A9302F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824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3BB85-25AE-B83A-CCC5-5CA70BF9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508F49-1586-2659-B704-8505E9964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781A51-2B5A-F1EE-3EDC-384ADF465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8D3E41-1105-8E60-E088-8DDD261F5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DB2382-0414-A436-50DA-DA2406F42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7C37DA-8221-6D56-EC43-58433E46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2644E8-DD3F-D216-6AA3-E589B5767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884065-FAAE-BDB4-32F3-248B2201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6098B-B84A-5C8C-354A-8F8F9A6B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D87682-7DDD-B19E-DDA9-A7CE4E32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89A9E0-1E31-1CF9-9385-98ABD95A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C26854-C66C-13B9-DDBA-65127106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231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BDD1B5-8696-85E6-0336-67B2AFAA1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484739-613F-8753-FA98-4D103CB3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D31B71-6907-91D9-EF05-792F513E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0008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FB5C3-3275-A698-026C-886DC55F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CABC4-5D18-3E27-6A44-FC26838C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E40746-4F71-7DE0-F012-7DDD0883F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EC19EE-490E-414E-CA52-E77AFF26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5E8014-1302-B4C8-7D17-5F4C8787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6F6371-277E-CA55-1C44-DF90C0B4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1955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F3D7D-6DB8-5CA8-33D8-A03C43B3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4D5670-BFC0-3DB3-A109-81380518A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36B38D-9A81-E64C-CE8E-3AEE8BAC0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3425C7-DE0E-64F8-F3F8-B160236A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301EDD-7F0A-9740-3332-CBB88123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3BE84C-6D96-5ADC-F3AA-6D44DAE2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11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7BA53-C170-1009-035B-6DF474E71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1F61C2-014C-A45F-EB74-9AE786E3C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AA3C9E-EE3D-1DC0-EA4A-7F73CAC9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34C08C-24E9-70D6-53B2-5821E4F4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E8F520-0506-EC10-69F1-4C13CCE9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CA22DF-B559-E639-75C9-BC3D422A0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54BBD4-C434-4B35-66A5-AFBBAD652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E2F62-687B-D702-F79B-AC39487E9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26CF39-33C2-9BF3-544B-2B7B1446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9EBFF-3268-DB30-71CF-0042D24C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733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340DA5B-4F04-5E8A-6DE3-71F150CE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B4A1CE-C411-332B-579B-A08B8F347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8FEF5-8DEC-BE49-ED2C-FC43B05D4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28C1-82C9-4445-A848-4CBA9F23312B}" type="datetimeFigureOut">
              <a:rPr lang="es-ES" smtClean="0"/>
              <a:t>13/05/2024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70E8C6-1AE4-42A3-03D5-549133C6F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F828B-082D-E8A8-31BA-02F0F7F04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4C4F5-1195-4895-81EB-16EC24AC6F4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27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82140-08D3-08F1-4D09-A0DA1C925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MAESTRIA </a:t>
            </a: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 GESTION ECONOMICA </a:t>
            </a:r>
            <a:r>
              <a:rPr lang="es-E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 FINANCIERA DE RIESGOS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DE824A-985B-6EFE-79BC-73F2093AD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s-ES" sz="1800" b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ASIGNATURA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 TÓPICOS DE </a:t>
            </a:r>
            <a:r>
              <a:rPr lang="es-ES" sz="1800" b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FINANZAS CORPORATIVAS</a:t>
            </a: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DOCENTE: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ACT. </a:t>
            </a:r>
            <a:r>
              <a:rPr lang="es-ES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GUSTAVO GABRIEL GRINBLAT</a:t>
            </a:r>
            <a:endParaRPr lang="es-AR" dirty="0"/>
          </a:p>
        </p:txBody>
      </p:sp>
      <p:pic>
        <p:nvPicPr>
          <p:cNvPr id="4" name="1 Imagen">
            <a:extLst>
              <a:ext uri="{FF2B5EF4-FFF2-40B4-BE49-F238E27FC236}">
                <a16:creationId xmlns:a16="http://schemas.microsoft.com/office/drawing/2014/main" id="{03ECD9A0-F9B9-1F21-C435-4F8087292C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09707" y="1764030"/>
            <a:ext cx="4172585" cy="110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9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400" dirty="0"/>
              <a:t>Opciones, dan derecho, pero no obligación</a:t>
            </a:r>
          </a:p>
          <a:p>
            <a:r>
              <a:rPr lang="es-AR" sz="2400" dirty="0"/>
              <a:t>Reales, para diferenciarlas  de las financieras</a:t>
            </a:r>
          </a:p>
          <a:p>
            <a:r>
              <a:rPr lang="es-AR" sz="2400" dirty="0"/>
              <a:t>Los activos reales no son inversiones pasivas y es común que los gerentes puedan tomar acciones con posterioridad a la puesta en marcha de un proyecto, y así alterar los flujos de efectivo. Lo hacen a través de </a:t>
            </a:r>
            <a:r>
              <a:rPr lang="es-AR" sz="2400" b="1" dirty="0"/>
              <a:t>Opciones Reales</a:t>
            </a:r>
          </a:p>
          <a:p>
            <a:r>
              <a:rPr lang="es-AR" sz="2400" dirty="0"/>
              <a:t>Opciones Reales son el derecho que se adquiere, pero no la obligación, a emprender cierta acción futura</a:t>
            </a:r>
          </a:p>
          <a:p>
            <a:r>
              <a:rPr lang="es-AR" sz="2400" dirty="0"/>
              <a:t>Las Opciones Reales son valiosas, pero ese valor no es recogido por el análisis tradicional de NPV, y por lo tanto su valor debe ser analizado por separado</a:t>
            </a:r>
          </a:p>
          <a:p>
            <a:r>
              <a:rPr lang="es-AR" sz="2400" dirty="0"/>
              <a:t>Existen varios tipos de Opciones Reales:</a:t>
            </a:r>
          </a:p>
        </p:txBody>
      </p:sp>
    </p:spTree>
    <p:extLst>
      <p:ext uri="{BB962C8B-B14F-4D97-AF65-F5344CB8AC3E}">
        <p14:creationId xmlns:p14="http://schemas.microsoft.com/office/powerpoint/2010/main" val="165581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400" u="sng" dirty="0"/>
              <a:t>Opciones Reales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De crecimiento o Expansión, en las que el proyecto puede ampliarse si la demanda resulta mayor a la esperada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De abandono, en las que el proyecto puede cancelarse si los flujos de efectivo son bajos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De elegir el momento propicio para invertir, en las que un proyecto puede posponerse hasta que disponga de más información sobre la demanda o los costos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De flexibilidad de productos, en las que la producción puede alterarse si cambian las condiciones del mercado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De flexibilidad de insumos, en las que aquellos utilizados en el proceso de producción pueden cambiarse si sus precios cambian (petróleo y gas, p. e.)</a:t>
            </a:r>
          </a:p>
        </p:txBody>
      </p:sp>
    </p:spTree>
    <p:extLst>
      <p:ext uri="{BB962C8B-B14F-4D97-AF65-F5344CB8AC3E}">
        <p14:creationId xmlns:p14="http://schemas.microsoft.com/office/powerpoint/2010/main" val="1674406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AR" sz="2400" u="sng" dirty="0"/>
              <a:t>Opciones de Crecimiento o Expansión</a:t>
            </a:r>
          </a:p>
          <a:p>
            <a:r>
              <a:rPr lang="es-AR" sz="2400" dirty="0"/>
              <a:t>Veamos un ejemplo, donde tenemos dos escenarios, uno positivo y otro negativo con iguales probabilidades</a:t>
            </a:r>
          </a:p>
          <a:p>
            <a:r>
              <a:rPr lang="es-AR" sz="2400" dirty="0"/>
              <a:t>Existe la opción (Opción Real) de aumentar la inversión luego de un año, período en el cual se conocerá cuál de los dos escenarios ocurre</a:t>
            </a:r>
          </a:p>
          <a:p>
            <a:r>
              <a:rPr lang="es-AR" sz="2400" dirty="0"/>
              <a:t>Lo vemos en el Excel</a:t>
            </a:r>
          </a:p>
          <a:p>
            <a:r>
              <a:rPr lang="es-AR" sz="2400" dirty="0"/>
              <a:t>El valor de la Opción Real es la diferencia entre los NPV si estamos en un caso con NPV positivo sin la opción, y es igual al NPV del proyecto con la opción (menos $ 0.-) en el caso que sin ella el NPV fuera negativo, ya que el proyecto en tal caso no se hubiera emprendido</a:t>
            </a:r>
          </a:p>
          <a:p>
            <a:r>
              <a:rPr lang="es-AR" sz="2400" dirty="0"/>
              <a:t>¿Cuánto cuesta adquirir la opción?</a:t>
            </a:r>
          </a:p>
          <a:p>
            <a:pPr lvl="1"/>
            <a:r>
              <a:rPr lang="es-AR" sz="2000" dirty="0"/>
              <a:t>En nuestro caso podría ser el costo de una opción de compra de un terreno adicional en el que se realizaría la ampliación</a:t>
            </a:r>
          </a:p>
          <a:p>
            <a:pPr lvl="1"/>
            <a:r>
              <a:rPr lang="es-AR" sz="2000" dirty="0"/>
              <a:t>Dicho costo se compararía con el VALOR de la opción y determinaríamos en NPV del proyecto restando dicho costo al del NPV con la opción</a:t>
            </a:r>
          </a:p>
          <a:p>
            <a:r>
              <a:rPr lang="es-AR" sz="2400" dirty="0"/>
              <a:t>¿Debemos usar el mismo WACC o elevarlo al incluir una opción real?</a:t>
            </a:r>
          </a:p>
          <a:p>
            <a:r>
              <a:rPr lang="es-AR" sz="2400" dirty="0"/>
              <a:t>¿Cómo afecta la presencia de competidores con la posibilidad de contar también con Opciones Reales? </a:t>
            </a:r>
          </a:p>
        </p:txBody>
      </p:sp>
    </p:spTree>
    <p:extLst>
      <p:ext uri="{BB962C8B-B14F-4D97-AF65-F5344CB8AC3E}">
        <p14:creationId xmlns:p14="http://schemas.microsoft.com/office/powerpoint/2010/main" val="159369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u="sng" dirty="0"/>
              <a:t>Opciones de abandono o cancelación</a:t>
            </a:r>
          </a:p>
          <a:p>
            <a:r>
              <a:rPr lang="es-AR" sz="2400" dirty="0"/>
              <a:t>Normalmente asumimos que no hay posibilidad de abandonar un proyecto, una vez iniciado</a:t>
            </a:r>
          </a:p>
          <a:p>
            <a:r>
              <a:rPr lang="es-AR" sz="2400" dirty="0"/>
              <a:t>Si contamos con una opción de abandono frente a un escenario con flujos de efectivo menores a los pronosticados, la rentabilidad del proyecto aumenta y se reduce su riesgo</a:t>
            </a:r>
          </a:p>
          <a:p>
            <a:r>
              <a:rPr lang="es-AR" sz="2400" dirty="0"/>
              <a:t>Por ejemplo, un proyecto que requiere un proveedor de energía, y el mismo para hacer su inversión y fijar un precio, exige un mínimo de consumo</a:t>
            </a:r>
          </a:p>
          <a:p>
            <a:r>
              <a:rPr lang="es-AR" sz="2400" dirty="0"/>
              <a:t>Veamos el ejemplo en Excel</a:t>
            </a:r>
          </a:p>
          <a:p>
            <a:pPr marL="0" indent="0">
              <a:buNone/>
            </a:pPr>
            <a:r>
              <a:rPr lang="es-A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147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u="sng" dirty="0"/>
              <a:t>Opciones de Aplazar</a:t>
            </a:r>
          </a:p>
          <a:p>
            <a:pPr marL="0" indent="0">
              <a:buNone/>
            </a:pPr>
            <a:r>
              <a:rPr lang="es-AR" sz="2400" dirty="0"/>
              <a:t>Veamos el Excel</a:t>
            </a:r>
          </a:p>
          <a:p>
            <a:pPr marL="0" indent="0">
              <a:buNone/>
            </a:pPr>
            <a:r>
              <a:rPr lang="es-AR" sz="2400" dirty="0"/>
              <a:t>Tener presente que poder aplazar en contexto de incertidumbre resulta muy atractivo, pero se corre el riesgo de no ser el primero en entrar en el Negocio</a:t>
            </a:r>
          </a:p>
          <a:p>
            <a:pPr marL="0" indent="0">
              <a:buNone/>
            </a:pPr>
            <a:endParaRPr lang="es-AR" sz="2400" dirty="0"/>
          </a:p>
          <a:p>
            <a:pPr marL="0" indent="0">
              <a:buNone/>
            </a:pPr>
            <a:r>
              <a:rPr lang="es-AR" sz="2400" u="sng" dirty="0"/>
              <a:t>Opciones de Flexibilidad</a:t>
            </a:r>
          </a:p>
          <a:p>
            <a:pPr marL="0" indent="0">
              <a:buNone/>
            </a:pPr>
            <a:r>
              <a:rPr lang="es-AR" sz="2400" dirty="0"/>
              <a:t>Veamos en el Excel el caso de BMW que hace una inversión inicial adicional, para estar preparada para modificar el tipo de vehículo a fabricar (opción de flexibilidad) en el caso de que cambien los hábitos de consumo</a:t>
            </a:r>
          </a:p>
          <a:p>
            <a:pPr marL="0" indent="0">
              <a:buNone/>
            </a:pP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826709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400" u="sng" dirty="0"/>
              <a:t>El presupuesto Optimo de Capital</a:t>
            </a:r>
          </a:p>
          <a:p>
            <a:r>
              <a:rPr lang="es-AR" sz="2400" dirty="0"/>
              <a:t>Es la Magnitud del Presupuesto de Capital en que la tasa de rendimiento marginal del proyecto es igual al costo marginal de Capital</a:t>
            </a:r>
          </a:p>
          <a:p>
            <a:r>
              <a:rPr lang="es-AR" sz="2400" dirty="0"/>
              <a:t>Hemos visto el análisis que realizaríamos para un proyecto en particular, pero el WACC se verá afectado por la necesidad total de Capital</a:t>
            </a:r>
          </a:p>
          <a:p>
            <a:r>
              <a:rPr lang="es-AR" sz="2400" dirty="0"/>
              <a:t>Si el presupuesto es reducido, el WACC podría ser del 10%, pero si pasáramos a un presupuesto de capital más amplio, el WACC podría ser del 12%</a:t>
            </a:r>
          </a:p>
          <a:p>
            <a:r>
              <a:rPr lang="es-AR" sz="2400" dirty="0"/>
              <a:t>Lo mismo podría ocurrir si se aceptara un proyecto muy grande y más riesgoso</a:t>
            </a:r>
          </a:p>
          <a:p>
            <a:r>
              <a:rPr lang="es-AR" sz="2400" dirty="0"/>
              <a:t>¿Cómo operaría este proceso de determinación del Optimo de Capital?</a:t>
            </a:r>
          </a:p>
          <a:p>
            <a:pPr marL="457200" lvl="1" indent="0" algn="ctr">
              <a:buNone/>
            </a:pPr>
            <a:endParaRPr lang="es-AR" dirty="0"/>
          </a:p>
          <a:p>
            <a:pPr marL="457200" lvl="1" indent="0" algn="ctr">
              <a:buNone/>
            </a:pPr>
            <a:r>
              <a:rPr lang="es-AR" dirty="0"/>
              <a:t>Veamos los pasos en la siguiente hoja</a:t>
            </a:r>
          </a:p>
        </p:txBody>
      </p:sp>
    </p:spTree>
    <p:extLst>
      <p:ext uri="{BB962C8B-B14F-4D97-AF65-F5344CB8AC3E}">
        <p14:creationId xmlns:p14="http://schemas.microsoft.com/office/powerpoint/2010/main" val="3576224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400" u="sng" dirty="0"/>
              <a:t>El presupuesto Optimo de Capital</a:t>
            </a:r>
          </a:p>
          <a:p>
            <a:r>
              <a:rPr lang="es-AR" sz="2400" dirty="0"/>
              <a:t>Paso 1: Hemos visto que las ganancias retenidas tienen un costo menor que el capital externo. Una vez agotadas las ganancias retenidas, el WACC aumentará. También es esperable que, a mayor recaudación de Capital, aumente el costo de la Deuda y de las Acciones Preferentes</a:t>
            </a:r>
          </a:p>
          <a:p>
            <a:r>
              <a:rPr lang="es-AR" sz="2400" dirty="0"/>
              <a:t>Paso 2: Las distintas divisiones de una Empresa tienen sus Proyectos ordenados de mayor a menor IRR y NPV, para un WACC determinado</a:t>
            </a:r>
          </a:p>
          <a:p>
            <a:r>
              <a:rPr lang="es-AR" sz="2400" dirty="0"/>
              <a:t>Paso 3: Se establece la línea o el programa del WACC, que nos indica el costo marginal de cada dólar adicional (compuesto de deuda y capital en distintas proporciones). Del mismo modo se obtiene la línea o programa del IRR, la tasa marginal de rendimiento de cada inversión ordenadas de la IRR más alta a la más baja</a:t>
            </a:r>
          </a:p>
        </p:txBody>
      </p:sp>
    </p:spTree>
    <p:extLst>
      <p:ext uri="{BB962C8B-B14F-4D97-AF65-F5344CB8AC3E}">
        <p14:creationId xmlns:p14="http://schemas.microsoft.com/office/powerpoint/2010/main" val="221726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u="sng" dirty="0"/>
              <a:t>El presupuesto Optimo de Capital</a:t>
            </a:r>
          </a:p>
          <a:p>
            <a:r>
              <a:rPr lang="es-AR" sz="2400" dirty="0"/>
              <a:t>Paso 4: Por los análisis de la Economía, sabemos que el valor se maximiza cuando la inversión llega al punto en que los rendimientos marginales se igualan a los costos marginales. VEAMOS EL GRÁFICO, que nos indica como presupuesto óptimo de capital una inversión de 1,200,000 millones</a:t>
            </a:r>
          </a:p>
          <a:p>
            <a:r>
              <a:rPr lang="es-AR" sz="2400" dirty="0"/>
              <a:t>Paso 5: El WACC en el costo óptimo de capital es de aproximadamente 13,5%. Este valor es informado por Tesorería a las Divisiones, que ajustarán sus proyectos al riesgo de cada una de ellas (</a:t>
            </a:r>
            <a:r>
              <a:rPr lang="es-AR" sz="2400" dirty="0" err="1"/>
              <a:t>p.e</a:t>
            </a:r>
            <a:r>
              <a:rPr lang="es-AR" sz="2400" dirty="0"/>
              <a:t>. bajo riesgo al 80% y alto riesgo al 120%)</a:t>
            </a:r>
          </a:p>
          <a:p>
            <a:r>
              <a:rPr lang="es-AR" sz="2400" dirty="0"/>
              <a:t>Paso 6: Las Divisiones determinan los NPV de sus Proyectos con los costos de capital ajustados al riesgo y partiendo del WACC medio mencionado</a:t>
            </a:r>
          </a:p>
        </p:txBody>
      </p:sp>
    </p:spTree>
    <p:extLst>
      <p:ext uri="{BB962C8B-B14F-4D97-AF65-F5344CB8AC3E}">
        <p14:creationId xmlns:p14="http://schemas.microsoft.com/office/powerpoint/2010/main" val="225695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5153F-747B-5393-74B1-71DBE4C5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3600" dirty="0"/>
              <a:t>Opciones reales y otros temas de presupuestación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1EB01-893C-3F7A-0B57-FD607FBD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u="sng" dirty="0"/>
              <a:t>La post auditoría</a:t>
            </a:r>
          </a:p>
          <a:p>
            <a:r>
              <a:rPr lang="es-AR" sz="2400" dirty="0"/>
              <a:t>Es el último aspecto del proceso de presupuestación del Capital</a:t>
            </a:r>
          </a:p>
          <a:p>
            <a:pPr lvl="1"/>
            <a:r>
              <a:rPr lang="es-AR" dirty="0"/>
              <a:t>Comparar los resultados reales con los predichos por los promotores del proyecto</a:t>
            </a:r>
          </a:p>
          <a:p>
            <a:pPr lvl="1"/>
            <a:r>
              <a:rPr lang="es-AR" dirty="0"/>
              <a:t>Explicar por qué ocurrieron las diferencias</a:t>
            </a:r>
          </a:p>
          <a:p>
            <a:r>
              <a:rPr lang="es-AR" sz="2400" dirty="0"/>
              <a:t>Normalmente se esperan informes mensuales durante los primeros seis meses, luego trimestrales hasta que los resultados alcancen las expectativas</a:t>
            </a:r>
          </a:p>
          <a:p>
            <a:r>
              <a:rPr lang="es-AR" sz="2400" dirty="0"/>
              <a:t>La post auditoría persigue dos objetivos</a:t>
            </a:r>
          </a:p>
          <a:p>
            <a:pPr lvl="1"/>
            <a:r>
              <a:rPr lang="es-AR" dirty="0"/>
              <a:t>Mejorar los pronósticos, evitar posturas optimistas al saber que serán evaluados contra los valores reales</a:t>
            </a:r>
          </a:p>
          <a:p>
            <a:pPr lvl="1"/>
            <a:r>
              <a:rPr lang="es-AR" dirty="0"/>
              <a:t>Mejorar las operaciones, compromiso con cumplir lo presupuestado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2420559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0668E3FE9A3174EAF1AA80B147CEE15" ma:contentTypeVersion="4" ma:contentTypeDescription="Crear nuevo documento." ma:contentTypeScope="" ma:versionID="d29dfd9a9a7666034e5ad4f5ee96d9e6">
  <xsd:schema xmlns:xsd="http://www.w3.org/2001/XMLSchema" xmlns:xs="http://www.w3.org/2001/XMLSchema" xmlns:p="http://schemas.microsoft.com/office/2006/metadata/properties" xmlns:ns2="e0a2096b-51a3-4c59-a6bd-c7f798262ca8" targetNamespace="http://schemas.microsoft.com/office/2006/metadata/properties" ma:root="true" ma:fieldsID="bfc5d357d775e068c7ede3c89a10d3d3" ns2:_="">
    <xsd:import namespace="e0a2096b-51a3-4c59-a6bd-c7f798262c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a2096b-51a3-4c59-a6bd-c7f798262c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0E6ED7-D660-46D5-8129-138604F7A43F}"/>
</file>

<file path=customXml/itemProps2.xml><?xml version="1.0" encoding="utf-8"?>
<ds:datastoreItem xmlns:ds="http://schemas.openxmlformats.org/officeDocument/2006/customXml" ds:itemID="{07F1CAB6-910E-4EBD-BF98-9439C0F4F629}"/>
</file>

<file path=customXml/itemProps3.xml><?xml version="1.0" encoding="utf-8"?>
<ds:datastoreItem xmlns:ds="http://schemas.openxmlformats.org/officeDocument/2006/customXml" ds:itemID="{32204399-CD0C-47FF-B60F-683167C68B27}"/>
</file>

<file path=docProps/app.xml><?xml version="1.0" encoding="utf-8"?>
<Properties xmlns="http://schemas.openxmlformats.org/officeDocument/2006/extended-properties" xmlns:vt="http://schemas.openxmlformats.org/officeDocument/2006/docPropsVTypes">
  <TotalTime>15123</TotalTime>
  <Words>1169</Words>
  <Application>Microsoft Office PowerPoint</Application>
  <PresentationFormat>Panorámica</PresentationFormat>
  <Paragraphs>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Tema de Office</vt:lpstr>
      <vt:lpstr>MAESTRIA EN GESTION ECONOMICA Y FINANCIERA DE RIESGOS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  <vt:lpstr>Opciones reales y otros temas de presupuestación de Capital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MAESTRIA EN GESTION ECONOMICA Y FINANCIERA DE RIESGOS</dc:title>
  <dc:creator>GRINBLAT GUSTAVO GABRIEL</dc:creator>
  <cp:lastModifiedBy>GRINBLAT GUSTAVO GABRIEL</cp:lastModifiedBy>
  <cp:revision>131</cp:revision>
  <dcterms:created xsi:type="dcterms:W3CDTF">2023-02-14T14:19:39Z</dcterms:created>
  <dcterms:modified xsi:type="dcterms:W3CDTF">2024-05-13T21:44:52Z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0x01010020668E3FE9A3174EAF1AA80B147CEE15</vt:lpwstr>
  </property>
</Properties>
</file>