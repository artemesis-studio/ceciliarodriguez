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84" r:id="rId10"/>
    <p:sldId id="265" r:id="rId11"/>
    <p:sldId id="266" r:id="rId12"/>
    <p:sldId id="267" r:id="rId13"/>
    <p:sldId id="285"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A70DE0-4B97-CC8B-DA2B-D60A2C0FB91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CE1EAE-CFDC-004A-8AD0-B51F2403A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FE0B6E68-C188-7EEF-0E02-F4E288897831}"/>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5" name="Marcador de pie de página 4">
            <a:extLst>
              <a:ext uri="{FF2B5EF4-FFF2-40B4-BE49-F238E27FC236}">
                <a16:creationId xmlns:a16="http://schemas.microsoft.com/office/drawing/2014/main" id="{F7066B6E-0635-0E1F-4379-C36A419EE8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F0A89BD-292B-7733-6B8D-EB945709119F}"/>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108804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855550-A5A3-28B0-87A6-8BFA8585B8F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BD66766-5859-4C0F-EE4B-095181ED33E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0B49D55-9129-2BCB-CC58-BE8A5A02F695}"/>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5" name="Marcador de pie de página 4">
            <a:extLst>
              <a:ext uri="{FF2B5EF4-FFF2-40B4-BE49-F238E27FC236}">
                <a16:creationId xmlns:a16="http://schemas.microsoft.com/office/drawing/2014/main" id="{8178981B-655E-868D-A913-990DA313B7F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FE03A5C-2E50-F104-6EF2-328548C6ACC5}"/>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59285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39DAC-2954-AAC3-037A-EE7F5657CF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138DAC5-5A1D-5565-6BE0-F8F9CBDC3A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33658DC-F3F3-6928-E77C-724A8CE3D717}"/>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5" name="Marcador de pie de página 4">
            <a:extLst>
              <a:ext uri="{FF2B5EF4-FFF2-40B4-BE49-F238E27FC236}">
                <a16:creationId xmlns:a16="http://schemas.microsoft.com/office/drawing/2014/main" id="{C6F300DF-7CC3-8B85-E0CB-780F59CDA4B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DA390DF-3D5D-2441-8768-0FF172747768}"/>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92757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FF108A-B6FD-4DD3-E57D-35251CCA8CD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ED3077-0282-9BA1-9647-34DCFFE91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F063130-158D-0337-1366-179AEC5175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3EA4455-1040-78B0-9A83-CCFB496E4222}"/>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6" name="Marcador de pie de página 5">
            <a:extLst>
              <a:ext uri="{FF2B5EF4-FFF2-40B4-BE49-F238E27FC236}">
                <a16:creationId xmlns:a16="http://schemas.microsoft.com/office/drawing/2014/main" id="{42995CC5-9BF9-C25B-E551-617C0C741D3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3C6B983-CC89-87A7-83C5-E8A9302FAFA4}"/>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21824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3BB85-25AE-B83A-CCC5-5CA70BF9579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508F49-1586-2659-B704-8505E9964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C781A51-2B5A-F1EE-3EDC-384ADF465F9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E8D3E41-1105-8E60-E088-8DDD261F5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5DB2382-0414-A436-50DA-DA2406F429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57C37DA-8221-6D56-EC43-58433E468377}"/>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8" name="Marcador de pie de página 7">
            <a:extLst>
              <a:ext uri="{FF2B5EF4-FFF2-40B4-BE49-F238E27FC236}">
                <a16:creationId xmlns:a16="http://schemas.microsoft.com/office/drawing/2014/main" id="{7D2644E8-DD3F-D216-6AA3-E589B5767C73}"/>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2884065-FAAE-BDB4-32F3-248B22010F12}"/>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64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6098B-B84A-5C8C-354A-8F8F9A6BD0E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ED87682-7DDD-B19E-DDA9-A7CE4E324285}"/>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4" name="Marcador de pie de página 3">
            <a:extLst>
              <a:ext uri="{FF2B5EF4-FFF2-40B4-BE49-F238E27FC236}">
                <a16:creationId xmlns:a16="http://schemas.microsoft.com/office/drawing/2014/main" id="{0589A9E0-1E31-1CF9-9385-98ABD95ADFC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EC26854-C66C-13B9-DDBA-65127106A9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86231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4BDD1B5-8696-85E6-0336-67B2AFAA156B}"/>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3" name="Marcador de pie de página 2">
            <a:extLst>
              <a:ext uri="{FF2B5EF4-FFF2-40B4-BE49-F238E27FC236}">
                <a16:creationId xmlns:a16="http://schemas.microsoft.com/office/drawing/2014/main" id="{22484739-613F-8753-FA98-4D103CB30D0A}"/>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0D31B71-6907-91D9-EF05-792F513E347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2690008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FB5C3-3275-A698-026C-886DC55FF4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0BCABC4-5D18-3E27-6A44-FC26838C2F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5E40746-4F71-7DE0-F012-7DDD0883F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4EC19EE-490E-414E-CA52-E77AFF261BC8}"/>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6" name="Marcador de pie de página 5">
            <a:extLst>
              <a:ext uri="{FF2B5EF4-FFF2-40B4-BE49-F238E27FC236}">
                <a16:creationId xmlns:a16="http://schemas.microsoft.com/office/drawing/2014/main" id="{AD5E8014-1302-B4C8-7D17-5F4C8787FE9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B6F6371-277E-CA55-1C44-DF90C0B487EA}"/>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04195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F3D7D-6DB8-5CA8-33D8-A03C43B3A89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64D5670-BFC0-3DB3-A109-81380518AD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B36B38D-9A81-E64C-CE8E-3AEE8BAC0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3425C7-DE0E-64F8-F3F8-B160236A6DAB}"/>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6" name="Marcador de pie de página 5">
            <a:extLst>
              <a:ext uri="{FF2B5EF4-FFF2-40B4-BE49-F238E27FC236}">
                <a16:creationId xmlns:a16="http://schemas.microsoft.com/office/drawing/2014/main" id="{2E301EDD-7F0A-9740-3332-CBB88123C04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B3BE84C-6D96-5ADC-F3AA-6D44DAE245CB}"/>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443117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67BA53-C170-1009-035B-6DF474E71D27}"/>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91F61C2-014C-A45F-EB74-9AE786E3CC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AA3C9E-EE3D-1DC0-EA4A-7F73CAC9D3E8}"/>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5" name="Marcador de pie de página 4">
            <a:extLst>
              <a:ext uri="{FF2B5EF4-FFF2-40B4-BE49-F238E27FC236}">
                <a16:creationId xmlns:a16="http://schemas.microsoft.com/office/drawing/2014/main" id="{8334C08C-24E9-70D6-53B2-5821E4F4112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E8F520-0506-EC10-69F1-4C13CCE99709}"/>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331893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CA22DF-B559-E639-75C9-BC3D422A041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854BBD4-C434-4B35-66A5-AFBBAD652C9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9FE2F62-687B-D702-F79B-AC39487E9DA1}"/>
              </a:ext>
            </a:extLst>
          </p:cNvPr>
          <p:cNvSpPr>
            <a:spLocks noGrp="1"/>
          </p:cNvSpPr>
          <p:nvPr>
            <p:ph type="dt" sz="half" idx="10"/>
          </p:nvPr>
        </p:nvSpPr>
        <p:spPr/>
        <p:txBody>
          <a:bodyPr/>
          <a:lstStyle/>
          <a:p>
            <a:fld id="{6D4528C1-82C9-4445-A848-4CBA9F23312B}" type="datetimeFigureOut">
              <a:rPr lang="es-ES" smtClean="0"/>
              <a:t>09/05/2024</a:t>
            </a:fld>
            <a:endParaRPr lang="es-ES"/>
          </a:p>
        </p:txBody>
      </p:sp>
      <p:sp>
        <p:nvSpPr>
          <p:cNvPr id="5" name="Marcador de pie de página 4">
            <a:extLst>
              <a:ext uri="{FF2B5EF4-FFF2-40B4-BE49-F238E27FC236}">
                <a16:creationId xmlns:a16="http://schemas.microsoft.com/office/drawing/2014/main" id="{5226CF39-33C2-9BF3-544B-2B7B1446465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0C9EBFF-3268-DB30-71CF-0042D24CE203}"/>
              </a:ext>
            </a:extLst>
          </p:cNvPr>
          <p:cNvSpPr>
            <a:spLocks noGrp="1"/>
          </p:cNvSpPr>
          <p:nvPr>
            <p:ph type="sldNum" sz="quarter" idx="12"/>
          </p:nvPr>
        </p:nvSpPr>
        <p:spPr/>
        <p:txBody>
          <a:bodyPr/>
          <a:lstStyle/>
          <a:p>
            <a:fld id="{BF04C4F5-1195-4895-81EB-16EC24AC6F40}" type="slidenum">
              <a:rPr lang="es-ES" smtClean="0"/>
              <a:t>‹Nº›</a:t>
            </a:fld>
            <a:endParaRPr lang="es-ES"/>
          </a:p>
        </p:txBody>
      </p:sp>
    </p:spTree>
    <p:extLst>
      <p:ext uri="{BB962C8B-B14F-4D97-AF65-F5344CB8AC3E}">
        <p14:creationId xmlns:p14="http://schemas.microsoft.com/office/powerpoint/2010/main" val="807338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340DA5B-4F04-5E8A-6DE3-71F150CEDA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5B4A1CE-C411-332B-579B-A08B8F347E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0A8FEF5-8DEC-BE49-ED2C-FC43B05D4D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528C1-82C9-4445-A848-4CBA9F23312B}" type="datetimeFigureOut">
              <a:rPr lang="es-ES" smtClean="0"/>
              <a:t>09/05/2024</a:t>
            </a:fld>
            <a:endParaRPr lang="es-ES"/>
          </a:p>
        </p:txBody>
      </p:sp>
      <p:sp>
        <p:nvSpPr>
          <p:cNvPr id="5" name="Marcador de pie de página 4">
            <a:extLst>
              <a:ext uri="{FF2B5EF4-FFF2-40B4-BE49-F238E27FC236}">
                <a16:creationId xmlns:a16="http://schemas.microsoft.com/office/drawing/2014/main" id="{EF70E8C6-1AE4-42A3-03D5-549133C6F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6A2F828B-082D-E8A8-31BA-02F0F7F04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4C4F5-1195-4895-81EB-16EC24AC6F40}" type="slidenum">
              <a:rPr lang="es-ES" smtClean="0"/>
              <a:t>‹Nº›</a:t>
            </a:fld>
            <a:endParaRPr lang="es-ES"/>
          </a:p>
        </p:txBody>
      </p:sp>
    </p:spTree>
    <p:extLst>
      <p:ext uri="{BB962C8B-B14F-4D97-AF65-F5344CB8AC3E}">
        <p14:creationId xmlns:p14="http://schemas.microsoft.com/office/powerpoint/2010/main" val="1201274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2140-08D3-08F1-4D09-A0DA1C925D1F}"/>
              </a:ext>
            </a:extLst>
          </p:cNvPr>
          <p:cNvSpPr>
            <a:spLocks noGrp="1"/>
          </p:cNvSpPr>
          <p:nvPr>
            <p:ph type="ctrTitle"/>
          </p:nvPr>
        </p:nvSpPr>
        <p:spPr/>
        <p:txBody>
          <a:bodyPr/>
          <a:lstStyle/>
          <a:p>
            <a:r>
              <a:rPr lang="es-ES" sz="1800" b="1">
                <a:effectLst/>
                <a:latin typeface="Times New Roman" panose="02020603050405020304" pitchFamily="18" charset="0"/>
                <a:ea typeface="Times New Roman" panose="02020603050405020304" pitchFamily="18" charset="0"/>
              </a:rPr>
              <a:t>MAESTRIA </a:t>
            </a:r>
            <a:r>
              <a:rPr lang="es-ES" sz="1800" b="1" dirty="0">
                <a:effectLst/>
                <a:latin typeface="Times New Roman" panose="02020603050405020304" pitchFamily="18" charset="0"/>
                <a:ea typeface="Times New Roman" panose="02020603050405020304" pitchFamily="18" charset="0"/>
              </a:rPr>
              <a:t>EN GESTION ECONOMICA </a:t>
            </a:r>
            <a:r>
              <a:rPr lang="es-ES" sz="1800" b="1">
                <a:effectLst/>
                <a:latin typeface="Times New Roman" panose="02020603050405020304" pitchFamily="18" charset="0"/>
                <a:ea typeface="Times New Roman" panose="02020603050405020304" pitchFamily="18" charset="0"/>
              </a:rPr>
              <a:t>Y FINANCIERA DE RIESGOS</a:t>
            </a:r>
            <a:endParaRPr lang="es-AR" dirty="0"/>
          </a:p>
        </p:txBody>
      </p:sp>
      <p:sp>
        <p:nvSpPr>
          <p:cNvPr id="3" name="Subtítulo 2">
            <a:extLst>
              <a:ext uri="{FF2B5EF4-FFF2-40B4-BE49-F238E27FC236}">
                <a16:creationId xmlns:a16="http://schemas.microsoft.com/office/drawing/2014/main" id="{C8DE824A-985B-6EFE-79BC-73F2093AD114}"/>
              </a:ext>
            </a:extLst>
          </p:cNvPr>
          <p:cNvSpPr>
            <a:spLocks noGrp="1"/>
          </p:cNvSpPr>
          <p:nvPr>
            <p:ph type="subTitle" idx="1"/>
          </p:nvPr>
        </p:nvSpPr>
        <p:spPr/>
        <p:txBody>
          <a:bodyPr/>
          <a:lstStyle/>
          <a:p>
            <a:endParaRPr lang="es-ES" sz="1800" b="1" dirty="0">
              <a:effectLst/>
              <a:latin typeface="Arial" panose="020B0604020202020204" pitchFamily="34" charset="0"/>
              <a:ea typeface="Times New Roman" panose="02020603050405020304" pitchFamily="18" charset="0"/>
            </a:endParaRPr>
          </a:p>
          <a:p>
            <a:r>
              <a:rPr lang="es-ES" sz="1800" b="1">
                <a:effectLst/>
                <a:latin typeface="Arial" panose="020B0604020202020204" pitchFamily="34" charset="0"/>
                <a:ea typeface="Times New Roman" panose="02020603050405020304" pitchFamily="18" charset="0"/>
              </a:rPr>
              <a:t>ASIGNATURA:  TÓPICOS </a:t>
            </a:r>
            <a:r>
              <a:rPr lang="es-ES" sz="1800" b="1" dirty="0">
                <a:effectLst/>
                <a:latin typeface="Arial" panose="020B0604020202020204" pitchFamily="34" charset="0"/>
                <a:ea typeface="Times New Roman" panose="02020603050405020304" pitchFamily="18" charset="0"/>
              </a:rPr>
              <a:t>DE </a:t>
            </a:r>
            <a:r>
              <a:rPr lang="es-ES" sz="1800" b="1">
                <a:effectLst/>
                <a:latin typeface="Arial" panose="020B0604020202020204" pitchFamily="34" charset="0"/>
                <a:ea typeface="Times New Roman" panose="02020603050405020304" pitchFamily="18" charset="0"/>
              </a:rPr>
              <a:t>FINANZAS CORPORATIVAS</a:t>
            </a:r>
            <a:endParaRPr lang="es-ES" sz="1800" b="1" dirty="0">
              <a:effectLst/>
              <a:latin typeface="Arial" panose="020B0604020202020204" pitchFamily="34" charset="0"/>
              <a:ea typeface="Times New Roman" panose="02020603050405020304" pitchFamily="18" charset="0"/>
            </a:endParaRPr>
          </a:p>
          <a:p>
            <a:endParaRPr lang="es-ES" sz="1800" b="1" dirty="0">
              <a:effectLst/>
              <a:latin typeface="Arial" panose="020B0604020202020204" pitchFamily="34" charset="0"/>
              <a:ea typeface="Times New Roman" panose="02020603050405020304" pitchFamily="18" charset="0"/>
            </a:endParaRPr>
          </a:p>
          <a:p>
            <a:r>
              <a:rPr lang="es-ES" sz="1800" b="1" dirty="0">
                <a:effectLst/>
                <a:latin typeface="Arial" panose="020B0604020202020204" pitchFamily="34" charset="0"/>
                <a:ea typeface="Times New Roman" panose="02020603050405020304" pitchFamily="18" charset="0"/>
              </a:rPr>
              <a:t>DOCENTE:</a:t>
            </a:r>
            <a:r>
              <a:rPr lang="es-ES" sz="1800" dirty="0">
                <a:effectLst/>
                <a:latin typeface="Arial" panose="020B0604020202020204" pitchFamily="34" charset="0"/>
                <a:ea typeface="Times New Roman" panose="02020603050405020304" pitchFamily="18" charset="0"/>
              </a:rPr>
              <a:t> ACT. GUSTAVO GABRIEL GRINBLAT</a:t>
            </a:r>
            <a:endParaRPr lang="es-AR" dirty="0"/>
          </a:p>
        </p:txBody>
      </p:sp>
      <p:pic>
        <p:nvPicPr>
          <p:cNvPr id="4" name="1 Imagen">
            <a:extLst>
              <a:ext uri="{FF2B5EF4-FFF2-40B4-BE49-F238E27FC236}">
                <a16:creationId xmlns:a16="http://schemas.microsoft.com/office/drawing/2014/main" id="{03ECD9A0-F9B9-1F21-C435-4F8087292C62}"/>
              </a:ext>
            </a:extLst>
          </p:cNvPr>
          <p:cNvPicPr/>
          <p:nvPr/>
        </p:nvPicPr>
        <p:blipFill>
          <a:blip r:embed="rId2"/>
          <a:stretch>
            <a:fillRect/>
          </a:stretch>
        </p:blipFill>
        <p:spPr>
          <a:xfrm>
            <a:off x="4009707" y="1764030"/>
            <a:ext cx="4172585" cy="1104265"/>
          </a:xfrm>
          <a:prstGeom prst="rect">
            <a:avLst/>
          </a:prstGeom>
        </p:spPr>
      </p:pic>
    </p:spTree>
    <p:extLst>
      <p:ext uri="{BB962C8B-B14F-4D97-AF65-F5344CB8AC3E}">
        <p14:creationId xmlns:p14="http://schemas.microsoft.com/office/powerpoint/2010/main" val="3847695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En este capítulo evaluaremos las técnicas que utilizan las grandes Corporaciones para estimar sus flujos de efectivos y sus riesgos asociados a la hora de tomar decisiones de presupuestación de capital</a:t>
            </a:r>
          </a:p>
          <a:p>
            <a:r>
              <a:rPr lang="es-AR" sz="2400" dirty="0"/>
              <a:t>Si analizamos casos como Home </a:t>
            </a:r>
            <a:r>
              <a:rPr lang="es-AR" sz="2400" dirty="0" err="1"/>
              <a:t>Depot</a:t>
            </a:r>
            <a:r>
              <a:rPr lang="es-AR" sz="2400" dirty="0"/>
              <a:t>, vemos que su increíble crecimiento no estuvo exento de vaivenes. A la hora de decidir sus inversiones en nuevas tiendas evalúa, para saber si los flujos de fondos esperados cubrirán sus costos, entre otras cosas:</a:t>
            </a:r>
          </a:p>
          <a:p>
            <a:pPr lvl="1"/>
            <a:r>
              <a:rPr lang="es-AR" sz="2000" dirty="0"/>
              <a:t>Costos del terreno, surtir la tienda, pronósticos de ventas, riesgo de canibalización entre ellas, cambios en los hábitos de compra en los consumidores (vía internet)</a:t>
            </a:r>
          </a:p>
          <a:p>
            <a:pPr lvl="1"/>
            <a:endParaRPr lang="es-AR" sz="2000" dirty="0"/>
          </a:p>
          <a:p>
            <a:r>
              <a:rPr lang="es-AR" sz="2400" dirty="0"/>
              <a:t>Finalmente, se determina un NPV ajustado al riesgo que se asocia a cada proyecto</a:t>
            </a:r>
          </a:p>
        </p:txBody>
      </p:sp>
    </p:spTree>
    <p:extLst>
      <p:ext uri="{BB962C8B-B14F-4D97-AF65-F5344CB8AC3E}">
        <p14:creationId xmlns:p14="http://schemas.microsoft.com/office/powerpoint/2010/main" val="1655813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Conociendo los flujos esperados de efectivo, es sencillo aplicar lo que hemos visto en la clase anterior (NPV, IRR, MIRR y períodos de recuperación) y determinar las mejores inversiones</a:t>
            </a:r>
          </a:p>
          <a:p>
            <a:r>
              <a:rPr lang="es-AR" sz="2400" dirty="0"/>
              <a:t>Lo difícil es estimar adecuadamente dichos flujos en el mundo real</a:t>
            </a:r>
          </a:p>
          <a:p>
            <a:pPr lvl="1"/>
            <a:r>
              <a:rPr lang="es-AR" sz="2000" dirty="0"/>
              <a:t>Distintas fuentes de datos</a:t>
            </a:r>
          </a:p>
          <a:p>
            <a:pPr lvl="1"/>
            <a:r>
              <a:rPr lang="es-AR" sz="2000" dirty="0"/>
              <a:t>Incertidumbre de los flujos</a:t>
            </a:r>
          </a:p>
          <a:p>
            <a:pPr lvl="1"/>
            <a:r>
              <a:rPr lang="es-AR" sz="2000" dirty="0"/>
              <a:t>Proyectos más inciertos, serán más riesgosos</a:t>
            </a:r>
          </a:p>
          <a:p>
            <a:r>
              <a:rPr lang="es-AR" sz="2400" dirty="0"/>
              <a:t>Veremos las técnicas para medir y enfrentar el riesgo </a:t>
            </a:r>
          </a:p>
          <a:p>
            <a:r>
              <a:rPr lang="es-AR" sz="2400" dirty="0"/>
              <a:t>Veremos cómo analizar proyectos mutuamente excluyentes de períodos desiguales</a:t>
            </a:r>
          </a:p>
        </p:txBody>
      </p:sp>
    </p:spTree>
    <p:extLst>
      <p:ext uri="{BB962C8B-B14F-4D97-AF65-F5344CB8AC3E}">
        <p14:creationId xmlns:p14="http://schemas.microsoft.com/office/powerpoint/2010/main" val="2701722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sz="2400" dirty="0"/>
                  <a:t>Flujos de efectivo disponibles versus ingresos contables</a:t>
                </a:r>
              </a:p>
              <a:p>
                <a:endParaRPr lang="es-AR" sz="2400" dirty="0"/>
              </a:p>
              <a:p>
                <a14:m>
                  <m:oMath xmlns:m="http://schemas.openxmlformats.org/officeDocument/2006/math">
                    <m:r>
                      <a:rPr lang="es-AR" sz="2400" b="0" i="1" smtClean="0">
                        <a:latin typeface="Cambria Math" panose="02040503050406030204" pitchFamily="18" charset="0"/>
                      </a:rPr>
                      <m:t>𝐹𝐶𝐹</m:t>
                    </m:r>
                    <m:r>
                      <a:rPr lang="es-AR" sz="2400" b="0" i="1" smtClean="0">
                        <a:latin typeface="Cambria Math" panose="02040503050406030204" pitchFamily="18" charset="0"/>
                      </a:rPr>
                      <m:t>=</m:t>
                    </m:r>
                    <m:d>
                      <m:dPr>
                        <m:begChr m:val="["/>
                        <m:endChr m:val="]"/>
                        <m:ctrlPr>
                          <a:rPr lang="es-AR" sz="2400" b="0" i="1" smtClean="0">
                            <a:latin typeface="Cambria Math" panose="02040503050406030204" pitchFamily="18" charset="0"/>
                          </a:rPr>
                        </m:ctrlPr>
                      </m:dPr>
                      <m:e>
                        <m:r>
                          <a:rPr lang="es-AR" sz="2400" b="0" i="1" smtClean="0">
                            <a:latin typeface="Cambria Math" panose="02040503050406030204" pitchFamily="18" charset="0"/>
                          </a:rPr>
                          <m:t>𝐸𝐵𝐼𝑇</m:t>
                        </m:r>
                        <m:r>
                          <a:rPr lang="es-AR" sz="2400" b="0" i="1" smtClean="0">
                            <a:latin typeface="Cambria Math" panose="02040503050406030204" pitchFamily="18" charset="0"/>
                          </a:rPr>
                          <m:t> ∗</m:t>
                        </m:r>
                        <m:d>
                          <m:dPr>
                            <m:ctrlPr>
                              <a:rPr lang="es-AR" sz="2400" b="0" i="1" smtClean="0">
                                <a:latin typeface="Cambria Math" panose="02040503050406030204" pitchFamily="18" charset="0"/>
                              </a:rPr>
                            </m:ctrlPr>
                          </m:dPr>
                          <m:e>
                            <m:r>
                              <a:rPr lang="es-AR" sz="2400" b="0" i="1" smtClean="0">
                                <a:latin typeface="Cambria Math" panose="02040503050406030204" pitchFamily="18" charset="0"/>
                              </a:rPr>
                              <m:t>1−</m:t>
                            </m:r>
                            <m:r>
                              <a:rPr lang="es-AR" sz="2400" b="0" i="1" smtClean="0">
                                <a:latin typeface="Cambria Math" panose="02040503050406030204" pitchFamily="18" charset="0"/>
                              </a:rPr>
                              <m:t>𝑇</m:t>
                            </m:r>
                          </m:e>
                        </m:d>
                        <m:r>
                          <a:rPr lang="es-AR" sz="2400" b="0" i="1" smtClean="0">
                            <a:latin typeface="Cambria Math" panose="02040503050406030204" pitchFamily="18" charset="0"/>
                          </a:rPr>
                          <m:t>+</m:t>
                        </m:r>
                        <m:r>
                          <a:rPr lang="es-AR" sz="2400" b="0" i="1" smtClean="0">
                            <a:latin typeface="Cambria Math" panose="02040503050406030204" pitchFamily="18" charset="0"/>
                          </a:rPr>
                          <m:t>𝐷</m:t>
                        </m:r>
                        <m:r>
                          <a:rPr lang="es-AR" sz="2400" b="0" i="1" smtClean="0">
                            <a:latin typeface="Cambria Math" panose="02040503050406030204" pitchFamily="18" charset="0"/>
                          </a:rPr>
                          <m:t>&amp;</m:t>
                        </m:r>
                        <m:r>
                          <a:rPr lang="es-AR" sz="2400" b="0" i="1" smtClean="0">
                            <a:latin typeface="Cambria Math" panose="02040503050406030204" pitchFamily="18" charset="0"/>
                          </a:rPr>
                          <m:t>𝐴</m:t>
                        </m:r>
                      </m:e>
                    </m:d>
                    <m:r>
                      <a:rPr lang="es-AR" sz="2400" b="0" i="1" smtClean="0">
                        <a:latin typeface="Cambria Math" panose="02040503050406030204" pitchFamily="18" charset="0"/>
                      </a:rPr>
                      <m:t>−</m:t>
                    </m:r>
                    <m:d>
                      <m:dPr>
                        <m:begChr m:val="⌈"/>
                        <m:endChr m:val="⌉"/>
                        <m:ctrlPr>
                          <a:rPr lang="es-AR" sz="2400" b="0" i="1" smtClean="0">
                            <a:latin typeface="Cambria Math" panose="02040503050406030204" pitchFamily="18" charset="0"/>
                          </a:rPr>
                        </m:ctrlPr>
                      </m:dPr>
                      <m:e>
                        <m:r>
                          <a:rPr lang="es-AR" sz="2400" b="0" i="1" smtClean="0">
                            <a:latin typeface="Cambria Math" panose="02040503050406030204" pitchFamily="18" charset="0"/>
                          </a:rPr>
                          <m:t>𝐸𝑟𝑜𝑔𝑎𝑐𝑖𝑜𝑛𝑒𝑠</m:t>
                        </m:r>
                        <m:r>
                          <a:rPr lang="es-AR" sz="2400" b="0" i="1" smtClean="0">
                            <a:latin typeface="Cambria Math" panose="02040503050406030204" pitchFamily="18" charset="0"/>
                          </a:rPr>
                          <m:t> </m:t>
                        </m:r>
                        <m:r>
                          <a:rPr lang="es-AR" sz="2400" b="0" i="1" smtClean="0">
                            <a:latin typeface="Cambria Math" panose="02040503050406030204" pitchFamily="18" charset="0"/>
                          </a:rPr>
                          <m:t>𝑑𝑒</m:t>
                        </m:r>
                        <m:r>
                          <a:rPr lang="es-AR" sz="2400" b="0" i="1" smtClean="0">
                            <a:latin typeface="Cambria Math" panose="02040503050406030204" pitchFamily="18" charset="0"/>
                          </a:rPr>
                          <m:t> </m:t>
                        </m:r>
                        <m:r>
                          <a:rPr lang="es-AR" sz="2400" b="0" i="1" smtClean="0">
                            <a:latin typeface="Cambria Math" panose="02040503050406030204" pitchFamily="18" charset="0"/>
                          </a:rPr>
                          <m:t>𝐶𝑎𝑝𝑖𝑡𝑎𝑙</m:t>
                        </m:r>
                        <m:r>
                          <a:rPr lang="es-AR" sz="2400" b="0" i="1" smtClean="0">
                            <a:latin typeface="Cambria Math" panose="02040503050406030204" pitchFamily="18" charset="0"/>
                          </a:rPr>
                          <m:t>+ ∆ </m:t>
                        </m:r>
                        <m:r>
                          <a:rPr lang="es-AR" sz="2400" b="0" i="1" smtClean="0">
                            <a:latin typeface="Cambria Math" panose="02040503050406030204" pitchFamily="18" charset="0"/>
                          </a:rPr>
                          <m:t>𝑁𝑊𝑂𝐶</m:t>
                        </m:r>
                      </m:e>
                    </m:d>
                  </m:oMath>
                </a14:m>
                <a:endParaRPr lang="es-AR" sz="2400" dirty="0"/>
              </a:p>
              <a:p>
                <a:endParaRPr lang="es-AR" sz="2400" dirty="0"/>
              </a:p>
              <a:p>
                <a:r>
                  <a:rPr lang="es-AR" sz="2400" dirty="0"/>
                  <a:t>Si bien es habitual que proyectos impliquen inversiones no sólo en t=0, asumiremos que las mismas se realizan en dicho momento, a partir del cual, t=1; 2; …, se espera tener flujos positivos, que normalmente no será iguales entre sí</a:t>
                </a:r>
              </a:p>
              <a:p>
                <a:endParaRPr lang="es-AR" sz="2400" dirty="0"/>
              </a:p>
              <a:p>
                <a:r>
                  <a:rPr lang="es-AR" sz="2400" dirty="0"/>
                  <a:t>Al final del proyecto, se realizan los inventarios remanentes y los activos fijos, que normalmente servirán para disminuir el costo de su reposición (valor de recuperación)</a:t>
                </a:r>
              </a:p>
              <a:p>
                <a:r>
                  <a:rPr lang="es-AR" sz="2400" dirty="0"/>
                  <a:t>Se pagarán impuestos sobre la diferencia entre el valor de recuperación obtenido y su valor contable, o se obtendrá un crédito fiscal.</a:t>
                </a:r>
              </a:p>
              <a:p>
                <a:r>
                  <a:rPr lang="es-AR" sz="2400" dirty="0"/>
                  <a:t>Los métodos de amortización afectarán fiscalmente a la Compañía</a:t>
                </a:r>
              </a:p>
              <a:p>
                <a:r>
                  <a:rPr lang="es-AR" sz="2400" dirty="0"/>
                  <a:t>Un proyecto nuevo, en general, requiere un incremento inicial en el NOWC</a:t>
                </a:r>
              </a:p>
            </p:txBody>
          </p:sp>
        </mc:Choice>
        <mc:Fallback xmlns="">
          <p:sp>
            <p:nvSpPr>
              <p:cNvPr id="3" name="Marcador de contenido 2">
                <a:extLst>
                  <a:ext uri="{FF2B5EF4-FFF2-40B4-BE49-F238E27FC236}">
                    <a16:creationId xmlns:a16="http://schemas.microsoft.com/office/drawing/2014/main" id="{DE61EB01-893C-3F7A-0B57-FD607FBDB998}"/>
                  </a:ext>
                </a:extLst>
              </p:cNvPr>
              <p:cNvSpPr>
                <a:spLocks noGrp="1" noRot="1" noChangeAspect="1" noMove="1" noResize="1" noEditPoints="1" noAdjustHandles="1" noChangeArrowheads="1" noChangeShapeType="1" noTextEdit="1"/>
              </p:cNvSpPr>
              <p:nvPr>
                <p:ph idx="1"/>
              </p:nvPr>
            </p:nvSpPr>
            <p:spPr>
              <a:blipFill>
                <a:blip r:embed="rId2"/>
                <a:stretch>
                  <a:fillRect l="-638" t="-2521" r="-754" b="-1261"/>
                </a:stretch>
              </a:blipFill>
            </p:spPr>
            <p:txBody>
              <a:bodyPr/>
              <a:lstStyle/>
              <a:p>
                <a:r>
                  <a:rPr lang="es-ES">
                    <a:noFill/>
                  </a:rPr>
                  <a:t> </a:t>
                </a:r>
              </a:p>
            </p:txBody>
          </p:sp>
        </mc:Fallback>
      </mc:AlternateContent>
    </p:spTree>
    <p:extLst>
      <p:ext uri="{BB962C8B-B14F-4D97-AF65-F5344CB8AC3E}">
        <p14:creationId xmlns:p14="http://schemas.microsoft.com/office/powerpoint/2010/main" val="3722458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La apertura de una nueva tienda requiere normalmente, inventario para surtirla</a:t>
            </a:r>
          </a:p>
          <a:p>
            <a:r>
              <a:rPr lang="es-AR" sz="2400" dirty="0"/>
              <a:t>Este inventario se financia parcialmente con cuentas a pagar y parte en efectivo</a:t>
            </a:r>
          </a:p>
          <a:p>
            <a:r>
              <a:rPr lang="es-AR" sz="2400" dirty="0"/>
              <a:t>Si durante todo el proyecto se mantienen los niveles de inventario y cuentas a pagar, no habrá (</a:t>
            </a:r>
            <a:r>
              <a:rPr lang="es-AR" sz="2400" dirty="0" err="1"/>
              <a:t>ceteris</a:t>
            </a:r>
            <a:r>
              <a:rPr lang="es-AR" sz="2400" dirty="0"/>
              <a:t> </a:t>
            </a:r>
            <a:r>
              <a:rPr lang="es-AR" sz="2400" dirty="0" err="1"/>
              <a:t>paribus</a:t>
            </a:r>
            <a:r>
              <a:rPr lang="es-AR" sz="2400" dirty="0"/>
              <a:t>) nuevos incrementos en el NOWC</a:t>
            </a:r>
          </a:p>
          <a:p>
            <a:r>
              <a:rPr lang="es-AR" sz="2400" dirty="0"/>
              <a:t>Al final del proyecto, se venderán los inventarios (sin reponerlos), se cancelarán las cuentas a pagar que los financiaban y de recuperará el efectivo invertido</a:t>
            </a:r>
          </a:p>
          <a:p>
            <a:pPr marL="0" indent="0">
              <a:buNone/>
            </a:pPr>
            <a:r>
              <a:rPr lang="es-AR" sz="2400" u="sng" dirty="0"/>
              <a:t>Cronología de los Flujos</a:t>
            </a:r>
          </a:p>
          <a:p>
            <a:r>
              <a:rPr lang="es-AR" sz="2400" dirty="0"/>
              <a:t>Utilizaremos la hipótesis de flujos de fondos a fin de cada año, aunque en proyectos con flujos muy predecibles, podríamos bajar hasta un nivel mensual</a:t>
            </a:r>
          </a:p>
        </p:txBody>
      </p:sp>
    </p:spTree>
    <p:extLst>
      <p:ext uri="{BB962C8B-B14F-4D97-AF65-F5344CB8AC3E}">
        <p14:creationId xmlns:p14="http://schemas.microsoft.com/office/powerpoint/2010/main" val="681104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sz="2400" u="sng" dirty="0"/>
              <a:t>Flujos de efectivo incrementales</a:t>
            </a:r>
          </a:p>
          <a:p>
            <a:r>
              <a:rPr lang="es-AR" sz="2400" dirty="0"/>
              <a:t> La mayoría de los flujos serán incrementales, sobre los flujos existentes hoy en la Compañía: Nuevos edificios, nuevas ventas, nuevos costos de operación, etc.</a:t>
            </a:r>
          </a:p>
          <a:p>
            <a:r>
              <a:rPr lang="es-AR" sz="2400" dirty="0"/>
              <a:t>Veremos luego otros flujos con comportamientos que no resultan tan obvios</a:t>
            </a:r>
          </a:p>
          <a:p>
            <a:pPr marL="0" indent="0">
              <a:buNone/>
            </a:pPr>
            <a:r>
              <a:rPr lang="es-AR" sz="2400" u="sng" dirty="0"/>
              <a:t>Proyectos de Reemplazo</a:t>
            </a:r>
          </a:p>
          <a:p>
            <a:r>
              <a:rPr lang="es-AR" sz="2400" dirty="0"/>
              <a:t>Proyectos de Expansión (nueva tienda) versus proyectos de reemplazo (sustituir activos para reducir costos, por ejemplo, un camión más nuevo)</a:t>
            </a:r>
          </a:p>
          <a:p>
            <a:r>
              <a:rPr lang="es-AR" sz="2400" dirty="0"/>
              <a:t>La existencia de flujos nuevos que reemplazarían a los vigentes complica parcialmente el análisis, al exponerse como ahorros por la diferencia de los egresos. Flujos de efectivo incrementales que surgen por diferencia</a:t>
            </a:r>
          </a:p>
          <a:p>
            <a:pPr lvl="1"/>
            <a:r>
              <a:rPr lang="es-AR" sz="2000" dirty="0"/>
              <a:t>10,000 en combustible versus los 15,000 actuales, el ahorro de 5,000 es el flujo de efectivo incremental a utilizarse en el análisis de reemplazos</a:t>
            </a:r>
          </a:p>
          <a:p>
            <a:pPr lvl="1"/>
            <a:r>
              <a:rPr lang="es-AR" sz="2000" dirty="0"/>
              <a:t>También deberemos determinar las diferencias en D&amp;A y otros factores que afectan a los flujos de efectivo</a:t>
            </a:r>
          </a:p>
          <a:p>
            <a:pPr lvl="1"/>
            <a:r>
              <a:rPr lang="es-AR" sz="2000" dirty="0"/>
              <a:t>Una vez determinados los flujos de efectivo incrementales, los utilizamos en el análisis regular de NPV y tomar la decisión de reemplazo o no</a:t>
            </a:r>
          </a:p>
        </p:txBody>
      </p:sp>
    </p:spTree>
    <p:extLst>
      <p:ext uri="{BB962C8B-B14F-4D97-AF65-F5344CB8AC3E}">
        <p14:creationId xmlns:p14="http://schemas.microsoft.com/office/powerpoint/2010/main" val="3937958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85000" lnSpcReduction="20000"/>
          </a:bodyPr>
          <a:lstStyle/>
          <a:p>
            <a:pPr marL="0" indent="0">
              <a:buNone/>
            </a:pPr>
            <a:r>
              <a:rPr lang="es-AR" sz="2400" u="sng" dirty="0"/>
              <a:t>Costos Irrecuperables</a:t>
            </a:r>
          </a:p>
          <a:p>
            <a:r>
              <a:rPr lang="es-AR" sz="2400" dirty="0"/>
              <a:t>Son costos incurridos en el pasado y que no se podrán recuperan ni siquiera cuando se acepte el proyecto</a:t>
            </a:r>
          </a:p>
          <a:p>
            <a:r>
              <a:rPr lang="es-AR" sz="2400" dirty="0"/>
              <a:t>No forman parte del análisis de la presupuestación de capital</a:t>
            </a:r>
          </a:p>
          <a:p>
            <a:r>
              <a:rPr lang="es-AR" sz="2400" dirty="0"/>
              <a:t>Ejemplo, gastos de investigación sobre la apertura de una nueva tienda</a:t>
            </a:r>
          </a:p>
          <a:p>
            <a:r>
              <a:rPr lang="es-AR" sz="2400" dirty="0"/>
              <a:t>Su inclusión en el cálculo del NPV sería incorrecto y nos podría llevar a decisiones equivocadas cuando su inclusión convierte en negativo el NPV</a:t>
            </a:r>
          </a:p>
          <a:p>
            <a:pPr marL="0" indent="0">
              <a:buNone/>
            </a:pPr>
            <a:r>
              <a:rPr lang="es-AR" sz="2400" u="sng" dirty="0"/>
              <a:t>Costos de Oportunidad Asociados con los Activos que son Propiedad de la Empresa</a:t>
            </a:r>
          </a:p>
          <a:p>
            <a:r>
              <a:rPr lang="es-AR" sz="2400" dirty="0"/>
              <a:t>Representan el mejor rendimiento que podría obtenerse de ellos, si no se usaran en el nuevo proyecto</a:t>
            </a:r>
          </a:p>
          <a:p>
            <a:r>
              <a:rPr lang="es-AR" sz="2400" dirty="0"/>
              <a:t>Ejemplo, HD tiene un terreno que puede venderse en USD 2 MM, pero que si se construye una nueva tienda reduce su necesidad de inversión inicial de 17 a 15 MM</a:t>
            </a:r>
          </a:p>
          <a:p>
            <a:r>
              <a:rPr lang="es-AR" sz="2400" dirty="0"/>
              <a:t>Los 2 MM son un costo de oportunidad ya que HD no recibirá los USD 2 MM de una posible venta si realiza la inversión de montar una nueva tienda</a:t>
            </a:r>
          </a:p>
          <a:p>
            <a:endParaRPr lang="es-AR" sz="2400" dirty="0"/>
          </a:p>
        </p:txBody>
      </p:sp>
    </p:spTree>
    <p:extLst>
      <p:ext uri="{BB962C8B-B14F-4D97-AF65-F5344CB8AC3E}">
        <p14:creationId xmlns:p14="http://schemas.microsoft.com/office/powerpoint/2010/main" val="2297904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sz="2400" u="sng" dirty="0"/>
              <a:t>Externalidades</a:t>
            </a:r>
          </a:p>
          <a:p>
            <a:r>
              <a:rPr lang="es-AR" sz="2400" dirty="0"/>
              <a:t>Efectos en la empresa o en el entorno que no se reflejan en los flujos de efectivo del proyecto. Hay tres tipos de externalidades</a:t>
            </a:r>
          </a:p>
          <a:p>
            <a:r>
              <a:rPr lang="es-AR" sz="2400" dirty="0"/>
              <a:t>Negativas dentro de la empresa: </a:t>
            </a:r>
          </a:p>
          <a:p>
            <a:pPr lvl="1"/>
            <a:r>
              <a:rPr lang="es-AR" dirty="0"/>
              <a:t>Canibalización, deberán incluirse las reducciones de efectivo generados por otras tiendas como costos del nuevo proyecto</a:t>
            </a:r>
            <a:endParaRPr lang="es-AR" sz="2000" dirty="0"/>
          </a:p>
          <a:p>
            <a:pPr lvl="1"/>
            <a:r>
              <a:rPr lang="es-AR" dirty="0"/>
              <a:t>El manejo de estas externalidades puede ser bien complejo, porque no abrir la tienda porque canibaliza, abre la oportunidad a que la abran competidores</a:t>
            </a:r>
          </a:p>
          <a:p>
            <a:pPr lvl="1"/>
            <a:r>
              <a:rPr lang="es-AR" dirty="0"/>
              <a:t>Ejemplo IBM con las PC para no canibalizar sus grandes computadoras</a:t>
            </a:r>
          </a:p>
          <a:p>
            <a:r>
              <a:rPr lang="es-AR" sz="2400" dirty="0"/>
              <a:t>Positivas dentro de la empresa</a:t>
            </a:r>
          </a:p>
          <a:p>
            <a:pPr lvl="1"/>
            <a:r>
              <a:rPr lang="es-AR" sz="2000" dirty="0"/>
              <a:t>Una inversión potencia las ventas de un producto existente</a:t>
            </a:r>
          </a:p>
          <a:p>
            <a:pPr lvl="1"/>
            <a:r>
              <a:rPr lang="es-AR" sz="2000" dirty="0"/>
              <a:t>iTunes y iPod</a:t>
            </a:r>
          </a:p>
          <a:p>
            <a:pPr lvl="1"/>
            <a:r>
              <a:rPr lang="es-AR" sz="2000" dirty="0"/>
              <a:t>No tomarlo en cuenta haría rechazar proyectos rentables para la compañía</a:t>
            </a:r>
          </a:p>
        </p:txBody>
      </p:sp>
    </p:spTree>
    <p:extLst>
      <p:ext uri="{BB962C8B-B14F-4D97-AF65-F5344CB8AC3E}">
        <p14:creationId xmlns:p14="http://schemas.microsoft.com/office/powerpoint/2010/main" val="750137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Externalidades</a:t>
            </a:r>
            <a:endParaRPr lang="es-AR" sz="2400" dirty="0"/>
          </a:p>
          <a:p>
            <a:r>
              <a:rPr lang="es-AR" sz="2400" dirty="0"/>
              <a:t>En el Entorno:</a:t>
            </a:r>
          </a:p>
          <a:p>
            <a:pPr lvl="1"/>
            <a:r>
              <a:rPr lang="es-AR" sz="2000" dirty="0"/>
              <a:t>El tipo más habitual de externalidad negativa es el impacto de un proyecto en el entorno</a:t>
            </a:r>
          </a:p>
          <a:p>
            <a:pPr lvl="1"/>
            <a:r>
              <a:rPr lang="es-AR" sz="2000" dirty="0"/>
              <a:t>Deben evaluarse los impactos negativos en los clientes de una planta que contamina, y el costo de evitar tal contaminación</a:t>
            </a:r>
          </a:p>
          <a:p>
            <a:pPr lvl="1"/>
            <a:r>
              <a:rPr lang="es-AR" sz="2000" dirty="0"/>
              <a:t>Publicitar las acciones a favor del medio ambiente. Competencia versus menores costos de empresas que no cuidan el medio ambiente</a:t>
            </a:r>
          </a:p>
          <a:p>
            <a:pPr lvl="1"/>
            <a:r>
              <a:rPr lang="es-AR" sz="2000" dirty="0"/>
              <a:t>Análisis con mirada bien amplia  </a:t>
            </a:r>
          </a:p>
        </p:txBody>
      </p:sp>
    </p:spTree>
    <p:extLst>
      <p:ext uri="{BB962C8B-B14F-4D97-AF65-F5344CB8AC3E}">
        <p14:creationId xmlns:p14="http://schemas.microsoft.com/office/powerpoint/2010/main" val="47836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Análisis de un Proyecto de Expansión</a:t>
            </a:r>
          </a:p>
          <a:p>
            <a:r>
              <a:rPr lang="es-AR" sz="2400" dirty="0"/>
              <a:t>Deberemos obtener información de muchas fuentes externas e internas, por ejemplo, contabilidad, ingenieros, marketing</a:t>
            </a:r>
          </a:p>
          <a:p>
            <a:r>
              <a:rPr lang="es-AR" sz="2400" dirty="0"/>
              <a:t>Veamos el caso “S” de Allied en el Excel </a:t>
            </a:r>
          </a:p>
          <a:p>
            <a:pPr marL="0" indent="0">
              <a:buNone/>
            </a:pPr>
            <a:endParaRPr lang="es-AR" sz="2400" dirty="0"/>
          </a:p>
          <a:p>
            <a:pPr marL="0" indent="0">
              <a:buNone/>
            </a:pPr>
            <a:r>
              <a:rPr lang="es-AR" sz="2400" u="sng" dirty="0"/>
              <a:t>Análisis de Reemplazo</a:t>
            </a:r>
          </a:p>
          <a:p>
            <a:r>
              <a:rPr lang="es-AR" sz="2400" dirty="0"/>
              <a:t>Evaluaremos una decisión de reemplazo con una máquina nueva, de depreciación acelerada y la antigua que continúa con depreciación lineal. Evaluaremos ambos flujos, y por diferencia </a:t>
            </a:r>
            <a:r>
              <a:rPr lang="es-AR" sz="2400" b="1" dirty="0"/>
              <a:t>los flujos incrementales</a:t>
            </a:r>
          </a:p>
          <a:p>
            <a:r>
              <a:rPr lang="es-AR" sz="2400" dirty="0"/>
              <a:t>Veamos el caso “S” de Allied en el Excel </a:t>
            </a:r>
          </a:p>
          <a:p>
            <a:endParaRPr lang="es-AR" sz="2400" dirty="0"/>
          </a:p>
        </p:txBody>
      </p:sp>
    </p:spTree>
    <p:extLst>
      <p:ext uri="{BB962C8B-B14F-4D97-AF65-F5344CB8AC3E}">
        <p14:creationId xmlns:p14="http://schemas.microsoft.com/office/powerpoint/2010/main" val="1183320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Análisis de Riesgo en la Presupuestación de Capital</a:t>
            </a:r>
          </a:p>
          <a:p>
            <a:r>
              <a:rPr lang="es-AR" sz="2400" dirty="0"/>
              <a:t>Los proyectos difieren en Riesgo y este debe reflejarse en las decisiones de presupuestación de Capital</a:t>
            </a:r>
          </a:p>
          <a:p>
            <a:r>
              <a:rPr lang="es-AR" sz="2400" dirty="0"/>
              <a:t>Hay que tener muy presente que es difícil medir el riesgo, sobre todo en proyectos sin antecedentes</a:t>
            </a:r>
          </a:p>
          <a:p>
            <a:pPr lvl="1"/>
            <a:r>
              <a:rPr lang="es-AR" sz="2000" dirty="0"/>
              <a:t>Desde ajustes subjetivos a Análisis muy sofisticados con simulaciones y estadísticas complejas</a:t>
            </a:r>
          </a:p>
          <a:p>
            <a:r>
              <a:rPr lang="es-AR" sz="2400" dirty="0"/>
              <a:t>Tipos de Riesgos</a:t>
            </a:r>
          </a:p>
          <a:p>
            <a:pPr lvl="1"/>
            <a:r>
              <a:rPr lang="es-AR" sz="2000" dirty="0"/>
              <a:t>Individual</a:t>
            </a:r>
          </a:p>
          <a:p>
            <a:pPr lvl="1"/>
            <a:r>
              <a:rPr lang="es-AR" sz="2000" dirty="0"/>
              <a:t>Corporativo o intra-empresa</a:t>
            </a:r>
          </a:p>
          <a:p>
            <a:pPr lvl="1"/>
            <a:r>
              <a:rPr lang="es-AR" sz="2000" dirty="0"/>
              <a:t>De mercado o Beta</a:t>
            </a:r>
          </a:p>
          <a:p>
            <a:endParaRPr lang="es-AR" sz="2400" dirty="0"/>
          </a:p>
        </p:txBody>
      </p:sp>
    </p:spTree>
    <p:extLst>
      <p:ext uri="{BB962C8B-B14F-4D97-AF65-F5344CB8AC3E}">
        <p14:creationId xmlns:p14="http://schemas.microsoft.com/office/powerpoint/2010/main" val="3925779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Riesgo individual del proyecto es aquel que surgiría si sólo se tuviera UN activo. Se mide con la variabilidad de los rendimientos esperados de ese activo.</a:t>
            </a:r>
          </a:p>
          <a:p>
            <a:pPr lvl="1"/>
            <a:r>
              <a:rPr lang="es-AR" sz="2000" dirty="0"/>
              <a:t>La diversificación se ignora por completo</a:t>
            </a:r>
          </a:p>
          <a:p>
            <a:r>
              <a:rPr lang="es-AR" sz="2400" dirty="0"/>
              <a:t>Corporativo o intra empresa del proyecto, es el que considera la diversificación de la Compañía, pero no la de los Accionistas. Se mide con el efecto de un proyecto sobre la incertidumbre de los rendimientos futuros esperados de la Empresa</a:t>
            </a:r>
          </a:p>
          <a:p>
            <a:pPr lvl="1"/>
            <a:r>
              <a:rPr lang="es-AR" sz="2000" dirty="0"/>
              <a:t>Parte de este riesgo se elimina con la diversificación dentro de la Compañía</a:t>
            </a:r>
          </a:p>
        </p:txBody>
      </p:sp>
    </p:spTree>
    <p:extLst>
      <p:ext uri="{BB962C8B-B14F-4D97-AF65-F5344CB8AC3E}">
        <p14:creationId xmlns:p14="http://schemas.microsoft.com/office/powerpoint/2010/main" val="812322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r>
              <a:rPr lang="es-AR" sz="2400" dirty="0"/>
              <a:t>Riesgo de Mercado del proyecto, Beta, considera tanto la diversificación de la empresa tanto como de los Accionistas y se mide con el coeficiente Beta del proyecto</a:t>
            </a:r>
          </a:p>
          <a:p>
            <a:pPr lvl="1"/>
            <a:r>
              <a:rPr lang="es-AR" sz="2000" dirty="0"/>
              <a:t>Considera que el proyecto es visto por un Accionista ampliamente diversificado que reconoce que el proyecto es sólo uno de los activos de la empresa y que las acciones de esta compañía son sólo una parte de su cartera de acciones</a:t>
            </a:r>
          </a:p>
          <a:p>
            <a:pPr lvl="1"/>
            <a:r>
              <a:rPr lang="es-AR" sz="2000" dirty="0"/>
              <a:t>Se mide con su efecto en el coeficiente Beta de la Empresa</a:t>
            </a:r>
          </a:p>
          <a:p>
            <a:pPr lvl="1"/>
            <a:r>
              <a:rPr lang="es-AR" sz="2000" dirty="0"/>
              <a:t>Adoptar un proyecto con un alto grado de riesgo individual o corporativo no necesariamente afectará la Beta de la Empresa, pero si el mismo estuviera altamente correlacionado con los demás activos de la Empresa y con los de muchas otras Acciones en la economía, el proyecto tendrá un alto grado de los TRES tipos de riesgos</a:t>
            </a:r>
          </a:p>
          <a:p>
            <a:pPr lvl="1"/>
            <a:r>
              <a:rPr lang="es-AR" sz="2000" dirty="0"/>
              <a:t>El Riesgo de Mercado, en teoría, es el más relevante porque es el que se refleja en los precios de las acciones. A su vez es el más difícil de estimar ya que los nuevos proyectos no tienen “precio de mercado” que puedan relacionarse con los rendimientos del Mercado de Valores</a:t>
            </a:r>
          </a:p>
          <a:p>
            <a:pPr lvl="1"/>
            <a:r>
              <a:rPr lang="es-AR" sz="2000" dirty="0"/>
              <a:t>Por lo dicho, la mayoría de los tomadores de decisiones en la Empresa, realizan un análisis cuantitativo del riesgo individual y después consideran las otras dos medidas de riesgo en forma cualitativa</a:t>
            </a:r>
          </a:p>
        </p:txBody>
      </p:sp>
    </p:spTree>
    <p:extLst>
      <p:ext uri="{BB962C8B-B14F-4D97-AF65-F5344CB8AC3E}">
        <p14:creationId xmlns:p14="http://schemas.microsoft.com/office/powerpoint/2010/main" val="2235841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Los proyectos suelen clasificarse en varias categorías</a:t>
            </a:r>
          </a:p>
          <a:p>
            <a:r>
              <a:rPr lang="es-AR" sz="2400" dirty="0"/>
              <a:t>Con el WACC general de la Empresa, como punto de partida, un costo de capital AJUSTADO AL RIESGO se asigna a cada categoría.</a:t>
            </a:r>
          </a:p>
          <a:p>
            <a:pPr lvl="1"/>
            <a:r>
              <a:rPr lang="es-AR" sz="2000" dirty="0"/>
              <a:t>Riesgosos, WACC + 5%. Mayor riesgo -&gt; Mayor costo de capital</a:t>
            </a:r>
          </a:p>
          <a:p>
            <a:pPr lvl="1"/>
            <a:r>
              <a:rPr lang="es-AR" sz="2000" dirty="0"/>
              <a:t>Promedio, WACC</a:t>
            </a:r>
          </a:p>
          <a:p>
            <a:pPr lvl="1"/>
            <a:r>
              <a:rPr lang="es-AR" sz="2000" dirty="0"/>
              <a:t>De bajo riesgo, WACC – 2%</a:t>
            </a:r>
          </a:p>
          <a:p>
            <a:r>
              <a:rPr lang="es-AR" sz="2400" dirty="0"/>
              <a:t>A pesar de reconocer la subjetividad en la clasificación, es mejor que no hacerla</a:t>
            </a:r>
          </a:p>
          <a:p>
            <a:endParaRPr lang="es-AR" sz="2400" dirty="0"/>
          </a:p>
          <a:p>
            <a:endParaRPr lang="es-AR" sz="2400" dirty="0"/>
          </a:p>
        </p:txBody>
      </p:sp>
    </p:spTree>
    <p:extLst>
      <p:ext uri="{BB962C8B-B14F-4D97-AF65-F5344CB8AC3E}">
        <p14:creationId xmlns:p14="http://schemas.microsoft.com/office/powerpoint/2010/main" val="2094586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r>
              <a:rPr lang="es-AR" sz="2400" dirty="0"/>
              <a:t>Medición del Riesgo Individual</a:t>
            </a:r>
          </a:p>
          <a:p>
            <a:r>
              <a:rPr lang="es-AR" sz="2400" dirty="0"/>
              <a:t>Refleja la incertidumbre de sus flujos de Efectivo con relación a</a:t>
            </a:r>
          </a:p>
          <a:p>
            <a:pPr lvl="1"/>
            <a:r>
              <a:rPr lang="es-AR" sz="2000" dirty="0"/>
              <a:t>Inversión requerida</a:t>
            </a:r>
          </a:p>
          <a:p>
            <a:pPr lvl="1"/>
            <a:r>
              <a:rPr lang="es-AR" sz="2000" dirty="0"/>
              <a:t>Ventas Unitarias</a:t>
            </a:r>
          </a:p>
          <a:p>
            <a:pPr lvl="1"/>
            <a:r>
              <a:rPr lang="es-AR" sz="2000" dirty="0"/>
              <a:t>Precios de Venta</a:t>
            </a:r>
          </a:p>
          <a:p>
            <a:pPr lvl="1"/>
            <a:r>
              <a:rPr lang="es-AR" sz="2000" dirty="0"/>
              <a:t>Costos de Operación</a:t>
            </a:r>
          </a:p>
          <a:p>
            <a:r>
              <a:rPr lang="es-AR" sz="2400" dirty="0"/>
              <a:t>Se usan tres técnicas para evaluar el riesgo individual</a:t>
            </a:r>
          </a:p>
          <a:p>
            <a:pPr lvl="1"/>
            <a:r>
              <a:rPr lang="es-AR" sz="2000" dirty="0"/>
              <a:t>Análisis de sensibilidad</a:t>
            </a:r>
          </a:p>
          <a:p>
            <a:pPr lvl="1"/>
            <a:r>
              <a:rPr lang="es-AR" sz="2000" dirty="0"/>
              <a:t>Análisis de escenarios</a:t>
            </a:r>
          </a:p>
          <a:p>
            <a:pPr lvl="1"/>
            <a:r>
              <a:rPr lang="es-AR" sz="2000" dirty="0"/>
              <a:t>Simulación de Montecarlo</a:t>
            </a:r>
          </a:p>
        </p:txBody>
      </p:sp>
    </p:spTree>
    <p:extLst>
      <p:ext uri="{BB962C8B-B14F-4D97-AF65-F5344CB8AC3E}">
        <p14:creationId xmlns:p14="http://schemas.microsoft.com/office/powerpoint/2010/main" val="4273246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Análisis de Sensibilidad</a:t>
            </a:r>
          </a:p>
          <a:p>
            <a:pPr lvl="1"/>
            <a:r>
              <a:rPr lang="es-AR" sz="2000" dirty="0"/>
              <a:t>Cambios porcentuales en el NPV ante cambios individuales en las variables relevantes con las demás fijas</a:t>
            </a:r>
          </a:p>
          <a:p>
            <a:pPr lvl="1"/>
            <a:r>
              <a:rPr lang="es-AR" sz="2000" dirty="0"/>
              <a:t>Es el tipo de análisis más común</a:t>
            </a:r>
            <a:endParaRPr lang="es-AR" sz="1600" dirty="0"/>
          </a:p>
          <a:p>
            <a:pPr lvl="1"/>
            <a:r>
              <a:rPr lang="es-AR" sz="2000" dirty="0"/>
              <a:t>Partimos del Caso más probable, Caso Base y modificamos cada variable relevante</a:t>
            </a:r>
          </a:p>
          <a:p>
            <a:pPr lvl="2"/>
            <a:r>
              <a:rPr lang="es-AR" sz="1600" dirty="0"/>
              <a:t>O sea, una serie de preguntas ¿Qué pasaría sí? En cada variable</a:t>
            </a:r>
          </a:p>
          <a:p>
            <a:pPr lvl="2"/>
            <a:r>
              <a:rPr lang="es-AR" sz="1600" dirty="0"/>
              <a:t>Si graficamos los tres resultados de NPV al modificar una variable en más menos 25% o no modificarla, por ejemplo, la pendiente de cada variable (tres puntos en el eje cartesiano) nos dirá la sensibilidad que tiene la misma en el proyecto. A mayor pendiente (rango entre los dos extremos), mayor impacto</a:t>
            </a:r>
          </a:p>
          <a:p>
            <a:pPr lvl="1"/>
            <a:r>
              <a:rPr lang="es-AR" sz="2000" dirty="0"/>
              <a:t>Si comparáramos dos proyectos, el que tuviera pendientes más pronunciadas sería el más riesgoso</a:t>
            </a:r>
          </a:p>
          <a:p>
            <a:pPr lvl="1"/>
            <a:r>
              <a:rPr lang="es-AR" sz="2000" dirty="0"/>
              <a:t>Ofrece así ideas útiles a cerca del riesgo de un proyecto</a:t>
            </a:r>
          </a:p>
        </p:txBody>
      </p:sp>
    </p:spTree>
    <p:extLst>
      <p:ext uri="{BB962C8B-B14F-4D97-AF65-F5344CB8AC3E}">
        <p14:creationId xmlns:p14="http://schemas.microsoft.com/office/powerpoint/2010/main" val="1919437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Análisis de Escenarios</a:t>
            </a:r>
          </a:p>
          <a:p>
            <a:r>
              <a:rPr lang="es-AR" sz="2400" dirty="0"/>
              <a:t>Podemos crear el mejor y peor escenario y asignarles probabilidades de ocurrencia, para luego calcular el NPV ponderado y su desvío standard</a:t>
            </a:r>
          </a:p>
          <a:p>
            <a:r>
              <a:rPr lang="es-AR" sz="2400" dirty="0"/>
              <a:t>Los especialistas de la empresa nos ayudarán a definir los valores del mejor y peor escenario, y la probabilidad de ocurrencia de cada uno de ellos. Podríamos agregar otros intermedios, ni tan buenos ni tan malos</a:t>
            </a:r>
          </a:p>
          <a:p>
            <a:r>
              <a:rPr lang="es-AR" sz="2400" dirty="0"/>
              <a:t>Asignar 50% al mejor y peor escenario y analizar su promedio, es una forma práctica de evaluar el riesgo del proyecto</a:t>
            </a:r>
          </a:p>
          <a:p>
            <a:r>
              <a:rPr lang="es-AR" sz="2400" dirty="0"/>
              <a:t>Asignar probabilidades y calcular el NPV promedio diferirá del NPV del caso Base</a:t>
            </a:r>
          </a:p>
          <a:p>
            <a:endParaRPr lang="es-AR" sz="2400" dirty="0"/>
          </a:p>
        </p:txBody>
      </p:sp>
    </p:spTree>
    <p:extLst>
      <p:ext uri="{BB962C8B-B14F-4D97-AF65-F5344CB8AC3E}">
        <p14:creationId xmlns:p14="http://schemas.microsoft.com/office/powerpoint/2010/main" val="3722351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Simulación de Montecarlo</a:t>
            </a:r>
          </a:p>
          <a:p>
            <a:r>
              <a:rPr lang="es-AR" sz="2400" dirty="0"/>
              <a:t>Es una versión sofisticada del análisis de escenarios</a:t>
            </a:r>
          </a:p>
          <a:p>
            <a:r>
              <a:rPr lang="es-AR" sz="2400" dirty="0"/>
              <a:t>Se obtiene una distribución discreta con su media de NPV y si desvío standard (y CV)</a:t>
            </a:r>
          </a:p>
          <a:p>
            <a:endParaRPr lang="es-AR" sz="2400" dirty="0"/>
          </a:p>
        </p:txBody>
      </p:sp>
    </p:spTree>
    <p:extLst>
      <p:ext uri="{BB962C8B-B14F-4D97-AF65-F5344CB8AC3E}">
        <p14:creationId xmlns:p14="http://schemas.microsoft.com/office/powerpoint/2010/main" val="1724022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77500" lnSpcReduction="20000"/>
          </a:bodyPr>
          <a:lstStyle/>
          <a:p>
            <a:pPr marL="0" indent="0">
              <a:buNone/>
            </a:pPr>
            <a:r>
              <a:rPr lang="es-AR" sz="2400" u="sng" dirty="0"/>
              <a:t>Riesgos Intra empresa y Beta</a:t>
            </a:r>
          </a:p>
          <a:p>
            <a:r>
              <a:rPr lang="es-AR" sz="2400" dirty="0"/>
              <a:t>Hasta aquí hemos visto análisis del riesgo individual</a:t>
            </a:r>
          </a:p>
          <a:p>
            <a:r>
              <a:rPr lang="es-AR" sz="2400" dirty="0"/>
              <a:t>Pero si el proyecto se correlaciona negativamente con otros proyectos de la empresa, podría estabilizar las ganancias totales de la Compañía y ser así relativamente seguro</a:t>
            </a:r>
          </a:p>
          <a:p>
            <a:r>
              <a:rPr lang="es-AR" sz="2400" dirty="0"/>
              <a:t>Del mismo modo, si su correlación negativa fuera con la mayoría de las acciones podría ayudar a reducir la Beta de la Empresa y ser por tanto correctamente valuado con un WACC relativamente bajo</a:t>
            </a:r>
          </a:p>
          <a:p>
            <a:r>
              <a:rPr lang="es-AR" sz="2400" dirty="0"/>
              <a:t>¡¡¡Qué cambio radical de mirada de un proyecto!!!</a:t>
            </a:r>
          </a:p>
          <a:p>
            <a:r>
              <a:rPr lang="es-AR" sz="2400" dirty="0"/>
              <a:t>La mayoría de los Gerentes no lo analiza de este modo, conservan el análisis individual y sólo evalúan cualitativamente la correlación con la Empresa y el Mercado</a:t>
            </a:r>
          </a:p>
          <a:p>
            <a:r>
              <a:rPr lang="es-AR" sz="2400" dirty="0"/>
              <a:t>El problema es que, para medir los efectos de la diversificación en el riesgo, necesitamos el coeficiente de correlación entre los rendimientos de un proyecto y los de los demás activos de la empresa</a:t>
            </a:r>
          </a:p>
          <a:p>
            <a:r>
              <a:rPr lang="es-AR" sz="2400" dirty="0"/>
              <a:t>Los Gerentes experimentados tienen “olfato” sobre la correlación mencionada</a:t>
            </a:r>
          </a:p>
          <a:p>
            <a:r>
              <a:rPr lang="es-AR" sz="2400" dirty="0"/>
              <a:t>En general, la correlación es alta y positiva, con lo que el riesgo individual será una buena aproximación del riesgo intra empresa</a:t>
            </a:r>
          </a:p>
          <a:p>
            <a:pPr marL="0" indent="0">
              <a:buNone/>
            </a:pPr>
            <a:r>
              <a:rPr lang="es-AR" sz="2400" dirty="0"/>
              <a:t> </a:t>
            </a:r>
          </a:p>
        </p:txBody>
      </p:sp>
    </p:spTree>
    <p:extLst>
      <p:ext uri="{BB962C8B-B14F-4D97-AF65-F5344CB8AC3E}">
        <p14:creationId xmlns:p14="http://schemas.microsoft.com/office/powerpoint/2010/main" val="1252132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Riesgo de mercado, Beta</a:t>
            </a:r>
          </a:p>
          <a:p>
            <a:r>
              <a:rPr lang="es-AR" sz="2400" dirty="0"/>
              <a:t>Del mismo modo, un Gerente podría relacionar los rendimientos esperados del proyecto con la economía del mercado y así determinar su Beta</a:t>
            </a:r>
          </a:p>
          <a:p>
            <a:r>
              <a:rPr lang="es-AR" sz="2400" dirty="0"/>
              <a:t>En la mayoría de los casos, estas estimaciones son subjetivas y no basadas en datos reales</a:t>
            </a:r>
          </a:p>
          <a:p>
            <a:r>
              <a:rPr lang="es-AR" sz="2400" dirty="0"/>
              <a:t>Algunos proyectos podrían asimilarse a otras empresas, por similitud y así asignarle una Beta promedio de dichas empresas y consecuentemente, un WACC</a:t>
            </a:r>
          </a:p>
          <a:p>
            <a:r>
              <a:rPr lang="es-AR" sz="2400" dirty="0"/>
              <a:t>Este enfoque, si bien técnicamente sólido, se usa raras veces. La mayoría de los análisis no se pueden realizar de este modo</a:t>
            </a:r>
          </a:p>
          <a:p>
            <a:endParaRPr lang="es-AR" sz="2400" dirty="0"/>
          </a:p>
          <a:p>
            <a:endParaRPr lang="es-AR" sz="2400" dirty="0"/>
          </a:p>
        </p:txBody>
      </p:sp>
    </p:spTree>
    <p:extLst>
      <p:ext uri="{BB962C8B-B14F-4D97-AF65-F5344CB8AC3E}">
        <p14:creationId xmlns:p14="http://schemas.microsoft.com/office/powerpoint/2010/main" val="1911459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a:bodyPr>
          <a:lstStyle/>
          <a:p>
            <a:pPr marL="0" indent="0">
              <a:buNone/>
            </a:pPr>
            <a:r>
              <a:rPr lang="es-AR" sz="2400" u="sng" dirty="0"/>
              <a:t>Conclusiones</a:t>
            </a:r>
          </a:p>
          <a:p>
            <a:r>
              <a:rPr lang="es-AR" sz="2400" dirty="0"/>
              <a:t>Resulta muy difícil medir cuantitativamente los riesgos intra empresa y Beta de los proyectos</a:t>
            </a:r>
          </a:p>
          <a:p>
            <a:r>
              <a:rPr lang="es-AR" sz="2400" dirty="0"/>
              <a:t>La mayoría de los proyectos tendrán correlación positiva con el resto de los activos de la empresa y con el rendimiento del mercado de valores</a:t>
            </a:r>
          </a:p>
          <a:p>
            <a:r>
              <a:rPr lang="es-AR" sz="2400" dirty="0"/>
              <a:t>Entonces, no perderemos demasiado si nos concentramos en evaluar el riesgo individual</a:t>
            </a:r>
          </a:p>
          <a:p>
            <a:r>
              <a:rPr lang="es-AR" sz="2400" dirty="0"/>
              <a:t>Después de todo, los Gerentes experimentados, incluyen a todo el análisis cuantitativo su mirada subjetiva y la prudencia que le aporta volcar en su experiencia</a:t>
            </a:r>
          </a:p>
          <a:p>
            <a:endParaRPr lang="es-AR" sz="2400" dirty="0"/>
          </a:p>
          <a:p>
            <a:endParaRPr lang="es-AR" sz="2400" dirty="0"/>
          </a:p>
        </p:txBody>
      </p:sp>
    </p:spTree>
    <p:extLst>
      <p:ext uri="{BB962C8B-B14F-4D97-AF65-F5344CB8AC3E}">
        <p14:creationId xmlns:p14="http://schemas.microsoft.com/office/powerpoint/2010/main" val="1078317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C5153F-747B-5393-74B1-71DBE4C544BC}"/>
              </a:ext>
            </a:extLst>
          </p:cNvPr>
          <p:cNvSpPr>
            <a:spLocks noGrp="1"/>
          </p:cNvSpPr>
          <p:nvPr>
            <p:ph type="title"/>
          </p:nvPr>
        </p:nvSpPr>
        <p:spPr/>
        <p:txBody>
          <a:bodyPr>
            <a:normAutofit/>
          </a:bodyPr>
          <a:lstStyle/>
          <a:p>
            <a:pPr algn="ctr"/>
            <a:r>
              <a:rPr lang="es-AR" sz="3600" dirty="0"/>
              <a:t>Estimación de Flujos de Efectivo y Análisis de Riesgo</a:t>
            </a:r>
          </a:p>
        </p:txBody>
      </p:sp>
      <p:sp>
        <p:nvSpPr>
          <p:cNvPr id="3" name="Marcador de contenido 2">
            <a:extLst>
              <a:ext uri="{FF2B5EF4-FFF2-40B4-BE49-F238E27FC236}">
                <a16:creationId xmlns:a16="http://schemas.microsoft.com/office/drawing/2014/main" id="{DE61EB01-893C-3F7A-0B57-FD607FBDB998}"/>
              </a:ext>
            </a:extLst>
          </p:cNvPr>
          <p:cNvSpPr>
            <a:spLocks noGrp="1"/>
          </p:cNvSpPr>
          <p:nvPr>
            <p:ph idx="1"/>
          </p:nvPr>
        </p:nvSpPr>
        <p:spPr/>
        <p:txBody>
          <a:bodyPr>
            <a:normAutofit fontScale="92500" lnSpcReduction="10000"/>
          </a:bodyPr>
          <a:lstStyle/>
          <a:p>
            <a:pPr marL="0" indent="0">
              <a:buNone/>
            </a:pPr>
            <a:r>
              <a:rPr lang="es-AR" sz="2400" u="sng" dirty="0"/>
              <a:t>Períodos desiguales de proyectos mutuamente excluyentes</a:t>
            </a:r>
          </a:p>
          <a:p>
            <a:r>
              <a:rPr lang="es-AR" sz="2400" dirty="0"/>
              <a:t>Mutuamente excluyentes y con períodos significativamente distintos</a:t>
            </a:r>
          </a:p>
          <a:p>
            <a:r>
              <a:rPr lang="es-AR" sz="2400" dirty="0"/>
              <a:t>Analizaremos casos donde los mismos pueden/deben repetirse</a:t>
            </a:r>
          </a:p>
          <a:p>
            <a:r>
              <a:rPr lang="es-AR" sz="2400" dirty="0"/>
              <a:t>El método de NPV PODRÍA no indicar el mejor proyecto, dado sus distintos períodos y la posibilidad de repetir el más corto</a:t>
            </a:r>
          </a:p>
          <a:p>
            <a:pPr marL="0" indent="0">
              <a:buNone/>
            </a:pPr>
            <a:r>
              <a:rPr lang="es-AR" sz="2400" u="sng" dirty="0"/>
              <a:t>Cadenas de Reemplazo</a:t>
            </a:r>
          </a:p>
          <a:p>
            <a:r>
              <a:rPr lang="es-AR" sz="2400" dirty="0"/>
              <a:t>Debemos encontrar el período común a ambos, mínimo común múltiplo</a:t>
            </a:r>
          </a:p>
          <a:p>
            <a:r>
              <a:rPr lang="es-AR" sz="2400" dirty="0"/>
              <a:t>Recién aquí compararemos los NPV de ambos proyectos</a:t>
            </a:r>
          </a:p>
          <a:p>
            <a:pPr marL="0" indent="0">
              <a:buNone/>
            </a:pPr>
            <a:r>
              <a:rPr lang="es-AR" sz="2400" u="sng" dirty="0"/>
              <a:t>Anualidades anuales equivalentes (EAA)</a:t>
            </a:r>
          </a:p>
          <a:p>
            <a:r>
              <a:rPr lang="es-AR" sz="2400" dirty="0"/>
              <a:t>Bajo la hipótesis, de reemplazos indefinidos en el tiempo, se determina, dados NPV, n y WACC, la cuota de un sistema francés y se elige el proyecto con mayor cuota</a:t>
            </a:r>
          </a:p>
          <a:p>
            <a:endParaRPr lang="es-AR" sz="2400" dirty="0"/>
          </a:p>
        </p:txBody>
      </p:sp>
    </p:spTree>
    <p:extLst>
      <p:ext uri="{BB962C8B-B14F-4D97-AF65-F5344CB8AC3E}">
        <p14:creationId xmlns:p14="http://schemas.microsoft.com/office/powerpoint/2010/main" val="12016218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0668E3FE9A3174EAF1AA80B147CEE15" ma:contentTypeVersion="4" ma:contentTypeDescription="Crear nuevo documento." ma:contentTypeScope="" ma:versionID="d29dfd9a9a7666034e5ad4f5ee96d9e6">
  <xsd:schema xmlns:xsd="http://www.w3.org/2001/XMLSchema" xmlns:xs="http://www.w3.org/2001/XMLSchema" xmlns:p="http://schemas.microsoft.com/office/2006/metadata/properties" xmlns:ns2="e0a2096b-51a3-4c59-a6bd-c7f798262ca8" targetNamespace="http://schemas.microsoft.com/office/2006/metadata/properties" ma:root="true" ma:fieldsID="bfc5d357d775e068c7ede3c89a10d3d3" ns2:_="">
    <xsd:import namespace="e0a2096b-51a3-4c59-a6bd-c7f798262c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a2096b-51a3-4c59-a6bd-c7f798262c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11248DC-FC87-4B6D-9271-7B0594A60D7D}"/>
</file>

<file path=customXml/itemProps2.xml><?xml version="1.0" encoding="utf-8"?>
<ds:datastoreItem xmlns:ds="http://schemas.openxmlformats.org/officeDocument/2006/customXml" ds:itemID="{88C5B2E5-EF1B-4886-A950-5F07F9BA89BC}"/>
</file>

<file path=customXml/itemProps3.xml><?xml version="1.0" encoding="utf-8"?>
<ds:datastoreItem xmlns:ds="http://schemas.openxmlformats.org/officeDocument/2006/customXml" ds:itemID="{C7D79D0F-552E-4D53-BCFC-3D8C7B838E0F}"/>
</file>

<file path=docProps/app.xml><?xml version="1.0" encoding="utf-8"?>
<Properties xmlns="http://schemas.openxmlformats.org/officeDocument/2006/extended-properties" xmlns:vt="http://schemas.openxmlformats.org/officeDocument/2006/docPropsVTypes">
  <TotalTime>14950</TotalTime>
  <Words>2500</Words>
  <Application>Microsoft Office PowerPoint</Application>
  <PresentationFormat>Panorámica</PresentationFormat>
  <Paragraphs>174</Paragraphs>
  <Slides>22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Arial</vt:lpstr>
      <vt:lpstr>Calibri</vt:lpstr>
      <vt:lpstr>Calibri Light</vt:lpstr>
      <vt:lpstr>Cambria Math</vt:lpstr>
      <vt:lpstr>Times New Roman</vt:lpstr>
      <vt:lpstr>Tema de Office</vt:lpstr>
      <vt:lpstr>MAESTRIA EN GESTION ECONOMICA Y FINANCIERA DE RIESGOS</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lpstr>Estimación de Flujos de Efectivo y Análisis de Riesgo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MAESTRIA EN GESTION ECONOMICA Y FINANCIERA DE RIESGOS</dc:title>
  <dc:creator>GRINBLAT GUSTAVO GABRIEL</dc:creator>
  <cp:lastModifiedBy>GRINBLAT GUSTAVO GABRIEL</cp:lastModifiedBy>
  <cp:revision>126</cp:revision>
  <dcterms:created xsi:type="dcterms:W3CDTF">2023-02-14T14:19:39Z</dcterms:created>
  <dcterms:modified xsi:type="dcterms:W3CDTF">2024-05-09T21:44:31Z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0x01010020668E3FE9A3174EAF1AA80B147CEE15</vt:lpwstr>
  </property>
</Properties>
</file>