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320" r:id="rId9"/>
    <p:sldId id="273" r:id="rId10"/>
    <p:sldId id="264" r:id="rId11"/>
    <p:sldId id="265" r:id="rId12"/>
    <p:sldId id="266" r:id="rId13"/>
    <p:sldId id="268" r:id="rId14"/>
    <p:sldId id="321" r:id="rId15"/>
    <p:sldId id="274" r:id="rId16"/>
    <p:sldId id="269" r:id="rId17"/>
    <p:sldId id="318" r:id="rId18"/>
    <p:sldId id="270" r:id="rId19"/>
    <p:sldId id="271" r:id="rId20"/>
    <p:sldId id="272" r:id="rId21"/>
    <p:sldId id="319" r:id="rId22"/>
    <p:sldId id="276" r:id="rId23"/>
    <p:sldId id="277" r:id="rId24"/>
    <p:sldId id="278" r:id="rId25"/>
    <p:sldId id="322" r:id="rId26"/>
    <p:sldId id="279" r:id="rId27"/>
    <p:sldId id="280" r:id="rId28"/>
    <p:sldId id="281" r:id="rId29"/>
    <p:sldId id="282" r:id="rId30"/>
    <p:sldId id="283" r:id="rId31"/>
    <p:sldId id="323" r:id="rId32"/>
    <p:sldId id="290" r:id="rId33"/>
    <p:sldId id="291" r:id="rId34"/>
    <p:sldId id="324" r:id="rId35"/>
    <p:sldId id="285" r:id="rId36"/>
    <p:sldId id="286" r:id="rId37"/>
    <p:sldId id="292" r:id="rId38"/>
    <p:sldId id="293" r:id="rId39"/>
    <p:sldId id="294" r:id="rId40"/>
    <p:sldId id="295" r:id="rId41"/>
    <p:sldId id="325" r:id="rId42"/>
    <p:sldId id="296" r:id="rId43"/>
    <p:sldId id="287" r:id="rId44"/>
    <p:sldId id="288" r:id="rId45"/>
    <p:sldId id="289" r:id="rId46"/>
    <p:sldId id="297" r:id="rId47"/>
    <p:sldId id="298" r:id="rId48"/>
    <p:sldId id="299" r:id="rId49"/>
    <p:sldId id="300" r:id="rId50"/>
    <p:sldId id="304" r:id="rId51"/>
    <p:sldId id="305" r:id="rId52"/>
    <p:sldId id="327" r:id="rId53"/>
    <p:sldId id="302" r:id="rId54"/>
    <p:sldId id="306" r:id="rId55"/>
    <p:sldId id="307" r:id="rId56"/>
    <p:sldId id="328" r:id="rId57"/>
    <p:sldId id="329" r:id="rId58"/>
    <p:sldId id="303" r:id="rId59"/>
    <p:sldId id="308" r:id="rId60"/>
    <p:sldId id="330" r:id="rId61"/>
    <p:sldId id="309" r:id="rId62"/>
    <p:sldId id="310" r:id="rId63"/>
    <p:sldId id="311" r:id="rId64"/>
    <p:sldId id="312" r:id="rId65"/>
    <p:sldId id="313" r:id="rId66"/>
    <p:sldId id="314" r:id="rId67"/>
    <p:sldId id="315" r:id="rId68"/>
    <p:sldId id="316" r:id="rId69"/>
    <p:sldId id="317" r:id="rId7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ustomXml" Target="../customXml/item2.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A70DE0-4B97-CC8B-DA2B-D60A2C0FB91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1CE1EAE-CFDC-004A-8AD0-B51F2403A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E0B6E68-C188-7EEF-0E02-F4E288897831}"/>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5" name="Marcador de pie de página 4">
            <a:extLst>
              <a:ext uri="{FF2B5EF4-FFF2-40B4-BE49-F238E27FC236}">
                <a16:creationId xmlns:a16="http://schemas.microsoft.com/office/drawing/2014/main" id="{F7066B6E-0635-0E1F-4379-C36A419EE8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F0A89BD-292B-7733-6B8D-EB945709119F}"/>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108804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855550-A5A3-28B0-87A6-8BFA8585B8F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BD66766-5859-4C0F-EE4B-095181ED33E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0B49D55-9129-2BCB-CC58-BE8A5A02F695}"/>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5" name="Marcador de pie de página 4">
            <a:extLst>
              <a:ext uri="{FF2B5EF4-FFF2-40B4-BE49-F238E27FC236}">
                <a16:creationId xmlns:a16="http://schemas.microsoft.com/office/drawing/2014/main" id="{8178981B-655E-868D-A913-990DA313B7F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E03A5C-2E50-F104-6EF2-328548C6ACC5}"/>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59285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B39DAC-2954-AAC3-037A-EE7F5657CF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138DAC5-5A1D-5565-6BE0-F8F9CBDC3A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33658DC-F3F3-6928-E77C-724A8CE3D717}"/>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5" name="Marcador de pie de página 4">
            <a:extLst>
              <a:ext uri="{FF2B5EF4-FFF2-40B4-BE49-F238E27FC236}">
                <a16:creationId xmlns:a16="http://schemas.microsoft.com/office/drawing/2014/main" id="{C6F300DF-7CC3-8B85-E0CB-780F59CDA4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DA390DF-3D5D-2441-8768-0FF172747768}"/>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92757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FF108A-B6FD-4DD3-E57D-35251CCA8CD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ED3077-0282-9BA1-9647-34DCFFE91B3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F063130-158D-0337-1366-179AEC5175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3EA4455-1040-78B0-9A83-CCFB496E4222}"/>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6" name="Marcador de pie de página 5">
            <a:extLst>
              <a:ext uri="{FF2B5EF4-FFF2-40B4-BE49-F238E27FC236}">
                <a16:creationId xmlns:a16="http://schemas.microsoft.com/office/drawing/2014/main" id="{42995CC5-9BF9-C25B-E551-617C0C741D3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3C6B983-CC89-87A7-83C5-E8A9302FAFA4}"/>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21824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3BB85-25AE-B83A-CCC5-5CA70BF9579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2508F49-1586-2659-B704-8505E99644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781A51-2B5A-F1EE-3EDC-384ADF465F9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E8D3E41-1105-8E60-E088-8DDD261F58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DB2382-0414-A436-50DA-DA2406F4292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57C37DA-8221-6D56-EC43-58433E468377}"/>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8" name="Marcador de pie de página 7">
            <a:extLst>
              <a:ext uri="{FF2B5EF4-FFF2-40B4-BE49-F238E27FC236}">
                <a16:creationId xmlns:a16="http://schemas.microsoft.com/office/drawing/2014/main" id="{7D2644E8-DD3F-D216-6AA3-E589B5767C7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2884065-FAAE-BDB4-32F3-248B22010F12}"/>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64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6098B-B84A-5C8C-354A-8F8F9A6BD0E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ED87682-7DDD-B19E-DDA9-A7CE4E324285}"/>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4" name="Marcador de pie de página 3">
            <a:extLst>
              <a:ext uri="{FF2B5EF4-FFF2-40B4-BE49-F238E27FC236}">
                <a16:creationId xmlns:a16="http://schemas.microsoft.com/office/drawing/2014/main" id="{0589A9E0-1E31-1CF9-9385-98ABD95ADFC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EC26854-C66C-13B9-DDBA-65127106A9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86231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4BDD1B5-8696-85E6-0336-67B2AFAA156B}"/>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3" name="Marcador de pie de página 2">
            <a:extLst>
              <a:ext uri="{FF2B5EF4-FFF2-40B4-BE49-F238E27FC236}">
                <a16:creationId xmlns:a16="http://schemas.microsoft.com/office/drawing/2014/main" id="{22484739-613F-8753-FA98-4D103CB30D0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0D31B71-6907-91D9-EF05-792F513E347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690008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FB5C3-3275-A698-026C-886DC55FF4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0BCABC4-5D18-3E27-6A44-FC26838C2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5E40746-4F71-7DE0-F012-7DDD0883F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4EC19EE-490E-414E-CA52-E77AFF261BC8}"/>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6" name="Marcador de pie de página 5">
            <a:extLst>
              <a:ext uri="{FF2B5EF4-FFF2-40B4-BE49-F238E27FC236}">
                <a16:creationId xmlns:a16="http://schemas.microsoft.com/office/drawing/2014/main" id="{AD5E8014-1302-B4C8-7D17-5F4C8787FE9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B6F6371-277E-CA55-1C44-DF90C0B487E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041955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F3D7D-6DB8-5CA8-33D8-A03C43B3A89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64D5670-BFC0-3DB3-A109-81380518AD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B36B38D-9A81-E64C-CE8E-3AEE8BAC02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3425C7-DE0E-64F8-F3F8-B160236A6DAB}"/>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6" name="Marcador de pie de página 5">
            <a:extLst>
              <a:ext uri="{FF2B5EF4-FFF2-40B4-BE49-F238E27FC236}">
                <a16:creationId xmlns:a16="http://schemas.microsoft.com/office/drawing/2014/main" id="{2E301EDD-7F0A-9740-3332-CBB88123C04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B3BE84C-6D96-5ADC-F3AA-6D44DAE245CB}"/>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43117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67BA53-C170-1009-035B-6DF474E71D2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91F61C2-014C-A45F-EB74-9AE786E3CC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5AA3C9E-EE3D-1DC0-EA4A-7F73CAC9D3E8}"/>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5" name="Marcador de pie de página 4">
            <a:extLst>
              <a:ext uri="{FF2B5EF4-FFF2-40B4-BE49-F238E27FC236}">
                <a16:creationId xmlns:a16="http://schemas.microsoft.com/office/drawing/2014/main" id="{8334C08C-24E9-70D6-53B2-5821E4F4112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E8F520-0506-EC10-69F1-4C13CCE99709}"/>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31893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CA22DF-B559-E639-75C9-BC3D422A04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854BBD4-C434-4B35-66A5-AFBBAD652C9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9FE2F62-687B-D702-F79B-AC39487E9DA1}"/>
              </a:ext>
            </a:extLst>
          </p:cNvPr>
          <p:cNvSpPr>
            <a:spLocks noGrp="1"/>
          </p:cNvSpPr>
          <p:nvPr>
            <p:ph type="dt" sz="half" idx="10"/>
          </p:nvPr>
        </p:nvSpPr>
        <p:spPr/>
        <p:txBody>
          <a:bodyPr/>
          <a:lstStyle/>
          <a:p>
            <a:fld id="{6D4528C1-82C9-4445-A848-4CBA9F23312B}" type="datetimeFigureOut">
              <a:rPr lang="es-ES" smtClean="0"/>
              <a:t>10/04/2024</a:t>
            </a:fld>
            <a:endParaRPr lang="es-ES"/>
          </a:p>
        </p:txBody>
      </p:sp>
      <p:sp>
        <p:nvSpPr>
          <p:cNvPr id="5" name="Marcador de pie de página 4">
            <a:extLst>
              <a:ext uri="{FF2B5EF4-FFF2-40B4-BE49-F238E27FC236}">
                <a16:creationId xmlns:a16="http://schemas.microsoft.com/office/drawing/2014/main" id="{5226CF39-33C2-9BF3-544B-2B7B1446465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0C9EBFF-3268-DB30-71CF-0042D24CE2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807338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340DA5B-4F04-5E8A-6DE3-71F150CED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B4A1CE-C411-332B-579B-A08B8F347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0A8FEF5-8DEC-BE49-ED2C-FC43B05D4D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528C1-82C9-4445-A848-4CBA9F23312B}" type="datetimeFigureOut">
              <a:rPr lang="es-ES" smtClean="0"/>
              <a:t>10/04/2024</a:t>
            </a:fld>
            <a:endParaRPr lang="es-ES"/>
          </a:p>
        </p:txBody>
      </p:sp>
      <p:sp>
        <p:nvSpPr>
          <p:cNvPr id="5" name="Marcador de pie de página 4">
            <a:extLst>
              <a:ext uri="{FF2B5EF4-FFF2-40B4-BE49-F238E27FC236}">
                <a16:creationId xmlns:a16="http://schemas.microsoft.com/office/drawing/2014/main" id="{EF70E8C6-1AE4-42A3-03D5-549133C6FF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A2F828B-082D-E8A8-31BA-02F0F7F04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4C4F5-1195-4895-81EB-16EC24AC6F40}" type="slidenum">
              <a:rPr lang="es-ES" smtClean="0"/>
              <a:t>‹Nº›</a:t>
            </a:fld>
            <a:endParaRPr lang="es-ES"/>
          </a:p>
        </p:txBody>
      </p:sp>
    </p:spTree>
    <p:extLst>
      <p:ext uri="{BB962C8B-B14F-4D97-AF65-F5344CB8AC3E}">
        <p14:creationId xmlns:p14="http://schemas.microsoft.com/office/powerpoint/2010/main" val="1201274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economipedia.com/definiciones/opa.html"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2140-08D3-08F1-4D09-A0DA1C925D1F}"/>
              </a:ext>
            </a:extLst>
          </p:cNvPr>
          <p:cNvSpPr>
            <a:spLocks noGrp="1"/>
          </p:cNvSpPr>
          <p:nvPr>
            <p:ph type="ctrTitle"/>
          </p:nvPr>
        </p:nvSpPr>
        <p:spPr/>
        <p:txBody>
          <a:bodyPr/>
          <a:lstStyle/>
          <a:p>
            <a:r>
              <a:rPr lang="es-ES" sz="1800" b="1" dirty="0">
                <a:effectLst/>
                <a:latin typeface="Times New Roman" panose="02020603050405020304" pitchFamily="18" charset="0"/>
                <a:ea typeface="Times New Roman" panose="02020603050405020304" pitchFamily="18" charset="0"/>
              </a:rPr>
              <a:t>MAESTRIA EN GESTION ECONOMICA Y FINANCIERA DE RIESGOS</a:t>
            </a:r>
            <a:endParaRPr lang="es-AR" dirty="0"/>
          </a:p>
        </p:txBody>
      </p:sp>
      <p:sp>
        <p:nvSpPr>
          <p:cNvPr id="3" name="Subtítulo 2">
            <a:extLst>
              <a:ext uri="{FF2B5EF4-FFF2-40B4-BE49-F238E27FC236}">
                <a16:creationId xmlns:a16="http://schemas.microsoft.com/office/drawing/2014/main" id="{C8DE824A-985B-6EFE-79BC-73F2093AD114}"/>
              </a:ext>
            </a:extLst>
          </p:cNvPr>
          <p:cNvSpPr>
            <a:spLocks noGrp="1"/>
          </p:cNvSpPr>
          <p:nvPr>
            <p:ph type="subTitle" idx="1"/>
          </p:nvPr>
        </p:nvSpPr>
        <p:spPr/>
        <p:txBody>
          <a:bodyPr/>
          <a:lstStyle/>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ASIGNATURA:  TÓPICOS DE FINANZAS CORPORATIVAS</a:t>
            </a:r>
          </a:p>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DOCENTE:</a:t>
            </a:r>
            <a:r>
              <a:rPr lang="es-ES" sz="1800" dirty="0">
                <a:effectLst/>
                <a:latin typeface="Arial" panose="020B0604020202020204" pitchFamily="34" charset="0"/>
                <a:ea typeface="Times New Roman" panose="02020603050405020304" pitchFamily="18" charset="0"/>
              </a:rPr>
              <a:t> ACT. GUSTAVO GABRIEL GRINBLAT</a:t>
            </a:r>
            <a:endParaRPr lang="es-AR" dirty="0"/>
          </a:p>
        </p:txBody>
      </p:sp>
      <p:pic>
        <p:nvPicPr>
          <p:cNvPr id="4" name="1 Imagen">
            <a:extLst>
              <a:ext uri="{FF2B5EF4-FFF2-40B4-BE49-F238E27FC236}">
                <a16:creationId xmlns:a16="http://schemas.microsoft.com/office/drawing/2014/main" id="{03ECD9A0-F9B9-1F21-C435-4F8087292C62}"/>
              </a:ext>
            </a:extLst>
          </p:cNvPr>
          <p:cNvPicPr/>
          <p:nvPr/>
        </p:nvPicPr>
        <p:blipFill>
          <a:blip r:embed="rId2"/>
          <a:stretch>
            <a:fillRect/>
          </a:stretch>
        </p:blipFill>
        <p:spPr>
          <a:xfrm>
            <a:off x="4009707" y="1764030"/>
            <a:ext cx="4172585" cy="1104265"/>
          </a:xfrm>
          <a:prstGeom prst="rect">
            <a:avLst/>
          </a:prstGeom>
        </p:spPr>
      </p:pic>
    </p:spTree>
    <p:extLst>
      <p:ext uri="{BB962C8B-B14F-4D97-AF65-F5344CB8AC3E}">
        <p14:creationId xmlns:p14="http://schemas.microsoft.com/office/powerpoint/2010/main" val="384769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Análisis de Estados Financieros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0000" lnSpcReduction="20000"/>
          </a:bodyPr>
          <a:lstStyle/>
          <a:p>
            <a:pPr marL="0" indent="0">
              <a:buNone/>
            </a:pPr>
            <a:r>
              <a:rPr lang="es-AR" dirty="0"/>
              <a:t>¿Podemos ganar dinero analizando valores?</a:t>
            </a:r>
          </a:p>
          <a:p>
            <a:endParaRPr lang="es-AR" dirty="0"/>
          </a:p>
          <a:p>
            <a:r>
              <a:rPr lang="es-AR" dirty="0"/>
              <a:t>Los defensores del “mercado eficiente”</a:t>
            </a:r>
            <a:r>
              <a:rPr lang="en-CA" dirty="0"/>
              <a:t> </a:t>
            </a:r>
            <a:r>
              <a:rPr lang="es-ES" dirty="0" err="1"/>
              <a:t>dir</a:t>
            </a:r>
            <a:r>
              <a:rPr lang="es-AR" dirty="0" err="1"/>
              <a:t>án</a:t>
            </a:r>
            <a:r>
              <a:rPr lang="es-AR" dirty="0"/>
              <a:t> que no, los precios ya contienen toda la información. ¿Qué podemos hacer nosotros contra las grandes firmas que arbitrarían rápidamente cualquier desequilibrio?</a:t>
            </a:r>
          </a:p>
          <a:p>
            <a:r>
              <a:rPr lang="es-AR" dirty="0"/>
              <a:t>Otros señalan que hay administradores de fondos que le ganan sistemáticamente al mercado, lo que indica que el mercado no está en equilibrio</a:t>
            </a:r>
          </a:p>
          <a:p>
            <a:r>
              <a:rPr lang="es-AR" dirty="0"/>
              <a:t>También señalan que inversionistas “activistas” pueden influir sobre gerentes y mejorar el desempeño de las empresas. Esta información tampoco está “disponible” para todos</a:t>
            </a:r>
          </a:p>
          <a:p>
            <a:r>
              <a:rPr lang="es-AR" dirty="0"/>
              <a:t>Warren Buffett invierte sobre el “valor intrínseco”. Sus rendimientos desde 1964 son asombrosos (hasta 2017, promedio anual del 21,6%). Detecta desequilibrios e invierte en tales compañías </a:t>
            </a:r>
          </a:p>
          <a:p>
            <a:r>
              <a:rPr lang="es-AR" dirty="0"/>
              <a:t>En estos conceptos nos enfocaremos en esta parte del curso</a:t>
            </a:r>
          </a:p>
          <a:p>
            <a:r>
              <a:rPr lang="es-AR" dirty="0"/>
              <a:t>Los estados contables tienen mucha más información que solo “contabilidad”, y pueden servir para mejorar el desempeño de la Compañía y para predecir Resultados Futuros. Un profundo análisis permite estimar valores intrínsecos y compararlos con los de mercado</a:t>
            </a:r>
            <a:endParaRPr lang="en-CA" dirty="0"/>
          </a:p>
          <a:p>
            <a:endParaRPr lang="en-CA" dirty="0"/>
          </a:p>
          <a:p>
            <a:endParaRPr lang="es-AR" dirty="0"/>
          </a:p>
        </p:txBody>
      </p:sp>
    </p:spTree>
    <p:extLst>
      <p:ext uri="{BB962C8B-B14F-4D97-AF65-F5344CB8AC3E}">
        <p14:creationId xmlns:p14="http://schemas.microsoft.com/office/powerpoint/2010/main" val="1655813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Análisis de Estados Financieros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0000" lnSpcReduction="20000"/>
          </a:bodyPr>
          <a:lstStyle/>
          <a:p>
            <a:r>
              <a:rPr lang="es-AR" dirty="0"/>
              <a:t>La principal meta de la Administración Financiera es … y no medidas contables como Ingreso Neto o Ganancias por Acción (EPS). </a:t>
            </a:r>
          </a:p>
          <a:p>
            <a:r>
              <a:rPr lang="es-AR" dirty="0"/>
              <a:t>Sin embargo, los datos contables afectan el precio de las acciones y sirven para analizar el desempeño de una Compañía y así entender hacia dónde (probablemente) va</a:t>
            </a:r>
          </a:p>
          <a:p>
            <a:r>
              <a:rPr lang="es-AR" dirty="0"/>
              <a:t>Hemos visto los EEFF clave y sus cambios producto de las Operaciones</a:t>
            </a:r>
          </a:p>
          <a:p>
            <a:r>
              <a:rPr lang="es-AR" dirty="0"/>
              <a:t>Veremos ahora cómo los utilizan los gerentes para mejorar el precio de las acciones, los acreedores para evaluar la capacidad de pago de las deudas, y los analistas para pronosticar ganancias, dividendos y precio de las acciones</a:t>
            </a:r>
          </a:p>
          <a:p>
            <a:r>
              <a:rPr lang="es-AR" dirty="0"/>
              <a:t>Maximizar el valor de una empresa implica aprovechar sus fortalezas y corregir sus debilidades</a:t>
            </a:r>
          </a:p>
          <a:p>
            <a:r>
              <a:rPr lang="es-AR" dirty="0"/>
              <a:t>Deberemos entonces</a:t>
            </a:r>
          </a:p>
          <a:p>
            <a:pPr lvl="1"/>
            <a:r>
              <a:rPr lang="es-AR" dirty="0"/>
              <a:t>Comparar nuestro desempeño contra otras Empresas de la Industria</a:t>
            </a:r>
          </a:p>
          <a:p>
            <a:pPr lvl="1"/>
            <a:r>
              <a:rPr lang="es-AR" dirty="0"/>
              <a:t>Evaluar las tendencias de la posición Financiera de la Empresa en el Tiempo</a:t>
            </a:r>
          </a:p>
          <a:p>
            <a:r>
              <a:rPr lang="es-AR" dirty="0"/>
              <a:t>Eso haremos, veremos cómo evaluar la posición Financiera de la Empresa, cómo los gerentes detectan deficiencias y emprenden acciones correctivas a partir de ellas</a:t>
            </a:r>
          </a:p>
          <a:p>
            <a:endParaRPr lang="es-AR" dirty="0"/>
          </a:p>
        </p:txBody>
      </p:sp>
    </p:spTree>
    <p:extLst>
      <p:ext uri="{BB962C8B-B14F-4D97-AF65-F5344CB8AC3E}">
        <p14:creationId xmlns:p14="http://schemas.microsoft.com/office/powerpoint/2010/main" val="1923404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Análisis de Estados Financieros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7500" lnSpcReduction="20000"/>
          </a:bodyPr>
          <a:lstStyle/>
          <a:p>
            <a:pPr marL="0" indent="0">
              <a:buNone/>
            </a:pPr>
            <a:r>
              <a:rPr lang="es-AR" dirty="0"/>
              <a:t>Análisis de las razones financieras</a:t>
            </a:r>
          </a:p>
          <a:p>
            <a:endParaRPr lang="es-AR" dirty="0"/>
          </a:p>
          <a:p>
            <a:r>
              <a:rPr lang="es-AR" dirty="0"/>
              <a:t>Las razones financieras ayudan a evaluar los EE.FF.</a:t>
            </a:r>
          </a:p>
          <a:p>
            <a:endParaRPr lang="es-AR" dirty="0"/>
          </a:p>
          <a:p>
            <a:r>
              <a:rPr lang="es-AR" dirty="0"/>
              <a:t>Por ejemplo, no podemos concluir sobre la salud financiera de una empresa sólo viendo su nivel de deudas y cuánto pagan de intereses, en forma aislada ¿es mucho, o es poco, respecto a qué? </a:t>
            </a:r>
          </a:p>
          <a:p>
            <a:pPr lvl="1"/>
            <a:r>
              <a:rPr lang="es-AR" dirty="0"/>
              <a:t>La Compañía A tiene deuda que genera intereses por 860 millones que le implican anualmente intereses por 88 millones</a:t>
            </a:r>
          </a:p>
          <a:p>
            <a:pPr lvl="1"/>
            <a:r>
              <a:rPr lang="es-AR" dirty="0"/>
              <a:t>La Compañía B tiene deuda que genera intereses por 52 millones que le implican anualmente intereses por 4 millones</a:t>
            </a:r>
          </a:p>
          <a:p>
            <a:r>
              <a:rPr lang="es-AR" dirty="0"/>
              <a:t>¿Qué podemos afirmar sobre estas dos empresas sólo con estos datos? Poco</a:t>
            </a:r>
          </a:p>
          <a:p>
            <a:r>
              <a:rPr lang="es-AR" dirty="0"/>
              <a:t>Deberemos comparar esos valores respecto de otros relevantes como Capital o Ingresos, y con las razones de los Competidores</a:t>
            </a:r>
          </a:p>
        </p:txBody>
      </p:sp>
    </p:spTree>
    <p:extLst>
      <p:ext uri="{BB962C8B-B14F-4D97-AF65-F5344CB8AC3E}">
        <p14:creationId xmlns:p14="http://schemas.microsoft.com/office/powerpoint/2010/main" val="384209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r>
              <a:rPr lang="es-AR" sz="4000" dirty="0"/>
              <a:t>Análisis de Estados Financieros</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7500" lnSpcReduction="20000"/>
          </a:bodyPr>
          <a:lstStyle/>
          <a:p>
            <a:r>
              <a:rPr lang="es-AR" dirty="0"/>
              <a:t>Cinco categorías de Razones Financieras</a:t>
            </a:r>
          </a:p>
          <a:p>
            <a:endParaRPr lang="es-AR" dirty="0"/>
          </a:p>
          <a:p>
            <a:r>
              <a:rPr lang="es-AR" b="1" u="sng" dirty="0"/>
              <a:t>Razones de Liquidez</a:t>
            </a:r>
            <a:r>
              <a:rPr lang="es-AR" dirty="0"/>
              <a:t>, que dan una idea de la capacidad de pago de deudas de corto plazo. Capacidad de la Empresa de continuar en operaciones</a:t>
            </a:r>
          </a:p>
          <a:p>
            <a:r>
              <a:rPr lang="es-AR" b="1" u="sng" dirty="0"/>
              <a:t>Razones de Administración de Activos</a:t>
            </a:r>
            <a:r>
              <a:rPr lang="es-AR" dirty="0"/>
              <a:t>, dan una idea de la eficiencia de la Empresa en administrar sus Activos. Mantener Costos Bajos e Ingresos Netos Altos</a:t>
            </a:r>
          </a:p>
          <a:p>
            <a:r>
              <a:rPr lang="es-AR" b="1" u="sng" dirty="0"/>
              <a:t>Razones de Administración de Deuda</a:t>
            </a:r>
            <a:r>
              <a:rPr lang="es-AR" dirty="0"/>
              <a:t>, dan una idea de cómo se financiaron los Activos y la Capacidad de Pago de la Deuda a Largo Plazo. Nivel de riesgo de la compañía. Cuánto de sus ingresos se destinan al Pago a los tenedores de bonos en lugar de ir a los Accionistas</a:t>
            </a:r>
          </a:p>
          <a:p>
            <a:r>
              <a:rPr lang="es-AR" b="1" u="sng" dirty="0"/>
              <a:t>Razones de Rentabilidad</a:t>
            </a:r>
            <a:r>
              <a:rPr lang="es-AR" dirty="0"/>
              <a:t>, dan idea de cuán rentablemente opera y utiliza sus Activos. Combinan las dos categorías anteriores y sus efectos sobre el ROE</a:t>
            </a:r>
          </a:p>
          <a:p>
            <a:r>
              <a:rPr lang="es-AR" b="1" u="sng" dirty="0"/>
              <a:t>Razones de Valor de Mercado</a:t>
            </a:r>
            <a:r>
              <a:rPr lang="es-AR" dirty="0"/>
              <a:t>, dan una idea de qué piensan los inversionistas sobre la Empresa y sus perspectivas de futuro.</a:t>
            </a:r>
          </a:p>
        </p:txBody>
      </p:sp>
    </p:spTree>
    <p:extLst>
      <p:ext uri="{BB962C8B-B14F-4D97-AF65-F5344CB8AC3E}">
        <p14:creationId xmlns:p14="http://schemas.microsoft.com/office/powerpoint/2010/main" val="2321948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C026C5-1838-E2B9-CBCF-03A1A69C0FB9}"/>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F4054EFE-8959-A63D-CEBC-70E349B5C992}"/>
              </a:ext>
            </a:extLst>
          </p:cNvPr>
          <p:cNvSpPr>
            <a:spLocks noGrp="1"/>
          </p:cNvSpPr>
          <p:nvPr>
            <p:ph idx="1"/>
          </p:nvPr>
        </p:nvSpPr>
        <p:spPr/>
        <p:txBody>
          <a:bodyPr>
            <a:normAutofit fontScale="92500" lnSpcReduction="20000"/>
          </a:bodyPr>
          <a:lstStyle/>
          <a:p>
            <a:r>
              <a:rPr lang="es-AR" dirty="0"/>
              <a:t>Todas estas razones son importantes, pero revisten distinta relevancia según el momento de la Empresa</a:t>
            </a:r>
          </a:p>
          <a:p>
            <a:r>
              <a:rPr lang="es-AR" dirty="0"/>
              <a:t>En una Empresa muy endeudada, con riesgo de quiebra, las razones de deuda destacan en primer lugar</a:t>
            </a:r>
          </a:p>
          <a:p>
            <a:r>
              <a:rPr lang="es-AR" dirty="0"/>
              <a:t>Si lo que hubo es una expansión demasiado rápida, que dejó demasiado inventario y capacidad ociosa, razones de administración de activos ocuparán la atención en primer lugar</a:t>
            </a:r>
          </a:p>
          <a:p>
            <a:r>
              <a:rPr lang="es-AR" dirty="0"/>
              <a:t>El ROE siempre es importante, para que sea alto se deberá administrar bien la liquidez, hacer un uso eficiente de los Activos y apropiado de la Deuda</a:t>
            </a:r>
          </a:p>
          <a:p>
            <a:r>
              <a:rPr lang="es-AR" dirty="0"/>
              <a:t>A los Gerentes les preocupa el precio de las acciones, pero no tienen control sobre el mercado, mientras que sobre el ROE sí. En este caso el ROE se vuelve la razón más relevante para ellos</a:t>
            </a:r>
          </a:p>
          <a:p>
            <a:endParaRPr lang="es-ES" dirty="0"/>
          </a:p>
        </p:txBody>
      </p:sp>
    </p:spTree>
    <p:extLst>
      <p:ext uri="{BB962C8B-B14F-4D97-AF65-F5344CB8AC3E}">
        <p14:creationId xmlns:p14="http://schemas.microsoft.com/office/powerpoint/2010/main" val="577862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lnSpcReduction="10000"/>
          </a:bodyPr>
          <a:lstStyle/>
          <a:p>
            <a:pPr marL="0" indent="0">
              <a:buNone/>
            </a:pPr>
            <a:r>
              <a:rPr lang="es-AR" sz="1600" dirty="0"/>
              <a:t>Razones de liquidez</a:t>
            </a:r>
          </a:p>
          <a:p>
            <a:r>
              <a:rPr lang="es-ES" sz="1600" dirty="0"/>
              <a:t>¿La empresa podrá pagar sus deudas a medida que venzan? Si la respuesta fuera que NO, se deberá atacar la liquidez</a:t>
            </a:r>
          </a:p>
          <a:p>
            <a:r>
              <a:rPr lang="es-ES" sz="1600" dirty="0"/>
              <a:t>Diremos que un activo es líquido en la medida que pueda convertirse en efectivo rápidamente y a valor de mercado</a:t>
            </a:r>
          </a:p>
          <a:p>
            <a:pPr marL="0" indent="0">
              <a:buNone/>
            </a:pPr>
            <a:endParaRPr lang="es-ES" sz="1600" dirty="0"/>
          </a:p>
          <a:p>
            <a:pPr marL="342900" indent="-342900">
              <a:buAutoNum type="arabicParenR"/>
            </a:pPr>
            <a:r>
              <a:rPr lang="es-ES" sz="1600" dirty="0"/>
              <a:t>RAZÓN DE SOLVENCIA, </a:t>
            </a:r>
            <a:r>
              <a:rPr lang="es-ES" sz="1600" dirty="0">
                <a:solidFill>
                  <a:srgbClr val="FF0000"/>
                </a:solidFill>
              </a:rPr>
              <a:t>es la principal </a:t>
            </a:r>
          </a:p>
          <a:p>
            <a:pPr marL="342900" indent="-342900">
              <a:buAutoNum type="arabicParenR"/>
            </a:pPr>
            <a:endParaRPr lang="es-ES" sz="1600" dirty="0">
              <a:solidFill>
                <a:srgbClr val="FF0000"/>
              </a:solidFill>
            </a:endParaRPr>
          </a:p>
          <a:p>
            <a:pPr marL="342900" indent="-342900">
              <a:buAutoNum type="arabicParenR"/>
            </a:pPr>
            <a:endParaRPr lang="es-ES" sz="1600" dirty="0">
              <a:solidFill>
                <a:srgbClr val="FF0000"/>
              </a:solidFill>
            </a:endParaRPr>
          </a:p>
          <a:p>
            <a:endParaRPr lang="es-ES" sz="1600" dirty="0"/>
          </a:p>
          <a:p>
            <a:pPr marL="0" indent="0">
              <a:buNone/>
            </a:pPr>
            <a:endParaRPr lang="es-ES" sz="1600" dirty="0"/>
          </a:p>
          <a:p>
            <a:pPr marL="0" indent="0">
              <a:buNone/>
            </a:pPr>
            <a:endParaRPr lang="es-ES" sz="1600" dirty="0"/>
          </a:p>
          <a:p>
            <a:pPr marL="0" indent="0">
              <a:buNone/>
            </a:pPr>
            <a:r>
              <a:rPr lang="es-ES" sz="1600" dirty="0"/>
              <a:t>Estamos relacionando nuestros activos con rápida capacidad de convertirse en efectivo, con nuestras obligaciones de corto plazo. Una razón baja es signo de posibles problemas</a:t>
            </a:r>
          </a:p>
          <a:p>
            <a:pPr marL="0" indent="0">
              <a:buNone/>
            </a:pPr>
            <a:r>
              <a:rPr lang="es-ES" sz="1600" dirty="0"/>
              <a:t>Es importante saber a cuánto de su valor contable podrían liquidarse esos activos (recordemos que se incluyen los inventarios).</a:t>
            </a:r>
          </a:p>
          <a:p>
            <a:pPr marL="0" indent="0">
              <a:buNone/>
            </a:pPr>
            <a:endParaRPr lang="es-ES" sz="16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4F60EBC-443A-7488-4D45-0CA933F0D782}"/>
                  </a:ext>
                </a:extLst>
              </p:cNvPr>
              <p:cNvSpPr txBox="1"/>
              <p:nvPr/>
            </p:nvSpPr>
            <p:spPr>
              <a:xfrm>
                <a:off x="3048260" y="3629163"/>
                <a:ext cx="3712285" cy="403252"/>
              </a:xfrm>
              <a:prstGeom prst="rect">
                <a:avLst/>
              </a:prstGeom>
              <a:noFill/>
            </p:spPr>
            <p:txBody>
              <a:bodyPr wrap="square" lIns="0" tIns="0" rIns="0" bIns="0" rtlCol="0">
                <a:spAutoFit/>
              </a:bodyPr>
              <a:lstStyle/>
              <a:p>
                <a:r>
                  <a:rPr lang="es-AR" dirty="0"/>
                  <a:t>Razón de Solvencia </a:t>
                </a:r>
                <a14:m>
                  <m:oMath xmlns:m="http://schemas.openxmlformats.org/officeDocument/2006/math">
                    <m:r>
                      <a:rPr lang="es-AR" b="0" i="0" smtClean="0">
                        <a:latin typeface="Cambria Math" panose="02040503050406030204" pitchFamily="18" charset="0"/>
                      </a:rPr>
                      <m:t>=</m:t>
                    </m:r>
                    <m:f>
                      <m:fPr>
                        <m:ctrlPr>
                          <a:rPr lang="es-AR" i="1" smtClean="0">
                            <a:latin typeface="Cambria Math" panose="02040503050406030204" pitchFamily="18" charset="0"/>
                          </a:rPr>
                        </m:ctrlPr>
                      </m:fPr>
                      <m:num>
                        <m:r>
                          <a:rPr lang="es-AR" b="0" i="1" smtClean="0">
                            <a:latin typeface="Cambria Math" panose="02040503050406030204" pitchFamily="18" charset="0"/>
                          </a:rPr>
                          <m:t>𝐴𝑐𝑡𝑖𝑣𝑜</m:t>
                        </m:r>
                        <m:r>
                          <a:rPr lang="es-AR" b="0" i="1" smtClean="0">
                            <a:latin typeface="Cambria Math" panose="02040503050406030204" pitchFamily="18" charset="0"/>
                          </a:rPr>
                          <m:t> </m:t>
                        </m:r>
                        <m:r>
                          <a:rPr lang="es-AR" b="0" i="1" smtClean="0">
                            <a:latin typeface="Cambria Math" panose="02040503050406030204" pitchFamily="18" charset="0"/>
                          </a:rPr>
                          <m:t>𝐶𝑖𝑟𝑐𝑢𝑙𝑎𝑛𝑡𝑒</m:t>
                        </m:r>
                      </m:num>
                      <m:den>
                        <m:r>
                          <a:rPr lang="es-AR" b="0" i="1" smtClean="0">
                            <a:latin typeface="Cambria Math" panose="02040503050406030204" pitchFamily="18" charset="0"/>
                          </a:rPr>
                          <m:t>𝑃𝑎𝑠𝑖𝑣𝑜</m:t>
                        </m:r>
                        <m:r>
                          <a:rPr lang="es-AR" b="0" i="1" smtClean="0">
                            <a:latin typeface="Cambria Math" panose="02040503050406030204" pitchFamily="18" charset="0"/>
                          </a:rPr>
                          <m:t> </m:t>
                        </m:r>
                        <m:r>
                          <a:rPr lang="es-AR" b="0" i="1" smtClean="0">
                            <a:latin typeface="Cambria Math" panose="02040503050406030204" pitchFamily="18" charset="0"/>
                          </a:rPr>
                          <m:t>𝐶𝑖𝑟𝑐𝑢𝑙𝑎𝑛𝑡𝑒</m:t>
                        </m:r>
                      </m:den>
                    </m:f>
                  </m:oMath>
                </a14:m>
                <a:endParaRPr lang="es-ES" dirty="0"/>
              </a:p>
            </p:txBody>
          </p:sp>
        </mc:Choice>
        <mc:Fallback xmlns="">
          <p:sp>
            <p:nvSpPr>
              <p:cNvPr id="5" name="CuadroTexto 4">
                <a:extLst>
                  <a:ext uri="{FF2B5EF4-FFF2-40B4-BE49-F238E27FC236}">
                    <a16:creationId xmlns:a16="http://schemas.microsoft.com/office/drawing/2014/main" id="{C4F60EBC-443A-7488-4D45-0CA933F0D782}"/>
                  </a:ext>
                </a:extLst>
              </p:cNvPr>
              <p:cNvSpPr txBox="1">
                <a:spLocks noRot="1" noChangeAspect="1" noMove="1" noResize="1" noEditPoints="1" noAdjustHandles="1" noChangeArrowheads="1" noChangeShapeType="1" noTextEdit="1"/>
              </p:cNvSpPr>
              <p:nvPr/>
            </p:nvSpPr>
            <p:spPr>
              <a:xfrm>
                <a:off x="3048260" y="3629163"/>
                <a:ext cx="3712285" cy="403252"/>
              </a:xfrm>
              <a:prstGeom prst="rect">
                <a:avLst/>
              </a:prstGeom>
              <a:blipFill>
                <a:blip r:embed="rId2"/>
                <a:stretch>
                  <a:fillRect l="-3777" t="-3030" b="-2121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2CA15A8-9B05-2512-7309-CB181D273584}"/>
                  </a:ext>
                </a:extLst>
              </p:cNvPr>
              <p:cNvSpPr txBox="1"/>
              <p:nvPr/>
            </p:nvSpPr>
            <p:spPr>
              <a:xfrm>
                <a:off x="1870621" y="4256748"/>
                <a:ext cx="5139778" cy="393441"/>
              </a:xfrm>
              <a:prstGeom prst="rect">
                <a:avLst/>
              </a:prstGeom>
              <a:noFill/>
            </p:spPr>
            <p:txBody>
              <a:bodyPr wrap="square" lIns="0" tIns="0" rIns="0" bIns="0" rtlCol="0">
                <a:spAutoFit/>
              </a:bodyPr>
              <a:lstStyle/>
              <a:p>
                <a:r>
                  <a:rPr lang="es-AR" dirty="0"/>
                  <a:t>Razón de Solvencia </a:t>
                </a:r>
                <a14:m>
                  <m:oMath xmlns:m="http://schemas.openxmlformats.org/officeDocument/2006/math">
                    <m:r>
                      <m:rPr>
                        <m:sty m:val="p"/>
                      </m:rPr>
                      <a:rPr lang="es-AR" b="0" i="0" smtClean="0">
                        <a:latin typeface="Cambria Math" panose="02040503050406030204" pitchFamily="18" charset="0"/>
                      </a:rPr>
                      <m:t>Allied</m:t>
                    </m:r>
                    <m:r>
                      <a:rPr lang="es-AR" b="0" i="0" smtClean="0">
                        <a:latin typeface="Cambria Math" panose="02040503050406030204" pitchFamily="18" charset="0"/>
                      </a:rPr>
                      <m:t>=</m:t>
                    </m:r>
                    <m:f>
                      <m:fPr>
                        <m:ctrlPr>
                          <a:rPr lang="es-AR" i="1" smtClean="0">
                            <a:latin typeface="Cambria Math" panose="02040503050406030204" pitchFamily="18" charset="0"/>
                          </a:rPr>
                        </m:ctrlPr>
                      </m:fPr>
                      <m:num>
                        <m:r>
                          <a:rPr lang="es-AR" b="0" i="1" smtClean="0">
                            <a:latin typeface="Cambria Math" panose="02040503050406030204" pitchFamily="18" charset="0"/>
                          </a:rPr>
                          <m:t>1000</m:t>
                        </m:r>
                      </m:num>
                      <m:den>
                        <m:r>
                          <a:rPr lang="es-AR" b="0" i="1" smtClean="0">
                            <a:latin typeface="Cambria Math" panose="02040503050406030204" pitchFamily="18" charset="0"/>
                          </a:rPr>
                          <m:t>310</m:t>
                        </m:r>
                      </m:den>
                    </m:f>
                    <m:r>
                      <a:rPr lang="es-AR" b="0" i="1" smtClean="0">
                        <a:latin typeface="Cambria Math" panose="02040503050406030204" pitchFamily="18" charset="0"/>
                      </a:rPr>
                      <m:t>=3,2 </m:t>
                    </m:r>
                    <m:r>
                      <a:rPr lang="es-AR" b="0" i="1" smtClean="0">
                        <a:latin typeface="Cambria Math" panose="02040503050406030204" pitchFamily="18" charset="0"/>
                      </a:rPr>
                      <m:t>𝑥</m:t>
                    </m:r>
                  </m:oMath>
                </a14:m>
                <a:endParaRPr lang="es-ES" dirty="0"/>
              </a:p>
            </p:txBody>
          </p:sp>
        </mc:Choice>
        <mc:Fallback xmlns="">
          <p:sp>
            <p:nvSpPr>
              <p:cNvPr id="6" name="CuadroTexto 5">
                <a:extLst>
                  <a:ext uri="{FF2B5EF4-FFF2-40B4-BE49-F238E27FC236}">
                    <a16:creationId xmlns:a16="http://schemas.microsoft.com/office/drawing/2014/main" id="{F2CA15A8-9B05-2512-7309-CB181D273584}"/>
                  </a:ext>
                </a:extLst>
              </p:cNvPr>
              <p:cNvSpPr txBox="1">
                <a:spLocks noRot="1" noChangeAspect="1" noMove="1" noResize="1" noEditPoints="1" noAdjustHandles="1" noChangeArrowheads="1" noChangeShapeType="1" noTextEdit="1"/>
              </p:cNvSpPr>
              <p:nvPr/>
            </p:nvSpPr>
            <p:spPr>
              <a:xfrm>
                <a:off x="1870621" y="4256748"/>
                <a:ext cx="5139778" cy="393441"/>
              </a:xfrm>
              <a:prstGeom prst="rect">
                <a:avLst/>
              </a:prstGeom>
              <a:blipFill>
                <a:blip r:embed="rId3"/>
                <a:stretch>
                  <a:fillRect l="-2847" t="-4615" b="-2153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3CB4FDE7-F937-51FD-9B32-CB311B2ECC07}"/>
                  </a:ext>
                </a:extLst>
              </p:cNvPr>
              <p:cNvSpPr txBox="1"/>
              <p:nvPr/>
            </p:nvSpPr>
            <p:spPr>
              <a:xfrm>
                <a:off x="6558675" y="4356685"/>
                <a:ext cx="3958374" cy="276999"/>
              </a:xfrm>
              <a:prstGeom prst="rect">
                <a:avLst/>
              </a:prstGeom>
              <a:noFill/>
            </p:spPr>
            <p:txBody>
              <a:bodyPr wrap="square" lIns="0" tIns="0" rIns="0" bIns="0" rtlCol="0">
                <a:spAutoFit/>
              </a:bodyPr>
              <a:lstStyle/>
              <a:p>
                <a:r>
                  <a:rPr lang="es-AR" dirty="0"/>
                  <a:t>P</a:t>
                </a:r>
                <a14:m>
                  <m:oMath xmlns:m="http://schemas.openxmlformats.org/officeDocument/2006/math">
                    <m:r>
                      <m:rPr>
                        <m:sty m:val="p"/>
                      </m:rPr>
                      <a:rPr lang="es-AR" b="0" i="0" smtClean="0">
                        <a:latin typeface="Cambria Math" panose="02040503050406030204" pitchFamily="18" charset="0"/>
                      </a:rPr>
                      <m:t>romedio</m:t>
                    </m:r>
                    <m:r>
                      <a:rPr lang="es-AR" b="0" i="0" smtClean="0">
                        <a:latin typeface="Cambria Math" panose="02040503050406030204" pitchFamily="18" charset="0"/>
                      </a:rPr>
                      <m:t> </m:t>
                    </m:r>
                    <m:r>
                      <m:rPr>
                        <m:sty m:val="p"/>
                      </m:rPr>
                      <a:rPr lang="es-AR" b="0" i="0" smtClean="0">
                        <a:latin typeface="Cambria Math" panose="02040503050406030204" pitchFamily="18" charset="0"/>
                      </a:rPr>
                      <m:t>de</m:t>
                    </m:r>
                    <m:r>
                      <a:rPr lang="es-AR" b="0" i="0" smtClean="0">
                        <a:latin typeface="Cambria Math" panose="02040503050406030204" pitchFamily="18" charset="0"/>
                      </a:rPr>
                      <m:t> </m:t>
                    </m:r>
                    <m:r>
                      <m:rPr>
                        <m:sty m:val="p"/>
                      </m:rPr>
                      <a:rPr lang="es-AR" b="0" i="0" smtClean="0">
                        <a:latin typeface="Cambria Math" panose="02040503050406030204" pitchFamily="18" charset="0"/>
                      </a:rPr>
                      <m:t>la</m:t>
                    </m:r>
                    <m:r>
                      <a:rPr lang="es-AR" b="0" i="0" smtClean="0">
                        <a:latin typeface="Cambria Math" panose="02040503050406030204" pitchFamily="18" charset="0"/>
                      </a:rPr>
                      <m:t> </m:t>
                    </m:r>
                    <m:r>
                      <m:rPr>
                        <m:sty m:val="p"/>
                      </m:rPr>
                      <a:rPr lang="es-AR" b="0" i="0" smtClean="0">
                        <a:latin typeface="Cambria Math" panose="02040503050406030204" pitchFamily="18" charset="0"/>
                      </a:rPr>
                      <m:t>Industria</m:t>
                    </m:r>
                    <m:r>
                      <a:rPr lang="es-AR" b="0" i="0" smtClean="0">
                        <a:latin typeface="Cambria Math" panose="02040503050406030204" pitchFamily="18" charset="0"/>
                      </a:rPr>
                      <m:t>=</m:t>
                    </m:r>
                    <m:r>
                      <a:rPr lang="es-AR" b="0" i="1" smtClean="0">
                        <a:latin typeface="Cambria Math" panose="02040503050406030204" pitchFamily="18" charset="0"/>
                      </a:rPr>
                      <m:t>4,2 </m:t>
                    </m:r>
                    <m:r>
                      <a:rPr lang="es-AR" b="0" i="1" smtClean="0">
                        <a:latin typeface="Cambria Math" panose="02040503050406030204" pitchFamily="18" charset="0"/>
                      </a:rPr>
                      <m:t>𝑥</m:t>
                    </m:r>
                  </m:oMath>
                </a14:m>
                <a:endParaRPr lang="es-ES" dirty="0"/>
              </a:p>
            </p:txBody>
          </p:sp>
        </mc:Choice>
        <mc:Fallback xmlns="">
          <p:sp>
            <p:nvSpPr>
              <p:cNvPr id="7" name="CuadroTexto 6">
                <a:extLst>
                  <a:ext uri="{FF2B5EF4-FFF2-40B4-BE49-F238E27FC236}">
                    <a16:creationId xmlns:a16="http://schemas.microsoft.com/office/drawing/2014/main" id="{3CB4FDE7-F937-51FD-9B32-CB311B2ECC07}"/>
                  </a:ext>
                </a:extLst>
              </p:cNvPr>
              <p:cNvSpPr txBox="1">
                <a:spLocks noRot="1" noChangeAspect="1" noMove="1" noResize="1" noEditPoints="1" noAdjustHandles="1" noChangeArrowheads="1" noChangeShapeType="1" noTextEdit="1"/>
              </p:cNvSpPr>
              <p:nvPr/>
            </p:nvSpPr>
            <p:spPr>
              <a:xfrm>
                <a:off x="6558675" y="4356685"/>
                <a:ext cx="3958374" cy="276999"/>
              </a:xfrm>
              <a:prstGeom prst="rect">
                <a:avLst/>
              </a:prstGeom>
              <a:blipFill>
                <a:blip r:embed="rId4"/>
                <a:stretch>
                  <a:fillRect l="-3698" t="-28889" b="-51111"/>
                </a:stretch>
              </a:blipFill>
            </p:spPr>
            <p:txBody>
              <a:bodyPr/>
              <a:lstStyle/>
              <a:p>
                <a:r>
                  <a:rPr lang="es-ES">
                    <a:noFill/>
                  </a:rPr>
                  <a:t> </a:t>
                </a:r>
              </a:p>
            </p:txBody>
          </p:sp>
        </mc:Fallback>
      </mc:AlternateContent>
    </p:spTree>
    <p:extLst>
      <p:ext uri="{BB962C8B-B14F-4D97-AF65-F5344CB8AC3E}">
        <p14:creationId xmlns:p14="http://schemas.microsoft.com/office/powerpoint/2010/main" val="1457111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sz="1800" dirty="0"/>
              <a:t>Razones de liquidez</a:t>
            </a:r>
          </a:p>
          <a:p>
            <a:pPr marL="342900" indent="-342900">
              <a:buAutoNum type="arabicParenR"/>
            </a:pPr>
            <a:r>
              <a:rPr lang="es-ES" sz="1800" dirty="0"/>
              <a:t>RAZÓN DE SOLVENCIA, </a:t>
            </a:r>
            <a:r>
              <a:rPr lang="es-ES" sz="1800" dirty="0">
                <a:solidFill>
                  <a:srgbClr val="FF0000"/>
                </a:solidFill>
              </a:rPr>
              <a:t>es la principal</a:t>
            </a:r>
          </a:p>
          <a:p>
            <a:pPr marL="342900" indent="-342900">
              <a:buAutoNum type="arabicParenR"/>
            </a:pPr>
            <a:endParaRPr lang="es-ES" sz="1800" dirty="0">
              <a:solidFill>
                <a:srgbClr val="FF0000"/>
              </a:solidFill>
            </a:endParaRPr>
          </a:p>
          <a:p>
            <a:pPr marL="342900" indent="-342900">
              <a:buAutoNum type="arabicParenR"/>
            </a:pPr>
            <a:endParaRPr lang="es-ES" sz="1800" dirty="0">
              <a:solidFill>
                <a:srgbClr val="FF0000"/>
              </a:solidFill>
            </a:endParaRPr>
          </a:p>
          <a:p>
            <a:pPr marL="342900" indent="-342900">
              <a:buAutoNum type="arabicParenR"/>
            </a:pPr>
            <a:endParaRPr lang="es-ES" sz="1800" dirty="0">
              <a:solidFill>
                <a:srgbClr val="FF0000"/>
              </a:solidFill>
            </a:endParaRPr>
          </a:p>
          <a:p>
            <a:pPr marL="0" indent="0">
              <a:buNone/>
            </a:pPr>
            <a:endParaRPr lang="es-ES" sz="1800" dirty="0"/>
          </a:p>
          <a:p>
            <a:pPr marL="0" indent="0">
              <a:buNone/>
            </a:pPr>
            <a:r>
              <a:rPr lang="es-ES" sz="1800" dirty="0"/>
              <a:t>Frente a dificultades financieras,  una Compañía empieza a demorar sus pagos, aumentando sus Cuentas por pagar, a pedir más dinero a los bancos, aumentando su pasivo circulante.</a:t>
            </a:r>
          </a:p>
          <a:p>
            <a:pPr marL="0" indent="0">
              <a:buNone/>
            </a:pPr>
            <a:r>
              <a:rPr lang="es-ES" sz="1800" dirty="0"/>
              <a:t>Si su activo circulante no aumenta en igual medida, se deteriora su Razón de Solvencia</a:t>
            </a:r>
          </a:p>
          <a:p>
            <a:pPr marL="0" indent="0">
              <a:buNone/>
            </a:pPr>
            <a:endParaRPr lang="es-ES" sz="1800" dirty="0"/>
          </a:p>
          <a:p>
            <a:pPr marL="0" indent="0">
              <a:buNone/>
            </a:pPr>
            <a:r>
              <a:rPr lang="es-ES" sz="1800" dirty="0"/>
              <a:t>¿Qué podemos decir de la Razón de Solvencia de Allied?</a:t>
            </a:r>
          </a:p>
          <a:p>
            <a:pPr marL="342900" indent="-342900">
              <a:buAutoNum type="arabicParenR"/>
            </a:pPr>
            <a:endParaRPr lang="es-ES" sz="1800" dirty="0"/>
          </a:p>
          <a:p>
            <a:pPr marL="342900" indent="-342900">
              <a:buAutoNum type="arabicParenR"/>
            </a:pPr>
            <a:endParaRPr lang="es-ES" sz="1800" dirty="0"/>
          </a:p>
          <a:p>
            <a:endParaRPr lang="es-ES" sz="1800" dirty="0"/>
          </a:p>
          <a:p>
            <a:pPr marL="0" indent="0">
              <a:buNone/>
            </a:pPr>
            <a:endParaRPr lang="es-ES" sz="1800" dirty="0"/>
          </a:p>
          <a:p>
            <a:pPr marL="0" indent="0">
              <a:buNone/>
            </a:pPr>
            <a:endParaRPr lang="es-ES" sz="1800" dirty="0"/>
          </a:p>
          <a:p>
            <a:pPr marL="0" indent="0">
              <a:buNone/>
            </a:pPr>
            <a:endParaRPr lang="es-ES" sz="18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4F60EBC-443A-7488-4D45-0CA933F0D782}"/>
                  </a:ext>
                </a:extLst>
              </p:cNvPr>
              <p:cNvSpPr txBox="1"/>
              <p:nvPr/>
            </p:nvSpPr>
            <p:spPr>
              <a:xfrm>
                <a:off x="3048260" y="2631626"/>
                <a:ext cx="3712285" cy="403252"/>
              </a:xfrm>
              <a:prstGeom prst="rect">
                <a:avLst/>
              </a:prstGeom>
              <a:noFill/>
            </p:spPr>
            <p:txBody>
              <a:bodyPr wrap="square" lIns="0" tIns="0" rIns="0" bIns="0" rtlCol="0">
                <a:spAutoFit/>
              </a:bodyPr>
              <a:lstStyle/>
              <a:p>
                <a:r>
                  <a:rPr lang="es-AR" dirty="0"/>
                  <a:t>Razón de Solvencia </a:t>
                </a:r>
                <a14:m>
                  <m:oMath xmlns:m="http://schemas.openxmlformats.org/officeDocument/2006/math">
                    <m:r>
                      <a:rPr lang="es-AR" b="0" i="0" smtClean="0">
                        <a:latin typeface="Cambria Math" panose="02040503050406030204" pitchFamily="18" charset="0"/>
                      </a:rPr>
                      <m:t>=</m:t>
                    </m:r>
                    <m:f>
                      <m:fPr>
                        <m:ctrlPr>
                          <a:rPr lang="es-AR" i="1" smtClean="0">
                            <a:latin typeface="Cambria Math" panose="02040503050406030204" pitchFamily="18" charset="0"/>
                          </a:rPr>
                        </m:ctrlPr>
                      </m:fPr>
                      <m:num>
                        <m:r>
                          <a:rPr lang="es-AR" b="0" i="1" smtClean="0">
                            <a:latin typeface="Cambria Math" panose="02040503050406030204" pitchFamily="18" charset="0"/>
                          </a:rPr>
                          <m:t>𝐴𝑐𝑡𝑖𝑣𝑜</m:t>
                        </m:r>
                        <m:r>
                          <a:rPr lang="es-AR" b="0" i="1" smtClean="0">
                            <a:latin typeface="Cambria Math" panose="02040503050406030204" pitchFamily="18" charset="0"/>
                          </a:rPr>
                          <m:t> </m:t>
                        </m:r>
                        <m:r>
                          <a:rPr lang="es-AR" b="0" i="1" smtClean="0">
                            <a:latin typeface="Cambria Math" panose="02040503050406030204" pitchFamily="18" charset="0"/>
                          </a:rPr>
                          <m:t>𝐶𝑖𝑟𝑐𝑢𝑙𝑎𝑛𝑡𝑒</m:t>
                        </m:r>
                      </m:num>
                      <m:den>
                        <m:r>
                          <a:rPr lang="es-AR" b="0" i="1" smtClean="0">
                            <a:latin typeface="Cambria Math" panose="02040503050406030204" pitchFamily="18" charset="0"/>
                          </a:rPr>
                          <m:t>𝑃𝑎𝑠𝑖𝑣𝑜</m:t>
                        </m:r>
                        <m:r>
                          <a:rPr lang="es-AR" b="0" i="1" smtClean="0">
                            <a:latin typeface="Cambria Math" panose="02040503050406030204" pitchFamily="18" charset="0"/>
                          </a:rPr>
                          <m:t> </m:t>
                        </m:r>
                        <m:r>
                          <a:rPr lang="es-AR" b="0" i="1" smtClean="0">
                            <a:latin typeface="Cambria Math" panose="02040503050406030204" pitchFamily="18" charset="0"/>
                          </a:rPr>
                          <m:t>𝐶𝑖𝑟𝑐𝑢𝑙𝑎𝑛𝑡𝑒</m:t>
                        </m:r>
                      </m:den>
                    </m:f>
                  </m:oMath>
                </a14:m>
                <a:endParaRPr lang="es-ES" dirty="0"/>
              </a:p>
            </p:txBody>
          </p:sp>
        </mc:Choice>
        <mc:Fallback xmlns="">
          <p:sp>
            <p:nvSpPr>
              <p:cNvPr id="5" name="CuadroTexto 4">
                <a:extLst>
                  <a:ext uri="{FF2B5EF4-FFF2-40B4-BE49-F238E27FC236}">
                    <a16:creationId xmlns:a16="http://schemas.microsoft.com/office/drawing/2014/main" id="{C4F60EBC-443A-7488-4D45-0CA933F0D782}"/>
                  </a:ext>
                </a:extLst>
              </p:cNvPr>
              <p:cNvSpPr txBox="1">
                <a:spLocks noRot="1" noChangeAspect="1" noMove="1" noResize="1" noEditPoints="1" noAdjustHandles="1" noChangeArrowheads="1" noChangeShapeType="1" noTextEdit="1"/>
              </p:cNvSpPr>
              <p:nvPr/>
            </p:nvSpPr>
            <p:spPr>
              <a:xfrm>
                <a:off x="3048260" y="2631626"/>
                <a:ext cx="3712285" cy="403252"/>
              </a:xfrm>
              <a:prstGeom prst="rect">
                <a:avLst/>
              </a:prstGeom>
              <a:blipFill>
                <a:blip r:embed="rId2"/>
                <a:stretch>
                  <a:fillRect l="-3777" t="-3030" b="-1969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2CA15A8-9B05-2512-7309-CB181D273584}"/>
                  </a:ext>
                </a:extLst>
              </p:cNvPr>
              <p:cNvSpPr txBox="1"/>
              <p:nvPr/>
            </p:nvSpPr>
            <p:spPr>
              <a:xfrm>
                <a:off x="1870621" y="3259211"/>
                <a:ext cx="5139778" cy="393441"/>
              </a:xfrm>
              <a:prstGeom prst="rect">
                <a:avLst/>
              </a:prstGeom>
              <a:noFill/>
            </p:spPr>
            <p:txBody>
              <a:bodyPr wrap="square" lIns="0" tIns="0" rIns="0" bIns="0" rtlCol="0">
                <a:spAutoFit/>
              </a:bodyPr>
              <a:lstStyle/>
              <a:p>
                <a:r>
                  <a:rPr lang="es-AR" dirty="0"/>
                  <a:t>Razón de Solvencia </a:t>
                </a:r>
                <a14:m>
                  <m:oMath xmlns:m="http://schemas.openxmlformats.org/officeDocument/2006/math">
                    <m:r>
                      <m:rPr>
                        <m:sty m:val="p"/>
                      </m:rPr>
                      <a:rPr lang="es-AR" b="0" i="0" smtClean="0">
                        <a:latin typeface="Cambria Math" panose="02040503050406030204" pitchFamily="18" charset="0"/>
                      </a:rPr>
                      <m:t>Allied</m:t>
                    </m:r>
                    <m:r>
                      <a:rPr lang="es-AR" b="0" i="0" smtClean="0">
                        <a:latin typeface="Cambria Math" panose="02040503050406030204" pitchFamily="18" charset="0"/>
                      </a:rPr>
                      <m:t>=</m:t>
                    </m:r>
                    <m:f>
                      <m:fPr>
                        <m:ctrlPr>
                          <a:rPr lang="es-AR" i="1" smtClean="0">
                            <a:latin typeface="Cambria Math" panose="02040503050406030204" pitchFamily="18" charset="0"/>
                          </a:rPr>
                        </m:ctrlPr>
                      </m:fPr>
                      <m:num>
                        <m:r>
                          <a:rPr lang="es-AR" b="0" i="1" smtClean="0">
                            <a:latin typeface="Cambria Math" panose="02040503050406030204" pitchFamily="18" charset="0"/>
                          </a:rPr>
                          <m:t>1000</m:t>
                        </m:r>
                      </m:num>
                      <m:den>
                        <m:r>
                          <a:rPr lang="es-AR" b="0" i="1" smtClean="0">
                            <a:latin typeface="Cambria Math" panose="02040503050406030204" pitchFamily="18" charset="0"/>
                          </a:rPr>
                          <m:t>310</m:t>
                        </m:r>
                      </m:den>
                    </m:f>
                    <m:r>
                      <a:rPr lang="es-AR" b="0" i="1" smtClean="0">
                        <a:latin typeface="Cambria Math" panose="02040503050406030204" pitchFamily="18" charset="0"/>
                      </a:rPr>
                      <m:t>=3,2 </m:t>
                    </m:r>
                    <m:r>
                      <a:rPr lang="es-AR" b="0" i="1" smtClean="0">
                        <a:latin typeface="Cambria Math" panose="02040503050406030204" pitchFamily="18" charset="0"/>
                      </a:rPr>
                      <m:t>𝑥</m:t>
                    </m:r>
                  </m:oMath>
                </a14:m>
                <a:endParaRPr lang="es-ES" dirty="0"/>
              </a:p>
            </p:txBody>
          </p:sp>
        </mc:Choice>
        <mc:Fallback xmlns="">
          <p:sp>
            <p:nvSpPr>
              <p:cNvPr id="6" name="CuadroTexto 5">
                <a:extLst>
                  <a:ext uri="{FF2B5EF4-FFF2-40B4-BE49-F238E27FC236}">
                    <a16:creationId xmlns:a16="http://schemas.microsoft.com/office/drawing/2014/main" id="{F2CA15A8-9B05-2512-7309-CB181D273584}"/>
                  </a:ext>
                </a:extLst>
              </p:cNvPr>
              <p:cNvSpPr txBox="1">
                <a:spLocks noRot="1" noChangeAspect="1" noMove="1" noResize="1" noEditPoints="1" noAdjustHandles="1" noChangeArrowheads="1" noChangeShapeType="1" noTextEdit="1"/>
              </p:cNvSpPr>
              <p:nvPr/>
            </p:nvSpPr>
            <p:spPr>
              <a:xfrm>
                <a:off x="1870621" y="3259211"/>
                <a:ext cx="5139778" cy="393441"/>
              </a:xfrm>
              <a:prstGeom prst="rect">
                <a:avLst/>
              </a:prstGeom>
              <a:blipFill>
                <a:blip r:embed="rId3"/>
                <a:stretch>
                  <a:fillRect l="-2847" t="-4688" b="-2187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3CB4FDE7-F937-51FD-9B32-CB311B2ECC07}"/>
                  </a:ext>
                </a:extLst>
              </p:cNvPr>
              <p:cNvSpPr txBox="1"/>
              <p:nvPr/>
            </p:nvSpPr>
            <p:spPr>
              <a:xfrm>
                <a:off x="6558675" y="3359148"/>
                <a:ext cx="3958374" cy="276999"/>
              </a:xfrm>
              <a:prstGeom prst="rect">
                <a:avLst/>
              </a:prstGeom>
              <a:noFill/>
            </p:spPr>
            <p:txBody>
              <a:bodyPr wrap="square" lIns="0" tIns="0" rIns="0" bIns="0" rtlCol="0">
                <a:spAutoFit/>
              </a:bodyPr>
              <a:lstStyle/>
              <a:p>
                <a:r>
                  <a:rPr lang="es-AR" dirty="0"/>
                  <a:t>P</a:t>
                </a:r>
                <a14:m>
                  <m:oMath xmlns:m="http://schemas.openxmlformats.org/officeDocument/2006/math">
                    <m:r>
                      <m:rPr>
                        <m:sty m:val="p"/>
                      </m:rPr>
                      <a:rPr lang="es-AR" b="0" i="0" smtClean="0">
                        <a:latin typeface="Cambria Math" panose="02040503050406030204" pitchFamily="18" charset="0"/>
                      </a:rPr>
                      <m:t>romedio</m:t>
                    </m:r>
                    <m:r>
                      <a:rPr lang="es-AR" b="0" i="0" smtClean="0">
                        <a:latin typeface="Cambria Math" panose="02040503050406030204" pitchFamily="18" charset="0"/>
                      </a:rPr>
                      <m:t> </m:t>
                    </m:r>
                    <m:r>
                      <m:rPr>
                        <m:sty m:val="p"/>
                      </m:rPr>
                      <a:rPr lang="es-AR" b="0" i="0" smtClean="0">
                        <a:latin typeface="Cambria Math" panose="02040503050406030204" pitchFamily="18" charset="0"/>
                      </a:rPr>
                      <m:t>de</m:t>
                    </m:r>
                    <m:r>
                      <a:rPr lang="es-AR" b="0" i="0" smtClean="0">
                        <a:latin typeface="Cambria Math" panose="02040503050406030204" pitchFamily="18" charset="0"/>
                      </a:rPr>
                      <m:t> </m:t>
                    </m:r>
                    <m:r>
                      <m:rPr>
                        <m:sty m:val="p"/>
                      </m:rPr>
                      <a:rPr lang="es-AR" b="0" i="0" smtClean="0">
                        <a:latin typeface="Cambria Math" panose="02040503050406030204" pitchFamily="18" charset="0"/>
                      </a:rPr>
                      <m:t>la</m:t>
                    </m:r>
                    <m:r>
                      <a:rPr lang="es-AR" b="0" i="0" smtClean="0">
                        <a:latin typeface="Cambria Math" panose="02040503050406030204" pitchFamily="18" charset="0"/>
                      </a:rPr>
                      <m:t> </m:t>
                    </m:r>
                    <m:r>
                      <m:rPr>
                        <m:sty m:val="p"/>
                      </m:rPr>
                      <a:rPr lang="es-AR" b="0" i="0" smtClean="0">
                        <a:latin typeface="Cambria Math" panose="02040503050406030204" pitchFamily="18" charset="0"/>
                      </a:rPr>
                      <m:t>Industria</m:t>
                    </m:r>
                    <m:r>
                      <a:rPr lang="es-AR" b="0" i="0" smtClean="0">
                        <a:latin typeface="Cambria Math" panose="02040503050406030204" pitchFamily="18" charset="0"/>
                      </a:rPr>
                      <m:t>=</m:t>
                    </m:r>
                    <m:r>
                      <a:rPr lang="es-AR" b="0" i="1" smtClean="0">
                        <a:latin typeface="Cambria Math" panose="02040503050406030204" pitchFamily="18" charset="0"/>
                      </a:rPr>
                      <m:t>4,2 </m:t>
                    </m:r>
                    <m:r>
                      <a:rPr lang="es-AR" b="0" i="1" smtClean="0">
                        <a:latin typeface="Cambria Math" panose="02040503050406030204" pitchFamily="18" charset="0"/>
                      </a:rPr>
                      <m:t>𝑥</m:t>
                    </m:r>
                  </m:oMath>
                </a14:m>
                <a:endParaRPr lang="es-ES" dirty="0"/>
              </a:p>
            </p:txBody>
          </p:sp>
        </mc:Choice>
        <mc:Fallback xmlns="">
          <p:sp>
            <p:nvSpPr>
              <p:cNvPr id="7" name="CuadroTexto 6">
                <a:extLst>
                  <a:ext uri="{FF2B5EF4-FFF2-40B4-BE49-F238E27FC236}">
                    <a16:creationId xmlns:a16="http://schemas.microsoft.com/office/drawing/2014/main" id="{3CB4FDE7-F937-51FD-9B32-CB311B2ECC07}"/>
                  </a:ext>
                </a:extLst>
              </p:cNvPr>
              <p:cNvSpPr txBox="1">
                <a:spLocks noRot="1" noChangeAspect="1" noMove="1" noResize="1" noEditPoints="1" noAdjustHandles="1" noChangeArrowheads="1" noChangeShapeType="1" noTextEdit="1"/>
              </p:cNvSpPr>
              <p:nvPr/>
            </p:nvSpPr>
            <p:spPr>
              <a:xfrm>
                <a:off x="6558675" y="3359148"/>
                <a:ext cx="3958374" cy="276999"/>
              </a:xfrm>
              <a:prstGeom prst="rect">
                <a:avLst/>
              </a:prstGeom>
              <a:blipFill>
                <a:blip r:embed="rId4"/>
                <a:stretch>
                  <a:fillRect l="-3698" t="-28889" b="-53333"/>
                </a:stretch>
              </a:blipFill>
            </p:spPr>
            <p:txBody>
              <a:bodyPr/>
              <a:lstStyle/>
              <a:p>
                <a:r>
                  <a:rPr lang="es-ES">
                    <a:noFill/>
                  </a:rPr>
                  <a:t> </a:t>
                </a:r>
              </a:p>
            </p:txBody>
          </p:sp>
        </mc:Fallback>
      </mc:AlternateContent>
    </p:spTree>
    <p:extLst>
      <p:ext uri="{BB962C8B-B14F-4D97-AF65-F5344CB8AC3E}">
        <p14:creationId xmlns:p14="http://schemas.microsoft.com/office/powerpoint/2010/main" val="1801572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Autofit/>
          </a:bodyPr>
          <a:lstStyle/>
          <a:p>
            <a:pPr marL="0" indent="0">
              <a:buNone/>
            </a:pPr>
            <a:r>
              <a:rPr lang="es-AR" sz="2000" dirty="0"/>
              <a:t>Razones de liquidez</a:t>
            </a:r>
          </a:p>
          <a:p>
            <a:endParaRPr lang="es-ES" sz="2000" dirty="0"/>
          </a:p>
          <a:p>
            <a:pPr marL="0" indent="0">
              <a:buNone/>
            </a:pPr>
            <a:endParaRPr lang="es-ES" sz="2000" dirty="0"/>
          </a:p>
          <a:p>
            <a:pPr marL="0" indent="0">
              <a:buNone/>
            </a:pPr>
            <a:r>
              <a:rPr lang="es-ES" sz="2000" dirty="0"/>
              <a:t>Si bien 3,2 es bajo respecto al 4,2 de la industria, indica que liquidando los activos circulantes al 31,25% de su valor permitiría cubrir los pasivos. Claramente, la situación no es desesperante.</a:t>
            </a:r>
          </a:p>
          <a:p>
            <a:pPr marL="0" indent="0">
              <a:buNone/>
            </a:pPr>
            <a:endParaRPr lang="es-ES" sz="2000" dirty="0"/>
          </a:p>
          <a:p>
            <a:pPr marL="0" indent="0">
              <a:buNone/>
            </a:pPr>
            <a:r>
              <a:rPr lang="es-ES" sz="2000" dirty="0"/>
              <a:t>Tener un valor alejado del promedio de la industria no necesariamente tiene que ser un problema, pero invita al Gerente y al Analista a indagar más para entender la diferencia. </a:t>
            </a:r>
          </a:p>
          <a:p>
            <a:pPr marL="0" indent="0">
              <a:buNone/>
            </a:pPr>
            <a:r>
              <a:rPr lang="es-ES" sz="2000" dirty="0"/>
              <a:t>¿Cómo están valuados los Inventarios? Siempre será bueno preguntárselo</a:t>
            </a:r>
          </a:p>
          <a:p>
            <a:pPr marL="0" indent="0">
              <a:buNone/>
            </a:pPr>
            <a:r>
              <a:rPr lang="es-ES" sz="2000" dirty="0"/>
              <a:t>¿Es un valor alto necesariamente bueno? ¡No!</a:t>
            </a:r>
          </a:p>
          <a:p>
            <a:pPr marL="0" indent="0">
              <a:buNone/>
            </a:pPr>
            <a:r>
              <a:rPr lang="es-ES" sz="2000" dirty="0"/>
              <a:t>¿Qué lo genera, exceso de qué, o mal aprovechamiento de qué en el Pasivo? Lo adecuado es analizar las razones </a:t>
            </a:r>
            <a:r>
              <a:rPr lang="es-ES" sz="2000" b="1" dirty="0"/>
              <a:t>en su conjunto </a:t>
            </a:r>
            <a:r>
              <a:rPr lang="es-ES" sz="2000" dirty="0"/>
              <a:t>para juzgar en forma correcta el desempeño de la empresa</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2CA15A8-9B05-2512-7309-CB181D273584}"/>
                  </a:ext>
                </a:extLst>
              </p:cNvPr>
              <p:cNvSpPr txBox="1"/>
              <p:nvPr/>
            </p:nvSpPr>
            <p:spPr>
              <a:xfrm>
                <a:off x="1870621" y="2483359"/>
                <a:ext cx="5139778" cy="393441"/>
              </a:xfrm>
              <a:prstGeom prst="rect">
                <a:avLst/>
              </a:prstGeom>
              <a:noFill/>
            </p:spPr>
            <p:txBody>
              <a:bodyPr wrap="square" lIns="0" tIns="0" rIns="0" bIns="0" rtlCol="0">
                <a:spAutoFit/>
              </a:bodyPr>
              <a:lstStyle/>
              <a:p>
                <a:r>
                  <a:rPr lang="es-AR" dirty="0"/>
                  <a:t>Razón de Solvencia </a:t>
                </a:r>
                <a14:m>
                  <m:oMath xmlns:m="http://schemas.openxmlformats.org/officeDocument/2006/math">
                    <m:r>
                      <m:rPr>
                        <m:sty m:val="p"/>
                      </m:rPr>
                      <a:rPr lang="es-AR" b="0" i="0" smtClean="0">
                        <a:latin typeface="Cambria Math" panose="02040503050406030204" pitchFamily="18" charset="0"/>
                      </a:rPr>
                      <m:t>Allied</m:t>
                    </m:r>
                    <m:r>
                      <a:rPr lang="es-AR" b="0" i="0" smtClean="0">
                        <a:latin typeface="Cambria Math" panose="02040503050406030204" pitchFamily="18" charset="0"/>
                      </a:rPr>
                      <m:t>=</m:t>
                    </m:r>
                    <m:f>
                      <m:fPr>
                        <m:ctrlPr>
                          <a:rPr lang="es-AR" i="1" smtClean="0">
                            <a:latin typeface="Cambria Math" panose="02040503050406030204" pitchFamily="18" charset="0"/>
                          </a:rPr>
                        </m:ctrlPr>
                      </m:fPr>
                      <m:num>
                        <m:r>
                          <a:rPr lang="es-AR" b="0" i="1" smtClean="0">
                            <a:latin typeface="Cambria Math" panose="02040503050406030204" pitchFamily="18" charset="0"/>
                          </a:rPr>
                          <m:t>1000</m:t>
                        </m:r>
                      </m:num>
                      <m:den>
                        <m:r>
                          <a:rPr lang="es-AR" b="0" i="1" smtClean="0">
                            <a:latin typeface="Cambria Math" panose="02040503050406030204" pitchFamily="18" charset="0"/>
                          </a:rPr>
                          <m:t>310</m:t>
                        </m:r>
                      </m:den>
                    </m:f>
                    <m:r>
                      <a:rPr lang="es-AR" b="0" i="1" smtClean="0">
                        <a:latin typeface="Cambria Math" panose="02040503050406030204" pitchFamily="18" charset="0"/>
                      </a:rPr>
                      <m:t>=3,2 </m:t>
                    </m:r>
                    <m:r>
                      <a:rPr lang="es-AR" b="0" i="1" smtClean="0">
                        <a:latin typeface="Cambria Math" panose="02040503050406030204" pitchFamily="18" charset="0"/>
                      </a:rPr>
                      <m:t>𝑥</m:t>
                    </m:r>
                  </m:oMath>
                </a14:m>
                <a:endParaRPr lang="es-ES" dirty="0"/>
              </a:p>
            </p:txBody>
          </p:sp>
        </mc:Choice>
        <mc:Fallback xmlns="">
          <p:sp>
            <p:nvSpPr>
              <p:cNvPr id="6" name="CuadroTexto 5">
                <a:extLst>
                  <a:ext uri="{FF2B5EF4-FFF2-40B4-BE49-F238E27FC236}">
                    <a16:creationId xmlns:a16="http://schemas.microsoft.com/office/drawing/2014/main" id="{F2CA15A8-9B05-2512-7309-CB181D273584}"/>
                  </a:ext>
                </a:extLst>
              </p:cNvPr>
              <p:cNvSpPr txBox="1">
                <a:spLocks noRot="1" noChangeAspect="1" noMove="1" noResize="1" noEditPoints="1" noAdjustHandles="1" noChangeArrowheads="1" noChangeShapeType="1" noTextEdit="1"/>
              </p:cNvSpPr>
              <p:nvPr/>
            </p:nvSpPr>
            <p:spPr>
              <a:xfrm>
                <a:off x="1870621" y="2483359"/>
                <a:ext cx="5139778" cy="393441"/>
              </a:xfrm>
              <a:prstGeom prst="rect">
                <a:avLst/>
              </a:prstGeom>
              <a:blipFill>
                <a:blip r:embed="rId2"/>
                <a:stretch>
                  <a:fillRect l="-2847" t="-4615" b="-2153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3CB4FDE7-F937-51FD-9B32-CB311B2ECC07}"/>
                  </a:ext>
                </a:extLst>
              </p:cNvPr>
              <p:cNvSpPr txBox="1"/>
              <p:nvPr/>
            </p:nvSpPr>
            <p:spPr>
              <a:xfrm>
                <a:off x="6558675" y="2472458"/>
                <a:ext cx="3958374" cy="276999"/>
              </a:xfrm>
              <a:prstGeom prst="rect">
                <a:avLst/>
              </a:prstGeom>
              <a:noFill/>
            </p:spPr>
            <p:txBody>
              <a:bodyPr wrap="square" lIns="0" tIns="0" rIns="0" bIns="0" rtlCol="0">
                <a:spAutoFit/>
              </a:bodyPr>
              <a:lstStyle/>
              <a:p>
                <a:r>
                  <a:rPr lang="es-AR" dirty="0"/>
                  <a:t>P</a:t>
                </a:r>
                <a14:m>
                  <m:oMath xmlns:m="http://schemas.openxmlformats.org/officeDocument/2006/math">
                    <m:r>
                      <m:rPr>
                        <m:sty m:val="p"/>
                      </m:rPr>
                      <a:rPr lang="es-AR" b="0" i="0" smtClean="0">
                        <a:latin typeface="Cambria Math" panose="02040503050406030204" pitchFamily="18" charset="0"/>
                      </a:rPr>
                      <m:t>romedio</m:t>
                    </m:r>
                    <m:r>
                      <a:rPr lang="es-AR" b="0" i="0" smtClean="0">
                        <a:latin typeface="Cambria Math" panose="02040503050406030204" pitchFamily="18" charset="0"/>
                      </a:rPr>
                      <m:t> </m:t>
                    </m:r>
                    <m:r>
                      <m:rPr>
                        <m:sty m:val="p"/>
                      </m:rPr>
                      <a:rPr lang="es-AR" b="0" i="0" smtClean="0">
                        <a:latin typeface="Cambria Math" panose="02040503050406030204" pitchFamily="18" charset="0"/>
                      </a:rPr>
                      <m:t>de</m:t>
                    </m:r>
                    <m:r>
                      <a:rPr lang="es-AR" b="0" i="0" smtClean="0">
                        <a:latin typeface="Cambria Math" panose="02040503050406030204" pitchFamily="18" charset="0"/>
                      </a:rPr>
                      <m:t> </m:t>
                    </m:r>
                    <m:r>
                      <m:rPr>
                        <m:sty m:val="p"/>
                      </m:rPr>
                      <a:rPr lang="es-AR" b="0" i="0" smtClean="0">
                        <a:latin typeface="Cambria Math" panose="02040503050406030204" pitchFamily="18" charset="0"/>
                      </a:rPr>
                      <m:t>la</m:t>
                    </m:r>
                    <m:r>
                      <a:rPr lang="es-AR" b="0" i="0" smtClean="0">
                        <a:latin typeface="Cambria Math" panose="02040503050406030204" pitchFamily="18" charset="0"/>
                      </a:rPr>
                      <m:t> </m:t>
                    </m:r>
                    <m:r>
                      <m:rPr>
                        <m:sty m:val="p"/>
                      </m:rPr>
                      <a:rPr lang="es-AR" b="0" i="0" smtClean="0">
                        <a:latin typeface="Cambria Math" panose="02040503050406030204" pitchFamily="18" charset="0"/>
                      </a:rPr>
                      <m:t>Industria</m:t>
                    </m:r>
                    <m:r>
                      <a:rPr lang="es-AR" b="0" i="0" smtClean="0">
                        <a:latin typeface="Cambria Math" panose="02040503050406030204" pitchFamily="18" charset="0"/>
                      </a:rPr>
                      <m:t>=</m:t>
                    </m:r>
                    <m:r>
                      <a:rPr lang="es-AR" b="0" i="1" smtClean="0">
                        <a:latin typeface="Cambria Math" panose="02040503050406030204" pitchFamily="18" charset="0"/>
                      </a:rPr>
                      <m:t>4,2 </m:t>
                    </m:r>
                    <m:r>
                      <a:rPr lang="es-AR" b="0" i="1" smtClean="0">
                        <a:latin typeface="Cambria Math" panose="02040503050406030204" pitchFamily="18" charset="0"/>
                      </a:rPr>
                      <m:t>𝑥</m:t>
                    </m:r>
                  </m:oMath>
                </a14:m>
                <a:endParaRPr lang="es-ES" dirty="0"/>
              </a:p>
            </p:txBody>
          </p:sp>
        </mc:Choice>
        <mc:Fallback xmlns="">
          <p:sp>
            <p:nvSpPr>
              <p:cNvPr id="7" name="CuadroTexto 6">
                <a:extLst>
                  <a:ext uri="{FF2B5EF4-FFF2-40B4-BE49-F238E27FC236}">
                    <a16:creationId xmlns:a16="http://schemas.microsoft.com/office/drawing/2014/main" id="{3CB4FDE7-F937-51FD-9B32-CB311B2ECC07}"/>
                  </a:ext>
                </a:extLst>
              </p:cNvPr>
              <p:cNvSpPr txBox="1">
                <a:spLocks noRot="1" noChangeAspect="1" noMove="1" noResize="1" noEditPoints="1" noAdjustHandles="1" noChangeArrowheads="1" noChangeShapeType="1" noTextEdit="1"/>
              </p:cNvSpPr>
              <p:nvPr/>
            </p:nvSpPr>
            <p:spPr>
              <a:xfrm>
                <a:off x="6558675" y="2472458"/>
                <a:ext cx="3958374" cy="276999"/>
              </a:xfrm>
              <a:prstGeom prst="rect">
                <a:avLst/>
              </a:prstGeom>
              <a:blipFill>
                <a:blip r:embed="rId3"/>
                <a:stretch>
                  <a:fillRect l="-3698" t="-28889" b="-51111"/>
                </a:stretch>
              </a:blipFill>
            </p:spPr>
            <p:txBody>
              <a:bodyPr/>
              <a:lstStyle/>
              <a:p>
                <a:r>
                  <a:rPr lang="es-ES">
                    <a:noFill/>
                  </a:rPr>
                  <a:t> </a:t>
                </a:r>
              </a:p>
            </p:txBody>
          </p:sp>
        </mc:Fallback>
      </mc:AlternateContent>
    </p:spTree>
    <p:extLst>
      <p:ext uri="{BB962C8B-B14F-4D97-AF65-F5344CB8AC3E}">
        <p14:creationId xmlns:p14="http://schemas.microsoft.com/office/powerpoint/2010/main" val="4928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20000"/>
              </a:bodyPr>
              <a:lstStyle/>
              <a:p>
                <a:pPr marL="0" indent="0">
                  <a:buNone/>
                </a:pPr>
                <a:r>
                  <a:rPr lang="es-AR" sz="1800" dirty="0"/>
                  <a:t>RAZÓN DE PRUEBA RÁPIDA O ÁCIDA</a:t>
                </a:r>
              </a:p>
              <a:p>
                <a:pPr marL="0" indent="0">
                  <a:buNone/>
                </a:pPr>
                <a:endParaRPr lang="es-AR" sz="1800" dirty="0"/>
              </a:p>
              <a:p>
                <a14:m>
                  <m:oMath xmlns:m="http://schemas.openxmlformats.org/officeDocument/2006/math">
                    <m:r>
                      <a:rPr lang="es-AR" sz="1800" b="0" i="1" smtClean="0">
                        <a:latin typeface="Cambria Math" panose="02040503050406030204" pitchFamily="18" charset="0"/>
                      </a:rPr>
                      <m:t>𝑅𝑎𝑧</m:t>
                    </m:r>
                    <m:r>
                      <a:rPr lang="es-AR" sz="1800" b="0" i="1" smtClean="0">
                        <a:latin typeface="Cambria Math" panose="02040503050406030204" pitchFamily="18" charset="0"/>
                      </a:rPr>
                      <m:t>ó</m:t>
                    </m:r>
                    <m:r>
                      <a:rPr lang="es-AR" sz="1800" b="0" i="1" smtClean="0">
                        <a:latin typeface="Cambria Math" panose="02040503050406030204" pitchFamily="18" charset="0"/>
                      </a:rPr>
                      <m:t>𝑛</m:t>
                    </m:r>
                    <m:r>
                      <a:rPr lang="es-AR" sz="1800" b="0" i="1" smtClean="0">
                        <a:latin typeface="Cambria Math" panose="02040503050406030204" pitchFamily="18" charset="0"/>
                      </a:rPr>
                      <m:t> </m:t>
                    </m:r>
                    <m:r>
                      <a:rPr lang="es-AR" sz="1800" b="0" i="1" smtClean="0">
                        <a:latin typeface="Cambria Math" panose="02040503050406030204" pitchFamily="18" charset="0"/>
                      </a:rPr>
                      <m:t>𝑑𝑒</m:t>
                    </m:r>
                    <m:r>
                      <a:rPr lang="es-AR" sz="1800" b="0" i="1" smtClean="0">
                        <a:latin typeface="Cambria Math" panose="02040503050406030204" pitchFamily="18" charset="0"/>
                      </a:rPr>
                      <m:t> </m:t>
                    </m:r>
                    <m:r>
                      <a:rPr lang="es-AR" sz="1800" b="0" i="1" smtClean="0">
                        <a:latin typeface="Cambria Math" panose="02040503050406030204" pitchFamily="18" charset="0"/>
                      </a:rPr>
                      <m:t>𝑃𝑟𝑢𝑒𝑏𝑎</m:t>
                    </m:r>
                    <m:r>
                      <a:rPr lang="es-AR" sz="1800" b="0" i="1" smtClean="0">
                        <a:latin typeface="Cambria Math" panose="02040503050406030204" pitchFamily="18" charset="0"/>
                      </a:rPr>
                      <m:t> Á</m:t>
                    </m:r>
                    <m:r>
                      <a:rPr lang="es-AR" sz="1800" b="0" i="1" smtClean="0">
                        <a:latin typeface="Cambria Math" panose="02040503050406030204" pitchFamily="18" charset="0"/>
                      </a:rPr>
                      <m:t>𝑐𝑖𝑑𝑎</m:t>
                    </m:r>
                    <m:r>
                      <a:rPr lang="es-AR" sz="1800" b="0" i="1" smtClean="0">
                        <a:latin typeface="Cambria Math" panose="02040503050406030204" pitchFamily="18" charset="0"/>
                      </a:rPr>
                      <m:t>= </m:t>
                    </m:r>
                    <m:f>
                      <m:fPr>
                        <m:ctrlPr>
                          <a:rPr lang="es-AR" sz="1800" b="0" i="1" smtClean="0">
                            <a:latin typeface="Cambria Math" panose="02040503050406030204" pitchFamily="18" charset="0"/>
                          </a:rPr>
                        </m:ctrlPr>
                      </m:fPr>
                      <m:num>
                        <m:r>
                          <a:rPr lang="es-AR" sz="1800" b="0" i="1" smtClean="0">
                            <a:latin typeface="Cambria Math" panose="02040503050406030204" pitchFamily="18" charset="0"/>
                          </a:rPr>
                          <m:t>𝐴𝑐𝑡𝑖𝑣𝑜</m:t>
                        </m:r>
                        <m:r>
                          <a:rPr lang="es-AR" sz="1800" b="0" i="1" smtClean="0">
                            <a:latin typeface="Cambria Math" panose="02040503050406030204" pitchFamily="18" charset="0"/>
                          </a:rPr>
                          <m:t> </m:t>
                        </m:r>
                        <m:r>
                          <a:rPr lang="es-AR" sz="1800" b="0" i="1" smtClean="0">
                            <a:latin typeface="Cambria Math" panose="02040503050406030204" pitchFamily="18" charset="0"/>
                          </a:rPr>
                          <m:t>𝐶𝑖𝑟𝑐𝑢𝑙𝑎𝑛𝑡𝑒</m:t>
                        </m:r>
                        <m:r>
                          <a:rPr lang="es-AR" sz="1800" b="0" i="1" smtClean="0">
                            <a:latin typeface="Cambria Math" panose="02040503050406030204" pitchFamily="18" charset="0"/>
                          </a:rPr>
                          <m:t> −</m:t>
                        </m:r>
                        <m:r>
                          <a:rPr lang="es-AR" sz="1800" b="0" i="1" smtClean="0">
                            <a:latin typeface="Cambria Math" panose="02040503050406030204" pitchFamily="18" charset="0"/>
                          </a:rPr>
                          <m:t>𝐼𝑛𝑣𝑒𝑛𝑡𝑎𝑟𝑖𝑜𝑠</m:t>
                        </m:r>
                      </m:num>
                      <m:den>
                        <m:r>
                          <a:rPr lang="es-AR" sz="1800" b="0" i="1" smtClean="0">
                            <a:latin typeface="Cambria Math" panose="02040503050406030204" pitchFamily="18" charset="0"/>
                          </a:rPr>
                          <m:t>𝑃𝑎𝑠𝑖𝑣𝑜</m:t>
                        </m:r>
                        <m:r>
                          <a:rPr lang="es-AR" sz="1800" b="0" i="1" smtClean="0">
                            <a:latin typeface="Cambria Math" panose="02040503050406030204" pitchFamily="18" charset="0"/>
                          </a:rPr>
                          <m:t> </m:t>
                        </m:r>
                        <m:r>
                          <a:rPr lang="es-AR" sz="1800" b="0" i="1" smtClean="0">
                            <a:latin typeface="Cambria Math" panose="02040503050406030204" pitchFamily="18" charset="0"/>
                          </a:rPr>
                          <m:t>𝐶𝑖𝑟𝑐𝑢𝑙𝑎𝑛𝑡𝑒</m:t>
                        </m:r>
                      </m:den>
                    </m:f>
                  </m:oMath>
                </a14:m>
                <a:r>
                  <a:rPr lang="es-AR" sz="1800" b="0" dirty="0"/>
                  <a:t>	</a:t>
                </a:r>
                <a:r>
                  <a:rPr lang="es-AR" sz="1800" b="0" dirty="0">
                    <a:solidFill>
                      <a:srgbClr val="FF0000"/>
                    </a:solidFill>
                  </a:rPr>
                  <a:t>Eliminamos los inventarios</a:t>
                </a:r>
              </a:p>
              <a:p>
                <a:endParaRPr lang="es-ES" sz="1800" dirty="0"/>
              </a:p>
              <a:p>
                <a:r>
                  <a:rPr lang="es-AR" sz="1800" b="0" dirty="0"/>
                  <a:t>Para </a:t>
                </a:r>
                <a:r>
                  <a:rPr lang="es-AR" sz="1800" b="0" dirty="0" err="1"/>
                  <a:t>Allied</a:t>
                </a:r>
                <a:r>
                  <a:rPr lang="es-AR" sz="1800" b="0" dirty="0"/>
                  <a:t> es                       </a:t>
                </a:r>
                <a14:m>
                  <m:oMath xmlns:m="http://schemas.openxmlformats.org/officeDocument/2006/math">
                    <m:r>
                      <a:rPr lang="es-AR" sz="1800" b="0" i="1" smtClean="0">
                        <a:latin typeface="Cambria Math" panose="02040503050406030204" pitchFamily="18" charset="0"/>
                      </a:rPr>
                      <m:t>= </m:t>
                    </m:r>
                    <m:f>
                      <m:fPr>
                        <m:ctrlPr>
                          <a:rPr lang="es-AR" sz="1800" b="0" i="1" smtClean="0">
                            <a:latin typeface="Cambria Math" panose="02040503050406030204" pitchFamily="18" charset="0"/>
                          </a:rPr>
                        </m:ctrlPr>
                      </m:fPr>
                      <m:num>
                        <m:r>
                          <a:rPr lang="es-AR" sz="1800" b="0" i="1" smtClean="0">
                            <a:latin typeface="Cambria Math" panose="02040503050406030204" pitchFamily="18" charset="0"/>
                          </a:rPr>
                          <m:t>385</m:t>
                        </m:r>
                      </m:num>
                      <m:den>
                        <m:r>
                          <a:rPr lang="es-AR" sz="1800" b="0" i="1" smtClean="0">
                            <a:latin typeface="Cambria Math" panose="02040503050406030204" pitchFamily="18" charset="0"/>
                          </a:rPr>
                          <m:t>310</m:t>
                        </m:r>
                      </m:den>
                    </m:f>
                    <m:r>
                      <a:rPr lang="es-AR" sz="1800" b="0" i="1" smtClean="0">
                        <a:latin typeface="Cambria Math" panose="02040503050406030204" pitchFamily="18" charset="0"/>
                      </a:rPr>
                      <m:t>=1,2 </m:t>
                    </m:r>
                    <m:r>
                      <a:rPr lang="es-AR" sz="1800" b="0" i="1" smtClean="0">
                        <a:latin typeface="Cambria Math" panose="02040503050406030204" pitchFamily="18" charset="0"/>
                      </a:rPr>
                      <m:t>𝑋</m:t>
                    </m:r>
                  </m:oMath>
                </a14:m>
                <a:r>
                  <a:rPr lang="es-ES" sz="1800" dirty="0"/>
                  <a:t>           Siendo el promedio para la industria de  2,2 X</a:t>
                </a:r>
              </a:p>
              <a:p>
                <a:endParaRPr lang="es-AR" sz="1800" dirty="0"/>
              </a:p>
              <a:p>
                <a14:m>
                  <m:oMath xmlns:m="http://schemas.openxmlformats.org/officeDocument/2006/math">
                    <m:r>
                      <a:rPr lang="es-AR" sz="1800" b="0" i="1" smtClean="0">
                        <a:latin typeface="Cambria Math" panose="02040503050406030204" pitchFamily="18" charset="0"/>
                      </a:rPr>
                      <m:t>𝑅𝑎𝑧</m:t>
                    </m:r>
                    <m:r>
                      <a:rPr lang="es-AR" sz="1800" b="0" i="1" smtClean="0">
                        <a:latin typeface="Cambria Math" panose="02040503050406030204" pitchFamily="18" charset="0"/>
                      </a:rPr>
                      <m:t>ó</m:t>
                    </m:r>
                    <m:r>
                      <a:rPr lang="es-AR" sz="1800" b="0" i="1" smtClean="0">
                        <a:latin typeface="Cambria Math" panose="02040503050406030204" pitchFamily="18" charset="0"/>
                      </a:rPr>
                      <m:t>𝑛</m:t>
                    </m:r>
                    <m:r>
                      <a:rPr lang="es-AR" sz="1800" b="0" i="1" smtClean="0">
                        <a:latin typeface="Cambria Math" panose="02040503050406030204" pitchFamily="18" charset="0"/>
                      </a:rPr>
                      <m:t> </m:t>
                    </m:r>
                    <m:r>
                      <a:rPr lang="es-AR" sz="1800" b="0" i="1" smtClean="0">
                        <a:latin typeface="Cambria Math" panose="02040503050406030204" pitchFamily="18" charset="0"/>
                      </a:rPr>
                      <m:t>𝑑𝑒</m:t>
                    </m:r>
                    <m:r>
                      <a:rPr lang="es-AR" sz="1800" b="0" i="1" smtClean="0">
                        <a:latin typeface="Cambria Math" panose="02040503050406030204" pitchFamily="18" charset="0"/>
                      </a:rPr>
                      <m:t> </m:t>
                    </m:r>
                    <m:r>
                      <a:rPr lang="es-AR" sz="1800" b="0" i="1" smtClean="0">
                        <a:latin typeface="Cambria Math" panose="02040503050406030204" pitchFamily="18" charset="0"/>
                      </a:rPr>
                      <m:t>𝑃𝑟𝑢𝑒𝑏𝑎</m:t>
                    </m:r>
                    <m:r>
                      <a:rPr lang="es-AR" sz="1800" b="0" i="1" smtClean="0">
                        <a:latin typeface="Cambria Math" panose="02040503050406030204" pitchFamily="18" charset="0"/>
                      </a:rPr>
                      <m:t> Á</m:t>
                    </m:r>
                    <m:r>
                      <a:rPr lang="es-AR" sz="1800" b="0" i="1" smtClean="0">
                        <a:latin typeface="Cambria Math" panose="02040503050406030204" pitchFamily="18" charset="0"/>
                      </a:rPr>
                      <m:t>𝑐𝑖𝑑𝑎</m:t>
                    </m:r>
                    <m:r>
                      <a:rPr lang="es-AR" sz="1800" b="0" i="1" smtClean="0">
                        <a:latin typeface="Cambria Math" panose="02040503050406030204" pitchFamily="18" charset="0"/>
                      </a:rPr>
                      <m:t>= </m:t>
                    </m:r>
                    <m:f>
                      <m:fPr>
                        <m:ctrlPr>
                          <a:rPr lang="es-AR" sz="1800" b="0" i="1" smtClean="0">
                            <a:latin typeface="Cambria Math" panose="02040503050406030204" pitchFamily="18" charset="0"/>
                          </a:rPr>
                        </m:ctrlPr>
                      </m:fPr>
                      <m:num>
                        <m:r>
                          <a:rPr lang="es-AR" sz="1800" b="0" i="1" smtClean="0">
                            <a:latin typeface="Cambria Math" panose="02040503050406030204" pitchFamily="18" charset="0"/>
                          </a:rPr>
                          <m:t>𝐸𝑓𝑒𝑐𝑡𝑖𝑣𝑜</m:t>
                        </m:r>
                        <m:r>
                          <a:rPr lang="es-AR" sz="1800" b="0" i="1" smtClean="0">
                            <a:latin typeface="Cambria Math" panose="02040503050406030204" pitchFamily="18" charset="0"/>
                          </a:rPr>
                          <m:t> </m:t>
                        </m:r>
                        <m:r>
                          <a:rPr lang="es-AR" sz="1800" b="0" i="1" smtClean="0">
                            <a:latin typeface="Cambria Math" panose="02040503050406030204" pitchFamily="18" charset="0"/>
                          </a:rPr>
                          <m:t>𝑦</m:t>
                        </m:r>
                        <m:r>
                          <a:rPr lang="es-AR" sz="1800" b="0" i="1" smtClean="0">
                            <a:latin typeface="Cambria Math" panose="02040503050406030204" pitchFamily="18" charset="0"/>
                          </a:rPr>
                          <m:t> </m:t>
                        </m:r>
                        <m:r>
                          <a:rPr lang="es-AR" sz="1800" b="0" i="1" smtClean="0">
                            <a:latin typeface="Cambria Math" panose="02040503050406030204" pitchFamily="18" charset="0"/>
                          </a:rPr>
                          <m:t>𝐸𝑞𝑢𝑖𝑣𝑎𝑙𝑒𝑛𝑡𝑒</m:t>
                        </m:r>
                        <m:r>
                          <a:rPr lang="es-AR" sz="1800" b="0" i="1" smtClean="0">
                            <a:latin typeface="Cambria Math" panose="02040503050406030204" pitchFamily="18" charset="0"/>
                          </a:rPr>
                          <m:t>+</m:t>
                        </m:r>
                        <m:r>
                          <a:rPr lang="es-AR" sz="1800" b="0" i="1" smtClean="0">
                            <a:latin typeface="Cambria Math" panose="02040503050406030204" pitchFamily="18" charset="0"/>
                          </a:rPr>
                          <m:t>𝐶𝑢𝑒𝑛𝑡𝑎𝑠</m:t>
                        </m:r>
                        <m:r>
                          <a:rPr lang="es-AR" sz="1800" b="0" i="1" smtClean="0">
                            <a:latin typeface="Cambria Math" panose="02040503050406030204" pitchFamily="18" charset="0"/>
                          </a:rPr>
                          <m:t> </m:t>
                        </m:r>
                        <m:r>
                          <a:rPr lang="es-AR" sz="1800" b="0" i="1" smtClean="0">
                            <a:latin typeface="Cambria Math" panose="02040503050406030204" pitchFamily="18" charset="0"/>
                          </a:rPr>
                          <m:t>𝑝𝑜𝑟</m:t>
                        </m:r>
                        <m:r>
                          <a:rPr lang="es-AR" sz="1800" b="0" i="1" smtClean="0">
                            <a:latin typeface="Cambria Math" panose="02040503050406030204" pitchFamily="18" charset="0"/>
                          </a:rPr>
                          <m:t> </m:t>
                        </m:r>
                        <m:r>
                          <a:rPr lang="es-AR" sz="1800" b="0" i="1" smtClean="0">
                            <a:latin typeface="Cambria Math" panose="02040503050406030204" pitchFamily="18" charset="0"/>
                          </a:rPr>
                          <m:t>𝐶𝑜𝑏𝑟𝑎𝑟</m:t>
                        </m:r>
                      </m:num>
                      <m:den>
                        <m:r>
                          <a:rPr lang="es-AR" sz="1800" b="0" i="1" smtClean="0">
                            <a:latin typeface="Cambria Math" panose="02040503050406030204" pitchFamily="18" charset="0"/>
                          </a:rPr>
                          <m:t>𝑃𝑎𝑠𝑖𝑣𝑜</m:t>
                        </m:r>
                        <m:r>
                          <a:rPr lang="es-AR" sz="1800" b="0" i="1" smtClean="0">
                            <a:latin typeface="Cambria Math" panose="02040503050406030204" pitchFamily="18" charset="0"/>
                          </a:rPr>
                          <m:t> </m:t>
                        </m:r>
                        <m:r>
                          <a:rPr lang="es-AR" sz="1800" b="0" i="1" smtClean="0">
                            <a:latin typeface="Cambria Math" panose="02040503050406030204" pitchFamily="18" charset="0"/>
                          </a:rPr>
                          <m:t>𝐶𝑖𝑟𝑐𝑢𝑙𝑎𝑛𝑡𝑒</m:t>
                        </m:r>
                      </m:den>
                    </m:f>
                  </m:oMath>
                </a14:m>
                <a:endParaRPr lang="es-ES" sz="1800" dirty="0"/>
              </a:p>
              <a:p>
                <a:endParaRPr lang="es-ES" sz="1800" dirty="0"/>
              </a:p>
              <a:p>
                <a:r>
                  <a:rPr lang="es-ES" sz="1800" dirty="0"/>
                  <a:t>Se supone que </a:t>
                </a:r>
                <a:r>
                  <a:rPr lang="es-ES" sz="1800" b="1" dirty="0"/>
                  <a:t>el Inventario podría no ser tan líquido</a:t>
                </a:r>
                <a:r>
                  <a:rPr lang="es-ES" sz="1800" dirty="0"/>
                  <a:t>, y en momentos de dificultades de ventas es útil esta razón. </a:t>
                </a:r>
              </a:p>
              <a:p>
                <a:r>
                  <a:rPr lang="es-ES" sz="1800" dirty="0"/>
                  <a:t>Por otra parte, frente a una liquidación, es muy probable que pierdan una parte significativa de su valor</a:t>
                </a:r>
              </a:p>
              <a:p>
                <a:r>
                  <a:rPr lang="es-ES" sz="1800" dirty="0"/>
                  <a:t>Mide la capacidad de enfrentar los pasivos de corto, sin necesidad de las ventas</a:t>
                </a:r>
              </a:p>
              <a:p>
                <a:r>
                  <a:rPr lang="es-ES" sz="1800" dirty="0"/>
                  <a:t> Para evitar analizar la verdadera liquidez de “otros activos circulantes” (Allied no los tiene), algunos analistas prefieren la segunda definición que presentamos</a:t>
                </a:r>
              </a:p>
              <a:p>
                <a:endParaRPr lang="es-ES" sz="1800"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406" t="-1961"/>
                </a:stretch>
              </a:blipFill>
            </p:spPr>
            <p:txBody>
              <a:bodyPr/>
              <a:lstStyle/>
              <a:p>
                <a:r>
                  <a:rPr lang="es-ES">
                    <a:noFill/>
                  </a:rPr>
                  <a:t> </a:t>
                </a:r>
              </a:p>
            </p:txBody>
          </p:sp>
        </mc:Fallback>
      </mc:AlternateContent>
    </p:spTree>
    <p:extLst>
      <p:ext uri="{BB962C8B-B14F-4D97-AF65-F5344CB8AC3E}">
        <p14:creationId xmlns:p14="http://schemas.microsoft.com/office/powerpoint/2010/main" val="3877427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lstStyle/>
          <a:p>
            <a:pPr marL="0" indent="0">
              <a:buNone/>
            </a:pPr>
            <a:r>
              <a:rPr lang="es-AR" dirty="0"/>
              <a:t>Auto Evaluación rápida</a:t>
            </a:r>
          </a:p>
          <a:p>
            <a:pPr marL="0" indent="0">
              <a:buNone/>
            </a:pPr>
            <a:endParaRPr lang="es-AR" dirty="0"/>
          </a:p>
          <a:p>
            <a:r>
              <a:rPr lang="es-AR" dirty="0"/>
              <a:t>Características de los activos líquidos</a:t>
            </a:r>
          </a:p>
          <a:p>
            <a:r>
              <a:rPr lang="es-AR" dirty="0"/>
              <a:t>¿Qué preguntas responden las dos razones presentadas?</a:t>
            </a:r>
          </a:p>
          <a:p>
            <a:r>
              <a:rPr lang="es-AR" dirty="0"/>
              <a:t>Si el pasivo circulante es de 500 MM y la razón de solvencia es 2, ¿cuánto es el Activo circulante?</a:t>
            </a:r>
          </a:p>
          <a:p>
            <a:r>
              <a:rPr lang="es-AR" dirty="0"/>
              <a:t>Si la prueba ácida es 1,6, ¿cuánto valen los inventarios?</a:t>
            </a:r>
          </a:p>
          <a:p>
            <a:endParaRPr lang="es-ES" dirty="0"/>
          </a:p>
        </p:txBody>
      </p:sp>
    </p:spTree>
    <p:extLst>
      <p:ext uri="{BB962C8B-B14F-4D97-AF65-F5344CB8AC3E}">
        <p14:creationId xmlns:p14="http://schemas.microsoft.com/office/powerpoint/2010/main" val="4021154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a:bodyPr>
          <a:lstStyle/>
          <a:p>
            <a:pPr marL="0" indent="0">
              <a:buNone/>
            </a:pPr>
            <a:r>
              <a:rPr lang="es-AR" dirty="0"/>
              <a:t>Razones de Administración de Activos</a:t>
            </a:r>
          </a:p>
          <a:p>
            <a:r>
              <a:rPr lang="es-AR" dirty="0"/>
              <a:t>Miden qué tan efectivamente administra la Empresa sus Activos</a:t>
            </a:r>
          </a:p>
          <a:p>
            <a:r>
              <a:rPr lang="es-AR" dirty="0"/>
              <a:t>Responden a las preguntas de si los Activos son adecuados, demasiado altos o bajos en función de las ventas actuales y proyectadas</a:t>
            </a:r>
          </a:p>
          <a:p>
            <a:r>
              <a:rPr lang="es-AR" dirty="0"/>
              <a:t>La pregunta es adecuada porque adquirir los Activos es costoso. Tener Activos de más eleva el Costo de Capital y deprime las Ganancias</a:t>
            </a:r>
          </a:p>
          <a:p>
            <a:r>
              <a:rPr lang="es-AR" dirty="0"/>
              <a:t>Activos insuficientes harán perder ventas Rentables</a:t>
            </a:r>
          </a:p>
          <a:p>
            <a:pPr marL="0" indent="0" algn="ctr">
              <a:buNone/>
            </a:pPr>
            <a:endParaRPr lang="es-AR" dirty="0"/>
          </a:p>
          <a:p>
            <a:pPr marL="0" indent="0" algn="ctr">
              <a:buNone/>
            </a:pPr>
            <a:r>
              <a:rPr lang="es-AR" dirty="0"/>
              <a:t>Las Razones de Administración de Activos ayudan a encontrar el equilibro</a:t>
            </a:r>
          </a:p>
          <a:p>
            <a:endParaRPr lang="es-ES" dirty="0"/>
          </a:p>
        </p:txBody>
      </p:sp>
    </p:spTree>
    <p:extLst>
      <p:ext uri="{BB962C8B-B14F-4D97-AF65-F5344CB8AC3E}">
        <p14:creationId xmlns:p14="http://schemas.microsoft.com/office/powerpoint/2010/main" val="514488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a:xfrm>
                <a:off x="838200" y="1825624"/>
                <a:ext cx="10515600" cy="4533611"/>
              </a:xfrm>
            </p:spPr>
            <p:txBody>
              <a:bodyPr>
                <a:normAutofit fontScale="85000" lnSpcReduction="20000"/>
              </a:bodyPr>
              <a:lstStyle/>
              <a:p>
                <a:pPr marL="0" indent="0">
                  <a:buNone/>
                </a:pPr>
                <a:r>
                  <a:rPr lang="es-AR" dirty="0"/>
                  <a:t>RAZÓN DE ROTACIÓN DE INVENTARIO</a:t>
                </a:r>
              </a:p>
              <a:p>
                <a:r>
                  <a:rPr lang="es-AR" dirty="0"/>
                  <a:t>Las Razones de rotación dividen las ventas entre algún Activo y muestra cuantas veces “rota” el Activo elegido durante el año.</a:t>
                </a:r>
              </a:p>
              <a:p>
                <a:endParaRPr lang="es-AR" dirty="0"/>
              </a:p>
              <a:p>
                <a:pPr marL="0" indent="0">
                  <a:buNone/>
                </a:pPr>
                <a14:m>
                  <m:oMath xmlns:m="http://schemas.openxmlformats.org/officeDocument/2006/math">
                    <m:r>
                      <a:rPr lang="es-AR" b="0" i="1" smtClean="0">
                        <a:latin typeface="Cambria Math" panose="02040503050406030204" pitchFamily="18" charset="0"/>
                      </a:rPr>
                      <m:t>𝑅𝑎𝑧</m:t>
                    </m:r>
                    <m:r>
                      <a:rPr lang="es-AR" b="0" i="1" smtClean="0">
                        <a:latin typeface="Cambria Math" panose="02040503050406030204" pitchFamily="18" charset="0"/>
                      </a:rPr>
                      <m:t>ó</m:t>
                    </m:r>
                    <m:r>
                      <a:rPr lang="es-AR" b="0" i="1" smtClean="0">
                        <a:latin typeface="Cambria Math" panose="02040503050406030204" pitchFamily="18" charset="0"/>
                      </a:rPr>
                      <m:t>𝑛</m:t>
                    </m:r>
                    <m:r>
                      <a:rPr lang="es-AR" b="0" i="1" smtClean="0">
                        <a:latin typeface="Cambria Math" panose="02040503050406030204" pitchFamily="18" charset="0"/>
                      </a:rPr>
                      <m:t> </m:t>
                    </m:r>
                    <m:r>
                      <a:rPr lang="es-AR" b="0" i="1" smtClean="0">
                        <a:latin typeface="Cambria Math" panose="02040503050406030204" pitchFamily="18" charset="0"/>
                      </a:rPr>
                      <m:t>𝑑𝑒</m:t>
                    </m:r>
                    <m:r>
                      <a:rPr lang="es-AR" b="0" i="1" smtClean="0">
                        <a:latin typeface="Cambria Math" panose="02040503050406030204" pitchFamily="18" charset="0"/>
                      </a:rPr>
                      <m:t> </m:t>
                    </m:r>
                    <m:r>
                      <a:rPr lang="es-AR" b="0" i="1" smtClean="0">
                        <a:latin typeface="Cambria Math" panose="02040503050406030204" pitchFamily="18" charset="0"/>
                      </a:rPr>
                      <m:t>𝑅𝑜𝑡𝑎𝑐𝑖</m:t>
                    </m:r>
                    <m:r>
                      <a:rPr lang="es-AR" b="0" i="1" smtClean="0">
                        <a:latin typeface="Cambria Math" panose="02040503050406030204" pitchFamily="18" charset="0"/>
                      </a:rPr>
                      <m:t>ó</m:t>
                    </m:r>
                    <m:r>
                      <a:rPr lang="es-AR" b="0" i="1" smtClean="0">
                        <a:latin typeface="Cambria Math" panose="02040503050406030204" pitchFamily="18" charset="0"/>
                      </a:rPr>
                      <m:t>𝑛</m:t>
                    </m:r>
                    <m:r>
                      <a:rPr lang="es-AR" b="0" i="1" smtClean="0">
                        <a:latin typeface="Cambria Math" panose="02040503050406030204" pitchFamily="18" charset="0"/>
                      </a:rPr>
                      <m:t> </m:t>
                    </m:r>
                    <m:r>
                      <a:rPr lang="es-AR" b="0" i="1" smtClean="0">
                        <a:latin typeface="Cambria Math" panose="02040503050406030204" pitchFamily="18" charset="0"/>
                      </a:rPr>
                      <m:t>𝑑𝑒</m:t>
                    </m:r>
                    <m:r>
                      <a:rPr lang="es-AR" b="0" i="1" smtClean="0">
                        <a:latin typeface="Cambria Math" panose="02040503050406030204" pitchFamily="18" charset="0"/>
                      </a:rPr>
                      <m:t> </m:t>
                    </m:r>
                    <m:r>
                      <a:rPr lang="es-AR" b="0" i="1" smtClean="0">
                        <a:latin typeface="Cambria Math" panose="02040503050406030204" pitchFamily="18" charset="0"/>
                      </a:rPr>
                      <m:t>𝐼𝑛𝑣𝑒𝑛𝑡𝑎𝑟𝑖𝑜</m:t>
                    </m:r>
                    <m:r>
                      <a:rPr lang="es-AR" b="0" i="1" smtClean="0">
                        <a:latin typeface="Cambria Math" panose="02040503050406030204" pitchFamily="18" charset="0"/>
                      </a:rPr>
                      <m:t>= </m:t>
                    </m:r>
                    <m:f>
                      <m:fPr>
                        <m:ctrlPr>
                          <a:rPr lang="es-AR" b="0" i="1" smtClean="0">
                            <a:latin typeface="Cambria Math" panose="02040503050406030204" pitchFamily="18" charset="0"/>
                          </a:rPr>
                        </m:ctrlPr>
                      </m:fPr>
                      <m:num>
                        <m:r>
                          <a:rPr lang="es-AR" b="0" i="1" smtClean="0">
                            <a:latin typeface="Cambria Math" panose="02040503050406030204" pitchFamily="18" charset="0"/>
                          </a:rPr>
                          <m:t>𝑉𝑒𝑛𝑡𝑎𝑠</m:t>
                        </m:r>
                      </m:num>
                      <m:den>
                        <m:r>
                          <a:rPr lang="es-AR" b="0" i="1" smtClean="0">
                            <a:latin typeface="Cambria Math" panose="02040503050406030204" pitchFamily="18" charset="0"/>
                          </a:rPr>
                          <m:t>𝐼𝑛𝑣𝑒𝑛𝑡𝑎𝑟𝑖𝑜𝑠</m:t>
                        </m:r>
                      </m:den>
                    </m:f>
                  </m:oMath>
                </a14:m>
                <a:r>
                  <a:rPr lang="es-ES" dirty="0"/>
                  <a:t> </a:t>
                </a:r>
              </a:p>
              <a:p>
                <a:pPr marL="0" indent="0">
                  <a:buNone/>
                </a:pPr>
                <a:endParaRPr lang="es-ES" dirty="0"/>
              </a:p>
              <a:p>
                <a:pPr marL="0" indent="0">
                  <a:buNone/>
                </a:pPr>
                <a14:m>
                  <m:oMath xmlns:m="http://schemas.openxmlformats.org/officeDocument/2006/math">
                    <m:r>
                      <a:rPr lang="es-AR" b="0" i="1" smtClean="0">
                        <a:latin typeface="Cambria Math" panose="02040503050406030204" pitchFamily="18" charset="0"/>
                      </a:rPr>
                      <m:t>                                                                    = </m:t>
                    </m:r>
                    <m:f>
                      <m:fPr>
                        <m:ctrlPr>
                          <a:rPr lang="es-AR" b="0" i="1" smtClean="0">
                            <a:latin typeface="Cambria Math" panose="02040503050406030204" pitchFamily="18" charset="0"/>
                          </a:rPr>
                        </m:ctrlPr>
                      </m:fPr>
                      <m:num>
                        <m:r>
                          <a:rPr lang="es-AR" b="0" i="1" smtClean="0">
                            <a:latin typeface="Cambria Math" panose="02040503050406030204" pitchFamily="18" charset="0"/>
                          </a:rPr>
                          <m:t>3.000</m:t>
                        </m:r>
                      </m:num>
                      <m:den>
                        <m:r>
                          <a:rPr lang="es-AR" b="0" i="1" smtClean="0">
                            <a:latin typeface="Cambria Math" panose="02040503050406030204" pitchFamily="18" charset="0"/>
                          </a:rPr>
                          <m:t>615</m:t>
                        </m:r>
                      </m:den>
                    </m:f>
                  </m:oMath>
                </a14:m>
                <a:r>
                  <a:rPr lang="es-ES" dirty="0"/>
                  <a:t> = 4,9 X  </a:t>
                </a:r>
              </a:p>
              <a:p>
                <a:pPr marL="0" indent="0">
                  <a:buNone/>
                </a:pPr>
                <a:endParaRPr lang="es-ES" dirty="0"/>
              </a:p>
              <a:p>
                <a:pPr marL="0" indent="0">
                  <a:buNone/>
                </a:pPr>
                <a:r>
                  <a:rPr lang="es-ES" dirty="0"/>
                  <a:t>Siendo el Promedio de la industria de 10,9 X</a:t>
                </a:r>
              </a:p>
              <a:p>
                <a:pPr marL="0" indent="0">
                  <a:buNone/>
                </a:pPr>
                <a:r>
                  <a:rPr lang="es-ES" dirty="0"/>
                  <a:t>Aproximadamente cada concepto del inventario de Allied se vende y reabastece, o rota, 4.9 veces al año.</a:t>
                </a:r>
              </a:p>
              <a:p>
                <a:pPr marL="0" indent="0">
                  <a:buNone/>
                </a:pPr>
                <a:endParaRPr lang="es-ES"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xfrm>
                <a:off x="838200" y="1825624"/>
                <a:ext cx="10515600" cy="4533611"/>
              </a:xfrm>
              <a:blipFill>
                <a:blip r:embed="rId2"/>
                <a:stretch>
                  <a:fillRect l="-928" t="-3091"/>
                </a:stretch>
              </a:blipFill>
            </p:spPr>
            <p:txBody>
              <a:bodyPr/>
              <a:lstStyle/>
              <a:p>
                <a:r>
                  <a:rPr lang="es-ES">
                    <a:noFill/>
                  </a:rPr>
                  <a:t> </a:t>
                </a:r>
              </a:p>
            </p:txBody>
          </p:sp>
        </mc:Fallback>
      </mc:AlternateContent>
    </p:spTree>
    <p:extLst>
      <p:ext uri="{BB962C8B-B14F-4D97-AF65-F5344CB8AC3E}">
        <p14:creationId xmlns:p14="http://schemas.microsoft.com/office/powerpoint/2010/main" val="3377788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a:xfrm>
            <a:off x="838200" y="1825624"/>
            <a:ext cx="10515600" cy="4533611"/>
          </a:xfrm>
        </p:spPr>
        <p:txBody>
          <a:bodyPr>
            <a:normAutofit/>
          </a:bodyPr>
          <a:lstStyle/>
          <a:p>
            <a:pPr marL="0" indent="0">
              <a:buNone/>
            </a:pPr>
            <a:r>
              <a:rPr lang="es-AR" dirty="0"/>
              <a:t>RAZÓN DE ROTACIÓN DE INVENTARIO</a:t>
            </a:r>
          </a:p>
          <a:p>
            <a:pPr marL="0" indent="0">
              <a:buNone/>
            </a:pPr>
            <a:endParaRPr lang="es-ES" dirty="0"/>
          </a:p>
          <a:p>
            <a:pPr marL="0" indent="0">
              <a:buNone/>
            </a:pPr>
            <a:r>
              <a:rPr lang="es-ES" dirty="0"/>
              <a:t>Como la historia de los viajes del buhonero yanqui. Si él se apuraba y duplicaba sus viajes, sus ganancias brutas también, con lo que la rotación afecta directamente las ganancias</a:t>
            </a:r>
          </a:p>
          <a:p>
            <a:pPr marL="0" indent="0">
              <a:buNone/>
            </a:pPr>
            <a:endParaRPr lang="es-ES" dirty="0"/>
          </a:p>
          <a:p>
            <a:pPr marL="0" indent="0" algn="ctr">
              <a:buNone/>
            </a:pPr>
            <a:r>
              <a:rPr lang="es-ES" dirty="0"/>
              <a:t>¿Qué tenemos para decir sobre la Razón de Rotación de Allied?</a:t>
            </a:r>
          </a:p>
          <a:p>
            <a:pPr marL="0" indent="0">
              <a:buNone/>
            </a:pPr>
            <a:endParaRPr lang="es-ES" dirty="0"/>
          </a:p>
        </p:txBody>
      </p:sp>
    </p:spTree>
    <p:extLst>
      <p:ext uri="{BB962C8B-B14F-4D97-AF65-F5344CB8AC3E}">
        <p14:creationId xmlns:p14="http://schemas.microsoft.com/office/powerpoint/2010/main" val="215314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85000" lnSpcReduction="20000"/>
          </a:bodyPr>
          <a:lstStyle/>
          <a:p>
            <a:pPr marL="0" indent="0">
              <a:buNone/>
            </a:pPr>
            <a:r>
              <a:rPr lang="es-AR" dirty="0"/>
              <a:t>RAZÓN DE ROTACIÓN DE INVENTARIO</a:t>
            </a:r>
          </a:p>
          <a:p>
            <a:pPr marL="0" indent="0">
              <a:buNone/>
            </a:pPr>
            <a:r>
              <a:rPr lang="es-ES" dirty="0"/>
              <a:t>La rotación de </a:t>
            </a:r>
            <a:r>
              <a:rPr lang="es-ES" dirty="0" err="1"/>
              <a:t>Allied</a:t>
            </a:r>
            <a:r>
              <a:rPr lang="es-ES" dirty="0"/>
              <a:t> es sensiblemente menor que el promedio, sugiriendo que tiene demasiado inventario.  El exceso es una inversión improductiva, con un rendimiento bajo o nulo.</a:t>
            </a:r>
          </a:p>
          <a:p>
            <a:pPr marL="0" indent="0">
              <a:buNone/>
            </a:pPr>
            <a:r>
              <a:rPr lang="es-ES" dirty="0"/>
              <a:t>La baja rotación nos invita a cuestionar además la Razón de Solvencia, y el valor declarado del inventario ¿Por qué? </a:t>
            </a:r>
          </a:p>
          <a:p>
            <a:pPr marL="0" indent="0">
              <a:buNone/>
            </a:pPr>
            <a:r>
              <a:rPr lang="es-ES" dirty="0"/>
              <a:t>Parte del Inventario de Allied podría ser “obsoleto” y por ende sobrevaluado</a:t>
            </a:r>
          </a:p>
          <a:p>
            <a:pPr marL="0" indent="0">
              <a:buNone/>
            </a:pPr>
            <a:r>
              <a:rPr lang="es-ES" dirty="0"/>
              <a:t>¿Qué podemos decir del valor en el numerador y denominador de esta Razón?</a:t>
            </a:r>
          </a:p>
          <a:p>
            <a:pPr marL="0" indent="0">
              <a:buNone/>
            </a:pPr>
            <a:r>
              <a:rPr lang="es-ES" dirty="0"/>
              <a:t>Es recomendable en general no tomar la foto al 31/12 del Inventario, y sí su promedio anual.</a:t>
            </a:r>
          </a:p>
          <a:p>
            <a:pPr marL="0" indent="0">
              <a:buNone/>
            </a:pPr>
            <a:r>
              <a:rPr lang="es-ES" dirty="0"/>
              <a:t>Para ser comparable con el promedio de la industria debemos ser consistentes en las comparaciones</a:t>
            </a:r>
          </a:p>
          <a:p>
            <a:pPr marL="0" indent="0">
              <a:buNone/>
            </a:pPr>
            <a:endParaRPr lang="es-ES" dirty="0"/>
          </a:p>
        </p:txBody>
      </p:sp>
    </p:spTree>
    <p:extLst>
      <p:ext uri="{BB962C8B-B14F-4D97-AF65-F5344CB8AC3E}">
        <p14:creationId xmlns:p14="http://schemas.microsoft.com/office/powerpoint/2010/main" val="2854744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sz="2400" dirty="0"/>
                  <a:t>DÍAS DE VENTAS PENDIENTES DE COBRO (</a:t>
                </a:r>
                <a:r>
                  <a:rPr lang="es-AR" sz="2400" dirty="0" err="1"/>
                  <a:t>Days</a:t>
                </a:r>
                <a:r>
                  <a:rPr lang="es-AR" sz="2400" dirty="0"/>
                  <a:t> Sales </a:t>
                </a:r>
                <a:r>
                  <a:rPr lang="es-AR" sz="2400" dirty="0" err="1"/>
                  <a:t>Outstanding</a:t>
                </a:r>
                <a:r>
                  <a:rPr lang="es-AR" sz="2400" dirty="0"/>
                  <a:t>)</a:t>
                </a:r>
              </a:p>
              <a:p>
                <a:r>
                  <a:rPr lang="es-ES" sz="2400" dirty="0"/>
                  <a:t>Las cuentas por cobrar se evalúan con los DSO, también llamado </a:t>
                </a:r>
                <a:r>
                  <a:rPr lang="es-ES" sz="2400" dirty="0" err="1"/>
                  <a:t>average</a:t>
                </a:r>
                <a:r>
                  <a:rPr lang="es-ES" sz="2400" dirty="0"/>
                  <a:t> </a:t>
                </a:r>
                <a:r>
                  <a:rPr lang="es-ES" sz="2400" dirty="0" err="1"/>
                  <a:t>collection</a:t>
                </a:r>
                <a:r>
                  <a:rPr lang="es-ES" sz="2400" dirty="0"/>
                  <a:t> </a:t>
                </a:r>
                <a:r>
                  <a:rPr lang="es-ES" sz="2400" dirty="0" err="1"/>
                  <a:t>period</a:t>
                </a:r>
                <a:r>
                  <a:rPr lang="es-ES" sz="2400" dirty="0"/>
                  <a:t> (ACP)</a:t>
                </a:r>
              </a:p>
              <a:p>
                <a:r>
                  <a:rPr lang="es-ES" sz="2400" dirty="0"/>
                  <a:t>Es la relación entre las cuentas por cobrar y “un día promedio” de ventas</a:t>
                </a:r>
              </a:p>
              <a:p>
                <a:endParaRPr lang="es-ES" sz="2400" dirty="0"/>
              </a:p>
              <a:p>
                <a:pPr marL="0" indent="0">
                  <a:buNone/>
                </a:pPr>
                <a14:m>
                  <m:oMath xmlns:m="http://schemas.openxmlformats.org/officeDocument/2006/math">
                    <m:r>
                      <a:rPr lang="es-AR" sz="2400" b="0" i="1" smtClean="0">
                        <a:latin typeface="Cambria Math" panose="02040503050406030204" pitchFamily="18" charset="0"/>
                      </a:rPr>
                      <m:t>𝐷𝑆𝑂</m:t>
                    </m:r>
                    <m:r>
                      <a:rPr lang="es-AR" sz="2400" b="0" i="1" smtClean="0">
                        <a:latin typeface="Cambria Math" panose="02040503050406030204" pitchFamily="18" charset="0"/>
                      </a:rPr>
                      <m:t>= </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𝐶𝑢𝑒𝑛𝑡𝑎𝑠</m:t>
                        </m:r>
                        <m:r>
                          <a:rPr lang="es-AR" sz="2400" b="0" i="1" smtClean="0">
                            <a:latin typeface="Cambria Math" panose="02040503050406030204" pitchFamily="18" charset="0"/>
                          </a:rPr>
                          <m:t> </m:t>
                        </m:r>
                        <m:r>
                          <a:rPr lang="es-AR" sz="2400" b="0" i="1" smtClean="0">
                            <a:latin typeface="Cambria Math" panose="02040503050406030204" pitchFamily="18" charset="0"/>
                          </a:rPr>
                          <m:t>𝑝𝑜𝑟</m:t>
                        </m:r>
                        <m:r>
                          <a:rPr lang="es-AR" sz="2400" b="0" i="1" smtClean="0">
                            <a:latin typeface="Cambria Math" panose="02040503050406030204" pitchFamily="18" charset="0"/>
                          </a:rPr>
                          <m:t> </m:t>
                        </m:r>
                        <m:r>
                          <a:rPr lang="es-AR" sz="2400" b="0" i="1" smtClean="0">
                            <a:latin typeface="Cambria Math" panose="02040503050406030204" pitchFamily="18" charset="0"/>
                          </a:rPr>
                          <m:t>𝐶𝑜𝑏𝑟𝑎𝑟</m:t>
                        </m:r>
                      </m:num>
                      <m:den>
                        <m:r>
                          <a:rPr lang="es-AR" sz="2400" b="0" i="1" smtClean="0">
                            <a:latin typeface="Cambria Math" panose="02040503050406030204" pitchFamily="18" charset="0"/>
                          </a:rPr>
                          <m:t>𝑉𝑒𝑛𝑡𝑎</m:t>
                        </m:r>
                        <m:r>
                          <a:rPr lang="es-AR" sz="2400" b="0" i="1" smtClean="0">
                            <a:latin typeface="Cambria Math" panose="02040503050406030204" pitchFamily="18" charset="0"/>
                          </a:rPr>
                          <m:t> </m:t>
                        </m:r>
                        <m:r>
                          <a:rPr lang="es-AR" sz="2400" b="0" i="1" smtClean="0">
                            <a:latin typeface="Cambria Math" panose="02040503050406030204" pitchFamily="18" charset="0"/>
                          </a:rPr>
                          <m:t>𝑑𝑖𝑎𝑟𝑖𝑎</m:t>
                        </m:r>
                        <m:r>
                          <a:rPr lang="es-AR" sz="2400" b="0" i="1" smtClean="0">
                            <a:latin typeface="Cambria Math" panose="02040503050406030204" pitchFamily="18" charset="0"/>
                          </a:rPr>
                          <m:t> </m:t>
                        </m:r>
                        <m:r>
                          <a:rPr lang="es-AR" sz="2400" b="0" i="1" smtClean="0">
                            <a:latin typeface="Cambria Math" panose="02040503050406030204" pitchFamily="18" charset="0"/>
                          </a:rPr>
                          <m:t>𝑝𝑟𝑜𝑚𝑒𝑑𝑖𝑜</m:t>
                        </m:r>
                      </m:den>
                    </m:f>
                  </m:oMath>
                </a14:m>
                <a:r>
                  <a:rPr lang="es-ES" sz="2400" dirty="0"/>
                  <a:t> = </a:t>
                </a:r>
                <a14:m>
                  <m:oMath xmlns:m="http://schemas.openxmlformats.org/officeDocument/2006/math">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𝐶𝑢𝑒𝑛𝑡𝑎𝑠</m:t>
                        </m:r>
                        <m:r>
                          <a:rPr lang="es-AR" sz="2400" b="0" i="1" smtClean="0">
                            <a:latin typeface="Cambria Math" panose="02040503050406030204" pitchFamily="18" charset="0"/>
                          </a:rPr>
                          <m:t> </m:t>
                        </m:r>
                        <m:r>
                          <a:rPr lang="es-AR" sz="2400" b="0" i="1" smtClean="0">
                            <a:latin typeface="Cambria Math" panose="02040503050406030204" pitchFamily="18" charset="0"/>
                          </a:rPr>
                          <m:t>𝑝𝑜𝑟</m:t>
                        </m:r>
                        <m:r>
                          <a:rPr lang="es-AR" sz="2400" b="0" i="1" smtClean="0">
                            <a:latin typeface="Cambria Math" panose="02040503050406030204" pitchFamily="18" charset="0"/>
                          </a:rPr>
                          <m:t> </m:t>
                        </m:r>
                        <m:r>
                          <a:rPr lang="es-AR" sz="2400" b="0" i="1" smtClean="0">
                            <a:latin typeface="Cambria Math" panose="02040503050406030204" pitchFamily="18" charset="0"/>
                          </a:rPr>
                          <m:t>𝐶𝑜𝑏𝑟𝑎𝑟</m:t>
                        </m:r>
                      </m:num>
                      <m:den>
                        <m:r>
                          <a:rPr lang="es-AR" sz="2400" b="0" i="1" smtClean="0">
                            <a:latin typeface="Cambria Math" panose="02040503050406030204" pitchFamily="18" charset="0"/>
                          </a:rPr>
                          <m:t>𝑉𝑒𝑛𝑡𝑎𝑠</m:t>
                        </m:r>
                        <m:r>
                          <a:rPr lang="es-AR" sz="2400" b="0" i="1" smtClean="0">
                            <a:latin typeface="Cambria Math" panose="02040503050406030204" pitchFamily="18" charset="0"/>
                          </a:rPr>
                          <m:t> </m:t>
                        </m:r>
                        <m:r>
                          <a:rPr lang="es-AR" sz="2400" b="0" i="1" smtClean="0">
                            <a:latin typeface="Cambria Math" panose="02040503050406030204" pitchFamily="18" charset="0"/>
                          </a:rPr>
                          <m:t>𝑎𝑛𝑢𝑎𝑙𝑒𝑠</m:t>
                        </m:r>
                        <m:r>
                          <a:rPr lang="es-AR" sz="2400" b="0" i="1" smtClean="0">
                            <a:latin typeface="Cambria Math" panose="02040503050406030204" pitchFamily="18" charset="0"/>
                          </a:rPr>
                          <m:t>/365</m:t>
                        </m:r>
                      </m:den>
                    </m:f>
                  </m:oMath>
                </a14:m>
                <a:r>
                  <a:rPr lang="es-ES" sz="2400" dirty="0"/>
                  <a:t> </a:t>
                </a:r>
              </a:p>
              <a:p>
                <a:pPr marL="0" indent="0">
                  <a:buNone/>
                </a:pPr>
                <a14:m>
                  <m:oMath xmlns:m="http://schemas.openxmlformats.org/officeDocument/2006/math">
                    <m:r>
                      <a:rPr lang="es-AR" sz="2400" b="0" i="1" smtClean="0">
                        <a:latin typeface="Cambria Math" panose="02040503050406030204" pitchFamily="18" charset="0"/>
                      </a:rPr>
                      <m:t>𝐷𝑆𝑂𝐴𝑙𝑙𝑖𝑒𝑑</m:t>
                    </m:r>
                  </m:oMath>
                </a14:m>
                <a:r>
                  <a:rPr lang="es-ES" sz="2400" dirty="0"/>
                  <a:t> = </a:t>
                </a:r>
                <a14:m>
                  <m:oMath xmlns:m="http://schemas.openxmlformats.org/officeDocument/2006/math">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375</m:t>
                        </m:r>
                      </m:num>
                      <m:den>
                        <m:r>
                          <a:rPr lang="es-AR" sz="2400" b="0" i="1" smtClean="0">
                            <a:latin typeface="Cambria Math" panose="02040503050406030204" pitchFamily="18" charset="0"/>
                          </a:rPr>
                          <m:t>3.000/365</m:t>
                        </m:r>
                      </m:den>
                    </m:f>
                    <m:r>
                      <a:rPr lang="es-AR" sz="2400" b="0" i="1" smtClean="0">
                        <a:latin typeface="Cambria Math" panose="02040503050406030204" pitchFamily="18" charset="0"/>
                      </a:rPr>
                      <m:t>=45,625 </m:t>
                    </m:r>
                    <m:r>
                      <a:rPr lang="es-AR" sz="2400" b="0" i="1" smtClean="0">
                        <a:latin typeface="Cambria Math" panose="02040503050406030204" pitchFamily="18" charset="0"/>
                      </a:rPr>
                      <m:t>𝑑</m:t>
                    </m:r>
                    <m:r>
                      <a:rPr lang="es-AR" sz="2400" b="0" i="1" smtClean="0">
                        <a:latin typeface="Cambria Math" panose="02040503050406030204" pitchFamily="18" charset="0"/>
                      </a:rPr>
                      <m:t>í</m:t>
                    </m:r>
                    <m:r>
                      <a:rPr lang="es-AR" sz="2400" b="0" i="1" smtClean="0">
                        <a:latin typeface="Cambria Math" panose="02040503050406030204" pitchFamily="18" charset="0"/>
                      </a:rPr>
                      <m:t>𝑎𝑠</m:t>
                    </m:r>
                    <m:r>
                      <a:rPr lang="es-AR" sz="2400" b="0" i="1" smtClean="0">
                        <a:latin typeface="Cambria Math" panose="02040503050406030204" pitchFamily="18" charset="0"/>
                      </a:rPr>
                      <m:t> </m:t>
                    </m:r>
                    <m:r>
                      <a:rPr lang="es-AR" sz="2400" b="0" i="1" smtClean="0">
                        <a:latin typeface="Cambria Math" panose="02040503050406030204" pitchFamily="18" charset="0"/>
                      </a:rPr>
                      <m:t>𝑜</m:t>
                    </m:r>
                    <m:r>
                      <a:rPr lang="es-AR" sz="2400" b="0" i="1" smtClean="0">
                        <a:latin typeface="Cambria Math" panose="02040503050406030204" pitchFamily="18" charset="0"/>
                      </a:rPr>
                      <m:t> 46 </m:t>
                    </m:r>
                    <m:r>
                      <a:rPr lang="es-AR" sz="2400" b="0" i="1" smtClean="0">
                        <a:latin typeface="Cambria Math" panose="02040503050406030204" pitchFamily="18" charset="0"/>
                      </a:rPr>
                      <m:t>𝑑</m:t>
                    </m:r>
                    <m:r>
                      <a:rPr lang="es-AR" sz="2400" b="0" i="1" smtClean="0">
                        <a:latin typeface="Cambria Math" panose="02040503050406030204" pitchFamily="18" charset="0"/>
                      </a:rPr>
                      <m:t>í</m:t>
                    </m:r>
                    <m:r>
                      <a:rPr lang="es-AR" sz="2400" b="0" i="1" smtClean="0">
                        <a:latin typeface="Cambria Math" panose="02040503050406030204" pitchFamily="18" charset="0"/>
                      </a:rPr>
                      <m:t>𝑎𝑠</m:t>
                    </m:r>
                  </m:oMath>
                </a14:m>
                <a:endParaRPr lang="es-ES" sz="2400" dirty="0"/>
              </a:p>
              <a:p>
                <a:pPr marL="0" indent="0">
                  <a:buNone/>
                </a:pPr>
                <a:endParaRPr lang="es-ES" sz="2400" dirty="0"/>
              </a:p>
              <a:p>
                <a:pPr marL="0" indent="0">
                  <a:buNone/>
                </a:pPr>
                <a:r>
                  <a:rPr lang="es-ES" sz="2400" dirty="0"/>
                  <a:t>El Promedio de la Industria es de 36 días</a:t>
                </a:r>
              </a:p>
              <a:p>
                <a:pPr marL="0" indent="0">
                  <a:buNone/>
                </a:pPr>
                <a:endParaRPr lang="es-ES" sz="2400"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28" t="-1961" b="-2241"/>
                </a:stretch>
              </a:blipFill>
            </p:spPr>
            <p:txBody>
              <a:bodyPr/>
              <a:lstStyle/>
              <a:p>
                <a:r>
                  <a:rPr lang="es-ES">
                    <a:noFill/>
                  </a:rPr>
                  <a:t> </a:t>
                </a:r>
              </a:p>
            </p:txBody>
          </p:sp>
        </mc:Fallback>
      </mc:AlternateContent>
    </p:spTree>
    <p:extLst>
      <p:ext uri="{BB962C8B-B14F-4D97-AF65-F5344CB8AC3E}">
        <p14:creationId xmlns:p14="http://schemas.microsoft.com/office/powerpoint/2010/main" val="493701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85000" lnSpcReduction="20000"/>
          </a:bodyPr>
          <a:lstStyle/>
          <a:p>
            <a:pPr marL="0" indent="0">
              <a:buNone/>
            </a:pPr>
            <a:r>
              <a:rPr lang="es-AR" dirty="0"/>
              <a:t>DÍAS DE VENTAS PENDIENTES DE COBRO (</a:t>
            </a:r>
            <a:r>
              <a:rPr lang="es-AR" dirty="0" err="1"/>
              <a:t>Days</a:t>
            </a:r>
            <a:r>
              <a:rPr lang="es-AR" dirty="0"/>
              <a:t> Sales </a:t>
            </a:r>
            <a:r>
              <a:rPr lang="es-AR" dirty="0" err="1"/>
              <a:t>Outstanding</a:t>
            </a:r>
            <a:r>
              <a:rPr lang="es-AR" dirty="0"/>
              <a:t>)</a:t>
            </a:r>
          </a:p>
          <a:p>
            <a:pPr marL="0" indent="0">
              <a:buNone/>
            </a:pPr>
            <a:endParaRPr lang="es-ES" dirty="0"/>
          </a:p>
          <a:p>
            <a:pPr marL="0" indent="0">
              <a:buNone/>
            </a:pPr>
            <a:r>
              <a:rPr lang="es-ES" dirty="0"/>
              <a:t>La comparación no debe ser sólo contra la Industria sino también contra las condiciones ofrecida a los clientes. Allied ofrece 30 días, muy inferior a los 46 que observamos. Impide reducir préstamos bancarios u otro tipo costoso de Capital</a:t>
            </a:r>
          </a:p>
          <a:p>
            <a:pPr marL="0" indent="0">
              <a:buNone/>
            </a:pPr>
            <a:endParaRPr lang="es-ES" dirty="0"/>
          </a:p>
          <a:p>
            <a:pPr marL="0" indent="0">
              <a:buNone/>
            </a:pPr>
            <a:r>
              <a:rPr lang="es-ES" dirty="0"/>
              <a:t>Si hay clientes que pagan en término, hay otros que pagan con mucha más demora y aumenta el Riesgo de Incobrabilidad. Si el 85% de los clientes pagan a término, ¿cuál es la demora del 15% restante? Aproximadamente 137 días.</a:t>
            </a:r>
          </a:p>
          <a:p>
            <a:pPr marL="0" indent="0">
              <a:buNone/>
            </a:pPr>
            <a:r>
              <a:rPr lang="es-ES" dirty="0"/>
              <a:t>Necesidad de cavar más a fondo en la información</a:t>
            </a:r>
          </a:p>
          <a:p>
            <a:pPr marL="0" indent="0">
              <a:buNone/>
            </a:pPr>
            <a:endParaRPr lang="es-ES" dirty="0"/>
          </a:p>
          <a:p>
            <a:pPr marL="0" indent="0">
              <a:buNone/>
            </a:pPr>
            <a:r>
              <a:rPr lang="es-ES" dirty="0"/>
              <a:t>La tendencia versus 2017 ha empeorado en Allied, habrá que revisar qué hacer para reducir los DSO</a:t>
            </a:r>
          </a:p>
        </p:txBody>
      </p:sp>
    </p:spTree>
    <p:extLst>
      <p:ext uri="{BB962C8B-B14F-4D97-AF65-F5344CB8AC3E}">
        <p14:creationId xmlns:p14="http://schemas.microsoft.com/office/powerpoint/2010/main" val="1118956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77500" lnSpcReduction="20000"/>
              </a:bodyPr>
              <a:lstStyle/>
              <a:p>
                <a:pPr marL="0" indent="0">
                  <a:buNone/>
                </a:pPr>
                <a:r>
                  <a:rPr lang="es-AR" sz="2400" dirty="0"/>
                  <a:t>RAZÓN DE ROTACIÓN DEL ACTIVO FIJO</a:t>
                </a:r>
              </a:p>
              <a:p>
                <a:r>
                  <a:rPr lang="es-ES" sz="2600" dirty="0"/>
                  <a:t>Relación entre Ventas y Activo fijo neto, mide la eficiencia de la empresa en el uso de su planta y equipo</a:t>
                </a:r>
              </a:p>
              <a:p>
                <a:pPr marL="0" indent="0">
                  <a:buNone/>
                </a:pPr>
                <a14:m>
                  <m:oMathPara xmlns:m="http://schemas.openxmlformats.org/officeDocument/2006/math">
                    <m:oMathParaPr>
                      <m:jc m:val="left"/>
                    </m:oMathParaPr>
                    <m:oMath xmlns:m="http://schemas.openxmlformats.org/officeDocument/2006/math">
                      <m:r>
                        <a:rPr lang="es-AR" sz="2600" b="0" i="1" smtClean="0">
                          <a:latin typeface="Cambria Math" panose="02040503050406030204" pitchFamily="18" charset="0"/>
                        </a:rPr>
                        <m:t>𝑅𝑎𝑧</m:t>
                      </m:r>
                      <m:r>
                        <a:rPr lang="es-AR" sz="2600" b="0" i="1" smtClean="0">
                          <a:latin typeface="Cambria Math" panose="02040503050406030204" pitchFamily="18" charset="0"/>
                        </a:rPr>
                        <m:t>ó</m:t>
                      </m:r>
                      <m:r>
                        <a:rPr lang="es-AR" sz="2600" b="0" i="1" smtClean="0">
                          <a:latin typeface="Cambria Math" panose="02040503050406030204" pitchFamily="18" charset="0"/>
                        </a:rPr>
                        <m:t>𝑛</m:t>
                      </m:r>
                      <m:r>
                        <a:rPr lang="es-AR" sz="2600" b="0" i="1" smtClean="0">
                          <a:latin typeface="Cambria Math" panose="02040503050406030204" pitchFamily="18" charset="0"/>
                        </a:rPr>
                        <m:t> </m:t>
                      </m:r>
                      <m:r>
                        <a:rPr lang="es-AR" sz="2600" b="0" i="1" smtClean="0">
                          <a:latin typeface="Cambria Math" panose="02040503050406030204" pitchFamily="18" charset="0"/>
                        </a:rPr>
                        <m:t>𝑑𝑒</m:t>
                      </m:r>
                      <m:r>
                        <a:rPr lang="es-AR" sz="2600" b="0" i="1" smtClean="0">
                          <a:latin typeface="Cambria Math" panose="02040503050406030204" pitchFamily="18" charset="0"/>
                        </a:rPr>
                        <m:t> </m:t>
                      </m:r>
                      <m:r>
                        <a:rPr lang="es-AR" sz="2600" b="0" i="1" smtClean="0">
                          <a:latin typeface="Cambria Math" panose="02040503050406030204" pitchFamily="18" charset="0"/>
                        </a:rPr>
                        <m:t>𝑟𝑜𝑡𝑎𝑐𝑖</m:t>
                      </m:r>
                      <m:r>
                        <a:rPr lang="es-AR" sz="2600" b="0" i="1" smtClean="0">
                          <a:latin typeface="Cambria Math" panose="02040503050406030204" pitchFamily="18" charset="0"/>
                        </a:rPr>
                        <m:t>ó</m:t>
                      </m:r>
                      <m:r>
                        <a:rPr lang="es-AR" sz="2600" b="0" i="1" smtClean="0">
                          <a:latin typeface="Cambria Math" panose="02040503050406030204" pitchFamily="18" charset="0"/>
                        </a:rPr>
                        <m:t>𝑛</m:t>
                      </m:r>
                      <m:r>
                        <a:rPr lang="es-AR" sz="2600" b="0" i="1" smtClean="0">
                          <a:latin typeface="Cambria Math" panose="02040503050406030204" pitchFamily="18" charset="0"/>
                        </a:rPr>
                        <m:t> </m:t>
                      </m:r>
                      <m:r>
                        <a:rPr lang="es-AR" sz="2600" b="0" i="1" smtClean="0">
                          <a:latin typeface="Cambria Math" panose="02040503050406030204" pitchFamily="18" charset="0"/>
                        </a:rPr>
                        <m:t>𝑑𝑒𝑙</m:t>
                      </m:r>
                      <m:r>
                        <a:rPr lang="es-AR" sz="2600" b="0" i="1" smtClean="0">
                          <a:latin typeface="Cambria Math" panose="02040503050406030204" pitchFamily="18" charset="0"/>
                        </a:rPr>
                        <m:t> </m:t>
                      </m:r>
                      <m:r>
                        <a:rPr lang="es-AR" sz="2600" b="0" i="1" smtClean="0">
                          <a:latin typeface="Cambria Math" panose="02040503050406030204" pitchFamily="18" charset="0"/>
                        </a:rPr>
                        <m:t>𝑎𝑐𝑡𝑖𝑣𝑜</m:t>
                      </m:r>
                      <m:r>
                        <a:rPr lang="es-AR" sz="2600" b="0" i="1" smtClean="0">
                          <a:latin typeface="Cambria Math" panose="02040503050406030204" pitchFamily="18" charset="0"/>
                        </a:rPr>
                        <m:t> </m:t>
                      </m:r>
                      <m:r>
                        <a:rPr lang="es-AR" sz="2600" b="0" i="1" smtClean="0">
                          <a:latin typeface="Cambria Math" panose="02040503050406030204" pitchFamily="18" charset="0"/>
                        </a:rPr>
                        <m:t>𝑓𝑖𝑗𝑜</m:t>
                      </m:r>
                      <m:r>
                        <a:rPr lang="es-AR" sz="2600" b="0" i="1" smtClean="0">
                          <a:latin typeface="Cambria Math" panose="02040503050406030204" pitchFamily="18" charset="0"/>
                        </a:rPr>
                        <m:t>= </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𝑣𝑒𝑛𝑡𝑎𝑠</m:t>
                          </m:r>
                        </m:num>
                        <m:den>
                          <m:r>
                            <a:rPr lang="es-AR" sz="2600" b="0" i="1" smtClean="0">
                              <a:latin typeface="Cambria Math" panose="02040503050406030204" pitchFamily="18" charset="0"/>
                            </a:rPr>
                            <m:t>𝑎𝑐𝑡𝑖𝑣𝑜</m:t>
                          </m:r>
                          <m:r>
                            <a:rPr lang="es-AR" sz="2600" b="0" i="1" smtClean="0">
                              <a:latin typeface="Cambria Math" panose="02040503050406030204" pitchFamily="18" charset="0"/>
                            </a:rPr>
                            <m:t> </m:t>
                          </m:r>
                          <m:r>
                            <a:rPr lang="es-AR" sz="2600" b="0" i="1" smtClean="0">
                              <a:latin typeface="Cambria Math" panose="02040503050406030204" pitchFamily="18" charset="0"/>
                            </a:rPr>
                            <m:t>𝑓𝑖𝑗𝑜</m:t>
                          </m:r>
                          <m:r>
                            <a:rPr lang="es-AR" sz="2600" b="0" i="1" smtClean="0">
                              <a:latin typeface="Cambria Math" panose="02040503050406030204" pitchFamily="18" charset="0"/>
                            </a:rPr>
                            <m:t> </m:t>
                          </m:r>
                          <m:r>
                            <a:rPr lang="es-AR" sz="2600" b="0" i="1" smtClean="0">
                              <a:latin typeface="Cambria Math" panose="02040503050406030204" pitchFamily="18" charset="0"/>
                            </a:rPr>
                            <m:t>𝑛𝑒𝑡𝑜</m:t>
                          </m:r>
                        </m:den>
                      </m:f>
                    </m:oMath>
                  </m:oMathPara>
                </a14:m>
                <a:endParaRPr lang="es-AR" sz="2600" b="0" dirty="0"/>
              </a:p>
              <a:p>
                <a:pPr marL="0" indent="0">
                  <a:buNone/>
                </a:pPr>
                <a:r>
                  <a:rPr lang="es-ES" sz="2600" dirty="0"/>
                  <a:t> 				        </a:t>
                </a:r>
                <a14:m>
                  <m:oMath xmlns:m="http://schemas.openxmlformats.org/officeDocument/2006/math">
                    <m:r>
                      <a:rPr lang="es-AR" sz="2600" b="0" i="1" smtClean="0">
                        <a:latin typeface="Cambria Math" panose="02040503050406030204" pitchFamily="18" charset="0"/>
                      </a:rPr>
                      <m:t>𝐴𝑙𝑙𝑖𝑒𝑑</m:t>
                    </m:r>
                    <m:r>
                      <a:rPr lang="es-AR" sz="2600" b="0" i="1" smtClean="0">
                        <a:latin typeface="Cambria Math" panose="02040503050406030204" pitchFamily="18" charset="0"/>
                      </a:rPr>
                      <m:t>= </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3.000</m:t>
                        </m:r>
                      </m:num>
                      <m:den>
                        <m:r>
                          <a:rPr lang="es-AR" sz="2600" b="0" i="1" smtClean="0">
                            <a:latin typeface="Cambria Math" panose="02040503050406030204" pitchFamily="18" charset="0"/>
                          </a:rPr>
                          <m:t>1.000</m:t>
                        </m:r>
                      </m:den>
                    </m:f>
                  </m:oMath>
                </a14:m>
                <a:r>
                  <a:rPr lang="es-ES" sz="2600" dirty="0"/>
                  <a:t> = 3,0 X </a:t>
                </a:r>
              </a:p>
              <a:p>
                <a:pPr marL="0" indent="0">
                  <a:buNone/>
                </a:pPr>
                <a:r>
                  <a:rPr lang="es-ES" sz="2600" dirty="0"/>
                  <a:t>Siendo el promedio de la industria del 2,8 X</a:t>
                </a:r>
              </a:p>
              <a:p>
                <a:pPr marL="0" indent="0">
                  <a:buNone/>
                </a:pPr>
                <a:r>
                  <a:rPr lang="es-ES" sz="2600" dirty="0"/>
                  <a:t>Allied usa mejor su activo fijo que el promedio de la Industria, e indicaría que tiene el Activo Fijo adecuado para sus ventas. ¿Es necesariamente así?</a:t>
                </a:r>
              </a:p>
              <a:p>
                <a:pPr marL="0" indent="0">
                  <a:buNone/>
                </a:pPr>
                <a:endParaRPr lang="es-ES" sz="2600" dirty="0"/>
              </a:p>
              <a:p>
                <a:pPr marL="0" indent="0" algn="ctr">
                  <a:buNone/>
                </a:pPr>
                <a:r>
                  <a:rPr lang="es-ES" sz="2600" dirty="0"/>
                  <a:t>Problemas potenciales con inflación</a:t>
                </a:r>
              </a:p>
              <a:p>
                <a:r>
                  <a:rPr lang="es-ES" sz="2100" dirty="0"/>
                  <a:t>Activos Fijos a Valor histórico menos depreciación</a:t>
                </a:r>
              </a:p>
              <a:p>
                <a:r>
                  <a:rPr lang="es-ES" sz="2100" dirty="0"/>
                  <a:t>Empresas antiguas versus nuevas, razones NO comparables</a:t>
                </a:r>
              </a:p>
              <a:p>
                <a:r>
                  <a:rPr lang="es-ES" sz="2100" dirty="0"/>
                  <a:t>No debemos confundirnos al comparar ¿cómo se les ocurre que podemos eliminar la distorsión?</a:t>
                </a:r>
                <a:endParaRPr lang="es-ES" sz="2400"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638" t="-2381" b="-700"/>
                </a:stretch>
              </a:blipFill>
            </p:spPr>
            <p:txBody>
              <a:bodyPr/>
              <a:lstStyle/>
              <a:p>
                <a:r>
                  <a:rPr lang="es-ES">
                    <a:noFill/>
                  </a:rPr>
                  <a:t> </a:t>
                </a:r>
              </a:p>
            </p:txBody>
          </p:sp>
        </mc:Fallback>
      </mc:AlternateContent>
    </p:spTree>
    <p:extLst>
      <p:ext uri="{BB962C8B-B14F-4D97-AF65-F5344CB8AC3E}">
        <p14:creationId xmlns:p14="http://schemas.microsoft.com/office/powerpoint/2010/main" val="950450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85000" lnSpcReduction="10000"/>
              </a:bodyPr>
              <a:lstStyle/>
              <a:p>
                <a:pPr marL="0" indent="0">
                  <a:buNone/>
                </a:pPr>
                <a:r>
                  <a:rPr lang="es-AR" dirty="0"/>
                  <a:t>RAZÓN DE ROTACIÓN DEL ACTIVO CONTABLE</a:t>
                </a:r>
              </a:p>
              <a:p>
                <a:endParaRPr lang="es-ES" dirty="0"/>
              </a:p>
              <a:p>
                <a:pPr marL="0" indent="0">
                  <a:buNone/>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𝑅𝑎𝑧</m:t>
                      </m:r>
                      <m:r>
                        <a:rPr lang="es-AR" b="0" i="1" smtClean="0">
                          <a:latin typeface="Cambria Math" panose="02040503050406030204" pitchFamily="18" charset="0"/>
                        </a:rPr>
                        <m:t>ó</m:t>
                      </m:r>
                      <m:r>
                        <a:rPr lang="es-AR" b="0" i="1" smtClean="0">
                          <a:latin typeface="Cambria Math" panose="02040503050406030204" pitchFamily="18" charset="0"/>
                        </a:rPr>
                        <m:t>𝑛</m:t>
                      </m:r>
                      <m:r>
                        <a:rPr lang="es-AR" b="0" i="1" smtClean="0">
                          <a:latin typeface="Cambria Math" panose="02040503050406030204" pitchFamily="18" charset="0"/>
                        </a:rPr>
                        <m:t> </m:t>
                      </m:r>
                      <m:r>
                        <a:rPr lang="es-AR" b="0" i="1" smtClean="0">
                          <a:latin typeface="Cambria Math" panose="02040503050406030204" pitchFamily="18" charset="0"/>
                        </a:rPr>
                        <m:t>𝑑𝑒</m:t>
                      </m:r>
                      <m:r>
                        <a:rPr lang="es-AR" b="0" i="1" smtClean="0">
                          <a:latin typeface="Cambria Math" panose="02040503050406030204" pitchFamily="18" charset="0"/>
                        </a:rPr>
                        <m:t> </m:t>
                      </m:r>
                      <m:r>
                        <a:rPr lang="es-AR" b="0" i="1" smtClean="0">
                          <a:latin typeface="Cambria Math" panose="02040503050406030204" pitchFamily="18" charset="0"/>
                        </a:rPr>
                        <m:t>𝑟𝑜𝑡𝑎𝑐𝑖</m:t>
                      </m:r>
                      <m:r>
                        <a:rPr lang="es-AR" b="0" i="1" smtClean="0">
                          <a:latin typeface="Cambria Math" panose="02040503050406030204" pitchFamily="18" charset="0"/>
                        </a:rPr>
                        <m:t>ó</m:t>
                      </m:r>
                      <m:r>
                        <a:rPr lang="es-AR" b="0" i="1" smtClean="0">
                          <a:latin typeface="Cambria Math" panose="02040503050406030204" pitchFamily="18" charset="0"/>
                        </a:rPr>
                        <m:t>𝑛</m:t>
                      </m:r>
                      <m:r>
                        <a:rPr lang="es-AR" b="0" i="1" smtClean="0">
                          <a:latin typeface="Cambria Math" panose="02040503050406030204" pitchFamily="18" charset="0"/>
                        </a:rPr>
                        <m:t> </m:t>
                      </m:r>
                      <m:r>
                        <a:rPr lang="es-AR" b="0" i="1" smtClean="0">
                          <a:latin typeface="Cambria Math" panose="02040503050406030204" pitchFamily="18" charset="0"/>
                        </a:rPr>
                        <m:t>𝑑𝑒𝑙</m:t>
                      </m:r>
                      <m:r>
                        <a:rPr lang="es-AR" b="0" i="1" smtClean="0">
                          <a:latin typeface="Cambria Math" panose="02040503050406030204" pitchFamily="18" charset="0"/>
                        </a:rPr>
                        <m:t> </m:t>
                      </m:r>
                      <m:r>
                        <a:rPr lang="es-AR" b="0" i="1" smtClean="0">
                          <a:latin typeface="Cambria Math" panose="02040503050406030204" pitchFamily="18" charset="0"/>
                        </a:rPr>
                        <m:t>𝑎𝑐𝑡𝑖𝑣𝑜</m:t>
                      </m:r>
                      <m:r>
                        <a:rPr lang="es-AR" b="0" i="1" smtClean="0">
                          <a:latin typeface="Cambria Math" panose="02040503050406030204" pitchFamily="18" charset="0"/>
                        </a:rPr>
                        <m:t> </m:t>
                      </m:r>
                      <m:r>
                        <a:rPr lang="es-AR" b="0" i="1" smtClean="0">
                          <a:latin typeface="Cambria Math" panose="02040503050406030204" pitchFamily="18" charset="0"/>
                        </a:rPr>
                        <m:t>𝑐𝑜𝑛𝑡𝑎𝑏𝑙𝑒</m:t>
                      </m:r>
                      <m:r>
                        <a:rPr lang="es-AR" b="0" i="1" smtClean="0">
                          <a:latin typeface="Cambria Math" panose="02040503050406030204" pitchFamily="18" charset="0"/>
                        </a:rPr>
                        <m:t>= </m:t>
                      </m:r>
                      <m:f>
                        <m:fPr>
                          <m:ctrlPr>
                            <a:rPr lang="es-AR" b="0" i="1" smtClean="0">
                              <a:latin typeface="Cambria Math" panose="02040503050406030204" pitchFamily="18" charset="0"/>
                            </a:rPr>
                          </m:ctrlPr>
                        </m:fPr>
                        <m:num>
                          <m:r>
                            <a:rPr lang="es-AR" b="0" i="1" smtClean="0">
                              <a:latin typeface="Cambria Math" panose="02040503050406030204" pitchFamily="18" charset="0"/>
                            </a:rPr>
                            <m:t>𝑣𝑒𝑛𝑡𝑎𝑠</m:t>
                          </m:r>
                        </m:num>
                        <m:den>
                          <m:r>
                            <a:rPr lang="es-AR" b="0" i="1" smtClean="0">
                              <a:latin typeface="Cambria Math" panose="02040503050406030204" pitchFamily="18" charset="0"/>
                            </a:rPr>
                            <m:t>𝑎𝑐𝑡𝑖𝑣𝑜</m:t>
                          </m:r>
                          <m:r>
                            <a:rPr lang="es-AR" b="0" i="1" smtClean="0">
                              <a:latin typeface="Cambria Math" panose="02040503050406030204" pitchFamily="18" charset="0"/>
                            </a:rPr>
                            <m:t> </m:t>
                          </m:r>
                          <m:r>
                            <a:rPr lang="es-AR" b="0" i="1" smtClean="0">
                              <a:latin typeface="Cambria Math" panose="02040503050406030204" pitchFamily="18" charset="0"/>
                            </a:rPr>
                            <m:t>𝑐𝑜𝑛𝑡𝑎𝑏𝑙𝑒</m:t>
                          </m:r>
                        </m:den>
                      </m:f>
                    </m:oMath>
                  </m:oMathPara>
                </a14:m>
                <a:endParaRPr lang="es-ES" dirty="0"/>
              </a:p>
              <a:p>
                <a:pPr marL="0" indent="0">
                  <a:buNone/>
                </a:pPr>
                <a:endParaRPr lang="es-ES" dirty="0"/>
              </a:p>
              <a:p>
                <a:pPr marL="0" indent="0">
                  <a:buNone/>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𝐴𝑙𝑙𝑖𝑒𝑑</m:t>
                      </m:r>
                      <m:r>
                        <a:rPr lang="es-AR" b="0" i="1" smtClean="0">
                          <a:latin typeface="Cambria Math" panose="02040503050406030204" pitchFamily="18" charset="0"/>
                        </a:rPr>
                        <m:t>= </m:t>
                      </m:r>
                      <m:f>
                        <m:fPr>
                          <m:ctrlPr>
                            <a:rPr lang="es-AR" b="0" i="1" smtClean="0">
                              <a:latin typeface="Cambria Math" panose="02040503050406030204" pitchFamily="18" charset="0"/>
                            </a:rPr>
                          </m:ctrlPr>
                        </m:fPr>
                        <m:num>
                          <m:r>
                            <a:rPr lang="es-AR" b="0" i="1" smtClean="0">
                              <a:latin typeface="Cambria Math" panose="02040503050406030204" pitchFamily="18" charset="0"/>
                            </a:rPr>
                            <m:t>3.000</m:t>
                          </m:r>
                        </m:num>
                        <m:den>
                          <m:r>
                            <a:rPr lang="es-AR" b="0" i="1" smtClean="0">
                              <a:latin typeface="Cambria Math" panose="02040503050406030204" pitchFamily="18" charset="0"/>
                            </a:rPr>
                            <m:t>2.000</m:t>
                          </m:r>
                        </m:den>
                      </m:f>
                      <m:r>
                        <a:rPr lang="es-AR" b="0" i="1" smtClean="0">
                          <a:latin typeface="Cambria Math" panose="02040503050406030204" pitchFamily="18" charset="0"/>
                        </a:rPr>
                        <m:t>=1,5 </m:t>
                      </m:r>
                      <m:r>
                        <a:rPr lang="es-AR" b="0" i="1" smtClean="0">
                          <a:latin typeface="Cambria Math" panose="02040503050406030204" pitchFamily="18" charset="0"/>
                        </a:rPr>
                        <m:t>𝑋</m:t>
                      </m:r>
                    </m:oMath>
                  </m:oMathPara>
                </a14:m>
                <a:endParaRPr lang="es-AR" b="0" dirty="0"/>
              </a:p>
              <a:p>
                <a:pPr marL="0" indent="0">
                  <a:buNone/>
                </a:pPr>
                <a:r>
                  <a:rPr lang="es-ES" dirty="0"/>
                  <a:t>Promedio Industria 1,8 X</a:t>
                </a:r>
              </a:p>
              <a:p>
                <a:pPr marL="0" indent="0">
                  <a:buNone/>
                </a:pPr>
                <a:r>
                  <a:rPr lang="es-ES" dirty="0" err="1"/>
                  <a:t>Allied</a:t>
                </a:r>
                <a:r>
                  <a:rPr lang="es-ES" dirty="0"/>
                  <a:t> está por debajo del promedio. Como la rotación del Activo Fijo era satisfactoria, volvemos a ver que su problema viene del Activo Circulante, el excesivo Inventario que posee y las demoras en cobrar sus cuentas.</a:t>
                </a:r>
              </a:p>
              <a:p>
                <a:pPr marL="0" indent="0" algn="ctr">
                  <a:buNone/>
                </a:pPr>
                <a:r>
                  <a:rPr lang="es-ES" dirty="0"/>
                  <a:t>Aquí vemos claramente, cómo el análisis nos muestra las acciones a emprender</a:t>
                </a:r>
              </a:p>
              <a:p>
                <a:pPr marL="0" indent="0">
                  <a:buNone/>
                </a:pPr>
                <a:endParaRPr lang="es-ES" dirty="0"/>
              </a:p>
              <a:p>
                <a:pPr marL="0" indent="0">
                  <a:buNone/>
                </a:pPr>
                <a:endParaRPr lang="es-ES"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28" t="-2661" b="-1681"/>
                </a:stretch>
              </a:blipFill>
            </p:spPr>
            <p:txBody>
              <a:bodyPr/>
              <a:lstStyle/>
              <a:p>
                <a:r>
                  <a:rPr lang="es-ES">
                    <a:noFill/>
                  </a:rPr>
                  <a:t> </a:t>
                </a:r>
              </a:p>
            </p:txBody>
          </p:sp>
        </mc:Fallback>
      </mc:AlternateContent>
    </p:spTree>
    <p:extLst>
      <p:ext uri="{BB962C8B-B14F-4D97-AF65-F5344CB8AC3E}">
        <p14:creationId xmlns:p14="http://schemas.microsoft.com/office/powerpoint/2010/main" val="950631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20000"/>
          </a:bodyPr>
          <a:lstStyle/>
          <a:p>
            <a:pPr marL="0" indent="0">
              <a:buNone/>
            </a:pPr>
            <a:r>
              <a:rPr lang="es-AR" dirty="0"/>
              <a:t>RAZONES DE ADMINISTRACIÓN DE DEUDA</a:t>
            </a:r>
          </a:p>
          <a:p>
            <a:r>
              <a:rPr lang="es-ES" dirty="0"/>
              <a:t>El uso de deuda incrementa o apalanca el ROE, en la medida que gane de sus Activos más que la tasa de interés que paga. </a:t>
            </a:r>
          </a:p>
          <a:p>
            <a:r>
              <a:rPr lang="es-ES" dirty="0"/>
              <a:t>Sin embargo, una empresa se vuelve más riesgosa a medida que incrementa su Deuda en lugar de financiarse con Capital Propio. </a:t>
            </a:r>
          </a:p>
          <a:p>
            <a:r>
              <a:rPr lang="es-ES" dirty="0"/>
              <a:t>Por ello analizamos las razones de Administración de la Deuda</a:t>
            </a:r>
          </a:p>
          <a:p>
            <a:r>
              <a:rPr lang="es-ES" dirty="0"/>
              <a:t>Veamos en el Excel con dos compañías idénticas, una sin deuda y la otra con deuda</a:t>
            </a:r>
          </a:p>
          <a:p>
            <a:r>
              <a:rPr lang="es-ES" dirty="0"/>
              <a:t>Las empresas apalancadas tienen rendimientos esperados más elevados cuando la economía es normal, pero se exponen a pérdidas y riesgo de quiebras en períodos recesivos (persiste la pérdida hasta consumirse el capital)</a:t>
            </a:r>
          </a:p>
        </p:txBody>
      </p:sp>
    </p:spTree>
    <p:extLst>
      <p:ext uri="{BB962C8B-B14F-4D97-AF65-F5344CB8AC3E}">
        <p14:creationId xmlns:p14="http://schemas.microsoft.com/office/powerpoint/2010/main" val="1879143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sz="2600" dirty="0"/>
              <a:t>RAZONES DE ADMINISTRACIÓN DE DEUDA</a:t>
            </a:r>
          </a:p>
          <a:p>
            <a:r>
              <a:rPr lang="es-ES" sz="2600" dirty="0"/>
              <a:t>Por ello deberá encontrarse el equilibrio entre mayores rendimientos esperados y mayor riesgo</a:t>
            </a:r>
          </a:p>
          <a:p>
            <a:r>
              <a:rPr lang="es-ES" sz="2600" dirty="0"/>
              <a:t>Más adelante analizaremos la determinación optima de la Deuda. Por ahora nuestro análisis será más simple:</a:t>
            </a:r>
          </a:p>
          <a:p>
            <a:pPr lvl="1"/>
            <a:r>
              <a:rPr lang="es-ES" dirty="0"/>
              <a:t>Proporción de la Deuda en los fondos totales</a:t>
            </a:r>
          </a:p>
          <a:p>
            <a:pPr lvl="1"/>
            <a:r>
              <a:rPr lang="es-ES" dirty="0"/>
              <a:t>Relación entre las ganancias de la Operación y los Intereses</a:t>
            </a:r>
            <a:endParaRPr lang="es-ES" sz="2600" dirty="0"/>
          </a:p>
        </p:txBody>
      </p:sp>
    </p:spTree>
    <p:extLst>
      <p:ext uri="{BB962C8B-B14F-4D97-AF65-F5344CB8AC3E}">
        <p14:creationId xmlns:p14="http://schemas.microsoft.com/office/powerpoint/2010/main" val="2672443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20000"/>
              </a:bodyPr>
              <a:lstStyle/>
              <a:p>
                <a:pPr marL="0" indent="0">
                  <a:buNone/>
                </a:pPr>
                <a:r>
                  <a:rPr lang="es-AR" dirty="0"/>
                  <a:t>RELACIÓN ENTRE DEUDA TOTAL Y CAPITAL TOTAL</a:t>
                </a:r>
              </a:p>
              <a:p>
                <a:r>
                  <a:rPr lang="es-ES" dirty="0"/>
                  <a:t>Mide la proporción de deuda en el capital total de la empresa</a:t>
                </a:r>
              </a:p>
              <a:p>
                <a:endParaRPr lang="es-ES" sz="2400" dirty="0"/>
              </a:p>
              <a:p>
                <a:pPr marL="0" indent="0">
                  <a:buNone/>
                </a:pPr>
                <a14:m>
                  <m:oMathPara xmlns:m="http://schemas.openxmlformats.org/officeDocument/2006/math">
                    <m:oMathParaPr>
                      <m:jc m:val="centerGroup"/>
                    </m:oMathParaPr>
                    <m:oMath xmlns:m="http://schemas.openxmlformats.org/officeDocument/2006/math">
                      <m:f>
                        <m:fPr>
                          <m:ctrlPr>
                            <a:rPr lang="es-ES" sz="2400" i="1" dirty="0" smtClean="0">
                              <a:latin typeface="Cambria Math" panose="02040503050406030204" pitchFamily="18" charset="0"/>
                            </a:rPr>
                          </m:ctrlPr>
                        </m:fPr>
                        <m:num>
                          <m:r>
                            <a:rPr lang="es-AR" sz="2400" b="0" i="1" dirty="0" smtClean="0">
                              <a:latin typeface="Cambria Math" panose="02040503050406030204" pitchFamily="18" charset="0"/>
                            </a:rPr>
                            <m:t>𝑑𝑒𝑢𝑑𝑎</m:t>
                          </m:r>
                          <m:r>
                            <a:rPr lang="es-AR" sz="2400" b="0" i="1" dirty="0" smtClean="0">
                              <a:latin typeface="Cambria Math" panose="02040503050406030204" pitchFamily="18" charset="0"/>
                            </a:rPr>
                            <m:t> </m:t>
                          </m:r>
                          <m:r>
                            <a:rPr lang="es-AR" sz="2400" b="0" i="1" dirty="0" smtClean="0">
                              <a:latin typeface="Cambria Math" panose="02040503050406030204" pitchFamily="18" charset="0"/>
                            </a:rPr>
                            <m:t>𝑡𝑜𝑡𝑎𝑙</m:t>
                          </m:r>
                        </m:num>
                        <m:den>
                          <m:r>
                            <a:rPr lang="es-AR" sz="2400" b="0" i="1" dirty="0" smtClean="0">
                              <a:latin typeface="Cambria Math" panose="02040503050406030204" pitchFamily="18" charset="0"/>
                            </a:rPr>
                            <m:t>𝑐𝑎𝑝𝑖𝑡𝑎𝑙</m:t>
                          </m:r>
                          <m:r>
                            <a:rPr lang="es-AR" sz="2400" b="0" i="1" dirty="0" smtClean="0">
                              <a:latin typeface="Cambria Math" panose="02040503050406030204" pitchFamily="18" charset="0"/>
                            </a:rPr>
                            <m:t> </m:t>
                          </m:r>
                          <m:r>
                            <a:rPr lang="es-AR" sz="2400" b="0" i="1" dirty="0" smtClean="0">
                              <a:latin typeface="Cambria Math" panose="02040503050406030204" pitchFamily="18" charset="0"/>
                            </a:rPr>
                            <m:t>𝑡𝑜𝑡𝑎𝑙</m:t>
                          </m:r>
                        </m:den>
                      </m:f>
                      <m:r>
                        <a:rPr lang="es-AR" sz="2400" b="0" i="1" dirty="0" smtClean="0">
                          <a:latin typeface="Cambria Math" panose="02040503050406030204" pitchFamily="18" charset="0"/>
                        </a:rPr>
                        <m:t>=</m:t>
                      </m:r>
                      <m:f>
                        <m:fPr>
                          <m:ctrlPr>
                            <a:rPr lang="es-AR" sz="2400" b="0" i="1" dirty="0" smtClean="0">
                              <a:latin typeface="Cambria Math" panose="02040503050406030204" pitchFamily="18" charset="0"/>
                            </a:rPr>
                          </m:ctrlPr>
                        </m:fPr>
                        <m:num>
                          <m:r>
                            <a:rPr lang="es-AR" sz="2400" b="0" i="1" dirty="0" smtClean="0">
                              <a:latin typeface="Cambria Math" panose="02040503050406030204" pitchFamily="18" charset="0"/>
                            </a:rPr>
                            <m:t>𝑑𝑒𝑢𝑑𝑎</m:t>
                          </m:r>
                          <m:r>
                            <a:rPr lang="es-AR" sz="2400" b="0" i="1" dirty="0" smtClean="0">
                              <a:latin typeface="Cambria Math" panose="02040503050406030204" pitchFamily="18" charset="0"/>
                            </a:rPr>
                            <m:t> </m:t>
                          </m:r>
                          <m:r>
                            <a:rPr lang="es-AR" sz="2400" b="0" i="1" dirty="0" smtClean="0">
                              <a:latin typeface="Cambria Math" panose="02040503050406030204" pitchFamily="18" charset="0"/>
                            </a:rPr>
                            <m:t>𝑡𝑜𝑡𝑎𝑙</m:t>
                          </m:r>
                        </m:num>
                        <m:den>
                          <m:r>
                            <a:rPr lang="es-AR" sz="2400" b="0" i="1" dirty="0" smtClean="0">
                              <a:latin typeface="Cambria Math" panose="02040503050406030204" pitchFamily="18" charset="0"/>
                            </a:rPr>
                            <m:t>𝑑𝑒𝑢𝑑𝑎</m:t>
                          </m:r>
                          <m:r>
                            <a:rPr lang="es-AR" sz="2400" b="0" i="1" dirty="0" smtClean="0">
                              <a:latin typeface="Cambria Math" panose="02040503050406030204" pitchFamily="18" charset="0"/>
                            </a:rPr>
                            <m:t> </m:t>
                          </m:r>
                          <m:r>
                            <a:rPr lang="es-AR" sz="2400" b="0" i="1" dirty="0" smtClean="0">
                              <a:latin typeface="Cambria Math" panose="02040503050406030204" pitchFamily="18" charset="0"/>
                            </a:rPr>
                            <m:t>𝑡𝑜𝑡𝑎𝑙</m:t>
                          </m:r>
                          <m:r>
                            <a:rPr lang="es-AR" sz="2400" b="0" i="1" dirty="0" smtClean="0">
                              <a:latin typeface="Cambria Math" panose="02040503050406030204" pitchFamily="18" charset="0"/>
                            </a:rPr>
                            <m:t>+</m:t>
                          </m:r>
                          <m:r>
                            <a:rPr lang="es-AR" sz="2400" b="0" i="1" dirty="0" smtClean="0">
                              <a:latin typeface="Cambria Math" panose="02040503050406030204" pitchFamily="18" charset="0"/>
                            </a:rPr>
                            <m:t>𝑐𝑎𝑝𝑖𝑡𝑎𝑙</m:t>
                          </m:r>
                        </m:den>
                      </m:f>
                      <m:r>
                        <a:rPr lang="es-AR" sz="2400" b="0" i="0" dirty="0" smtClean="0">
                          <a:latin typeface="Cambria Math" panose="02040503050406030204" pitchFamily="18" charset="0"/>
                        </a:rPr>
                        <m:t>=</m:t>
                      </m:r>
                      <m:f>
                        <m:fPr>
                          <m:ctrlPr>
                            <a:rPr lang="es-AR" sz="2400" b="0" i="1" dirty="0" smtClean="0">
                              <a:latin typeface="Cambria Math" panose="02040503050406030204" pitchFamily="18" charset="0"/>
                            </a:rPr>
                          </m:ctrlPr>
                        </m:fPr>
                        <m:num>
                          <m:r>
                            <a:rPr lang="es-AR" sz="2400" b="0" i="1" dirty="0" smtClean="0">
                              <a:latin typeface="Cambria Math" panose="02040503050406030204" pitchFamily="18" charset="0"/>
                            </a:rPr>
                            <m:t>110+750</m:t>
                          </m:r>
                        </m:num>
                        <m:den>
                          <m:r>
                            <a:rPr lang="es-AR" sz="2400" b="0" i="1" dirty="0" smtClean="0">
                              <a:latin typeface="Cambria Math" panose="02040503050406030204" pitchFamily="18" charset="0"/>
                            </a:rPr>
                            <m:t>1.800</m:t>
                          </m:r>
                        </m:den>
                      </m:f>
                      <m:r>
                        <a:rPr lang="es-AR" sz="2400" b="0" i="1" dirty="0" smtClean="0">
                          <a:latin typeface="Cambria Math" panose="02040503050406030204" pitchFamily="18" charset="0"/>
                        </a:rPr>
                        <m:t>=</m:t>
                      </m:r>
                      <m:f>
                        <m:fPr>
                          <m:ctrlPr>
                            <a:rPr lang="es-AR" sz="2400" b="0" i="1" dirty="0" smtClean="0">
                              <a:latin typeface="Cambria Math" panose="02040503050406030204" pitchFamily="18" charset="0"/>
                            </a:rPr>
                          </m:ctrlPr>
                        </m:fPr>
                        <m:num>
                          <m:r>
                            <a:rPr lang="es-AR" sz="2400" b="0" i="1" dirty="0" smtClean="0">
                              <a:latin typeface="Cambria Math" panose="02040503050406030204" pitchFamily="18" charset="0"/>
                            </a:rPr>
                            <m:t>860</m:t>
                          </m:r>
                        </m:num>
                        <m:den>
                          <m:r>
                            <a:rPr lang="es-AR" sz="2400" b="0" i="1" dirty="0" smtClean="0">
                              <a:latin typeface="Cambria Math" panose="02040503050406030204" pitchFamily="18" charset="0"/>
                            </a:rPr>
                            <m:t>1.800</m:t>
                          </m:r>
                        </m:den>
                      </m:f>
                      <m:r>
                        <a:rPr lang="es-AR" sz="2400" b="0" i="1" dirty="0" smtClean="0">
                          <a:latin typeface="Cambria Math" panose="02040503050406030204" pitchFamily="18" charset="0"/>
                        </a:rPr>
                        <m:t>=47,8%</m:t>
                      </m:r>
                    </m:oMath>
                  </m:oMathPara>
                </a14:m>
                <a:endParaRPr lang="es-ES" sz="2400" dirty="0"/>
              </a:p>
              <a:p>
                <a:pPr marL="0" indent="0">
                  <a:buNone/>
                </a:pPr>
                <a:endParaRPr lang="es-ES" sz="2400" dirty="0"/>
              </a:p>
              <a:p>
                <a:pPr marL="0" indent="0">
                  <a:buNone/>
                </a:pPr>
                <a:r>
                  <a:rPr lang="es-ES" sz="2400" dirty="0"/>
                  <a:t>Promedio de la industria 36,4%, sensiblemente inferior al de Allied </a:t>
                </a:r>
              </a:p>
              <a:p>
                <a:pPr marL="0" indent="0">
                  <a:buNone/>
                </a:pPr>
                <a:endParaRPr lang="es-ES" sz="2400" dirty="0"/>
              </a:p>
              <a:p>
                <a:pPr marL="0" indent="0">
                  <a:buNone/>
                </a:pPr>
                <a:r>
                  <a:rPr lang="es-ES" sz="2400" dirty="0"/>
                  <a:t>Llamaremos a esta relación, Razón de Endeudamiento de la Compañía</a:t>
                </a:r>
              </a:p>
              <a:p>
                <a:pPr marL="0" indent="0">
                  <a:buNone/>
                </a:pPr>
                <a:r>
                  <a:rPr lang="es-ES" sz="2400" dirty="0"/>
                  <a:t>Hay otras dos razones que suelen usarse en el Análisis Financiero</a:t>
                </a:r>
              </a:p>
              <a:p>
                <a:pPr marL="457200" indent="-457200">
                  <a:buFont typeface="+mj-lt"/>
                  <a:buAutoNum type="arabicPeriod"/>
                </a:pPr>
                <a:r>
                  <a:rPr lang="es-ES" sz="2400" dirty="0"/>
                  <a:t>Pasivo Contable Total / Activo Contable</a:t>
                </a:r>
              </a:p>
              <a:p>
                <a:pPr marL="457200" indent="-457200">
                  <a:buFont typeface="+mj-lt"/>
                  <a:buAutoNum type="arabicPeriod"/>
                </a:pPr>
                <a:r>
                  <a:rPr lang="es-ES" sz="2400" dirty="0"/>
                  <a:t>Deuda Total / Capital Propio</a:t>
                </a:r>
              </a:p>
              <a:p>
                <a:pPr marL="0" indent="0">
                  <a:buNone/>
                </a:pPr>
                <a:endParaRPr lang="es-ES"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1043" t="-3501" b="-1821"/>
                </a:stretch>
              </a:blipFill>
            </p:spPr>
            <p:txBody>
              <a:bodyPr/>
              <a:lstStyle/>
              <a:p>
                <a:r>
                  <a:rPr lang="es-ES">
                    <a:noFill/>
                  </a:rPr>
                  <a:t> </a:t>
                </a:r>
              </a:p>
            </p:txBody>
          </p:sp>
        </mc:Fallback>
      </mc:AlternateContent>
    </p:spTree>
    <p:extLst>
      <p:ext uri="{BB962C8B-B14F-4D97-AF65-F5344CB8AC3E}">
        <p14:creationId xmlns:p14="http://schemas.microsoft.com/office/powerpoint/2010/main" val="310107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lstStyle/>
          <a:p>
            <a:r>
              <a:rPr lang="es-AR" dirty="0"/>
              <a:t>Los acreedores prefieren bajas razones de endeudamiento ¿Por qué?</a:t>
            </a:r>
          </a:p>
          <a:p>
            <a:r>
              <a:rPr lang="es-AR" dirty="0"/>
              <a:t>Los accionistas podrían preferir estar más apalancados ¿Por qué?</a:t>
            </a:r>
          </a:p>
          <a:p>
            <a:endParaRPr lang="es-AR" dirty="0"/>
          </a:p>
          <a:p>
            <a:r>
              <a:rPr lang="es-AR" dirty="0"/>
              <a:t>Allied tiene una razón sensiblemente superior a la de la industria, casi la mitad de sus activos se financian con Deuda. Alarma. </a:t>
            </a:r>
          </a:p>
          <a:p>
            <a:r>
              <a:rPr lang="es-AR" dirty="0"/>
              <a:t>Allied tendrá Costos crecientes para endeudarse, si no consigue Capital Adicional Propio y con ello aumentaría su riesgo de liquidación</a:t>
            </a:r>
            <a:endParaRPr lang="es-ES" dirty="0"/>
          </a:p>
        </p:txBody>
      </p:sp>
    </p:spTree>
    <p:extLst>
      <p:ext uri="{BB962C8B-B14F-4D97-AF65-F5344CB8AC3E}">
        <p14:creationId xmlns:p14="http://schemas.microsoft.com/office/powerpoint/2010/main" val="781028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lnSpcReduction="10000"/>
              </a:bodyPr>
              <a:lstStyle/>
              <a:p>
                <a:pPr marL="0" indent="0">
                  <a:buNone/>
                </a:pPr>
                <a:r>
                  <a:rPr lang="es-AR" sz="2400" dirty="0"/>
                  <a:t>RAZÓN DE COBERTURA DE INTERESES</a:t>
                </a:r>
              </a:p>
              <a:p>
                <a:r>
                  <a:rPr lang="es-ES" sz="2400" dirty="0"/>
                  <a:t>Times </a:t>
                </a:r>
                <a:r>
                  <a:rPr lang="es-ES" sz="2400" dirty="0" err="1"/>
                  <a:t>Interest</a:t>
                </a:r>
                <a:r>
                  <a:rPr lang="es-ES" sz="2400" dirty="0"/>
                  <a:t> </a:t>
                </a:r>
                <a:r>
                  <a:rPr lang="es-ES" sz="2400" dirty="0" err="1"/>
                  <a:t>Earned</a:t>
                </a:r>
                <a:r>
                  <a:rPr lang="es-ES" sz="2400" dirty="0"/>
                  <a:t> (TIE) relaciona el EBIT con los cargos por intereses</a:t>
                </a:r>
              </a:p>
              <a:p>
                <a:endParaRPr lang="es-ES" sz="2400" dirty="0"/>
              </a:p>
              <a:p>
                <a14:m>
                  <m:oMath xmlns:m="http://schemas.openxmlformats.org/officeDocument/2006/math">
                    <m:r>
                      <a:rPr lang="es-AR" sz="2400" b="0" i="1" smtClean="0">
                        <a:latin typeface="Cambria Math" panose="02040503050406030204" pitchFamily="18" charset="0"/>
                      </a:rPr>
                      <m:t>𝑇𝐼𝐸</m:t>
                    </m:r>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𝐸𝐵𝐼𝑇</m:t>
                        </m:r>
                      </m:num>
                      <m:den>
                        <m:r>
                          <a:rPr lang="es-AR" sz="2400" b="0" i="1" smtClean="0">
                            <a:latin typeface="Cambria Math" panose="02040503050406030204" pitchFamily="18" charset="0"/>
                          </a:rPr>
                          <m:t>𝑐𝑎𝑟𝑔𝑜𝑠</m:t>
                        </m:r>
                        <m:r>
                          <a:rPr lang="es-AR" sz="2400" b="0" i="1" smtClean="0">
                            <a:latin typeface="Cambria Math" panose="02040503050406030204" pitchFamily="18" charset="0"/>
                          </a:rPr>
                          <m:t> </m:t>
                        </m:r>
                        <m:r>
                          <a:rPr lang="es-AR" sz="2400" b="0" i="1" smtClean="0">
                            <a:latin typeface="Cambria Math" panose="02040503050406030204" pitchFamily="18" charset="0"/>
                          </a:rPr>
                          <m:t>𝑝𝑜𝑟</m:t>
                        </m:r>
                        <m:r>
                          <a:rPr lang="es-AR" sz="2400" b="0" i="1" smtClean="0">
                            <a:latin typeface="Cambria Math" panose="02040503050406030204" pitchFamily="18" charset="0"/>
                          </a:rPr>
                          <m:t> </m:t>
                        </m:r>
                        <m:r>
                          <a:rPr lang="es-AR" sz="2400" b="0" i="1" smtClean="0">
                            <a:latin typeface="Cambria Math" panose="02040503050406030204" pitchFamily="18" charset="0"/>
                          </a:rPr>
                          <m:t>𝑖𝑛𝑡𝑒𝑟𝑒𝑠𝑒𝑠</m:t>
                        </m:r>
                      </m:den>
                    </m:f>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283,8</m:t>
                        </m:r>
                      </m:num>
                      <m:den>
                        <m:r>
                          <a:rPr lang="es-AR" sz="2400" b="0" i="1" smtClean="0">
                            <a:latin typeface="Cambria Math" panose="02040503050406030204" pitchFamily="18" charset="0"/>
                          </a:rPr>
                          <m:t>88</m:t>
                        </m:r>
                      </m:den>
                    </m:f>
                    <m:r>
                      <a:rPr lang="es-AR" sz="2400" b="0" i="1" smtClean="0">
                        <a:latin typeface="Cambria Math" panose="02040503050406030204" pitchFamily="18" charset="0"/>
                      </a:rPr>
                      <m:t>=3,2 </m:t>
                    </m:r>
                    <m:r>
                      <a:rPr lang="es-AR" sz="2400" b="0" i="1" smtClean="0">
                        <a:latin typeface="Cambria Math" panose="02040503050406030204" pitchFamily="18" charset="0"/>
                      </a:rPr>
                      <m:t>𝑋</m:t>
                    </m:r>
                  </m:oMath>
                </a14:m>
                <a:r>
                  <a:rPr lang="es-ES" sz="2400" dirty="0"/>
                  <a:t> Promedio industria 6,0 X</a:t>
                </a:r>
              </a:p>
              <a:p>
                <a:pPr marL="0" indent="0">
                  <a:buNone/>
                </a:pPr>
                <a:endParaRPr lang="es-ES" sz="2400" dirty="0"/>
              </a:p>
              <a:p>
                <a:r>
                  <a:rPr lang="es-ES" sz="2400" dirty="0"/>
                  <a:t>Capacidad de pagar los intereses con ganancias operativas. (Cuánto puede disminuir sus ganancias y seguir cumpliendo con el pago de Intereses)</a:t>
                </a:r>
              </a:p>
              <a:p>
                <a:r>
                  <a:rPr lang="es-ES" sz="2400" dirty="0"/>
                  <a:t>Se mide antes de impuestos ¿por qué? Porque se pagan antes de impuestos</a:t>
                </a:r>
              </a:p>
              <a:p>
                <a:r>
                  <a:rPr lang="es-ES" sz="2400" dirty="0"/>
                  <a:t>Los números de Allied muestran una vez más con su TIE que tendría dificultades de tasa de interés si sale a pedir dinero adicional</a:t>
                </a:r>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28" t="-2661"/>
                </a:stretch>
              </a:blipFill>
            </p:spPr>
            <p:txBody>
              <a:bodyPr/>
              <a:lstStyle/>
              <a:p>
                <a:r>
                  <a:rPr lang="es-ES">
                    <a:noFill/>
                  </a:rPr>
                  <a:t> </a:t>
                </a:r>
              </a:p>
            </p:txBody>
          </p:sp>
        </mc:Fallback>
      </mc:AlternateContent>
    </p:spTree>
    <p:extLst>
      <p:ext uri="{BB962C8B-B14F-4D97-AF65-F5344CB8AC3E}">
        <p14:creationId xmlns:p14="http://schemas.microsoft.com/office/powerpoint/2010/main" val="60382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dirty="0"/>
              <a:t>RAZÓN DE COBERTURA DE INTERESES</a:t>
            </a:r>
          </a:p>
          <a:p>
            <a:r>
              <a:rPr lang="es-ES" dirty="0"/>
              <a:t>Una razón más estricta que prefieren algunos analistas es la de EBITDA / (intereses + pagos de principal + pagos de arrendamientos)</a:t>
            </a:r>
          </a:p>
          <a:p>
            <a:endParaRPr lang="es-ES" dirty="0"/>
          </a:p>
          <a:p>
            <a:pPr marL="0" indent="0">
              <a:buNone/>
            </a:pPr>
            <a:r>
              <a:rPr lang="es-ES" dirty="0"/>
              <a:t>El motivo de esta Razón es que</a:t>
            </a:r>
          </a:p>
          <a:p>
            <a:r>
              <a:rPr lang="es-ES" dirty="0"/>
              <a:t>las D&amp;A no restarán capacidad de pago (pasa de EBIT a EBITDA)</a:t>
            </a:r>
          </a:p>
          <a:p>
            <a:r>
              <a:rPr lang="es-ES" dirty="0"/>
              <a:t>no podemos desconocer los compromisos fijos de la Empresa como son los pagos de Principal y Arrendamientos</a:t>
            </a:r>
          </a:p>
          <a:p>
            <a:endParaRPr lang="es-ES" dirty="0"/>
          </a:p>
        </p:txBody>
      </p:sp>
    </p:spTree>
    <p:extLst>
      <p:ext uri="{BB962C8B-B14F-4D97-AF65-F5344CB8AC3E}">
        <p14:creationId xmlns:p14="http://schemas.microsoft.com/office/powerpoint/2010/main" val="3103744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lstStyle/>
          <a:p>
            <a:r>
              <a:rPr lang="es-AR" dirty="0"/>
              <a:t>Preguntas de Auto Evaluación</a:t>
            </a:r>
          </a:p>
          <a:p>
            <a:endParaRPr lang="es-AR" dirty="0"/>
          </a:p>
          <a:p>
            <a:r>
              <a:rPr lang="es-AR" dirty="0"/>
              <a:t>¿Cómo afecta el Apalancamiento Financiero la posición de Control de los Accionistas?</a:t>
            </a:r>
          </a:p>
          <a:p>
            <a:r>
              <a:rPr lang="es-AR" dirty="0"/>
              <a:t>¿Cómo influyen las leyes fiscales Estadounidenses a tomar deuda?</a:t>
            </a:r>
          </a:p>
          <a:p>
            <a:r>
              <a:rPr lang="es-AR" dirty="0"/>
              <a:t>¿Qué podemos decir de Deuda o Capital, Riesgo/Rendimiento?</a:t>
            </a:r>
          </a:p>
          <a:p>
            <a:endParaRPr lang="es-AR" dirty="0"/>
          </a:p>
          <a:p>
            <a:r>
              <a:rPr lang="es-AR" dirty="0"/>
              <a:t>¿Por qué los analistas consideran razones del Balance como de Estado de Resultados?</a:t>
            </a:r>
            <a:endParaRPr lang="es-ES" dirty="0"/>
          </a:p>
        </p:txBody>
      </p:sp>
    </p:spTree>
    <p:extLst>
      <p:ext uri="{BB962C8B-B14F-4D97-AF65-F5344CB8AC3E}">
        <p14:creationId xmlns:p14="http://schemas.microsoft.com/office/powerpoint/2010/main" val="1924852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20000"/>
              </a:bodyPr>
              <a:lstStyle/>
              <a:p>
                <a:pPr marL="0" indent="0">
                  <a:buNone/>
                </a:pPr>
                <a:r>
                  <a:rPr lang="es-AR" dirty="0"/>
                  <a:t>RAZONES DE RENTABILIDAD</a:t>
                </a:r>
              </a:p>
              <a:p>
                <a:pPr marL="0" indent="0">
                  <a:buNone/>
                </a:pPr>
                <a:r>
                  <a:rPr lang="es-ES" dirty="0"/>
                  <a:t>Reflejan el resultado neto de todas las políticas de financiamiento y decisiones operativas tomadas en la Empresa</a:t>
                </a:r>
              </a:p>
              <a:p>
                <a:endParaRPr lang="es-ES" dirty="0"/>
              </a:p>
              <a:p>
                <a:pPr marL="0" indent="0">
                  <a:buNone/>
                </a:pPr>
                <a:r>
                  <a:rPr lang="es-ES" dirty="0"/>
                  <a:t>MARGEN DE OPERACIÓN (Ganancia operativa por $ 1 de venta) </a:t>
                </a:r>
              </a:p>
              <a:p>
                <a:endParaRPr lang="es-ES" dirty="0"/>
              </a:p>
              <a:p>
                <a:pPr marL="0" indent="0" algn="ctr">
                  <a:buNone/>
                </a:pPr>
                <a14:m>
                  <m:oMath xmlns:m="http://schemas.openxmlformats.org/officeDocument/2006/math">
                    <m:r>
                      <a:rPr lang="es-AR" b="0" i="1" smtClean="0">
                        <a:latin typeface="Cambria Math" panose="02040503050406030204" pitchFamily="18" charset="0"/>
                      </a:rPr>
                      <m:t>𝑀𝑎𝑟𝑔𝑒𝑛</m:t>
                    </m:r>
                    <m:r>
                      <a:rPr lang="es-AR" b="0" i="1" smtClean="0">
                        <a:latin typeface="Cambria Math" panose="02040503050406030204" pitchFamily="18" charset="0"/>
                      </a:rPr>
                      <m:t> </m:t>
                    </m:r>
                    <m:r>
                      <a:rPr lang="es-AR" b="0" i="1" smtClean="0">
                        <a:latin typeface="Cambria Math" panose="02040503050406030204" pitchFamily="18" charset="0"/>
                      </a:rPr>
                      <m:t>𝑑𝑒</m:t>
                    </m:r>
                    <m:r>
                      <a:rPr lang="es-AR" b="0" i="1" smtClean="0">
                        <a:latin typeface="Cambria Math" panose="02040503050406030204" pitchFamily="18" charset="0"/>
                      </a:rPr>
                      <m:t> </m:t>
                    </m:r>
                    <m:r>
                      <a:rPr lang="es-AR" b="0" i="1" smtClean="0">
                        <a:latin typeface="Cambria Math" panose="02040503050406030204" pitchFamily="18" charset="0"/>
                      </a:rPr>
                      <m:t>𝑂𝑝𝑒𝑟𝑎𝑐𝑖</m:t>
                    </m:r>
                    <m:r>
                      <a:rPr lang="es-AR" b="0" i="1" smtClean="0">
                        <a:latin typeface="Cambria Math" panose="02040503050406030204" pitchFamily="18" charset="0"/>
                      </a:rPr>
                      <m:t>ó</m:t>
                    </m:r>
                    <m:r>
                      <a:rPr lang="es-AR" b="0" i="1" smtClean="0">
                        <a:latin typeface="Cambria Math" panose="02040503050406030204" pitchFamily="18" charset="0"/>
                      </a:rPr>
                      <m:t>𝑛</m:t>
                    </m:r>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𝐸𝐵𝐼𝑇</m:t>
                        </m:r>
                      </m:num>
                      <m:den>
                        <m:r>
                          <a:rPr lang="es-AR" b="0" i="1" smtClean="0">
                            <a:latin typeface="Cambria Math" panose="02040503050406030204" pitchFamily="18" charset="0"/>
                          </a:rPr>
                          <m:t>𝑣𝑒𝑛𝑡𝑎𝑠</m:t>
                        </m:r>
                      </m:den>
                    </m:f>
                    <m:r>
                      <a:rPr lang="es-AR" b="0" i="1" smtClean="0">
                        <a:latin typeface="Cambria Math" panose="02040503050406030204" pitchFamily="18" charset="0"/>
                      </a:rPr>
                      <m:t>=</m:t>
                    </m:r>
                    <m:f>
                      <m:fPr>
                        <m:ctrlPr>
                          <a:rPr lang="es-AR" b="0" i="1" smtClean="0">
                            <a:latin typeface="Cambria Math" panose="02040503050406030204" pitchFamily="18" charset="0"/>
                          </a:rPr>
                        </m:ctrlPr>
                      </m:fPr>
                      <m:num>
                        <m:r>
                          <a:rPr lang="es-AR" b="0" i="1" smtClean="0">
                            <a:latin typeface="Cambria Math" panose="02040503050406030204" pitchFamily="18" charset="0"/>
                          </a:rPr>
                          <m:t>283,8</m:t>
                        </m:r>
                      </m:num>
                      <m:den>
                        <m:r>
                          <a:rPr lang="es-AR" b="0" i="1" smtClean="0">
                            <a:latin typeface="Cambria Math" panose="02040503050406030204" pitchFamily="18" charset="0"/>
                          </a:rPr>
                          <m:t>3.000</m:t>
                        </m:r>
                      </m:den>
                    </m:f>
                    <m:r>
                      <a:rPr lang="es-AR" b="0" i="1" smtClean="0">
                        <a:latin typeface="Cambria Math" panose="02040503050406030204" pitchFamily="18" charset="0"/>
                      </a:rPr>
                      <m:t>=9,5%</m:t>
                    </m:r>
                  </m:oMath>
                </a14:m>
                <a:r>
                  <a:rPr lang="es-ES" dirty="0"/>
                  <a:t>  Prom. </a:t>
                </a:r>
                <a:r>
                  <a:rPr lang="es-ES" dirty="0" err="1"/>
                  <a:t>Ind</a:t>
                </a:r>
                <a:r>
                  <a:rPr lang="es-ES" dirty="0"/>
                  <a:t>. 10,0%</a:t>
                </a:r>
              </a:p>
              <a:p>
                <a:endParaRPr lang="es-ES" dirty="0"/>
              </a:p>
              <a:p>
                <a:pPr marL="0" indent="0">
                  <a:buNone/>
                </a:pPr>
                <a:r>
                  <a:rPr lang="es-ES" dirty="0"/>
                  <a:t>El motivo de un bajo margen puede ser Precio o Costos. En el caso de Allied viene por el lado de costos, tiene baja rotación de inventarios y demasiados DSO.</a:t>
                </a:r>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1043" t="-3501"/>
                </a:stretch>
              </a:blipFill>
            </p:spPr>
            <p:txBody>
              <a:bodyPr/>
              <a:lstStyle/>
              <a:p>
                <a:r>
                  <a:rPr lang="es-ES">
                    <a:noFill/>
                  </a:rPr>
                  <a:t> </a:t>
                </a:r>
              </a:p>
            </p:txBody>
          </p:sp>
        </mc:Fallback>
      </mc:AlternateContent>
    </p:spTree>
    <p:extLst>
      <p:ext uri="{BB962C8B-B14F-4D97-AF65-F5344CB8AC3E}">
        <p14:creationId xmlns:p14="http://schemas.microsoft.com/office/powerpoint/2010/main" val="2015362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20000"/>
              </a:bodyPr>
              <a:lstStyle/>
              <a:p>
                <a:pPr marL="0" indent="0">
                  <a:buNone/>
                </a:pPr>
                <a:r>
                  <a:rPr lang="es-AR" dirty="0"/>
                  <a:t>RAZONES DE RENTABILIDAD</a:t>
                </a:r>
              </a:p>
              <a:p>
                <a:pPr marL="0" indent="0">
                  <a:buNone/>
                </a:pPr>
                <a:endParaRPr lang="es-ES" dirty="0"/>
              </a:p>
              <a:p>
                <a:pPr marL="0" indent="0">
                  <a:buNone/>
                </a:pPr>
                <a:r>
                  <a:rPr lang="es-ES" dirty="0"/>
                  <a:t>MARGEN DE UTILIDAD NETO</a:t>
                </a:r>
              </a:p>
              <a:p>
                <a:endParaRPr lang="es-ES" dirty="0"/>
              </a:p>
              <a:p>
                <a14:m>
                  <m:oMath xmlns:m="http://schemas.openxmlformats.org/officeDocument/2006/math">
                    <m:r>
                      <a:rPr lang="es-AR" sz="2600" b="0" i="1" smtClean="0">
                        <a:latin typeface="Cambria Math" panose="02040503050406030204" pitchFamily="18" charset="0"/>
                      </a:rPr>
                      <m:t>𝑀𝑎𝑟𝑔𝑒𝑛</m:t>
                    </m:r>
                    <m:r>
                      <a:rPr lang="es-AR" sz="2600" b="0" i="1" smtClean="0">
                        <a:latin typeface="Cambria Math" panose="02040503050406030204" pitchFamily="18" charset="0"/>
                      </a:rPr>
                      <m:t> </m:t>
                    </m:r>
                    <m:r>
                      <a:rPr lang="es-AR" sz="2600" b="0" i="1" smtClean="0">
                        <a:latin typeface="Cambria Math" panose="02040503050406030204" pitchFamily="18" charset="0"/>
                      </a:rPr>
                      <m:t>𝑑𝑒</m:t>
                    </m:r>
                    <m:r>
                      <a:rPr lang="es-AR" sz="2600" b="0" i="1" smtClean="0">
                        <a:latin typeface="Cambria Math" panose="02040503050406030204" pitchFamily="18" charset="0"/>
                      </a:rPr>
                      <m:t> </m:t>
                    </m:r>
                    <m:r>
                      <a:rPr lang="es-AR" sz="2600" b="0" i="1" smtClean="0">
                        <a:latin typeface="Cambria Math" panose="02040503050406030204" pitchFamily="18" charset="0"/>
                      </a:rPr>
                      <m:t>𝑈𝑡𝑖𝑙𝑖𝑑𝑎𝑑</m:t>
                    </m:r>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𝐼𝑛𝑔𝑟𝑒𝑠𝑜</m:t>
                        </m:r>
                        <m:r>
                          <a:rPr lang="es-AR" sz="2600" b="0" i="1" smtClean="0">
                            <a:latin typeface="Cambria Math" panose="02040503050406030204" pitchFamily="18" charset="0"/>
                          </a:rPr>
                          <m:t> </m:t>
                        </m:r>
                        <m:r>
                          <a:rPr lang="es-AR" sz="2600" b="0" i="1" smtClean="0">
                            <a:latin typeface="Cambria Math" panose="02040503050406030204" pitchFamily="18" charset="0"/>
                          </a:rPr>
                          <m:t>𝑁𝑒𝑡𝑜</m:t>
                        </m:r>
                      </m:num>
                      <m:den>
                        <m:r>
                          <a:rPr lang="es-AR" sz="2600" b="0" i="1" smtClean="0">
                            <a:latin typeface="Cambria Math" panose="02040503050406030204" pitchFamily="18" charset="0"/>
                          </a:rPr>
                          <m:t>𝑣𝑒𝑛𝑡𝑎𝑠</m:t>
                        </m:r>
                      </m:den>
                    </m:f>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117,5</m:t>
                        </m:r>
                      </m:num>
                      <m:den>
                        <m:r>
                          <a:rPr lang="es-AR" sz="2600" b="0" i="1" smtClean="0">
                            <a:latin typeface="Cambria Math" panose="02040503050406030204" pitchFamily="18" charset="0"/>
                          </a:rPr>
                          <m:t>3.000</m:t>
                        </m:r>
                      </m:den>
                    </m:f>
                    <m:r>
                      <a:rPr lang="es-AR" sz="2600" b="0" i="1" smtClean="0">
                        <a:latin typeface="Cambria Math" panose="02040503050406030204" pitchFamily="18" charset="0"/>
                      </a:rPr>
                      <m:t>=3,9%</m:t>
                    </m:r>
                  </m:oMath>
                </a14:m>
                <a:r>
                  <a:rPr lang="es-ES" sz="2600" dirty="0"/>
                  <a:t>  Prom. </a:t>
                </a:r>
                <a:r>
                  <a:rPr lang="es-ES" sz="2600" dirty="0" err="1"/>
                  <a:t>Ind</a:t>
                </a:r>
                <a:r>
                  <a:rPr lang="es-ES" sz="2600" dirty="0"/>
                  <a:t>. 5,0%</a:t>
                </a:r>
              </a:p>
              <a:p>
                <a:endParaRPr lang="es-ES" sz="2600" dirty="0"/>
              </a:p>
              <a:p>
                <a:r>
                  <a:rPr lang="es-ES" sz="2600" dirty="0"/>
                  <a:t>¿Por qué el de </a:t>
                </a:r>
                <a:r>
                  <a:rPr lang="es-ES" sz="2600" dirty="0" err="1"/>
                  <a:t>Allied</a:t>
                </a:r>
                <a:r>
                  <a:rPr lang="es-ES" sz="2600" dirty="0"/>
                  <a:t> es peor que el del mercado?</a:t>
                </a:r>
              </a:p>
              <a:p>
                <a:pPr lvl="1"/>
                <a:r>
                  <a:rPr lang="es-ES" sz="2200" dirty="0"/>
                  <a:t>Peor resultado operativo</a:t>
                </a:r>
              </a:p>
              <a:p>
                <a:pPr lvl="1"/>
                <a:r>
                  <a:rPr lang="es-ES" sz="2200" dirty="0"/>
                  <a:t>Mayor uso de deuda, producto en parte de sus DSO</a:t>
                </a:r>
              </a:p>
              <a:p>
                <a:r>
                  <a:rPr lang="es-ES" sz="2600" dirty="0"/>
                  <a:t>Si comparamos dos empresas con iguales márgenes operativos pero distinto endeudamiento, implica distinto resultado neto según el pago de intereses</a:t>
                </a:r>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1043" t="-3501"/>
                </a:stretch>
              </a:blipFill>
            </p:spPr>
            <p:txBody>
              <a:bodyPr/>
              <a:lstStyle/>
              <a:p>
                <a:r>
                  <a:rPr lang="es-ES">
                    <a:noFill/>
                  </a:rPr>
                  <a:t> </a:t>
                </a:r>
              </a:p>
            </p:txBody>
          </p:sp>
        </mc:Fallback>
      </mc:AlternateContent>
    </p:spTree>
    <p:extLst>
      <p:ext uri="{BB962C8B-B14F-4D97-AF65-F5344CB8AC3E}">
        <p14:creationId xmlns:p14="http://schemas.microsoft.com/office/powerpoint/2010/main" val="3808958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lnSpcReduction="10000"/>
          </a:bodyPr>
          <a:lstStyle/>
          <a:p>
            <a:pPr marL="0" indent="0">
              <a:buNone/>
            </a:pPr>
            <a:r>
              <a:rPr lang="es-AR" sz="2400" dirty="0"/>
              <a:t>RAZONES DE RENTABILIDAD</a:t>
            </a:r>
          </a:p>
          <a:p>
            <a:pPr marL="0" indent="0">
              <a:buNone/>
            </a:pPr>
            <a:endParaRPr lang="es-ES" sz="2400" dirty="0"/>
          </a:p>
          <a:p>
            <a:pPr marL="0" indent="0">
              <a:buNone/>
            </a:pPr>
            <a:r>
              <a:rPr lang="es-ES" sz="2400" dirty="0"/>
              <a:t>MARGEN DE UTILIDAD NETO</a:t>
            </a:r>
          </a:p>
          <a:p>
            <a:r>
              <a:rPr lang="es-ES" sz="2600" dirty="0"/>
              <a:t>Un alto margen de utilidad, si bien es deseable, podría hacer que las ventas sean menores a las potenciales, producto del alto precio de los productos. Esto implicaría una baja rotación, lo cual no es deseable, pues el Ingreso Neto será menor de lo que pudiera serlo.</a:t>
            </a:r>
          </a:p>
          <a:p>
            <a:endParaRPr lang="es-ES" sz="2600" dirty="0"/>
          </a:p>
          <a:p>
            <a:r>
              <a:rPr lang="es-ES" sz="2600" dirty="0"/>
              <a:t>Veremos luego la fórmula de DuPont, donde interactúan el Margen de Utilidad, el uso de Deuda y la Rotación, para afectar el rendimiento general para los accionistas (ROE)</a:t>
            </a:r>
          </a:p>
        </p:txBody>
      </p:sp>
    </p:spTree>
    <p:extLst>
      <p:ext uri="{BB962C8B-B14F-4D97-AF65-F5344CB8AC3E}">
        <p14:creationId xmlns:p14="http://schemas.microsoft.com/office/powerpoint/2010/main" val="2024390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sz="2600" dirty="0"/>
                  <a:t>RENDIMIENTO DEL ACTIVO CONTABLE (ROA)</a:t>
                </a:r>
              </a:p>
              <a:p>
                <a:r>
                  <a:rPr lang="es-AR" sz="2600" dirty="0"/>
                  <a:t>Ingreso neto sobre activo contable</a:t>
                </a:r>
              </a:p>
              <a:p>
                <a:endParaRPr lang="es-ES" sz="2400" dirty="0"/>
              </a:p>
              <a:p>
                <a:r>
                  <a:rPr lang="es-AR" sz="2600" b="0" dirty="0" err="1"/>
                  <a:t>R</a:t>
                </a:r>
                <a:r>
                  <a:rPr lang="es-AR" sz="2600" b="0" dirty="0"/>
                  <a:t>OA</a:t>
                </a:r>
                <a14:m>
                  <m:oMath xmlns:m="http://schemas.openxmlformats.org/officeDocument/2006/math">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𝐼𝑛𝑔𝑟𝑒𝑠𝑜</m:t>
                        </m:r>
                        <m:r>
                          <a:rPr lang="es-AR" sz="2600" b="0" i="1" smtClean="0">
                            <a:latin typeface="Cambria Math" panose="02040503050406030204" pitchFamily="18" charset="0"/>
                          </a:rPr>
                          <m:t> </m:t>
                        </m:r>
                        <m:r>
                          <a:rPr lang="es-AR" sz="2600" b="0" i="1" smtClean="0">
                            <a:latin typeface="Cambria Math" panose="02040503050406030204" pitchFamily="18" charset="0"/>
                          </a:rPr>
                          <m:t>𝑁𝑒𝑡𝑜</m:t>
                        </m:r>
                      </m:num>
                      <m:den>
                        <m:r>
                          <a:rPr lang="es-AR" sz="2600" b="0" i="1" smtClean="0">
                            <a:latin typeface="Cambria Math" panose="02040503050406030204" pitchFamily="18" charset="0"/>
                          </a:rPr>
                          <m:t>𝑎𝑐𝑡𝑖𝑣𝑜</m:t>
                        </m:r>
                        <m:r>
                          <a:rPr lang="es-AR" sz="2600" b="0" i="1" smtClean="0">
                            <a:latin typeface="Cambria Math" panose="02040503050406030204" pitchFamily="18" charset="0"/>
                          </a:rPr>
                          <m:t> </m:t>
                        </m:r>
                        <m:r>
                          <a:rPr lang="es-AR" sz="2600" b="0" i="1" smtClean="0">
                            <a:latin typeface="Cambria Math" panose="02040503050406030204" pitchFamily="18" charset="0"/>
                          </a:rPr>
                          <m:t>𝑐𝑜𝑛𝑡𝑎𝑏𝑙𝑒</m:t>
                        </m:r>
                      </m:den>
                    </m:f>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117,5</m:t>
                        </m:r>
                      </m:num>
                      <m:den>
                        <m:r>
                          <a:rPr lang="es-AR" sz="2600" b="0" i="1" smtClean="0">
                            <a:latin typeface="Cambria Math" panose="02040503050406030204" pitchFamily="18" charset="0"/>
                          </a:rPr>
                          <m:t>2.000</m:t>
                        </m:r>
                      </m:den>
                    </m:f>
                    <m:r>
                      <a:rPr lang="es-AR" sz="2600" b="0" i="1" smtClean="0">
                        <a:latin typeface="Cambria Math" panose="02040503050406030204" pitchFamily="18" charset="0"/>
                      </a:rPr>
                      <m:t>=5,9%</m:t>
                    </m:r>
                  </m:oMath>
                </a14:m>
                <a:r>
                  <a:rPr lang="es-ES" sz="2600" dirty="0"/>
                  <a:t>  Prom. </a:t>
                </a:r>
                <a:r>
                  <a:rPr lang="es-ES" sz="2600" dirty="0" err="1"/>
                  <a:t>Ind</a:t>
                </a:r>
                <a:r>
                  <a:rPr lang="es-ES" sz="2600" dirty="0"/>
                  <a:t>. 9,0%</a:t>
                </a:r>
              </a:p>
              <a:p>
                <a:endParaRPr lang="es-ES" sz="2600" dirty="0"/>
              </a:p>
              <a:p>
                <a:r>
                  <a:rPr lang="es-ES" sz="2600" dirty="0"/>
                  <a:t>El ROA de Allied es muy inferior al promedio de la Industria. Esto no es bueno, y nos obliga a conocer el motivo.</a:t>
                </a:r>
              </a:p>
              <a:p>
                <a:pPr marL="0" indent="0">
                  <a:buNone/>
                </a:pPr>
                <a:r>
                  <a:rPr lang="es-ES" sz="2600" dirty="0"/>
                  <a:t> </a:t>
                </a:r>
              </a:p>
              <a:p>
                <a:r>
                  <a:rPr lang="es-ES" sz="2600" dirty="0"/>
                  <a:t>Siempre es deseable un alto rendimiento, pero … veamos</a:t>
                </a:r>
              </a:p>
              <a:p>
                <a:endParaRPr lang="es-ES" sz="2600"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1043" t="-2101" b="-2941"/>
                </a:stretch>
              </a:blipFill>
            </p:spPr>
            <p:txBody>
              <a:bodyPr/>
              <a:lstStyle/>
              <a:p>
                <a:r>
                  <a:rPr lang="es-ES">
                    <a:noFill/>
                  </a:rPr>
                  <a:t> </a:t>
                </a:r>
              </a:p>
            </p:txBody>
          </p:sp>
        </mc:Fallback>
      </mc:AlternateContent>
    </p:spTree>
    <p:extLst>
      <p:ext uri="{BB962C8B-B14F-4D97-AF65-F5344CB8AC3E}">
        <p14:creationId xmlns:p14="http://schemas.microsoft.com/office/powerpoint/2010/main" val="2914604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sz="2600" dirty="0"/>
              <a:t>RENDIMIENTO DEL ACTIVO CONTABLE (ROA)</a:t>
            </a:r>
          </a:p>
          <a:p>
            <a:pPr marL="0" indent="0">
              <a:buNone/>
            </a:pPr>
            <a:endParaRPr lang="es-ES" sz="2400" dirty="0"/>
          </a:p>
          <a:p>
            <a:r>
              <a:rPr lang="es-ES" sz="2600" dirty="0"/>
              <a:t>Un alto endeudamiento puede ser una decisión consciente de apalancarse, los intereses afectarán el ingreso neto, impactando el ROA, pero puede ser producto de una decisión consciente de Apalancarse</a:t>
            </a:r>
          </a:p>
          <a:p>
            <a:r>
              <a:rPr lang="es-ES" sz="2600" dirty="0"/>
              <a:t>Esto es lo que está pasando en Allied (no sabemos si por decisión propia)</a:t>
            </a:r>
          </a:p>
          <a:p>
            <a:r>
              <a:rPr lang="es-ES" sz="2600" dirty="0"/>
              <a:t>Si lo fuera, estaríamos nuevamente frente a una situación donde hay que analizar varias Razones, entender qué implica cada una de ellas, y verlas en su conjunto. O sea, examinar la situación general antes de juzgar el desempeño de una Compañía y decidir qué acciones tomar para mejorarla</a:t>
            </a:r>
          </a:p>
          <a:p>
            <a:endParaRPr lang="es-ES" sz="2600" dirty="0"/>
          </a:p>
        </p:txBody>
      </p:sp>
    </p:spTree>
    <p:extLst>
      <p:ext uri="{BB962C8B-B14F-4D97-AF65-F5344CB8AC3E}">
        <p14:creationId xmlns:p14="http://schemas.microsoft.com/office/powerpoint/2010/main" val="1571118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sz="2600" dirty="0"/>
                  <a:t>RENDIMIENTO DEL CAPITAL COMÚN (ROE)</a:t>
                </a:r>
              </a:p>
              <a:p>
                <a:pPr marL="0" indent="0">
                  <a:buNone/>
                </a:pPr>
                <a:endParaRPr lang="es-AR" sz="2600" dirty="0"/>
              </a:p>
              <a:p>
                <a:r>
                  <a:rPr lang="es-AR" sz="2600" b="0" dirty="0"/>
                  <a:t>ROE</a:t>
                </a:r>
                <a14:m>
                  <m:oMath xmlns:m="http://schemas.openxmlformats.org/officeDocument/2006/math">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𝐼𝑛𝑔𝑟𝑒𝑠𝑜</m:t>
                        </m:r>
                        <m:r>
                          <a:rPr lang="es-AR" sz="2600" b="0" i="1" smtClean="0">
                            <a:latin typeface="Cambria Math" panose="02040503050406030204" pitchFamily="18" charset="0"/>
                          </a:rPr>
                          <m:t> </m:t>
                        </m:r>
                        <m:r>
                          <a:rPr lang="es-AR" sz="2600" b="0" i="1" smtClean="0">
                            <a:latin typeface="Cambria Math" panose="02040503050406030204" pitchFamily="18" charset="0"/>
                          </a:rPr>
                          <m:t>𝑁𝑒𝑡𝑜</m:t>
                        </m:r>
                      </m:num>
                      <m:den>
                        <m:r>
                          <a:rPr lang="es-AR" sz="2600" b="0" i="1" smtClean="0">
                            <a:latin typeface="Cambria Math" panose="02040503050406030204" pitchFamily="18" charset="0"/>
                          </a:rPr>
                          <m:t>𝐶𝑎𝑝𝑖𝑡𝑎𝑙</m:t>
                        </m:r>
                        <m:r>
                          <a:rPr lang="es-AR" sz="2600" b="0" i="1" smtClean="0">
                            <a:latin typeface="Cambria Math" panose="02040503050406030204" pitchFamily="18" charset="0"/>
                          </a:rPr>
                          <m:t> </m:t>
                        </m:r>
                        <m:r>
                          <a:rPr lang="es-AR" sz="2600" b="0" i="1" smtClean="0">
                            <a:latin typeface="Cambria Math" panose="02040503050406030204" pitchFamily="18" charset="0"/>
                          </a:rPr>
                          <m:t>𝐶𝑜𝑚</m:t>
                        </m:r>
                        <m:r>
                          <a:rPr lang="es-AR" sz="2600" b="0" i="1" smtClean="0">
                            <a:latin typeface="Cambria Math" panose="02040503050406030204" pitchFamily="18" charset="0"/>
                          </a:rPr>
                          <m:t>ú</m:t>
                        </m:r>
                        <m:r>
                          <a:rPr lang="es-AR" sz="2600" b="0" i="1" smtClean="0">
                            <a:latin typeface="Cambria Math" panose="02040503050406030204" pitchFamily="18" charset="0"/>
                          </a:rPr>
                          <m:t>𝑛</m:t>
                        </m:r>
                      </m:den>
                    </m:f>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117,5</m:t>
                        </m:r>
                      </m:num>
                      <m:den>
                        <m:r>
                          <a:rPr lang="es-AR" sz="2600" b="0" i="1" smtClean="0">
                            <a:latin typeface="Cambria Math" panose="02040503050406030204" pitchFamily="18" charset="0"/>
                          </a:rPr>
                          <m:t>940</m:t>
                        </m:r>
                      </m:den>
                    </m:f>
                    <m:r>
                      <a:rPr lang="es-AR" sz="2600" b="0" i="1" smtClean="0">
                        <a:latin typeface="Cambria Math" panose="02040503050406030204" pitchFamily="18" charset="0"/>
                      </a:rPr>
                      <m:t>=12,5%</m:t>
                    </m:r>
                  </m:oMath>
                </a14:m>
                <a:r>
                  <a:rPr lang="es-ES" sz="2600" dirty="0"/>
                  <a:t>  Prom. </a:t>
                </a:r>
                <a:r>
                  <a:rPr lang="es-ES" sz="2600" dirty="0" err="1"/>
                  <a:t>Ind</a:t>
                </a:r>
                <a:r>
                  <a:rPr lang="es-ES" sz="2600" dirty="0"/>
                  <a:t>. 15,0%</a:t>
                </a:r>
              </a:p>
              <a:p>
                <a:r>
                  <a:rPr lang="es-ES" sz="2600" dirty="0"/>
                  <a:t>El ROE de Allied es inferior al promedio de la industria, pero no tanto como el ROA. </a:t>
                </a:r>
              </a:p>
              <a:p>
                <a:r>
                  <a:rPr lang="es-ES" sz="2600" dirty="0"/>
                  <a:t>La mejora en el ROE respecto del ROA se explica en el apalancamiento producto de la Deuda</a:t>
                </a:r>
              </a:p>
              <a:p>
                <a:pPr lvl="1"/>
                <a:r>
                  <a:rPr lang="es-ES" sz="2200" dirty="0"/>
                  <a:t>Mayor Riesgo asociado al mayor Rendimiento</a:t>
                </a:r>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1043" t="-2101" r="-986"/>
                </a:stretch>
              </a:blipFill>
            </p:spPr>
            <p:txBody>
              <a:bodyPr/>
              <a:lstStyle/>
              <a:p>
                <a:r>
                  <a:rPr lang="es-ES">
                    <a:noFill/>
                  </a:rPr>
                  <a:t> </a:t>
                </a:r>
              </a:p>
            </p:txBody>
          </p:sp>
        </mc:Fallback>
      </mc:AlternateContent>
    </p:spTree>
    <p:extLst>
      <p:ext uri="{BB962C8B-B14F-4D97-AF65-F5344CB8AC3E}">
        <p14:creationId xmlns:p14="http://schemas.microsoft.com/office/powerpoint/2010/main" val="1189681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lnSpcReduction="10000"/>
              </a:bodyPr>
              <a:lstStyle/>
              <a:p>
                <a:pPr marL="0" indent="0">
                  <a:buNone/>
                </a:pPr>
                <a:r>
                  <a:rPr lang="es-AR" sz="2600" dirty="0"/>
                  <a:t>RENDIMIENTO DEL CAPITAL INVERTIDO (ROIC)</a:t>
                </a:r>
              </a:p>
              <a:p>
                <a:r>
                  <a:rPr lang="es-AR" sz="2600" dirty="0"/>
                  <a:t>Mide el rendimiento total que la compañía genera para sus INVERSIONISTAS</a:t>
                </a:r>
              </a:p>
              <a:p>
                <a:pPr marL="0" indent="0">
                  <a:buNone/>
                </a:pPr>
                <a:endParaRPr lang="es-AR" sz="2600" dirty="0"/>
              </a:p>
              <a:p>
                <a:r>
                  <a:rPr lang="es-AR" sz="2400" b="0" dirty="0"/>
                  <a:t>ROIC</a:t>
                </a:r>
                <a14:m>
                  <m:oMath xmlns:m="http://schemas.openxmlformats.org/officeDocument/2006/math">
                    <m:r>
                      <a:rPr lang="es-AR" sz="2400" b="0" i="1" smtClean="0">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𝐸𝐵𝐼𝑇</m:t>
                        </m:r>
                        <m:r>
                          <a:rPr lang="es-AR" sz="2400" b="0" i="1" smtClean="0">
                            <a:latin typeface="Cambria Math" panose="02040503050406030204" pitchFamily="18" charset="0"/>
                          </a:rPr>
                          <m:t> ∗(1 −</m:t>
                        </m:r>
                        <m:r>
                          <a:rPr lang="es-AR" sz="2400" b="0" i="1" smtClean="0">
                            <a:latin typeface="Cambria Math" panose="02040503050406030204" pitchFamily="18" charset="0"/>
                          </a:rPr>
                          <m:t>𝑇</m:t>
                        </m:r>
                        <m:r>
                          <a:rPr lang="es-AR" sz="2400" b="0" i="1" smtClean="0">
                            <a:latin typeface="Cambria Math" panose="02040503050406030204" pitchFamily="18" charset="0"/>
                          </a:rPr>
                          <m:t>)</m:t>
                        </m:r>
                      </m:num>
                      <m:den>
                        <m:r>
                          <a:rPr lang="es-AR" sz="2400" b="0" i="1" smtClean="0">
                            <a:latin typeface="Cambria Math" panose="02040503050406030204" pitchFamily="18" charset="0"/>
                          </a:rPr>
                          <m:t>𝐶𝑎𝑝𝑖𝑡𝑎𝑙</m:t>
                        </m:r>
                        <m:r>
                          <a:rPr lang="es-AR" sz="2400" b="0" i="1" smtClean="0">
                            <a:latin typeface="Cambria Math" panose="02040503050406030204" pitchFamily="18" charset="0"/>
                          </a:rPr>
                          <m:t> </m:t>
                        </m:r>
                        <m:r>
                          <a:rPr lang="es-AR" sz="2400" b="0" i="1" smtClean="0">
                            <a:latin typeface="Cambria Math" panose="02040503050406030204" pitchFamily="18" charset="0"/>
                          </a:rPr>
                          <m:t>𝐼𝑛𝑣𝑒𝑟𝑡𝑖𝑑𝑜</m:t>
                        </m:r>
                        <m:r>
                          <a:rPr lang="es-AR" sz="2400" b="0" i="1" smtClean="0">
                            <a:latin typeface="Cambria Math" panose="02040503050406030204" pitchFamily="18" charset="0"/>
                          </a:rPr>
                          <m:t> </m:t>
                        </m:r>
                        <m:r>
                          <a:rPr lang="es-AR" sz="2400" b="0" i="1" smtClean="0">
                            <a:latin typeface="Cambria Math" panose="02040503050406030204" pitchFamily="18" charset="0"/>
                          </a:rPr>
                          <m:t>𝑇𝑜𝑡𝑎𝑙</m:t>
                        </m:r>
                      </m:den>
                    </m:f>
                    <m:r>
                      <a:rPr lang="es-AR" sz="2400" b="0" i="1" smtClean="0">
                        <a:latin typeface="Cambria Math" panose="02040503050406030204" pitchFamily="18" charset="0"/>
                      </a:rPr>
                      <m:t>=</m:t>
                    </m:r>
                    <m:f>
                      <m:fPr>
                        <m:ctrlPr>
                          <a:rPr lang="es-AR" sz="2400" i="1">
                            <a:latin typeface="Cambria Math" panose="02040503050406030204" pitchFamily="18" charset="0"/>
                          </a:rPr>
                        </m:ctrlPr>
                      </m:fPr>
                      <m:num>
                        <m:r>
                          <a:rPr lang="es-AR" sz="2400" i="1">
                            <a:latin typeface="Cambria Math" panose="02040503050406030204" pitchFamily="18" charset="0"/>
                          </a:rPr>
                          <m:t>𝐸𝐵𝐼𝑇</m:t>
                        </m:r>
                        <m:r>
                          <a:rPr lang="es-AR" sz="2400" i="1">
                            <a:latin typeface="Cambria Math" panose="02040503050406030204" pitchFamily="18" charset="0"/>
                          </a:rPr>
                          <m:t> ∗(1 −</m:t>
                        </m:r>
                        <m:r>
                          <a:rPr lang="es-AR" sz="2400" i="1">
                            <a:latin typeface="Cambria Math" panose="02040503050406030204" pitchFamily="18" charset="0"/>
                          </a:rPr>
                          <m:t>𝑇</m:t>
                        </m:r>
                        <m:r>
                          <a:rPr lang="es-AR" sz="2400" i="1">
                            <a:latin typeface="Cambria Math" panose="02040503050406030204" pitchFamily="18" charset="0"/>
                          </a:rPr>
                          <m:t>)</m:t>
                        </m:r>
                      </m:num>
                      <m:den>
                        <m:r>
                          <a:rPr lang="es-AR" sz="2400" b="0" i="1" smtClean="0">
                            <a:latin typeface="Cambria Math" panose="02040503050406030204" pitchFamily="18" charset="0"/>
                          </a:rPr>
                          <m:t>𝐷𝑒𝑢𝑑𝑎</m:t>
                        </m:r>
                        <m:r>
                          <a:rPr lang="es-AR" sz="2400" b="0" i="1" smtClean="0">
                            <a:latin typeface="Cambria Math" panose="02040503050406030204" pitchFamily="18" charset="0"/>
                          </a:rPr>
                          <m:t>+ </m:t>
                        </m:r>
                        <m:r>
                          <a:rPr lang="es-AR" sz="2400" i="1">
                            <a:latin typeface="Cambria Math" panose="02040503050406030204" pitchFamily="18" charset="0"/>
                          </a:rPr>
                          <m:t>𝐶𝑎𝑝𝑖𝑡𝑎𝑙</m:t>
                        </m:r>
                      </m:den>
                    </m:f>
                    <m:r>
                      <a:rPr lang="es-AR" sz="2400" i="1">
                        <a:latin typeface="Cambria Math" panose="02040503050406030204" pitchFamily="18" charset="0"/>
                      </a:rPr>
                      <m:t>=</m:t>
                    </m:r>
                    <m:f>
                      <m:fPr>
                        <m:ctrlPr>
                          <a:rPr lang="es-AR" sz="2400" b="0" i="1" smtClean="0">
                            <a:latin typeface="Cambria Math" panose="02040503050406030204" pitchFamily="18" charset="0"/>
                          </a:rPr>
                        </m:ctrlPr>
                      </m:fPr>
                      <m:num>
                        <m:r>
                          <a:rPr lang="es-AR" sz="2400" b="0" i="1" smtClean="0">
                            <a:latin typeface="Cambria Math" panose="02040503050406030204" pitchFamily="18" charset="0"/>
                          </a:rPr>
                          <m:t>170,3</m:t>
                        </m:r>
                      </m:num>
                      <m:den>
                        <m:r>
                          <a:rPr lang="es-AR" sz="2400" b="0" i="1" smtClean="0">
                            <a:latin typeface="Cambria Math" panose="02040503050406030204" pitchFamily="18" charset="0"/>
                          </a:rPr>
                          <m:t>1.800</m:t>
                        </m:r>
                      </m:den>
                    </m:f>
                    <m:r>
                      <a:rPr lang="es-AR" sz="2400" b="0" i="1" smtClean="0">
                        <a:latin typeface="Cambria Math" panose="02040503050406030204" pitchFamily="18" charset="0"/>
                      </a:rPr>
                      <m:t>=9,5%</m:t>
                    </m:r>
                  </m:oMath>
                </a14:m>
                <a:r>
                  <a:rPr lang="es-ES" sz="2400" dirty="0"/>
                  <a:t>  Prom. </a:t>
                </a:r>
                <a:r>
                  <a:rPr lang="es-ES" sz="2400" dirty="0" err="1"/>
                  <a:t>Ind</a:t>
                </a:r>
                <a:r>
                  <a:rPr lang="es-ES" sz="2400" dirty="0"/>
                  <a:t>. 10,8%</a:t>
                </a:r>
              </a:p>
              <a:p>
                <a:endParaRPr lang="es-ES" sz="2600" dirty="0"/>
              </a:p>
              <a:p>
                <a:r>
                  <a:rPr lang="es-ES" sz="2600" dirty="0"/>
                  <a:t>Difiere del ROA en</a:t>
                </a:r>
              </a:p>
              <a:p>
                <a:pPr lvl="1"/>
                <a:r>
                  <a:rPr lang="es-ES" sz="2200" dirty="0"/>
                  <a:t>Mide sobre Capital Total Invertido y no sobre el Activo Contable</a:t>
                </a:r>
              </a:p>
              <a:p>
                <a:pPr lvl="1"/>
                <a:r>
                  <a:rPr lang="es-ES" sz="2200" dirty="0"/>
                  <a:t>Usa en el numerador el ingreso neto de operaciones después de impuestos (NOPAT) en lugar del ingreso neto ¿Por qué antes de intereses?</a:t>
                </a:r>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1043" t="-2801"/>
                </a:stretch>
              </a:blipFill>
            </p:spPr>
            <p:txBody>
              <a:bodyPr/>
              <a:lstStyle/>
              <a:p>
                <a:r>
                  <a:rPr lang="es-ES">
                    <a:noFill/>
                  </a:rPr>
                  <a:t> </a:t>
                </a:r>
              </a:p>
            </p:txBody>
          </p:sp>
        </mc:Fallback>
      </mc:AlternateContent>
    </p:spTree>
    <p:extLst>
      <p:ext uri="{BB962C8B-B14F-4D97-AF65-F5344CB8AC3E}">
        <p14:creationId xmlns:p14="http://schemas.microsoft.com/office/powerpoint/2010/main" val="3217651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70000" lnSpcReduction="20000"/>
          </a:bodyPr>
          <a:lstStyle/>
          <a:p>
            <a:pPr marL="0" indent="0">
              <a:buNone/>
            </a:pPr>
            <a:r>
              <a:rPr lang="es-AR" sz="2600" u="sng" dirty="0"/>
              <a:t>Ejercicio rápido</a:t>
            </a:r>
          </a:p>
          <a:p>
            <a:pPr marL="0" indent="0">
              <a:buNone/>
            </a:pPr>
            <a:r>
              <a:rPr lang="es-AR" sz="2600" dirty="0"/>
              <a:t>Ventas 20.000; Ingresos Netos 1.000</a:t>
            </a:r>
          </a:p>
          <a:p>
            <a:pPr marL="0" indent="0">
              <a:buNone/>
            </a:pPr>
            <a:r>
              <a:rPr lang="es-AR" sz="2600" dirty="0"/>
              <a:t>Activo Contable 10.000, financiado 50% con Capital Propio, 50% con Deuda al 5%. Tasa impositiva del 40%</a:t>
            </a:r>
          </a:p>
          <a:p>
            <a:pPr marL="0" indent="0">
              <a:buNone/>
            </a:pPr>
            <a:endParaRPr lang="es-ES" sz="2600" dirty="0"/>
          </a:p>
          <a:p>
            <a:pPr marL="0" indent="0">
              <a:buNone/>
            </a:pPr>
            <a:r>
              <a:rPr lang="es-ES" sz="2600" dirty="0"/>
              <a:t>¿Margen de Utilidad Neto?  </a:t>
            </a:r>
          </a:p>
          <a:p>
            <a:pPr marL="0" indent="0">
              <a:buNone/>
            </a:pPr>
            <a:r>
              <a:rPr lang="es-ES" sz="2600" dirty="0"/>
              <a:t>¿Cuánto es el ROA? ; ¿Y el ROE? </a:t>
            </a:r>
          </a:p>
          <a:p>
            <a:pPr marL="0" indent="0">
              <a:buNone/>
            </a:pPr>
            <a:endParaRPr lang="es-ES" sz="2600" dirty="0"/>
          </a:p>
          <a:p>
            <a:pPr marL="0" indent="0">
              <a:buNone/>
            </a:pPr>
            <a:r>
              <a:rPr lang="es-ES" sz="2600" dirty="0"/>
              <a:t>¿Cuánto es el ROIC? = [EBIT * (1-T)] /[Deuda + Capital]. EBT</a:t>
            </a:r>
          </a:p>
          <a:p>
            <a:pPr marL="0" indent="0">
              <a:buNone/>
            </a:pPr>
            <a:r>
              <a:rPr lang="es-ES" sz="2600" dirty="0"/>
              <a:t>	           EBIT = EBT + Intereses </a:t>
            </a:r>
          </a:p>
          <a:p>
            <a:pPr marL="0" indent="0">
              <a:buNone/>
            </a:pPr>
            <a:r>
              <a:rPr lang="es-ES" sz="2600" dirty="0"/>
              <a:t>	 </a:t>
            </a:r>
          </a:p>
          <a:p>
            <a:r>
              <a:rPr lang="es-ES" sz="2600" dirty="0"/>
              <a:t>¿Qué implicaría una menor razón de deuda sobre el ROA?</a:t>
            </a:r>
          </a:p>
          <a:p>
            <a:pPr lvl="1"/>
            <a:r>
              <a:rPr lang="es-ES" sz="2200" dirty="0"/>
              <a:t>Menos intereses, mayor Ingreso Neto</a:t>
            </a:r>
          </a:p>
          <a:p>
            <a:pPr lvl="1"/>
            <a:r>
              <a:rPr lang="es-ES" sz="2200" dirty="0"/>
              <a:t>Mayor Ingreso Neto, mayor ROA</a:t>
            </a:r>
          </a:p>
          <a:p>
            <a:pPr marL="0" indent="0">
              <a:buNone/>
            </a:pPr>
            <a:endParaRPr lang="es-ES" sz="2600" dirty="0"/>
          </a:p>
        </p:txBody>
      </p:sp>
    </p:spTree>
    <p:extLst>
      <p:ext uri="{BB962C8B-B14F-4D97-AF65-F5344CB8AC3E}">
        <p14:creationId xmlns:p14="http://schemas.microsoft.com/office/powerpoint/2010/main" val="20092677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10000"/>
              </a:bodyPr>
              <a:lstStyle/>
              <a:p>
                <a:pPr marL="0" indent="0">
                  <a:buNone/>
                </a:pPr>
                <a:r>
                  <a:rPr lang="es-AR" sz="2600" dirty="0"/>
                  <a:t>RAZÓN DE RENTABILIDAD BÁSICA (BEP – Basic </a:t>
                </a:r>
                <a:r>
                  <a:rPr lang="es-AR" sz="2600" dirty="0" err="1"/>
                  <a:t>Earning</a:t>
                </a:r>
                <a:r>
                  <a:rPr lang="es-AR" sz="2600" dirty="0"/>
                  <a:t> </a:t>
                </a:r>
                <a:r>
                  <a:rPr lang="es-AR" sz="2600" dirty="0" err="1"/>
                  <a:t>Power</a:t>
                </a:r>
                <a:r>
                  <a:rPr lang="es-AR" sz="2600" dirty="0"/>
                  <a:t>)</a:t>
                </a:r>
              </a:p>
              <a:p>
                <a:pPr marL="0" indent="0">
                  <a:buNone/>
                </a:pPr>
                <a:r>
                  <a:rPr lang="es-AR" sz="2600" dirty="0"/>
                  <a:t>Muestra la capacidad de los Activos de generar Ingreso de Operaciones</a:t>
                </a:r>
              </a:p>
              <a:p>
                <a:endParaRPr lang="es-AR" sz="2600" dirty="0"/>
              </a:p>
              <a:p>
                <a:r>
                  <a:rPr lang="es-AR" dirty="0"/>
                  <a:t>BEP</a:t>
                </a:r>
                <a14:m>
                  <m:oMath xmlns:m="http://schemas.openxmlformats.org/officeDocument/2006/math">
                    <m:r>
                      <a:rPr lang="es-AR" sz="2800" b="0" i="1" smtClean="0">
                        <a:latin typeface="Cambria Math" panose="02040503050406030204" pitchFamily="18" charset="0"/>
                      </a:rPr>
                      <m:t>=</m:t>
                    </m:r>
                    <m:f>
                      <m:fPr>
                        <m:ctrlPr>
                          <a:rPr lang="es-AR" sz="2800" b="0" i="1" smtClean="0">
                            <a:latin typeface="Cambria Math" panose="02040503050406030204" pitchFamily="18" charset="0"/>
                          </a:rPr>
                        </m:ctrlPr>
                      </m:fPr>
                      <m:num>
                        <m:r>
                          <a:rPr lang="es-AR" sz="2800" b="0" i="1" smtClean="0">
                            <a:latin typeface="Cambria Math" panose="02040503050406030204" pitchFamily="18" charset="0"/>
                          </a:rPr>
                          <m:t>𝐸𝐵𝐼𝑇</m:t>
                        </m:r>
                      </m:num>
                      <m:den>
                        <m:r>
                          <a:rPr lang="es-AR" sz="2800" b="0" i="1" smtClean="0">
                            <a:latin typeface="Cambria Math" panose="02040503050406030204" pitchFamily="18" charset="0"/>
                          </a:rPr>
                          <m:t>𝐴𝑐𝑡𝑖𝑣𝑜</m:t>
                        </m:r>
                        <m:r>
                          <a:rPr lang="es-AR" sz="2800" b="0" i="1" smtClean="0">
                            <a:latin typeface="Cambria Math" panose="02040503050406030204" pitchFamily="18" charset="0"/>
                          </a:rPr>
                          <m:t> </m:t>
                        </m:r>
                        <m:r>
                          <a:rPr lang="es-AR" sz="2800" b="0" i="1" smtClean="0">
                            <a:latin typeface="Cambria Math" panose="02040503050406030204" pitchFamily="18" charset="0"/>
                          </a:rPr>
                          <m:t>𝐶𝑜𝑛𝑡𝑎𝑏𝑙𝑒</m:t>
                        </m:r>
                      </m:den>
                    </m:f>
                    <m:r>
                      <a:rPr lang="es-AR" sz="2800" b="0" i="1" smtClean="0">
                        <a:latin typeface="Cambria Math" panose="02040503050406030204" pitchFamily="18" charset="0"/>
                      </a:rPr>
                      <m:t>=</m:t>
                    </m:r>
                    <m:f>
                      <m:fPr>
                        <m:ctrlPr>
                          <a:rPr lang="es-AR" sz="2800" b="0" i="1" smtClean="0">
                            <a:latin typeface="Cambria Math" panose="02040503050406030204" pitchFamily="18" charset="0"/>
                          </a:rPr>
                        </m:ctrlPr>
                      </m:fPr>
                      <m:num>
                        <m:r>
                          <a:rPr lang="es-AR" sz="2800" b="0" i="1" smtClean="0">
                            <a:latin typeface="Cambria Math" panose="02040503050406030204" pitchFamily="18" charset="0"/>
                          </a:rPr>
                          <m:t>283,8</m:t>
                        </m:r>
                      </m:num>
                      <m:den>
                        <m:r>
                          <a:rPr lang="es-AR" sz="2800" b="0" i="1" smtClean="0">
                            <a:latin typeface="Cambria Math" panose="02040503050406030204" pitchFamily="18" charset="0"/>
                          </a:rPr>
                          <m:t>2.000</m:t>
                        </m:r>
                      </m:den>
                    </m:f>
                    <m:r>
                      <a:rPr lang="es-AR" sz="2800" b="0" i="1" smtClean="0">
                        <a:latin typeface="Cambria Math" panose="02040503050406030204" pitchFamily="18" charset="0"/>
                      </a:rPr>
                      <m:t>=14,2%</m:t>
                    </m:r>
                  </m:oMath>
                </a14:m>
                <a:r>
                  <a:rPr lang="es-ES" sz="2800" dirty="0"/>
                  <a:t>  Prom. </a:t>
                </a:r>
                <a:r>
                  <a:rPr lang="es-ES" sz="2800" dirty="0" err="1"/>
                  <a:t>Ind</a:t>
                </a:r>
                <a:r>
                  <a:rPr lang="es-ES" sz="2800" dirty="0"/>
                  <a:t>. 18,0%</a:t>
                </a:r>
              </a:p>
              <a:p>
                <a:endParaRPr lang="es-ES" sz="3200" dirty="0"/>
              </a:p>
              <a:p>
                <a:r>
                  <a:rPr lang="es-ES" sz="2600" dirty="0"/>
                  <a:t>Es la Rentabilidad Bruta de los Activos de la empresa antes de Intereses e Impuestos</a:t>
                </a:r>
              </a:p>
              <a:p>
                <a:r>
                  <a:rPr lang="es-ES" sz="2600" dirty="0"/>
                  <a:t>Sirve para comparar Empresas con diferentes situaciones de Deuda e Impuestos</a:t>
                </a:r>
              </a:p>
              <a:p>
                <a:r>
                  <a:rPr lang="es-ES" sz="2600" dirty="0"/>
                  <a:t>Como Allied tiene baja rotación y margen de operación sobre ventas, comparada con el promedio industrial, su BEP también es más bajo comparativamente</a:t>
                </a:r>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28" t="-2661" r="-174"/>
                </a:stretch>
              </a:blipFill>
            </p:spPr>
            <p:txBody>
              <a:bodyPr/>
              <a:lstStyle/>
              <a:p>
                <a:r>
                  <a:rPr lang="es-ES">
                    <a:noFill/>
                  </a:rPr>
                  <a:t> </a:t>
                </a:r>
              </a:p>
            </p:txBody>
          </p:sp>
        </mc:Fallback>
      </mc:AlternateContent>
    </p:spTree>
    <p:extLst>
      <p:ext uri="{BB962C8B-B14F-4D97-AF65-F5344CB8AC3E}">
        <p14:creationId xmlns:p14="http://schemas.microsoft.com/office/powerpoint/2010/main" val="3105612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sz="2600" dirty="0"/>
              <a:t>PREGUNTAS DE AUTO EVALUACIÓN</a:t>
            </a:r>
          </a:p>
          <a:p>
            <a:pPr marL="0" indent="0">
              <a:buNone/>
            </a:pPr>
            <a:endParaRPr lang="es-AR" sz="2600" dirty="0"/>
          </a:p>
          <a:p>
            <a:r>
              <a:rPr lang="es-AR" sz="2600" dirty="0"/>
              <a:t>¿Por qué el uso de deuda reduce el margen de utilidad y el ROA?</a:t>
            </a:r>
          </a:p>
          <a:p>
            <a:r>
              <a:rPr lang="es-AR" sz="2600" dirty="0"/>
              <a:t>Usar más deuda reduce las ganancias y por ende el ROA ¿Por qué no tiene el mismo efecto negativo sobre el ROE?</a:t>
            </a:r>
          </a:p>
          <a:p>
            <a:endParaRPr lang="es-AR" sz="2600" dirty="0"/>
          </a:p>
          <a:p>
            <a:r>
              <a:rPr lang="es-AR" sz="2600" dirty="0"/>
              <a:t>Una Compañía tiene ROA del 10%, si no tiene deuda, o sea financia con capital propio el 100% de su activo contable ¿Cuál es el ROE y cuál el ROIC?</a:t>
            </a:r>
          </a:p>
          <a:p>
            <a:r>
              <a:rPr lang="es-AR" sz="2600" dirty="0"/>
              <a:t>En tal caso, ambos serán también del 10%</a:t>
            </a:r>
            <a:endParaRPr lang="es-ES" sz="2600" dirty="0"/>
          </a:p>
        </p:txBody>
      </p:sp>
    </p:spTree>
    <p:extLst>
      <p:ext uri="{BB962C8B-B14F-4D97-AF65-F5344CB8AC3E}">
        <p14:creationId xmlns:p14="http://schemas.microsoft.com/office/powerpoint/2010/main" val="2965854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Autofit/>
          </a:bodyPr>
          <a:lstStyle/>
          <a:p>
            <a:pPr marL="0" indent="0">
              <a:buNone/>
            </a:pPr>
            <a:r>
              <a:rPr lang="es-AR" sz="2000" dirty="0"/>
              <a:t>RAZÓN DE VALOR DE MERCADO</a:t>
            </a:r>
          </a:p>
          <a:p>
            <a:r>
              <a:rPr lang="es-AR" sz="2000" dirty="0"/>
              <a:t>El </a:t>
            </a:r>
            <a:r>
              <a:rPr lang="es-AR" sz="2000" b="1" dirty="0"/>
              <a:t>ROE</a:t>
            </a:r>
            <a:r>
              <a:rPr lang="es-AR" sz="2000" dirty="0"/>
              <a:t> refleja los efectos de todas las demás razones y </a:t>
            </a:r>
            <a:r>
              <a:rPr lang="es-AR" sz="2000" b="1" dirty="0"/>
              <a:t>es la mejor medida contable de desempeño</a:t>
            </a:r>
          </a:p>
          <a:p>
            <a:r>
              <a:rPr lang="es-AR" sz="2000" dirty="0"/>
              <a:t>Al accionista le gustan ROE altos, y además se correlacionan con altos precios de las acciones</a:t>
            </a:r>
          </a:p>
          <a:p>
            <a:r>
              <a:rPr lang="es-AR" sz="2000" dirty="0"/>
              <a:t>Sin embargo, también otras cosas entran en juego para determinar el precio, el apalancamiento eleva el ROE, pero también el RIESGO de la empresa, pudiendo deprimir el valor de las acciones</a:t>
            </a:r>
          </a:p>
          <a:p>
            <a:r>
              <a:rPr lang="es-AR" sz="2000" dirty="0"/>
              <a:t>Una situación de </a:t>
            </a:r>
          </a:p>
          <a:p>
            <a:pPr lvl="1"/>
            <a:r>
              <a:rPr lang="es-AR" sz="1800" dirty="0"/>
              <a:t>Menos deuda</a:t>
            </a:r>
          </a:p>
          <a:p>
            <a:pPr lvl="1"/>
            <a:r>
              <a:rPr lang="es-AR" sz="1800" dirty="0"/>
              <a:t>Menos apalancamiento</a:t>
            </a:r>
          </a:p>
          <a:p>
            <a:pPr lvl="1"/>
            <a:r>
              <a:rPr lang="es-AR" sz="1800" dirty="0"/>
              <a:t>Menos ROE</a:t>
            </a:r>
          </a:p>
          <a:p>
            <a:pPr marL="0" indent="0" algn="ctr">
              <a:buNone/>
            </a:pPr>
            <a:r>
              <a:rPr lang="es-AR" sz="2000" dirty="0"/>
              <a:t>Podría arrojar un mayor valor de las Acciones</a:t>
            </a:r>
          </a:p>
        </p:txBody>
      </p:sp>
    </p:spTree>
    <p:extLst>
      <p:ext uri="{BB962C8B-B14F-4D97-AF65-F5344CB8AC3E}">
        <p14:creationId xmlns:p14="http://schemas.microsoft.com/office/powerpoint/2010/main" val="20294540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85000" lnSpcReduction="10000"/>
          </a:bodyPr>
          <a:lstStyle/>
          <a:p>
            <a:pPr marL="0" indent="0">
              <a:buNone/>
            </a:pPr>
            <a:r>
              <a:rPr lang="es-AR" dirty="0"/>
              <a:t>RAZÓN DE VALOR DE MERCADO</a:t>
            </a:r>
          </a:p>
          <a:p>
            <a:r>
              <a:rPr lang="es-AR" dirty="0"/>
              <a:t>Para entender esta dinámica, evaluaremos el último grupo de razones: Las razones de valor del mercado, que relacionan el </a:t>
            </a:r>
            <a:r>
              <a:rPr lang="es-AR" b="1" dirty="0"/>
              <a:t>precio de las acciones</a:t>
            </a:r>
            <a:r>
              <a:rPr lang="es-AR" dirty="0"/>
              <a:t> con las </a:t>
            </a:r>
            <a:r>
              <a:rPr lang="es-AR" b="1" dirty="0"/>
              <a:t>ganancias</a:t>
            </a:r>
            <a:r>
              <a:rPr lang="es-AR" dirty="0"/>
              <a:t> y </a:t>
            </a:r>
            <a:r>
              <a:rPr lang="es-AR" b="1" dirty="0"/>
              <a:t>el valor contable de ese precio</a:t>
            </a:r>
          </a:p>
          <a:p>
            <a:r>
              <a:rPr lang="es-AR" dirty="0"/>
              <a:t>Si las razones de liquidez, administración de activos, administración de deuda y de rentabilidad lucen bien, y los inversionistas creen que seguirán así en el futuro, las razones de valor de mercado serán altas, el precio de las acciones será tan alto como quepa esperar y se juzgará que la Gerencia ha hecho un gran trabajo </a:t>
            </a:r>
          </a:p>
          <a:p>
            <a:r>
              <a:rPr lang="es-AR" dirty="0"/>
              <a:t>¿Cuándo se usan las Razones de Valor de Marcado?</a:t>
            </a:r>
          </a:p>
          <a:p>
            <a:pPr lvl="1"/>
            <a:r>
              <a:rPr lang="es-AR" dirty="0"/>
              <a:t>Los inversionistas para decidir si comprar o vender las acciones</a:t>
            </a:r>
          </a:p>
          <a:p>
            <a:pPr lvl="1"/>
            <a:r>
              <a:rPr lang="es-AR" dirty="0"/>
              <a:t>La banca de Inversión, cuando fija el precio por acción de una nueva emisión (Oferta Pública Inicial - OPI)</a:t>
            </a:r>
          </a:p>
          <a:p>
            <a:pPr lvl="1"/>
            <a:r>
              <a:rPr lang="es-AR" dirty="0"/>
              <a:t>Las empresas, cuando deciden cuánto ofrecer por otra empresa en una fusión potencial</a:t>
            </a:r>
          </a:p>
          <a:p>
            <a:endParaRPr lang="es-AR" dirty="0"/>
          </a:p>
          <a:p>
            <a:endParaRPr lang="es-ES" dirty="0"/>
          </a:p>
        </p:txBody>
      </p:sp>
    </p:spTree>
    <p:extLst>
      <p:ext uri="{BB962C8B-B14F-4D97-AF65-F5344CB8AC3E}">
        <p14:creationId xmlns:p14="http://schemas.microsoft.com/office/powerpoint/2010/main" val="4154406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85000" lnSpcReduction="20000"/>
              </a:bodyPr>
              <a:lstStyle/>
              <a:p>
                <a:pPr marL="0" indent="0">
                  <a:buNone/>
                </a:pPr>
                <a:r>
                  <a:rPr lang="es-AR" sz="2600" dirty="0"/>
                  <a:t>RAZÓN DE VALOR DE MERCADO</a:t>
                </a:r>
              </a:p>
              <a:p>
                <a:pPr marL="0" indent="0">
                  <a:buNone/>
                </a:pPr>
                <a:r>
                  <a:rPr lang="es-AR" sz="2600" dirty="0"/>
                  <a:t>RAZÓN PRECIO GANANCIAS P/E</a:t>
                </a:r>
              </a:p>
              <a:p>
                <a:r>
                  <a:rPr lang="es-AR" sz="2600" dirty="0"/>
                  <a:t>Es lo que están dispuestos a pagar los inversionistas por cada dólar de ganancias reportadas y no de dividendos pagados ¿por qué?</a:t>
                </a:r>
              </a:p>
              <a:p>
                <a:endParaRPr lang="es-AR" sz="2600" dirty="0"/>
              </a:p>
              <a:p>
                <a:pPr marL="0" indent="0">
                  <a:buNone/>
                </a:pPr>
                <a14:m>
                  <m:oMath xmlns:m="http://schemas.openxmlformats.org/officeDocument/2006/math">
                    <m:r>
                      <m:rPr>
                        <m:sty m:val="p"/>
                      </m:rPr>
                      <a:rPr lang="es-AR" sz="2600">
                        <a:latin typeface="Cambria Math" panose="02040503050406030204" pitchFamily="18" charset="0"/>
                      </a:rPr>
                      <m:t>P</m:t>
                    </m:r>
                    <m:r>
                      <a:rPr lang="es-AR" sz="2600" b="0" i="0" smtClean="0">
                        <a:latin typeface="Cambria Math" panose="02040503050406030204" pitchFamily="18" charset="0"/>
                      </a:rPr>
                      <m:t>/</m:t>
                    </m:r>
                    <m:r>
                      <m:rPr>
                        <m:sty m:val="p"/>
                      </m:rPr>
                      <a:rPr lang="es-AR" sz="2600" b="0" i="0" smtClean="0">
                        <a:latin typeface="Cambria Math" panose="02040503050406030204" pitchFamily="18" charset="0"/>
                      </a:rPr>
                      <m:t>E</m:t>
                    </m:r>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𝑝𝑟𝑒𝑐𝑖𝑜</m:t>
                        </m:r>
                        <m:r>
                          <a:rPr lang="es-AR" sz="2600" b="0" i="1" smtClean="0">
                            <a:latin typeface="Cambria Math" panose="02040503050406030204" pitchFamily="18" charset="0"/>
                          </a:rPr>
                          <m:t> </m:t>
                        </m:r>
                        <m:r>
                          <a:rPr lang="es-AR" sz="2600" b="0" i="1" smtClean="0">
                            <a:latin typeface="Cambria Math" panose="02040503050406030204" pitchFamily="18" charset="0"/>
                          </a:rPr>
                          <m:t>𝑝𝑜𝑟</m:t>
                        </m:r>
                        <m:r>
                          <a:rPr lang="es-AR" sz="2600" b="0" i="1" smtClean="0">
                            <a:latin typeface="Cambria Math" panose="02040503050406030204" pitchFamily="18" charset="0"/>
                          </a:rPr>
                          <m:t> </m:t>
                        </m:r>
                        <m:r>
                          <a:rPr lang="es-AR" sz="2600" b="0" i="1" smtClean="0">
                            <a:latin typeface="Cambria Math" panose="02040503050406030204" pitchFamily="18" charset="0"/>
                          </a:rPr>
                          <m:t>𝑎𝑐𝑐𝑖</m:t>
                        </m:r>
                        <m:r>
                          <a:rPr lang="es-AR" sz="2600" b="0" i="1" smtClean="0">
                            <a:latin typeface="Cambria Math" panose="02040503050406030204" pitchFamily="18" charset="0"/>
                          </a:rPr>
                          <m:t>ó</m:t>
                        </m:r>
                        <m:r>
                          <a:rPr lang="es-AR" sz="2600" b="0" i="1" smtClean="0">
                            <a:latin typeface="Cambria Math" panose="02040503050406030204" pitchFamily="18" charset="0"/>
                          </a:rPr>
                          <m:t>𝑛</m:t>
                        </m:r>
                      </m:num>
                      <m:den>
                        <m:r>
                          <a:rPr lang="es-AR" sz="2600" b="0" i="1" smtClean="0">
                            <a:latin typeface="Cambria Math" panose="02040503050406030204" pitchFamily="18" charset="0"/>
                          </a:rPr>
                          <m:t>𝑔𝑎𝑛𝑎𝑛𝑐𝑖𝑎𝑠</m:t>
                        </m:r>
                        <m:r>
                          <a:rPr lang="es-AR" sz="2600" b="0" i="1" smtClean="0">
                            <a:latin typeface="Cambria Math" panose="02040503050406030204" pitchFamily="18" charset="0"/>
                          </a:rPr>
                          <m:t> </m:t>
                        </m:r>
                        <m:r>
                          <a:rPr lang="es-AR" sz="2600" b="0" i="1" smtClean="0">
                            <a:latin typeface="Cambria Math" panose="02040503050406030204" pitchFamily="18" charset="0"/>
                          </a:rPr>
                          <m:t>𝑝𝑜𝑟</m:t>
                        </m:r>
                        <m:r>
                          <a:rPr lang="es-AR" sz="2600" b="0" i="1" smtClean="0">
                            <a:latin typeface="Cambria Math" panose="02040503050406030204" pitchFamily="18" charset="0"/>
                          </a:rPr>
                          <m:t> </m:t>
                        </m:r>
                        <m:r>
                          <a:rPr lang="es-AR" sz="2600" b="0" i="1" smtClean="0">
                            <a:latin typeface="Cambria Math" panose="02040503050406030204" pitchFamily="18" charset="0"/>
                          </a:rPr>
                          <m:t>𝑎𝑐𝑐𝑖</m:t>
                        </m:r>
                        <m:r>
                          <a:rPr lang="es-AR" sz="2600" b="0" i="1" smtClean="0">
                            <a:latin typeface="Cambria Math" panose="02040503050406030204" pitchFamily="18" charset="0"/>
                          </a:rPr>
                          <m:t>ó</m:t>
                        </m:r>
                        <m:r>
                          <a:rPr lang="es-AR" sz="2600" b="0" i="1" smtClean="0">
                            <a:latin typeface="Cambria Math" panose="02040503050406030204" pitchFamily="18" charset="0"/>
                          </a:rPr>
                          <m:t>𝑛</m:t>
                        </m:r>
                        <m:r>
                          <a:rPr lang="es-AR" sz="2600" b="0" i="1" smtClean="0">
                            <a:latin typeface="Cambria Math" panose="02040503050406030204" pitchFamily="18" charset="0"/>
                          </a:rPr>
                          <m:t> </m:t>
                        </m:r>
                        <m:d>
                          <m:dPr>
                            <m:ctrlPr>
                              <a:rPr lang="es-AR" sz="2600" b="0" i="1" smtClean="0">
                                <a:latin typeface="Cambria Math" panose="02040503050406030204" pitchFamily="18" charset="0"/>
                              </a:rPr>
                            </m:ctrlPr>
                          </m:dPr>
                          <m:e>
                            <m:r>
                              <a:rPr lang="es-AR" sz="2600" b="0" i="1" smtClean="0">
                                <a:latin typeface="Cambria Math" panose="02040503050406030204" pitchFamily="18" charset="0"/>
                              </a:rPr>
                              <m:t>𝐸𝑃𝑆</m:t>
                            </m:r>
                          </m:e>
                        </m:d>
                      </m:den>
                    </m:f>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23,06</m:t>
                        </m:r>
                      </m:num>
                      <m:den>
                        <m:r>
                          <a:rPr lang="es-AR" sz="2600" b="0" i="1" smtClean="0">
                            <a:latin typeface="Cambria Math" panose="02040503050406030204" pitchFamily="18" charset="0"/>
                          </a:rPr>
                          <m:t>2,35</m:t>
                        </m:r>
                      </m:den>
                    </m:f>
                    <m:r>
                      <a:rPr lang="es-AR" sz="2600" b="0" i="1" smtClean="0">
                        <a:latin typeface="Cambria Math" panose="02040503050406030204" pitchFamily="18" charset="0"/>
                      </a:rPr>
                      <m:t>=9,8 </m:t>
                    </m:r>
                    <m:r>
                      <a:rPr lang="es-AR" sz="2600" b="0" i="1" smtClean="0">
                        <a:latin typeface="Cambria Math" panose="02040503050406030204" pitchFamily="18" charset="0"/>
                      </a:rPr>
                      <m:t>𝑋</m:t>
                    </m:r>
                  </m:oMath>
                </a14:m>
                <a:r>
                  <a:rPr lang="es-ES" sz="2600" dirty="0"/>
                  <a:t>     Prom. </a:t>
                </a:r>
                <a:r>
                  <a:rPr lang="es-ES" sz="2600" dirty="0" err="1"/>
                  <a:t>Ind</a:t>
                </a:r>
                <a:r>
                  <a:rPr lang="es-ES" sz="2600" dirty="0"/>
                  <a:t>. 11,3 X</a:t>
                </a:r>
              </a:p>
              <a:p>
                <a:endParaRPr lang="es-ES" sz="3200" dirty="0"/>
              </a:p>
              <a:p>
                <a:r>
                  <a:rPr lang="es-ES" sz="3200" dirty="0"/>
                  <a:t>Profundicemos un poco más en esta razón P/E ¿Qué nos dice?</a:t>
                </a:r>
              </a:p>
              <a:p>
                <a:r>
                  <a:rPr lang="es-ES" sz="3200" dirty="0"/>
                  <a:t>¿Cuándo tendremos P/E elevados, cuándo serán bajos?</a:t>
                </a:r>
              </a:p>
              <a:p>
                <a:pPr lvl="1"/>
                <a:r>
                  <a:rPr lang="es-ES" sz="2800" dirty="0"/>
                  <a:t>Prospectos de Crecimiento</a:t>
                </a:r>
              </a:p>
              <a:p>
                <a:pPr lvl="1"/>
                <a:r>
                  <a:rPr lang="es-ES" sz="2800" dirty="0"/>
                  <a:t>Nivel de Riesgo</a:t>
                </a:r>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86" t="-2801"/>
                </a:stretch>
              </a:blipFill>
            </p:spPr>
            <p:txBody>
              <a:bodyPr/>
              <a:lstStyle/>
              <a:p>
                <a:r>
                  <a:rPr lang="es-ES">
                    <a:noFill/>
                  </a:rPr>
                  <a:t> </a:t>
                </a:r>
              </a:p>
            </p:txBody>
          </p:sp>
        </mc:Fallback>
      </mc:AlternateContent>
    </p:spTree>
    <p:extLst>
      <p:ext uri="{BB962C8B-B14F-4D97-AF65-F5344CB8AC3E}">
        <p14:creationId xmlns:p14="http://schemas.microsoft.com/office/powerpoint/2010/main" val="6725335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10000"/>
              </a:bodyPr>
              <a:lstStyle/>
              <a:p>
                <a:pPr marL="0" indent="0">
                  <a:buNone/>
                </a:pPr>
                <a:r>
                  <a:rPr lang="es-AR" sz="2600" dirty="0"/>
                  <a:t>RAZÓN DE VALOR DE MERCADO</a:t>
                </a:r>
              </a:p>
              <a:p>
                <a:pPr marL="0" indent="0">
                  <a:buNone/>
                </a:pPr>
                <a:r>
                  <a:rPr lang="es-AR" sz="2600" dirty="0"/>
                  <a:t>RAZÓN PRECIO GANANCIAS P/E</a:t>
                </a:r>
              </a:p>
              <a:p>
                <a:endParaRPr lang="es-AR" sz="2600" dirty="0"/>
              </a:p>
              <a:p>
                <a:pPr marL="0" indent="0">
                  <a:buNone/>
                </a:pPr>
                <a14:m>
                  <m:oMath xmlns:m="http://schemas.openxmlformats.org/officeDocument/2006/math">
                    <m:r>
                      <m:rPr>
                        <m:sty m:val="p"/>
                      </m:rPr>
                      <a:rPr lang="es-AR" sz="2600">
                        <a:latin typeface="Cambria Math" panose="02040503050406030204" pitchFamily="18" charset="0"/>
                      </a:rPr>
                      <m:t>P</m:t>
                    </m:r>
                    <m:r>
                      <a:rPr lang="es-AR" sz="2600" b="0" i="0" smtClean="0">
                        <a:latin typeface="Cambria Math" panose="02040503050406030204" pitchFamily="18" charset="0"/>
                      </a:rPr>
                      <m:t>/</m:t>
                    </m:r>
                    <m:r>
                      <m:rPr>
                        <m:sty m:val="p"/>
                      </m:rPr>
                      <a:rPr lang="es-AR" sz="2600" b="0" i="0" smtClean="0">
                        <a:latin typeface="Cambria Math" panose="02040503050406030204" pitchFamily="18" charset="0"/>
                      </a:rPr>
                      <m:t>E</m:t>
                    </m:r>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𝑝𝑟𝑒𝑐𝑖𝑜</m:t>
                        </m:r>
                        <m:r>
                          <a:rPr lang="es-AR" sz="2600" b="0" i="1" smtClean="0">
                            <a:latin typeface="Cambria Math" panose="02040503050406030204" pitchFamily="18" charset="0"/>
                          </a:rPr>
                          <m:t> </m:t>
                        </m:r>
                        <m:r>
                          <a:rPr lang="es-AR" sz="2600" b="0" i="1" smtClean="0">
                            <a:latin typeface="Cambria Math" panose="02040503050406030204" pitchFamily="18" charset="0"/>
                          </a:rPr>
                          <m:t>𝑝𝑜𝑟</m:t>
                        </m:r>
                        <m:r>
                          <a:rPr lang="es-AR" sz="2600" b="0" i="1" smtClean="0">
                            <a:latin typeface="Cambria Math" panose="02040503050406030204" pitchFamily="18" charset="0"/>
                          </a:rPr>
                          <m:t> </m:t>
                        </m:r>
                        <m:r>
                          <a:rPr lang="es-AR" sz="2600" b="0" i="1" smtClean="0">
                            <a:latin typeface="Cambria Math" panose="02040503050406030204" pitchFamily="18" charset="0"/>
                          </a:rPr>
                          <m:t>𝑎𝑐𝑐𝑖</m:t>
                        </m:r>
                        <m:r>
                          <a:rPr lang="es-AR" sz="2600" b="0" i="1" smtClean="0">
                            <a:latin typeface="Cambria Math" panose="02040503050406030204" pitchFamily="18" charset="0"/>
                          </a:rPr>
                          <m:t>ó</m:t>
                        </m:r>
                        <m:r>
                          <a:rPr lang="es-AR" sz="2600" b="0" i="1" smtClean="0">
                            <a:latin typeface="Cambria Math" panose="02040503050406030204" pitchFamily="18" charset="0"/>
                          </a:rPr>
                          <m:t>𝑛</m:t>
                        </m:r>
                      </m:num>
                      <m:den>
                        <m:r>
                          <a:rPr lang="es-AR" sz="2600" b="0" i="1" smtClean="0">
                            <a:latin typeface="Cambria Math" panose="02040503050406030204" pitchFamily="18" charset="0"/>
                          </a:rPr>
                          <m:t>𝑔𝑎𝑛𝑎𝑛𝑐𝑖𝑎𝑠</m:t>
                        </m:r>
                        <m:r>
                          <a:rPr lang="es-AR" sz="2600" b="0" i="1" smtClean="0">
                            <a:latin typeface="Cambria Math" panose="02040503050406030204" pitchFamily="18" charset="0"/>
                          </a:rPr>
                          <m:t> </m:t>
                        </m:r>
                        <m:r>
                          <a:rPr lang="es-AR" sz="2600" b="0" i="1" smtClean="0">
                            <a:latin typeface="Cambria Math" panose="02040503050406030204" pitchFamily="18" charset="0"/>
                          </a:rPr>
                          <m:t>𝑝𝑜𝑟</m:t>
                        </m:r>
                        <m:r>
                          <a:rPr lang="es-AR" sz="2600" b="0" i="1" smtClean="0">
                            <a:latin typeface="Cambria Math" panose="02040503050406030204" pitchFamily="18" charset="0"/>
                          </a:rPr>
                          <m:t> </m:t>
                        </m:r>
                        <m:r>
                          <a:rPr lang="es-AR" sz="2600" b="0" i="1" smtClean="0">
                            <a:latin typeface="Cambria Math" panose="02040503050406030204" pitchFamily="18" charset="0"/>
                          </a:rPr>
                          <m:t>𝑎𝑐𝑐𝑖</m:t>
                        </m:r>
                        <m:r>
                          <a:rPr lang="es-AR" sz="2600" b="0" i="1" smtClean="0">
                            <a:latin typeface="Cambria Math" panose="02040503050406030204" pitchFamily="18" charset="0"/>
                          </a:rPr>
                          <m:t>ó</m:t>
                        </m:r>
                        <m:r>
                          <a:rPr lang="es-AR" sz="2600" b="0" i="1" smtClean="0">
                            <a:latin typeface="Cambria Math" panose="02040503050406030204" pitchFamily="18" charset="0"/>
                          </a:rPr>
                          <m:t>𝑛</m:t>
                        </m:r>
                        <m:r>
                          <a:rPr lang="es-AR" sz="2600" b="0" i="1" smtClean="0">
                            <a:latin typeface="Cambria Math" panose="02040503050406030204" pitchFamily="18" charset="0"/>
                          </a:rPr>
                          <m:t> </m:t>
                        </m:r>
                        <m:d>
                          <m:dPr>
                            <m:ctrlPr>
                              <a:rPr lang="es-AR" sz="2600" b="0" i="1" smtClean="0">
                                <a:latin typeface="Cambria Math" panose="02040503050406030204" pitchFamily="18" charset="0"/>
                              </a:rPr>
                            </m:ctrlPr>
                          </m:dPr>
                          <m:e>
                            <m:r>
                              <a:rPr lang="es-AR" sz="2600" b="0" i="1" smtClean="0">
                                <a:latin typeface="Cambria Math" panose="02040503050406030204" pitchFamily="18" charset="0"/>
                              </a:rPr>
                              <m:t>𝐸𝑃𝑆</m:t>
                            </m:r>
                          </m:e>
                        </m:d>
                      </m:den>
                    </m:f>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23,06</m:t>
                        </m:r>
                      </m:num>
                      <m:den>
                        <m:r>
                          <a:rPr lang="es-AR" sz="2600" b="0" i="1" smtClean="0">
                            <a:latin typeface="Cambria Math" panose="02040503050406030204" pitchFamily="18" charset="0"/>
                          </a:rPr>
                          <m:t>2,35</m:t>
                        </m:r>
                      </m:den>
                    </m:f>
                    <m:r>
                      <a:rPr lang="es-AR" sz="2600" b="0" i="1" smtClean="0">
                        <a:latin typeface="Cambria Math" panose="02040503050406030204" pitchFamily="18" charset="0"/>
                      </a:rPr>
                      <m:t>=9,8 </m:t>
                    </m:r>
                    <m:r>
                      <a:rPr lang="es-AR" sz="2600" b="0" i="1" smtClean="0">
                        <a:latin typeface="Cambria Math" panose="02040503050406030204" pitchFamily="18" charset="0"/>
                      </a:rPr>
                      <m:t>𝑋</m:t>
                    </m:r>
                  </m:oMath>
                </a14:m>
                <a:r>
                  <a:rPr lang="es-ES" sz="2600" dirty="0"/>
                  <a:t>     Prom. </a:t>
                </a:r>
                <a:r>
                  <a:rPr lang="es-ES" sz="2600" dirty="0" err="1"/>
                  <a:t>Ind</a:t>
                </a:r>
                <a:r>
                  <a:rPr lang="es-ES" sz="2600" dirty="0"/>
                  <a:t>. 11,3 X</a:t>
                </a:r>
              </a:p>
              <a:p>
                <a:endParaRPr lang="es-ES" sz="3200" dirty="0"/>
              </a:p>
              <a:p>
                <a:r>
                  <a:rPr lang="es-ES" sz="2600" dirty="0" err="1"/>
                  <a:t>Allied</a:t>
                </a:r>
                <a:r>
                  <a:rPr lang="es-ES" sz="2600" dirty="0"/>
                  <a:t> está por debajo del promedio, con lo que deberemos pensar que los inversionistas no ven buenas </a:t>
                </a:r>
                <a:r>
                  <a:rPr lang="es-ES" sz="2600" b="1" dirty="0"/>
                  <a:t>perspectivas</a:t>
                </a:r>
                <a:r>
                  <a:rPr lang="es-ES" sz="2600" dirty="0"/>
                  <a:t> de crecimiento, la ven como una empresa </a:t>
                </a:r>
                <a:r>
                  <a:rPr lang="es-ES" sz="2600" b="1" dirty="0"/>
                  <a:t>riesgosa</a:t>
                </a:r>
                <a:r>
                  <a:rPr lang="es-ES" sz="2600" dirty="0"/>
                  <a:t>, o ambas cosas a la vez.</a:t>
                </a:r>
              </a:p>
              <a:p>
                <a:r>
                  <a:rPr lang="es-ES" sz="2600" dirty="0"/>
                  <a:t>Los analistas de valores también toman en cuenta la relación Precio/FCF</a:t>
                </a:r>
              </a:p>
              <a:p>
                <a:pPr lvl="1"/>
                <a:r>
                  <a:rPr lang="es-AR" sz="2200" dirty="0"/>
                  <a:t>FCF = [EBIT * (1 – T) + D&amp;A] – [Erogaciones de Capital + Incremento NOWC]</a:t>
                </a:r>
              </a:p>
              <a:p>
                <a:pPr lvl="1"/>
                <a:endParaRPr lang="es-ES" sz="2200" dirty="0"/>
              </a:p>
              <a:p>
                <a:endParaRPr lang="es-ES" sz="3200"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28" t="-2661"/>
                </a:stretch>
              </a:blipFill>
            </p:spPr>
            <p:txBody>
              <a:bodyPr/>
              <a:lstStyle/>
              <a:p>
                <a:r>
                  <a:rPr lang="es-ES">
                    <a:noFill/>
                  </a:rPr>
                  <a:t> </a:t>
                </a:r>
              </a:p>
            </p:txBody>
          </p:sp>
        </mc:Fallback>
      </mc:AlternateContent>
    </p:spTree>
    <p:extLst>
      <p:ext uri="{BB962C8B-B14F-4D97-AF65-F5344CB8AC3E}">
        <p14:creationId xmlns:p14="http://schemas.microsoft.com/office/powerpoint/2010/main" val="394080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20000"/>
              </a:bodyPr>
              <a:lstStyle/>
              <a:p>
                <a:pPr marL="0" indent="0">
                  <a:buNone/>
                </a:pPr>
                <a:r>
                  <a:rPr lang="es-AR" sz="2600" dirty="0"/>
                  <a:t>RAZÓN DE VALOR DE MERCADO</a:t>
                </a:r>
              </a:p>
              <a:p>
                <a:pPr marL="0" indent="0">
                  <a:buNone/>
                </a:pPr>
                <a:r>
                  <a:rPr lang="es-AR" sz="2600" dirty="0"/>
                  <a:t>RAZÓN PRECIO GANANCIAS P/E</a:t>
                </a:r>
              </a:p>
              <a:p>
                <a:endParaRPr lang="es-AR" sz="2600" dirty="0"/>
              </a:p>
              <a:p>
                <a:pPr marL="0" indent="0">
                  <a:buNone/>
                </a:pPr>
                <a14:m>
                  <m:oMath xmlns:m="http://schemas.openxmlformats.org/officeDocument/2006/math">
                    <m:r>
                      <m:rPr>
                        <m:sty m:val="p"/>
                      </m:rPr>
                      <a:rPr lang="es-AR" sz="2600">
                        <a:latin typeface="Cambria Math" panose="02040503050406030204" pitchFamily="18" charset="0"/>
                      </a:rPr>
                      <m:t>P</m:t>
                    </m:r>
                    <m:r>
                      <a:rPr lang="es-AR" sz="2600" b="0" i="0" smtClean="0">
                        <a:latin typeface="Cambria Math" panose="02040503050406030204" pitchFamily="18" charset="0"/>
                      </a:rPr>
                      <m:t>/</m:t>
                    </m:r>
                    <m:r>
                      <m:rPr>
                        <m:sty m:val="p"/>
                      </m:rPr>
                      <a:rPr lang="es-AR" sz="2600" b="0" i="0" smtClean="0">
                        <a:latin typeface="Cambria Math" panose="02040503050406030204" pitchFamily="18" charset="0"/>
                      </a:rPr>
                      <m:t>E</m:t>
                    </m:r>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𝑝𝑟𝑒𝑐𝑖𝑜</m:t>
                        </m:r>
                        <m:r>
                          <a:rPr lang="es-AR" sz="2600" b="0" i="1" smtClean="0">
                            <a:latin typeface="Cambria Math" panose="02040503050406030204" pitchFamily="18" charset="0"/>
                          </a:rPr>
                          <m:t> </m:t>
                        </m:r>
                        <m:r>
                          <a:rPr lang="es-AR" sz="2600" b="0" i="1" smtClean="0">
                            <a:latin typeface="Cambria Math" panose="02040503050406030204" pitchFamily="18" charset="0"/>
                          </a:rPr>
                          <m:t>𝑝𝑜𝑟</m:t>
                        </m:r>
                        <m:r>
                          <a:rPr lang="es-AR" sz="2600" b="0" i="1" smtClean="0">
                            <a:latin typeface="Cambria Math" panose="02040503050406030204" pitchFamily="18" charset="0"/>
                          </a:rPr>
                          <m:t> </m:t>
                        </m:r>
                        <m:r>
                          <a:rPr lang="es-AR" sz="2600" b="0" i="1" smtClean="0">
                            <a:latin typeface="Cambria Math" panose="02040503050406030204" pitchFamily="18" charset="0"/>
                          </a:rPr>
                          <m:t>𝑎𝑐𝑐𝑖</m:t>
                        </m:r>
                        <m:r>
                          <a:rPr lang="es-AR" sz="2600" b="0" i="1" smtClean="0">
                            <a:latin typeface="Cambria Math" panose="02040503050406030204" pitchFamily="18" charset="0"/>
                          </a:rPr>
                          <m:t>ó</m:t>
                        </m:r>
                        <m:r>
                          <a:rPr lang="es-AR" sz="2600" b="0" i="1" smtClean="0">
                            <a:latin typeface="Cambria Math" panose="02040503050406030204" pitchFamily="18" charset="0"/>
                          </a:rPr>
                          <m:t>𝑛</m:t>
                        </m:r>
                      </m:num>
                      <m:den>
                        <m:r>
                          <a:rPr lang="es-AR" sz="2600" b="0" i="1" smtClean="0">
                            <a:latin typeface="Cambria Math" panose="02040503050406030204" pitchFamily="18" charset="0"/>
                          </a:rPr>
                          <m:t>𝑔𝑎𝑛𝑎𝑛𝑐𝑖𝑎𝑠</m:t>
                        </m:r>
                        <m:r>
                          <a:rPr lang="es-AR" sz="2600" b="0" i="1" smtClean="0">
                            <a:latin typeface="Cambria Math" panose="02040503050406030204" pitchFamily="18" charset="0"/>
                          </a:rPr>
                          <m:t> </m:t>
                        </m:r>
                        <m:r>
                          <a:rPr lang="es-AR" sz="2600" b="0" i="1" smtClean="0">
                            <a:latin typeface="Cambria Math" panose="02040503050406030204" pitchFamily="18" charset="0"/>
                          </a:rPr>
                          <m:t>𝑝𝑜𝑟</m:t>
                        </m:r>
                        <m:r>
                          <a:rPr lang="es-AR" sz="2600" b="0" i="1" smtClean="0">
                            <a:latin typeface="Cambria Math" panose="02040503050406030204" pitchFamily="18" charset="0"/>
                          </a:rPr>
                          <m:t> </m:t>
                        </m:r>
                        <m:r>
                          <a:rPr lang="es-AR" sz="2600" b="0" i="1" smtClean="0">
                            <a:latin typeface="Cambria Math" panose="02040503050406030204" pitchFamily="18" charset="0"/>
                          </a:rPr>
                          <m:t>𝑎𝑐𝑐𝑖</m:t>
                        </m:r>
                        <m:r>
                          <a:rPr lang="es-AR" sz="2600" b="0" i="1" smtClean="0">
                            <a:latin typeface="Cambria Math" panose="02040503050406030204" pitchFamily="18" charset="0"/>
                          </a:rPr>
                          <m:t>ó</m:t>
                        </m:r>
                        <m:r>
                          <a:rPr lang="es-AR" sz="2600" b="0" i="1" smtClean="0">
                            <a:latin typeface="Cambria Math" panose="02040503050406030204" pitchFamily="18" charset="0"/>
                          </a:rPr>
                          <m:t>𝑛</m:t>
                        </m:r>
                        <m:r>
                          <a:rPr lang="es-AR" sz="2600" b="0" i="1" smtClean="0">
                            <a:latin typeface="Cambria Math" panose="02040503050406030204" pitchFamily="18" charset="0"/>
                          </a:rPr>
                          <m:t> </m:t>
                        </m:r>
                        <m:d>
                          <m:dPr>
                            <m:ctrlPr>
                              <a:rPr lang="es-AR" sz="2600" b="0" i="1" smtClean="0">
                                <a:latin typeface="Cambria Math" panose="02040503050406030204" pitchFamily="18" charset="0"/>
                              </a:rPr>
                            </m:ctrlPr>
                          </m:dPr>
                          <m:e>
                            <m:r>
                              <a:rPr lang="es-AR" sz="2600" b="0" i="1" smtClean="0">
                                <a:latin typeface="Cambria Math" panose="02040503050406030204" pitchFamily="18" charset="0"/>
                              </a:rPr>
                              <m:t>𝐸𝑃𝑆</m:t>
                            </m:r>
                          </m:e>
                        </m:d>
                      </m:den>
                    </m:f>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23,06</m:t>
                        </m:r>
                      </m:num>
                      <m:den>
                        <m:r>
                          <a:rPr lang="es-AR" sz="2600" b="0" i="1" smtClean="0">
                            <a:latin typeface="Cambria Math" panose="02040503050406030204" pitchFamily="18" charset="0"/>
                          </a:rPr>
                          <m:t>2,35</m:t>
                        </m:r>
                      </m:den>
                    </m:f>
                    <m:r>
                      <a:rPr lang="es-AR" sz="2600" b="0" i="1" smtClean="0">
                        <a:latin typeface="Cambria Math" panose="02040503050406030204" pitchFamily="18" charset="0"/>
                      </a:rPr>
                      <m:t>=9,8 </m:t>
                    </m:r>
                    <m:r>
                      <a:rPr lang="es-AR" sz="2600" b="0" i="1" smtClean="0">
                        <a:latin typeface="Cambria Math" panose="02040503050406030204" pitchFamily="18" charset="0"/>
                      </a:rPr>
                      <m:t>𝑋</m:t>
                    </m:r>
                  </m:oMath>
                </a14:m>
                <a:r>
                  <a:rPr lang="es-ES" sz="2600" dirty="0"/>
                  <a:t>     Prom. </a:t>
                </a:r>
                <a:r>
                  <a:rPr lang="es-ES" sz="2600" dirty="0" err="1"/>
                  <a:t>Ind</a:t>
                </a:r>
                <a:r>
                  <a:rPr lang="es-ES" sz="2600" dirty="0"/>
                  <a:t>. 11,3 X</a:t>
                </a:r>
              </a:p>
              <a:p>
                <a:pPr marL="457200" lvl="1" indent="0">
                  <a:buNone/>
                </a:pPr>
                <a:endParaRPr lang="es-ES" sz="2800" dirty="0"/>
              </a:p>
              <a:p>
                <a:r>
                  <a:rPr lang="es-ES" sz="2600" dirty="0"/>
                  <a:t>Además, los analistas consideran la razón Price/</a:t>
                </a:r>
                <a:r>
                  <a:rPr lang="es-ES" sz="2600" dirty="0" err="1"/>
                  <a:t>Earnings</a:t>
                </a:r>
                <a:r>
                  <a:rPr lang="es-ES" sz="2600" dirty="0"/>
                  <a:t> </a:t>
                </a:r>
                <a:r>
                  <a:rPr lang="es-ES" sz="2600" dirty="0" err="1"/>
                  <a:t>to</a:t>
                </a:r>
                <a:r>
                  <a:rPr lang="es-ES" sz="2600" dirty="0"/>
                  <a:t> </a:t>
                </a:r>
                <a:r>
                  <a:rPr lang="es-ES" sz="2600" dirty="0" err="1"/>
                  <a:t>Growth</a:t>
                </a:r>
                <a:r>
                  <a:rPr lang="es-ES" sz="2600" dirty="0"/>
                  <a:t>, PEG que relaciona la razón P/E con el crecimiento esperado</a:t>
                </a:r>
              </a:p>
              <a:p>
                <a:r>
                  <a:rPr lang="es-ES" sz="2600" dirty="0" err="1"/>
                  <a:t>Allied</a:t>
                </a:r>
                <a:r>
                  <a:rPr lang="es-ES" sz="2600" dirty="0"/>
                  <a:t> tiene un PEG de 9,8 / 7 = 1,4 X (los analistas estiman un crecimiento de la empresa del 7%)</a:t>
                </a:r>
              </a:p>
              <a:p>
                <a:r>
                  <a:rPr lang="es-ES" sz="2600" dirty="0"/>
                  <a:t>La mayoría de las empresas tienen PEG entre 1X y 2X</a:t>
                </a:r>
              </a:p>
              <a:p>
                <a:r>
                  <a:rPr lang="es-ES" sz="2600" dirty="0"/>
                  <a:t>Las PEG son interesantes, pero deben evaluarse con buen juicio</a:t>
                </a:r>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28" t="-3221"/>
                </a:stretch>
              </a:blipFill>
            </p:spPr>
            <p:txBody>
              <a:bodyPr/>
              <a:lstStyle/>
              <a:p>
                <a:r>
                  <a:rPr lang="es-ES">
                    <a:noFill/>
                  </a:rPr>
                  <a:t> </a:t>
                </a:r>
              </a:p>
            </p:txBody>
          </p:sp>
        </mc:Fallback>
      </mc:AlternateContent>
    </p:spTree>
    <p:extLst>
      <p:ext uri="{BB962C8B-B14F-4D97-AF65-F5344CB8AC3E}">
        <p14:creationId xmlns:p14="http://schemas.microsoft.com/office/powerpoint/2010/main" val="34436538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sz="2600" dirty="0"/>
              <a:t>RAZÓN DE VALOR DE MERCADO</a:t>
            </a:r>
          </a:p>
          <a:p>
            <a:pPr marL="0" indent="0">
              <a:buNone/>
            </a:pPr>
            <a:r>
              <a:rPr lang="es-AR" sz="2600" dirty="0"/>
              <a:t>RAZÓN PRECIO GANANCIAS P/E Y EL PEG (Price/</a:t>
            </a:r>
            <a:r>
              <a:rPr lang="es-AR" sz="2600" dirty="0" err="1"/>
              <a:t>Earning</a:t>
            </a:r>
            <a:r>
              <a:rPr lang="es-AR" sz="2600" dirty="0"/>
              <a:t>; </a:t>
            </a:r>
            <a:r>
              <a:rPr lang="es-AR" sz="2600" dirty="0" err="1"/>
              <a:t>Growth</a:t>
            </a:r>
            <a:r>
              <a:rPr lang="es-AR" sz="2600" dirty="0"/>
              <a:t>)</a:t>
            </a:r>
          </a:p>
          <a:p>
            <a:endParaRPr lang="es-AR" sz="2600" dirty="0"/>
          </a:p>
          <a:p>
            <a:r>
              <a:rPr lang="es-ES" sz="3200" dirty="0"/>
              <a:t>¿Qué es deseable, una PEG alta o baja? Pensemos</a:t>
            </a:r>
          </a:p>
          <a:p>
            <a:pPr lvl="1"/>
            <a:r>
              <a:rPr lang="es-ES" sz="2800" dirty="0"/>
              <a:t>Una razón baja indicaría que la acción está infravalorada (o una fuerte discrepancia del mercado con los analistas, respecto al potencial crecimiento)</a:t>
            </a:r>
          </a:p>
          <a:p>
            <a:pPr lvl="1"/>
            <a:r>
              <a:rPr lang="es-ES" sz="2800" dirty="0"/>
              <a:t>¿Qué más nos estaría indicando el PEG?</a:t>
            </a:r>
          </a:p>
        </p:txBody>
      </p:sp>
    </p:spTree>
    <p:extLst>
      <p:ext uri="{BB962C8B-B14F-4D97-AF65-F5344CB8AC3E}">
        <p14:creationId xmlns:p14="http://schemas.microsoft.com/office/powerpoint/2010/main" val="25222191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lnSpcReduction="10000"/>
          </a:bodyPr>
          <a:lstStyle/>
          <a:p>
            <a:pPr marL="0" indent="0">
              <a:buNone/>
            </a:pPr>
            <a:r>
              <a:rPr lang="es-AR" sz="2600" dirty="0"/>
              <a:t>RAZÓN PRECIO GANANCIAS P/E</a:t>
            </a:r>
          </a:p>
          <a:p>
            <a:pPr marL="0" indent="0">
              <a:buNone/>
            </a:pPr>
            <a:endParaRPr lang="es-AR" sz="2600" dirty="0"/>
          </a:p>
          <a:p>
            <a:r>
              <a:rPr lang="es-AR" sz="2600" dirty="0"/>
              <a:t>Algo más sobre la P/E</a:t>
            </a:r>
          </a:p>
          <a:p>
            <a:pPr lvl="1"/>
            <a:r>
              <a:rPr lang="es-AR" sz="2200" dirty="0"/>
              <a:t>Varían mucho en el tiempo y entre compañías, valor histórico promedio del mercado es de 16,7, con mínimos y máximos de 4,8 y 44,2</a:t>
            </a:r>
          </a:p>
          <a:p>
            <a:pPr lvl="1"/>
            <a:r>
              <a:rPr lang="es-AR" sz="2200" dirty="0"/>
              <a:t>En febrero 2017 S&amp;P era de 23,2X y la de Apple era 16,44X. </a:t>
            </a:r>
            <a:r>
              <a:rPr lang="es-AR" sz="2200" dirty="0" err="1"/>
              <a:t>Under</a:t>
            </a:r>
            <a:r>
              <a:rPr lang="es-AR" sz="2200" dirty="0"/>
              <a:t> </a:t>
            </a:r>
            <a:r>
              <a:rPr lang="es-AR" sz="2200" dirty="0" err="1"/>
              <a:t>Armour</a:t>
            </a:r>
            <a:r>
              <a:rPr lang="es-AR" sz="2200" dirty="0"/>
              <a:t> </a:t>
            </a:r>
            <a:r>
              <a:rPr lang="es-AR" sz="2200" dirty="0" err="1"/>
              <a:t>Inc</a:t>
            </a:r>
            <a:r>
              <a:rPr lang="es-AR" sz="2200" dirty="0"/>
              <a:t> (ropa, de rápido crecimiento) era de 42,94X.</a:t>
            </a:r>
          </a:p>
          <a:p>
            <a:pPr lvl="1"/>
            <a:r>
              <a:rPr lang="es-AR" sz="2200" dirty="0"/>
              <a:t>Acciones de crecimiento, como Intel, con valores de 20X luego bajan al volverse grandes y estables, con menos oportunidades de crecimiento</a:t>
            </a:r>
          </a:p>
          <a:p>
            <a:r>
              <a:rPr lang="es-AR" sz="2600" dirty="0"/>
              <a:t>¿Hay una relación entre P/E y crecimiento esperado?</a:t>
            </a:r>
          </a:p>
          <a:p>
            <a:r>
              <a:rPr lang="es-AR" sz="2600" dirty="0"/>
              <a:t>Esto le da sentido al PEG como medida de sub o sobre valuación del precio de las acciones </a:t>
            </a:r>
            <a:endParaRPr lang="es-ES" sz="2600" dirty="0"/>
          </a:p>
        </p:txBody>
      </p:sp>
    </p:spTree>
    <p:extLst>
      <p:ext uri="{BB962C8B-B14F-4D97-AF65-F5344CB8AC3E}">
        <p14:creationId xmlns:p14="http://schemas.microsoft.com/office/powerpoint/2010/main" val="4065278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10000"/>
              </a:bodyPr>
              <a:lstStyle/>
              <a:p>
                <a:pPr marL="0" indent="0">
                  <a:buNone/>
                </a:pPr>
                <a:r>
                  <a:rPr lang="es-AR" sz="2600" dirty="0"/>
                  <a:t>RAZÓN DE VALOR DE MERCADO/VALOR CONTABLE (M/B, </a:t>
                </a:r>
                <a:r>
                  <a:rPr lang="es-AR" sz="2600" dirty="0" err="1"/>
                  <a:t>Market</a:t>
                </a:r>
                <a:r>
                  <a:rPr lang="es-AR" sz="2600" dirty="0"/>
                  <a:t> </a:t>
                </a:r>
                <a:r>
                  <a:rPr lang="es-AR" sz="2600" dirty="0" err="1"/>
                  <a:t>to</a:t>
                </a:r>
                <a:r>
                  <a:rPr lang="es-AR" sz="2600" dirty="0"/>
                  <a:t> Book)</a:t>
                </a:r>
              </a:p>
              <a:p>
                <a:r>
                  <a:rPr lang="es-AR" sz="2400" dirty="0"/>
                  <a:t>Nos dice bastante de cómo los inversionistas ven a la compañía</a:t>
                </a:r>
              </a:p>
              <a:p>
                <a:r>
                  <a:rPr lang="es-AR" sz="2400" dirty="0"/>
                  <a:t>La razón será mayor a menor riesgo percibido y mayores expectativas de crecimiento</a:t>
                </a:r>
              </a:p>
              <a:p>
                <a:r>
                  <a:rPr lang="es-AR" sz="2400" dirty="0"/>
                  <a:t>El valor contable por acción es el cociente entre el capital común y el número de acciones circulantes. Allied tiene 940 MM / 50 MM = $ 18,80</a:t>
                </a:r>
              </a:p>
              <a:p>
                <a:endParaRPr lang="es-AR" sz="2400" dirty="0"/>
              </a:p>
              <a:p>
                <a14:m>
                  <m:oMath xmlns:m="http://schemas.openxmlformats.org/officeDocument/2006/math">
                    <m:r>
                      <m:rPr>
                        <m:sty m:val="p"/>
                      </m:rPr>
                      <a:rPr lang="es-AR" sz="2600">
                        <a:latin typeface="Cambria Math" panose="02040503050406030204" pitchFamily="18" charset="0"/>
                      </a:rPr>
                      <m:t>M</m:t>
                    </m:r>
                    <m:r>
                      <a:rPr lang="es-AR" sz="2600" b="0" i="0" smtClean="0">
                        <a:latin typeface="Cambria Math" panose="02040503050406030204" pitchFamily="18" charset="0"/>
                      </a:rPr>
                      <m:t>/</m:t>
                    </m:r>
                    <m:r>
                      <m:rPr>
                        <m:sty m:val="p"/>
                      </m:rPr>
                      <a:rPr lang="es-AR" sz="2600" b="0" i="0" smtClean="0">
                        <a:latin typeface="Cambria Math" panose="02040503050406030204" pitchFamily="18" charset="0"/>
                      </a:rPr>
                      <m:t>B</m:t>
                    </m:r>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𝑝𝑟𝑒𝑐𝑖𝑜</m:t>
                        </m:r>
                        <m:r>
                          <a:rPr lang="es-AR" sz="2600" b="0" i="1" smtClean="0">
                            <a:latin typeface="Cambria Math" panose="02040503050406030204" pitchFamily="18" charset="0"/>
                          </a:rPr>
                          <m:t> </m:t>
                        </m:r>
                        <m:r>
                          <a:rPr lang="es-AR" sz="2600" b="0" i="1" smtClean="0">
                            <a:latin typeface="Cambria Math" panose="02040503050406030204" pitchFamily="18" charset="0"/>
                          </a:rPr>
                          <m:t>𝑑𝑒</m:t>
                        </m:r>
                        <m:r>
                          <a:rPr lang="es-AR" sz="2600" b="0" i="1" smtClean="0">
                            <a:latin typeface="Cambria Math" panose="02040503050406030204" pitchFamily="18" charset="0"/>
                          </a:rPr>
                          <m:t> </m:t>
                        </m:r>
                        <m:r>
                          <a:rPr lang="es-AR" sz="2600" b="0" i="1" smtClean="0">
                            <a:latin typeface="Cambria Math" panose="02040503050406030204" pitchFamily="18" charset="0"/>
                          </a:rPr>
                          <m:t>𝑚𝑒𝑟𝑐𝑎𝑑𝑜</m:t>
                        </m:r>
                        <m:r>
                          <a:rPr lang="es-AR" sz="2600" b="0" i="1" smtClean="0">
                            <a:latin typeface="Cambria Math" panose="02040503050406030204" pitchFamily="18" charset="0"/>
                          </a:rPr>
                          <m:t> </m:t>
                        </m:r>
                        <m:r>
                          <a:rPr lang="es-AR" sz="2600" b="0" i="1" smtClean="0">
                            <a:latin typeface="Cambria Math" panose="02040503050406030204" pitchFamily="18" charset="0"/>
                          </a:rPr>
                          <m:t>𝑝𝑜𝑟</m:t>
                        </m:r>
                        <m:r>
                          <a:rPr lang="es-AR" sz="2600" b="0" i="1" smtClean="0">
                            <a:latin typeface="Cambria Math" panose="02040503050406030204" pitchFamily="18" charset="0"/>
                          </a:rPr>
                          <m:t> </m:t>
                        </m:r>
                        <m:r>
                          <a:rPr lang="es-AR" sz="2600" b="0" i="1" smtClean="0">
                            <a:latin typeface="Cambria Math" panose="02040503050406030204" pitchFamily="18" charset="0"/>
                          </a:rPr>
                          <m:t>𝑎𝑐𝑐𝑖</m:t>
                        </m:r>
                        <m:r>
                          <a:rPr lang="es-AR" sz="2600" b="0" i="1" smtClean="0">
                            <a:latin typeface="Cambria Math" panose="02040503050406030204" pitchFamily="18" charset="0"/>
                          </a:rPr>
                          <m:t>ó</m:t>
                        </m:r>
                        <m:r>
                          <a:rPr lang="es-AR" sz="2600" b="0" i="1" smtClean="0">
                            <a:latin typeface="Cambria Math" panose="02040503050406030204" pitchFamily="18" charset="0"/>
                          </a:rPr>
                          <m:t>𝑛</m:t>
                        </m:r>
                      </m:num>
                      <m:den>
                        <m:r>
                          <a:rPr lang="es-AR" sz="2600" b="0" i="1" smtClean="0">
                            <a:latin typeface="Cambria Math" panose="02040503050406030204" pitchFamily="18" charset="0"/>
                          </a:rPr>
                          <m:t>𝑣𝑎𝑙𝑜𝑟</m:t>
                        </m:r>
                        <m:r>
                          <a:rPr lang="es-AR" sz="2600" b="0" i="1" smtClean="0">
                            <a:latin typeface="Cambria Math" panose="02040503050406030204" pitchFamily="18" charset="0"/>
                          </a:rPr>
                          <m:t> </m:t>
                        </m:r>
                        <m:r>
                          <a:rPr lang="es-AR" sz="2600" b="0" i="1" smtClean="0">
                            <a:latin typeface="Cambria Math" panose="02040503050406030204" pitchFamily="18" charset="0"/>
                          </a:rPr>
                          <m:t>𝑐𝑜𝑛𝑡𝑎𝑏𝑙𝑒</m:t>
                        </m:r>
                        <m:r>
                          <a:rPr lang="es-AR" sz="2600" b="0" i="1" smtClean="0">
                            <a:latin typeface="Cambria Math" panose="02040503050406030204" pitchFamily="18" charset="0"/>
                          </a:rPr>
                          <m:t> </m:t>
                        </m:r>
                        <m:r>
                          <a:rPr lang="es-AR" sz="2600" b="0" i="1" smtClean="0">
                            <a:latin typeface="Cambria Math" panose="02040503050406030204" pitchFamily="18" charset="0"/>
                          </a:rPr>
                          <m:t>𝑝𝑜𝑟</m:t>
                        </m:r>
                        <m:r>
                          <a:rPr lang="es-AR" sz="2600" b="0" i="1" smtClean="0">
                            <a:latin typeface="Cambria Math" panose="02040503050406030204" pitchFamily="18" charset="0"/>
                          </a:rPr>
                          <m:t> </m:t>
                        </m:r>
                        <m:r>
                          <a:rPr lang="es-AR" sz="2600" b="0" i="1" smtClean="0">
                            <a:latin typeface="Cambria Math" panose="02040503050406030204" pitchFamily="18" charset="0"/>
                          </a:rPr>
                          <m:t>𝑎𝑐𝑐𝑖</m:t>
                        </m:r>
                        <m:r>
                          <a:rPr lang="es-AR" sz="2600" b="0" i="1" smtClean="0">
                            <a:latin typeface="Cambria Math" panose="02040503050406030204" pitchFamily="18" charset="0"/>
                          </a:rPr>
                          <m:t>ó</m:t>
                        </m:r>
                        <m:r>
                          <a:rPr lang="es-AR" sz="2600" b="0" i="1" smtClean="0">
                            <a:latin typeface="Cambria Math" panose="02040503050406030204" pitchFamily="18" charset="0"/>
                          </a:rPr>
                          <m:t>𝑛</m:t>
                        </m:r>
                      </m:den>
                    </m:f>
                    <m:r>
                      <a:rPr lang="es-AR" sz="2600" b="0" i="1" smtClean="0">
                        <a:latin typeface="Cambria Math" panose="02040503050406030204" pitchFamily="18" charset="0"/>
                      </a:rPr>
                      <m:t>=</m:t>
                    </m:r>
                    <m:f>
                      <m:fPr>
                        <m:ctrlPr>
                          <a:rPr lang="es-AR" sz="2600" b="0" i="1" smtClean="0">
                            <a:latin typeface="Cambria Math" panose="02040503050406030204" pitchFamily="18" charset="0"/>
                          </a:rPr>
                        </m:ctrlPr>
                      </m:fPr>
                      <m:num>
                        <m:r>
                          <a:rPr lang="es-AR" sz="2600" b="0" i="1" smtClean="0">
                            <a:latin typeface="Cambria Math" panose="02040503050406030204" pitchFamily="18" charset="0"/>
                          </a:rPr>
                          <m:t>23,06</m:t>
                        </m:r>
                      </m:num>
                      <m:den>
                        <m:r>
                          <a:rPr lang="es-AR" sz="2600" b="0" i="1" smtClean="0">
                            <a:latin typeface="Cambria Math" panose="02040503050406030204" pitchFamily="18" charset="0"/>
                          </a:rPr>
                          <m:t>18,80</m:t>
                        </m:r>
                      </m:den>
                    </m:f>
                    <m:r>
                      <a:rPr lang="es-AR" sz="2600" b="0" i="1" smtClean="0">
                        <a:latin typeface="Cambria Math" panose="02040503050406030204" pitchFamily="18" charset="0"/>
                      </a:rPr>
                      <m:t>=1,2 </m:t>
                    </m:r>
                    <m:r>
                      <a:rPr lang="es-AR" sz="2600" b="0" i="1" smtClean="0">
                        <a:latin typeface="Cambria Math" panose="02040503050406030204" pitchFamily="18" charset="0"/>
                      </a:rPr>
                      <m:t>𝑋</m:t>
                    </m:r>
                  </m:oMath>
                </a14:m>
                <a:r>
                  <a:rPr lang="es-ES" sz="2600" dirty="0"/>
                  <a:t>     Prom. </a:t>
                </a:r>
                <a:r>
                  <a:rPr lang="es-ES" sz="2600" dirty="0" err="1"/>
                  <a:t>Ind</a:t>
                </a:r>
                <a:r>
                  <a:rPr lang="es-ES" sz="2600" dirty="0"/>
                  <a:t>. 1,7 X</a:t>
                </a:r>
              </a:p>
              <a:p>
                <a:endParaRPr lang="es-ES" sz="2600" dirty="0"/>
              </a:p>
              <a:p>
                <a:r>
                  <a:rPr lang="es-AR" sz="2400" dirty="0"/>
                  <a:t>Los inversionistas están dispuestos a pagar menos por cada dólar de valor contable de </a:t>
                </a:r>
                <a:r>
                  <a:rPr lang="es-AR" sz="2400" dirty="0" err="1"/>
                  <a:t>Allied</a:t>
                </a:r>
                <a:r>
                  <a:rPr lang="es-AR" sz="2400" dirty="0"/>
                  <a:t> que por cada dólar de una empresa alimenticia promedio del mercado</a:t>
                </a:r>
              </a:p>
              <a:p>
                <a:r>
                  <a:rPr lang="es-AR" sz="2400" dirty="0"/>
                  <a:t>Esto es coherente con lo que hemos venido viendo en las razones de </a:t>
                </a:r>
                <a:r>
                  <a:rPr lang="es-AR" sz="2400" dirty="0" err="1"/>
                  <a:t>Allied</a:t>
                </a:r>
                <a:endParaRPr lang="es-AR" sz="2400" dirty="0"/>
              </a:p>
              <a:p>
                <a:endParaRPr lang="es-ES" sz="2600"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28" t="-2661" b="-1821"/>
                </a:stretch>
              </a:blipFill>
            </p:spPr>
            <p:txBody>
              <a:bodyPr/>
              <a:lstStyle/>
              <a:p>
                <a:r>
                  <a:rPr lang="es-ES">
                    <a:noFill/>
                  </a:rPr>
                  <a:t> </a:t>
                </a:r>
              </a:p>
            </p:txBody>
          </p:sp>
        </mc:Fallback>
      </mc:AlternateContent>
    </p:spTree>
    <p:extLst>
      <p:ext uri="{BB962C8B-B14F-4D97-AF65-F5344CB8AC3E}">
        <p14:creationId xmlns:p14="http://schemas.microsoft.com/office/powerpoint/2010/main" val="20209438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92500" lnSpcReduction="10000"/>
          </a:bodyPr>
          <a:lstStyle/>
          <a:p>
            <a:pPr marL="0" indent="0">
              <a:buNone/>
            </a:pPr>
            <a:r>
              <a:rPr lang="es-AR" sz="2600" dirty="0"/>
              <a:t>RAZÓN DE VALOR DE MERCADO/VALOR CONTABLE (M/B, </a:t>
            </a:r>
            <a:r>
              <a:rPr lang="es-AR" sz="2600" dirty="0" err="1"/>
              <a:t>Market</a:t>
            </a:r>
            <a:r>
              <a:rPr lang="es-AR" sz="2600" dirty="0"/>
              <a:t> </a:t>
            </a:r>
            <a:r>
              <a:rPr lang="es-AR" sz="2600" dirty="0" err="1"/>
              <a:t>to</a:t>
            </a:r>
            <a:r>
              <a:rPr lang="es-AR" sz="2600" dirty="0"/>
              <a:t> Book)</a:t>
            </a:r>
          </a:p>
          <a:p>
            <a:pPr marL="0" indent="0">
              <a:buNone/>
            </a:pPr>
            <a:endParaRPr lang="es-ES" sz="2600" dirty="0"/>
          </a:p>
          <a:p>
            <a:pPr marL="0" indent="0">
              <a:buNone/>
            </a:pPr>
            <a:r>
              <a:rPr lang="es-ES" sz="2600" dirty="0"/>
              <a:t>Las razones M/B suelen ser mayores a 1,00</a:t>
            </a:r>
          </a:p>
          <a:p>
            <a:r>
              <a:rPr lang="es-ES" sz="2600" dirty="0"/>
              <a:t>Activos subvaluados, no ajustados por inflación o percepción de los inversionistas respecto al bajo riesgo y alto crecimiento esperado de la Empresa</a:t>
            </a:r>
          </a:p>
          <a:p>
            <a:endParaRPr lang="es-ES" sz="2600" dirty="0"/>
          </a:p>
          <a:p>
            <a:r>
              <a:rPr lang="es-ES" sz="2600" dirty="0"/>
              <a:t>Febrero 2017</a:t>
            </a:r>
          </a:p>
          <a:p>
            <a:pPr lvl="1"/>
            <a:r>
              <a:rPr lang="es-ES" sz="2200" dirty="0" err="1"/>
              <a:t>Alphabet</a:t>
            </a:r>
            <a:r>
              <a:rPr lang="es-ES" sz="2200" dirty="0"/>
              <a:t> Inc. 4,10X</a:t>
            </a:r>
          </a:p>
          <a:p>
            <a:pPr lvl="1"/>
            <a:r>
              <a:rPr lang="es-ES" sz="2200" dirty="0"/>
              <a:t>MetLife 0,85X (el valor de mercado para los accionistas es menor al de cada dólar invertido)</a:t>
            </a:r>
          </a:p>
          <a:p>
            <a:pPr lvl="1"/>
            <a:r>
              <a:rPr lang="es-ES" sz="2200" dirty="0"/>
              <a:t>¿Cómo podríamos explicar estos dos casos? </a:t>
            </a:r>
          </a:p>
          <a:p>
            <a:pPr lvl="2"/>
            <a:r>
              <a:rPr lang="es-ES" sz="1800" dirty="0"/>
              <a:t>Habría que analizar sus tipos de activos y pasivos, la forma en que los refleja la contabilidad y su valor de mercado</a:t>
            </a:r>
          </a:p>
          <a:p>
            <a:pPr lvl="1"/>
            <a:endParaRPr lang="es-ES" sz="2200" dirty="0"/>
          </a:p>
        </p:txBody>
      </p:sp>
    </p:spTree>
    <p:extLst>
      <p:ext uri="{BB962C8B-B14F-4D97-AF65-F5344CB8AC3E}">
        <p14:creationId xmlns:p14="http://schemas.microsoft.com/office/powerpoint/2010/main" val="1486952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fontScale="77500" lnSpcReduction="20000"/>
              </a:bodyPr>
              <a:lstStyle/>
              <a:p>
                <a:pPr marL="0" indent="0">
                  <a:buNone/>
                </a:pPr>
                <a:r>
                  <a:rPr lang="es-AR" sz="2600" dirty="0"/>
                  <a:t>RAZÓN DE VALOR DE LA EMPRESA/EBITDA</a:t>
                </a:r>
              </a:p>
              <a:p>
                <a:pPr marL="0" indent="0">
                  <a:buNone/>
                </a:pPr>
                <a:endParaRPr lang="es-AR" sz="2600" dirty="0"/>
              </a:p>
              <a:p>
                <a:r>
                  <a:rPr lang="es-AR" sz="2600" dirty="0"/>
                  <a:t>Es una razón que empezaron a observar los analistas, valoración de empresas por múltiplos</a:t>
                </a:r>
                <a:endParaRPr lang="es-ES" sz="2600" dirty="0"/>
              </a:p>
              <a:p>
                <a:r>
                  <a:rPr lang="es-ES" sz="2600" dirty="0"/>
                  <a:t>EV / EBITDA</a:t>
                </a:r>
              </a:p>
              <a:p>
                <a:r>
                  <a:rPr lang="es-ES" sz="2600" dirty="0"/>
                  <a:t>EBITDA, es resultado bruto de operación, no toma en cuenta ni los intereses ni los impuestos</a:t>
                </a:r>
              </a:p>
              <a:p>
                <a:r>
                  <a:rPr lang="es-ES" sz="2600" dirty="0"/>
                  <a:t>Esta razón no se centra en el valor de mercado relativo del capital de la compañía sino en el valor de mercado relativo de </a:t>
                </a:r>
                <a:r>
                  <a:rPr lang="es-ES" sz="2600" b="1" dirty="0"/>
                  <a:t>todos los derechos financieros clave de la compañía</a:t>
                </a:r>
                <a:r>
                  <a:rPr lang="es-ES" sz="2600" dirty="0"/>
                  <a:t>.</a:t>
                </a:r>
              </a:p>
              <a:p>
                <a:r>
                  <a:rPr lang="es-ES" sz="2600" dirty="0"/>
                  <a:t>Esta razón no está influida por las situaciones de deuda e impuestos de la compañía (similar en espíritu a la BEP)</a:t>
                </a:r>
              </a:p>
              <a:p>
                <a:endParaRPr lang="es-ES" sz="2600" dirty="0"/>
              </a:p>
              <a:p>
                <a14:m>
                  <m:oMath xmlns:m="http://schemas.openxmlformats.org/officeDocument/2006/math">
                    <m:r>
                      <a:rPr lang="es-AR" sz="2600" b="0" i="1" smtClean="0">
                        <a:latin typeface="Cambria Math" panose="02040503050406030204" pitchFamily="18" charset="0"/>
                      </a:rPr>
                      <m:t>𝐸𝑉</m:t>
                    </m:r>
                    <m:r>
                      <a:rPr lang="es-AR" sz="2600" b="0" i="1" smtClean="0">
                        <a:latin typeface="Cambria Math" panose="02040503050406030204" pitchFamily="18" charset="0"/>
                      </a:rPr>
                      <m:t>=</m:t>
                    </m:r>
                    <m:r>
                      <a:rPr lang="es-AR" sz="2600" b="0" i="1" smtClean="0">
                        <a:latin typeface="Cambria Math" panose="02040503050406030204" pitchFamily="18" charset="0"/>
                      </a:rPr>
                      <m:t>𝑉𝑎𝑙𝑜𝑟</m:t>
                    </m:r>
                    <m:r>
                      <a:rPr lang="es-AR" sz="2600" b="0" i="1" smtClean="0">
                        <a:latin typeface="Cambria Math" panose="02040503050406030204" pitchFamily="18" charset="0"/>
                      </a:rPr>
                      <m:t> </m:t>
                    </m:r>
                    <m:r>
                      <a:rPr lang="es-AR" sz="2600" b="0" i="1" smtClean="0">
                        <a:latin typeface="Cambria Math" panose="02040503050406030204" pitchFamily="18" charset="0"/>
                      </a:rPr>
                      <m:t>𝑑𝑒</m:t>
                    </m:r>
                    <m:r>
                      <a:rPr lang="es-AR" sz="2600" b="0" i="1" smtClean="0">
                        <a:latin typeface="Cambria Math" panose="02040503050406030204" pitchFamily="18" charset="0"/>
                      </a:rPr>
                      <m:t> </m:t>
                    </m:r>
                    <m:r>
                      <a:rPr lang="es-AR" sz="2600" b="0" i="1" smtClean="0">
                        <a:latin typeface="Cambria Math" panose="02040503050406030204" pitchFamily="18" charset="0"/>
                      </a:rPr>
                      <m:t>𝑀𝑒𝑟𝑐𝑎𝑑𝑜</m:t>
                    </m:r>
                    <m:r>
                      <a:rPr lang="es-AR" sz="2600" b="0" i="1" smtClean="0">
                        <a:latin typeface="Cambria Math" panose="02040503050406030204" pitchFamily="18" charset="0"/>
                      </a:rPr>
                      <m:t> </m:t>
                    </m:r>
                    <m:r>
                      <a:rPr lang="es-AR" sz="2600" b="0" i="1" smtClean="0">
                        <a:latin typeface="Cambria Math" panose="02040503050406030204" pitchFamily="18" charset="0"/>
                      </a:rPr>
                      <m:t>𝑑𝑒𝑙</m:t>
                    </m:r>
                    <m:r>
                      <a:rPr lang="es-AR" sz="2600" b="0" i="1" smtClean="0">
                        <a:latin typeface="Cambria Math" panose="02040503050406030204" pitchFamily="18" charset="0"/>
                      </a:rPr>
                      <m:t> </m:t>
                    </m:r>
                    <m:r>
                      <a:rPr lang="es-AR" sz="2600" b="0" i="1" smtClean="0">
                        <a:latin typeface="Cambria Math" panose="02040503050406030204" pitchFamily="18" charset="0"/>
                      </a:rPr>
                      <m:t>𝐶𝑎𝑝𝑖𝑡𝑎𝑙</m:t>
                    </m:r>
                    <m:r>
                      <a:rPr lang="es-AR" sz="2600" b="0" i="1" smtClean="0">
                        <a:latin typeface="Cambria Math" panose="02040503050406030204" pitchFamily="18" charset="0"/>
                      </a:rPr>
                      <m:t>+</m:t>
                    </m:r>
                    <m:r>
                      <a:rPr lang="es-AR" sz="2600" b="0" i="1" smtClean="0">
                        <a:latin typeface="Cambria Math" panose="02040503050406030204" pitchFamily="18" charset="0"/>
                      </a:rPr>
                      <m:t>𝑉𝑎𝑙𝑜𝑟</m:t>
                    </m:r>
                    <m:r>
                      <a:rPr lang="es-AR" sz="2600" b="0" i="1" smtClean="0">
                        <a:latin typeface="Cambria Math" panose="02040503050406030204" pitchFamily="18" charset="0"/>
                      </a:rPr>
                      <m:t> </m:t>
                    </m:r>
                    <m:r>
                      <a:rPr lang="es-AR" sz="2600" b="0" i="1" smtClean="0">
                        <a:latin typeface="Cambria Math" panose="02040503050406030204" pitchFamily="18" charset="0"/>
                      </a:rPr>
                      <m:t>𝑑𝑒</m:t>
                    </m:r>
                    <m:r>
                      <a:rPr lang="es-AR" sz="2600" b="0" i="1" smtClean="0">
                        <a:latin typeface="Cambria Math" panose="02040503050406030204" pitchFamily="18" charset="0"/>
                      </a:rPr>
                      <m:t> </m:t>
                    </m:r>
                    <m:r>
                      <a:rPr lang="es-AR" sz="2600" b="0" i="1" smtClean="0">
                        <a:latin typeface="Cambria Math" panose="02040503050406030204" pitchFamily="18" charset="0"/>
                      </a:rPr>
                      <m:t>𝑀𝑒𝑟𝑐𝑎𝑑𝑜</m:t>
                    </m:r>
                    <m:r>
                      <a:rPr lang="es-AR" sz="2600" b="0" i="1" smtClean="0">
                        <a:latin typeface="Cambria Math" panose="02040503050406030204" pitchFamily="18" charset="0"/>
                      </a:rPr>
                      <m:t> </m:t>
                    </m:r>
                    <m:r>
                      <a:rPr lang="es-AR" sz="2600" b="0" i="1" smtClean="0">
                        <a:latin typeface="Cambria Math" panose="02040503050406030204" pitchFamily="18" charset="0"/>
                      </a:rPr>
                      <m:t>𝑑𝑒</m:t>
                    </m:r>
                    <m:r>
                      <a:rPr lang="es-AR" sz="2600" b="0" i="1" smtClean="0">
                        <a:latin typeface="Cambria Math" panose="02040503050406030204" pitchFamily="18" charset="0"/>
                      </a:rPr>
                      <m:t> </m:t>
                    </m:r>
                    <m:r>
                      <a:rPr lang="es-AR" sz="2600" b="0" i="1" smtClean="0">
                        <a:latin typeface="Cambria Math" panose="02040503050406030204" pitchFamily="18" charset="0"/>
                      </a:rPr>
                      <m:t>𝑙𝑎</m:t>
                    </m:r>
                    <m:r>
                      <a:rPr lang="es-AR" sz="2600" b="0" i="1" smtClean="0">
                        <a:latin typeface="Cambria Math" panose="02040503050406030204" pitchFamily="18" charset="0"/>
                      </a:rPr>
                      <m:t> </m:t>
                    </m:r>
                    <m:r>
                      <a:rPr lang="es-AR" sz="2600" b="0" i="1" smtClean="0">
                        <a:latin typeface="Cambria Math" panose="02040503050406030204" pitchFamily="18" charset="0"/>
                      </a:rPr>
                      <m:t>𝑑𝑒𝑢𝑑𝑎</m:t>
                    </m:r>
                    <m:r>
                      <a:rPr lang="es-AR" sz="2600" b="0" i="1" smtClean="0">
                        <a:latin typeface="Cambria Math" panose="02040503050406030204" pitchFamily="18" charset="0"/>
                      </a:rPr>
                      <m:t> </m:t>
                    </m:r>
                    <m:r>
                      <a:rPr lang="es-AR" sz="2600" b="0" i="1" smtClean="0">
                        <a:latin typeface="Cambria Math" panose="02040503050406030204" pitchFamily="18" charset="0"/>
                      </a:rPr>
                      <m:t>𝑡𝑜𝑡𝑎𝑙</m:t>
                    </m:r>
                    <m:r>
                      <a:rPr lang="es-AR" sz="2600" b="0" i="1" smtClean="0">
                        <a:latin typeface="Cambria Math" panose="02040503050406030204" pitchFamily="18" charset="0"/>
                      </a:rPr>
                      <m:t>+            </m:t>
                    </m:r>
                    <m:r>
                      <a:rPr lang="es-AR" sz="2600" b="0" i="1" smtClean="0">
                        <a:latin typeface="Cambria Math" panose="02040503050406030204" pitchFamily="18" charset="0"/>
                      </a:rPr>
                      <m:t>𝑉𝑎𝑙𝑜𝑟</m:t>
                    </m:r>
                    <m:r>
                      <a:rPr lang="es-AR" sz="2600" b="0" i="1" smtClean="0">
                        <a:latin typeface="Cambria Math" panose="02040503050406030204" pitchFamily="18" charset="0"/>
                      </a:rPr>
                      <m:t> </m:t>
                    </m:r>
                    <m:r>
                      <a:rPr lang="es-AR" sz="2600" b="0" i="1" smtClean="0">
                        <a:latin typeface="Cambria Math" panose="02040503050406030204" pitchFamily="18" charset="0"/>
                      </a:rPr>
                      <m:t>𝑑𝑒</m:t>
                    </m:r>
                    <m:r>
                      <a:rPr lang="es-AR" sz="2600" b="0" i="1" smtClean="0">
                        <a:latin typeface="Cambria Math" panose="02040503050406030204" pitchFamily="18" charset="0"/>
                      </a:rPr>
                      <m:t> </m:t>
                    </m:r>
                    <m:r>
                      <a:rPr lang="es-AR" sz="2600" b="0" i="1" smtClean="0">
                        <a:latin typeface="Cambria Math" panose="02040503050406030204" pitchFamily="18" charset="0"/>
                      </a:rPr>
                      <m:t>𝑚𝑒𝑟𝑐𝑎𝑑𝑜</m:t>
                    </m:r>
                    <m:r>
                      <a:rPr lang="es-AR" sz="2600" b="0" i="1" smtClean="0">
                        <a:latin typeface="Cambria Math" panose="02040503050406030204" pitchFamily="18" charset="0"/>
                      </a:rPr>
                      <m:t> </m:t>
                    </m:r>
                    <m:r>
                      <a:rPr lang="es-AR" sz="2600" b="0" i="1" smtClean="0">
                        <a:latin typeface="Cambria Math" panose="02040503050406030204" pitchFamily="18" charset="0"/>
                      </a:rPr>
                      <m:t>𝑑𝑒</m:t>
                    </m:r>
                    <m:r>
                      <a:rPr lang="es-AR" sz="2600" b="0" i="1" smtClean="0">
                        <a:latin typeface="Cambria Math" panose="02040503050406030204" pitchFamily="18" charset="0"/>
                      </a:rPr>
                      <m:t> </m:t>
                    </m:r>
                    <m:r>
                      <a:rPr lang="es-AR" sz="2600" b="0" i="1" smtClean="0">
                        <a:latin typeface="Cambria Math" panose="02040503050406030204" pitchFamily="18" charset="0"/>
                      </a:rPr>
                      <m:t>𝑜𝑡𝑟𝑜𝑠</m:t>
                    </m:r>
                    <m:r>
                      <a:rPr lang="es-AR" sz="2600" b="0" i="1" smtClean="0">
                        <a:latin typeface="Cambria Math" panose="02040503050406030204" pitchFamily="18" charset="0"/>
                      </a:rPr>
                      <m:t> </m:t>
                    </m:r>
                    <m:r>
                      <a:rPr lang="es-AR" sz="2600" b="0" i="1" smtClean="0">
                        <a:latin typeface="Cambria Math" panose="02040503050406030204" pitchFamily="18" charset="0"/>
                      </a:rPr>
                      <m:t>𝑑𝑒𝑟𝑒𝑐h𝑜𝑠</m:t>
                    </m:r>
                    <m:r>
                      <a:rPr lang="es-AR" sz="2600" b="0" i="1" smtClean="0">
                        <a:latin typeface="Cambria Math" panose="02040503050406030204" pitchFamily="18" charset="0"/>
                      </a:rPr>
                      <m:t> </m:t>
                    </m:r>
                    <m:r>
                      <a:rPr lang="es-AR" sz="2600" b="0" i="1" smtClean="0">
                        <a:latin typeface="Cambria Math" panose="02040503050406030204" pitchFamily="18" charset="0"/>
                      </a:rPr>
                      <m:t>𝑓𝑖𝑛𝑎𝑛𝑐𝑖𝑒𝑟𝑜𝑠</m:t>
                    </m:r>
                    <m:r>
                      <a:rPr lang="es-AR" sz="2600" b="0" i="1" smtClean="0">
                        <a:latin typeface="Cambria Math" panose="02040503050406030204" pitchFamily="18" charset="0"/>
                      </a:rPr>
                      <m:t> −</m:t>
                    </m:r>
                    <m:r>
                      <a:rPr lang="es-AR" sz="2600" b="0" i="1" smtClean="0">
                        <a:latin typeface="Cambria Math" panose="02040503050406030204" pitchFamily="18" charset="0"/>
                      </a:rPr>
                      <m:t>𝑒𝑓𝑒𝑐𝑡𝑖𝑣𝑜</m:t>
                    </m:r>
                    <m:r>
                      <a:rPr lang="es-AR" sz="2600" b="0" i="1" smtClean="0">
                        <a:latin typeface="Cambria Math" panose="02040503050406030204" pitchFamily="18" charset="0"/>
                      </a:rPr>
                      <m:t> </m:t>
                    </m:r>
                    <m:r>
                      <a:rPr lang="es-AR" sz="2600" b="0" i="1" smtClean="0">
                        <a:latin typeface="Cambria Math" panose="02040503050406030204" pitchFamily="18" charset="0"/>
                      </a:rPr>
                      <m:t>𝑦</m:t>
                    </m:r>
                    <m:r>
                      <a:rPr lang="es-AR" sz="2600" b="0" i="1" smtClean="0">
                        <a:latin typeface="Cambria Math" panose="02040503050406030204" pitchFamily="18" charset="0"/>
                      </a:rPr>
                      <m:t> </m:t>
                    </m:r>
                    <m:r>
                      <a:rPr lang="es-AR" sz="2600" b="0" i="1" smtClean="0">
                        <a:latin typeface="Cambria Math" panose="02040503050406030204" pitchFamily="18" charset="0"/>
                      </a:rPr>
                      <m:t>𝑒𝑞𝑢𝑖𝑣𝑎𝑙𝑒𝑛𝑡𝑒𝑠</m:t>
                    </m:r>
                  </m:oMath>
                </a14:m>
                <a:endParaRPr lang="es-ES" sz="2600" dirty="0"/>
              </a:p>
              <a:p>
                <a:pPr marL="0" indent="0">
                  <a:buNone/>
                </a:pPr>
                <a:r>
                  <a:rPr lang="es-ES" sz="2600" dirty="0"/>
                  <a:t>No se consideran las cuentas por pagar ni las acumulaciones</a:t>
                </a:r>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638" t="-2521"/>
                </a:stretch>
              </a:blipFill>
            </p:spPr>
            <p:txBody>
              <a:bodyPr/>
              <a:lstStyle/>
              <a:p>
                <a:r>
                  <a:rPr lang="es-ES">
                    <a:noFill/>
                  </a:rPr>
                  <a:t> </a:t>
                </a:r>
              </a:p>
            </p:txBody>
          </p:sp>
        </mc:Fallback>
      </mc:AlternateContent>
    </p:spTree>
    <p:extLst>
      <p:ext uri="{BB962C8B-B14F-4D97-AF65-F5344CB8AC3E}">
        <p14:creationId xmlns:p14="http://schemas.microsoft.com/office/powerpoint/2010/main" val="28327515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lnSpcReduction="10000"/>
              </a:bodyPr>
              <a:lstStyle/>
              <a:p>
                <a:pPr marL="0" indent="0">
                  <a:buNone/>
                </a:pPr>
                <a:r>
                  <a:rPr lang="es-AR" sz="2400" dirty="0"/>
                  <a:t>RAZÓN DE VALOR DE LA EMPRESA/EBITDA</a:t>
                </a:r>
              </a:p>
              <a:p>
                <a:pPr marL="0" indent="0">
                  <a:buNone/>
                </a:pPr>
                <a:endParaRPr lang="es-AR" sz="2400" dirty="0"/>
              </a:p>
              <a:p>
                <a14:m>
                  <m:oMath xmlns:m="http://schemas.openxmlformats.org/officeDocument/2006/math">
                    <m:r>
                      <a:rPr lang="es-AR" sz="2000" b="0" i="1" smtClean="0">
                        <a:latin typeface="Cambria Math" panose="02040503050406030204" pitchFamily="18" charset="0"/>
                      </a:rPr>
                      <m:t>𝐸𝑉</m:t>
                    </m:r>
                    <m:r>
                      <a:rPr lang="es-AR" sz="2000" b="0" i="1" smtClean="0">
                        <a:latin typeface="Cambria Math" panose="02040503050406030204" pitchFamily="18" charset="0"/>
                      </a:rPr>
                      <m:t>=</m:t>
                    </m:r>
                    <m:r>
                      <a:rPr lang="es-AR" sz="2000" b="0" i="1" smtClean="0">
                        <a:latin typeface="Cambria Math" panose="02040503050406030204" pitchFamily="18" charset="0"/>
                      </a:rPr>
                      <m:t>𝑉𝑎𝑙𝑜𝑟</m:t>
                    </m:r>
                    <m:r>
                      <a:rPr lang="es-AR" sz="2000" b="0" i="1" smtClean="0">
                        <a:latin typeface="Cambria Math" panose="02040503050406030204" pitchFamily="18" charset="0"/>
                      </a:rPr>
                      <m:t> </m:t>
                    </m:r>
                    <m:r>
                      <a:rPr lang="es-AR" sz="2000" b="0" i="1" smtClean="0">
                        <a:latin typeface="Cambria Math" panose="02040503050406030204" pitchFamily="18" charset="0"/>
                      </a:rPr>
                      <m:t>𝑑𝑒</m:t>
                    </m:r>
                    <m:r>
                      <a:rPr lang="es-AR" sz="2000" b="0" i="1" smtClean="0">
                        <a:latin typeface="Cambria Math" panose="02040503050406030204" pitchFamily="18" charset="0"/>
                      </a:rPr>
                      <m:t> </m:t>
                    </m:r>
                    <m:r>
                      <a:rPr lang="es-AR" sz="2000" b="0" i="1" smtClean="0">
                        <a:latin typeface="Cambria Math" panose="02040503050406030204" pitchFamily="18" charset="0"/>
                      </a:rPr>
                      <m:t>𝑀𝑒𝑟𝑐𝑎𝑑𝑜</m:t>
                    </m:r>
                    <m:r>
                      <a:rPr lang="es-AR" sz="2000" b="0" i="1" smtClean="0">
                        <a:latin typeface="Cambria Math" panose="02040503050406030204" pitchFamily="18" charset="0"/>
                      </a:rPr>
                      <m:t> </m:t>
                    </m:r>
                    <m:r>
                      <a:rPr lang="es-AR" sz="2000" b="0" i="1" smtClean="0">
                        <a:latin typeface="Cambria Math" panose="02040503050406030204" pitchFamily="18" charset="0"/>
                      </a:rPr>
                      <m:t>𝑑𝑒𝑙</m:t>
                    </m:r>
                    <m:r>
                      <a:rPr lang="es-AR" sz="2000" b="0" i="1" smtClean="0">
                        <a:latin typeface="Cambria Math" panose="02040503050406030204" pitchFamily="18" charset="0"/>
                      </a:rPr>
                      <m:t> </m:t>
                    </m:r>
                    <m:r>
                      <a:rPr lang="es-AR" sz="2000" b="0" i="1" smtClean="0">
                        <a:latin typeface="Cambria Math" panose="02040503050406030204" pitchFamily="18" charset="0"/>
                      </a:rPr>
                      <m:t>𝐶𝑎𝑝𝑖𝑡𝑎𝑙</m:t>
                    </m:r>
                    <m:r>
                      <a:rPr lang="es-AR" sz="2000" b="0" i="1" smtClean="0">
                        <a:latin typeface="Cambria Math" panose="02040503050406030204" pitchFamily="18" charset="0"/>
                      </a:rPr>
                      <m:t>+ </m:t>
                    </m:r>
                    <m:r>
                      <a:rPr lang="es-AR" sz="2000" b="0" i="1" smtClean="0">
                        <a:latin typeface="Cambria Math" panose="02040503050406030204" pitchFamily="18" charset="0"/>
                      </a:rPr>
                      <m:t>𝑉𝑎𝑙𝑜𝑟</m:t>
                    </m:r>
                    <m:r>
                      <a:rPr lang="es-AR" sz="2000" b="0" i="1" smtClean="0">
                        <a:latin typeface="Cambria Math" panose="02040503050406030204" pitchFamily="18" charset="0"/>
                      </a:rPr>
                      <m:t> </m:t>
                    </m:r>
                    <m:r>
                      <a:rPr lang="es-AR" sz="2000" b="0" i="1" smtClean="0">
                        <a:latin typeface="Cambria Math" panose="02040503050406030204" pitchFamily="18" charset="0"/>
                      </a:rPr>
                      <m:t>𝑑𝑒</m:t>
                    </m:r>
                    <m:r>
                      <a:rPr lang="es-AR" sz="2000" b="0" i="1" smtClean="0">
                        <a:latin typeface="Cambria Math" panose="02040503050406030204" pitchFamily="18" charset="0"/>
                      </a:rPr>
                      <m:t> </m:t>
                    </m:r>
                    <m:r>
                      <a:rPr lang="es-AR" sz="2000" b="0" i="1" smtClean="0">
                        <a:latin typeface="Cambria Math" panose="02040503050406030204" pitchFamily="18" charset="0"/>
                      </a:rPr>
                      <m:t>𝑀𝑒𝑟𝑐𝑎𝑑𝑜</m:t>
                    </m:r>
                    <m:r>
                      <a:rPr lang="es-AR" sz="2000" b="0" i="1" smtClean="0">
                        <a:latin typeface="Cambria Math" panose="02040503050406030204" pitchFamily="18" charset="0"/>
                      </a:rPr>
                      <m:t> </m:t>
                    </m:r>
                    <m:r>
                      <a:rPr lang="es-AR" sz="2000" b="0" i="1" smtClean="0">
                        <a:latin typeface="Cambria Math" panose="02040503050406030204" pitchFamily="18" charset="0"/>
                      </a:rPr>
                      <m:t>𝑑𝑒</m:t>
                    </m:r>
                    <m:r>
                      <a:rPr lang="es-AR" sz="2000" b="0" i="1" smtClean="0">
                        <a:latin typeface="Cambria Math" panose="02040503050406030204" pitchFamily="18" charset="0"/>
                      </a:rPr>
                      <m:t> </m:t>
                    </m:r>
                    <m:r>
                      <a:rPr lang="es-AR" sz="2000" b="0" i="1" smtClean="0">
                        <a:latin typeface="Cambria Math" panose="02040503050406030204" pitchFamily="18" charset="0"/>
                      </a:rPr>
                      <m:t>𝑙𝑎</m:t>
                    </m:r>
                    <m:r>
                      <a:rPr lang="es-AR" sz="2000" b="0" i="1" smtClean="0">
                        <a:latin typeface="Cambria Math" panose="02040503050406030204" pitchFamily="18" charset="0"/>
                      </a:rPr>
                      <m:t> </m:t>
                    </m:r>
                    <m:r>
                      <a:rPr lang="es-AR" sz="2000" b="0" i="1" smtClean="0">
                        <a:latin typeface="Cambria Math" panose="02040503050406030204" pitchFamily="18" charset="0"/>
                      </a:rPr>
                      <m:t>𝑑𝑒𝑢𝑑𝑎</m:t>
                    </m:r>
                    <m:r>
                      <a:rPr lang="es-AR" sz="2000" b="0" i="1" smtClean="0">
                        <a:latin typeface="Cambria Math" panose="02040503050406030204" pitchFamily="18" charset="0"/>
                      </a:rPr>
                      <m:t> </m:t>
                    </m:r>
                    <m:r>
                      <a:rPr lang="es-AR" sz="2000" b="0" i="1" smtClean="0">
                        <a:latin typeface="Cambria Math" panose="02040503050406030204" pitchFamily="18" charset="0"/>
                      </a:rPr>
                      <m:t>𝑡𝑜𝑡𝑎𝑙</m:t>
                    </m:r>
                    <m:r>
                      <a:rPr lang="es-AR" sz="2000" b="0" i="1" smtClean="0">
                        <a:latin typeface="Cambria Math" panose="02040503050406030204" pitchFamily="18" charset="0"/>
                      </a:rPr>
                      <m:t>+            </m:t>
                    </m:r>
                    <m:r>
                      <a:rPr lang="es-AR" sz="2000" b="0" i="1" smtClean="0">
                        <a:latin typeface="Cambria Math" panose="02040503050406030204" pitchFamily="18" charset="0"/>
                      </a:rPr>
                      <m:t>𝑉𝑎𝑙𝑜𝑟</m:t>
                    </m:r>
                    <m:r>
                      <a:rPr lang="es-AR" sz="2000" b="0" i="1" smtClean="0">
                        <a:latin typeface="Cambria Math" panose="02040503050406030204" pitchFamily="18" charset="0"/>
                      </a:rPr>
                      <m:t> </m:t>
                    </m:r>
                    <m:r>
                      <a:rPr lang="es-AR" sz="2000" b="0" i="1" smtClean="0">
                        <a:latin typeface="Cambria Math" panose="02040503050406030204" pitchFamily="18" charset="0"/>
                      </a:rPr>
                      <m:t>𝑑𝑒</m:t>
                    </m:r>
                    <m:r>
                      <a:rPr lang="es-AR" sz="2000" b="0" i="1" smtClean="0">
                        <a:latin typeface="Cambria Math" panose="02040503050406030204" pitchFamily="18" charset="0"/>
                      </a:rPr>
                      <m:t> </m:t>
                    </m:r>
                    <m:r>
                      <a:rPr lang="es-AR" sz="2000" b="0" i="1" smtClean="0">
                        <a:latin typeface="Cambria Math" panose="02040503050406030204" pitchFamily="18" charset="0"/>
                      </a:rPr>
                      <m:t>𝑚𝑒𝑟𝑐𝑎𝑑𝑜</m:t>
                    </m:r>
                    <m:r>
                      <a:rPr lang="es-AR" sz="2000" b="0" i="1" smtClean="0">
                        <a:latin typeface="Cambria Math" panose="02040503050406030204" pitchFamily="18" charset="0"/>
                      </a:rPr>
                      <m:t> </m:t>
                    </m:r>
                    <m:r>
                      <a:rPr lang="es-AR" sz="2000" b="0" i="1" smtClean="0">
                        <a:latin typeface="Cambria Math" panose="02040503050406030204" pitchFamily="18" charset="0"/>
                      </a:rPr>
                      <m:t>𝑑𝑒</m:t>
                    </m:r>
                    <m:r>
                      <a:rPr lang="es-AR" sz="2000" b="0" i="1" smtClean="0">
                        <a:latin typeface="Cambria Math" panose="02040503050406030204" pitchFamily="18" charset="0"/>
                      </a:rPr>
                      <m:t> </m:t>
                    </m:r>
                    <m:r>
                      <a:rPr lang="es-AR" sz="2000" b="0" i="1" smtClean="0">
                        <a:latin typeface="Cambria Math" panose="02040503050406030204" pitchFamily="18" charset="0"/>
                      </a:rPr>
                      <m:t>𝑜𝑡𝑟𝑜𝑠</m:t>
                    </m:r>
                    <m:r>
                      <a:rPr lang="es-AR" sz="2000" b="0" i="1" smtClean="0">
                        <a:latin typeface="Cambria Math" panose="02040503050406030204" pitchFamily="18" charset="0"/>
                      </a:rPr>
                      <m:t> </m:t>
                    </m:r>
                    <m:r>
                      <a:rPr lang="es-AR" sz="2000" b="0" i="1" smtClean="0">
                        <a:latin typeface="Cambria Math" panose="02040503050406030204" pitchFamily="18" charset="0"/>
                      </a:rPr>
                      <m:t>𝑑𝑒𝑟𝑒𝑐h𝑜𝑠</m:t>
                    </m:r>
                    <m:r>
                      <a:rPr lang="es-AR" sz="2000" b="0" i="1" smtClean="0">
                        <a:latin typeface="Cambria Math" panose="02040503050406030204" pitchFamily="18" charset="0"/>
                      </a:rPr>
                      <m:t> </m:t>
                    </m:r>
                    <m:r>
                      <a:rPr lang="es-AR" sz="2000" b="0" i="1" smtClean="0">
                        <a:latin typeface="Cambria Math" panose="02040503050406030204" pitchFamily="18" charset="0"/>
                      </a:rPr>
                      <m:t>𝑓𝑖𝑛𝑎𝑛𝑐𝑖𝑒𝑟𝑜𝑠</m:t>
                    </m:r>
                    <m:r>
                      <a:rPr lang="es-AR" sz="2000" b="0" i="1" smtClean="0">
                        <a:latin typeface="Cambria Math" panose="02040503050406030204" pitchFamily="18" charset="0"/>
                      </a:rPr>
                      <m:t> −</m:t>
                    </m:r>
                    <m:r>
                      <a:rPr lang="es-AR" sz="2000" b="0" i="1" smtClean="0">
                        <a:latin typeface="Cambria Math" panose="02040503050406030204" pitchFamily="18" charset="0"/>
                      </a:rPr>
                      <m:t>𝑒𝑓𝑒𝑐𝑡𝑖𝑣𝑜</m:t>
                    </m:r>
                    <m:r>
                      <a:rPr lang="es-AR" sz="2000" b="0" i="1" smtClean="0">
                        <a:latin typeface="Cambria Math" panose="02040503050406030204" pitchFamily="18" charset="0"/>
                      </a:rPr>
                      <m:t> </m:t>
                    </m:r>
                    <m:r>
                      <a:rPr lang="es-AR" sz="2000" b="0" i="1" smtClean="0">
                        <a:latin typeface="Cambria Math" panose="02040503050406030204" pitchFamily="18" charset="0"/>
                      </a:rPr>
                      <m:t>𝑦</m:t>
                    </m:r>
                    <m:r>
                      <a:rPr lang="es-AR" sz="2000" b="0" i="1" smtClean="0">
                        <a:latin typeface="Cambria Math" panose="02040503050406030204" pitchFamily="18" charset="0"/>
                      </a:rPr>
                      <m:t> </m:t>
                    </m:r>
                    <m:r>
                      <a:rPr lang="es-AR" sz="2000" b="0" i="1" smtClean="0">
                        <a:latin typeface="Cambria Math" panose="02040503050406030204" pitchFamily="18" charset="0"/>
                      </a:rPr>
                      <m:t>𝑒𝑞𝑢𝑖𝑣𝑎𝑙𝑒𝑛𝑡𝑒𝑠</m:t>
                    </m:r>
                  </m:oMath>
                </a14:m>
                <a:endParaRPr lang="es-ES" sz="2000" dirty="0"/>
              </a:p>
              <a:p>
                <a:r>
                  <a:rPr lang="es-ES" sz="2400" dirty="0"/>
                  <a:t>Es un valor de mercado del </a:t>
                </a:r>
                <a:r>
                  <a:rPr lang="es-ES" sz="2400" b="1" dirty="0"/>
                  <a:t>conjunto de los derechos financieros</a:t>
                </a:r>
              </a:p>
              <a:p>
                <a:r>
                  <a:rPr lang="es-ES" sz="2400" dirty="0"/>
                  <a:t>Excluir el efectivo y equivalentes evita la distorsión que distintos niveles de efectivos excedentes generarían. Mayor excedente daría una razón más elevada aun en operaciones ineficientes</a:t>
                </a:r>
              </a:p>
              <a:p>
                <a:r>
                  <a:rPr lang="es-ES" sz="2400" dirty="0"/>
                  <a:t>Las Deudas están a valor contable, es lo habitual</a:t>
                </a:r>
              </a:p>
              <a:p>
                <a:r>
                  <a:rPr lang="es-ES" sz="2400" dirty="0"/>
                  <a:t>La razón para Allied es 5,22X y la razón promedio de la industria 9,2X, indicando una vez más que las operaciones de Allied no son todo lo eficientes que podrían serlo</a:t>
                </a:r>
              </a:p>
              <a:p>
                <a:endParaRPr lang="es-ES" sz="2400" dirty="0"/>
              </a:p>
              <a:p>
                <a:pPr marL="0" indent="0">
                  <a:buNone/>
                </a:pPr>
                <a:endParaRPr lang="es-ES" sz="2400"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28" t="-2661" b="-2661"/>
                </a:stretch>
              </a:blipFill>
            </p:spPr>
            <p:txBody>
              <a:bodyPr/>
              <a:lstStyle/>
              <a:p>
                <a:r>
                  <a:rPr lang="es-ES">
                    <a:noFill/>
                  </a:rPr>
                  <a:t> </a:t>
                </a:r>
              </a:p>
            </p:txBody>
          </p:sp>
        </mc:Fallback>
      </mc:AlternateContent>
    </p:spTree>
    <p:extLst>
      <p:ext uri="{BB962C8B-B14F-4D97-AF65-F5344CB8AC3E}">
        <p14:creationId xmlns:p14="http://schemas.microsoft.com/office/powerpoint/2010/main" val="25576526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F6ADB-63A4-A3B6-9AE9-19AC087DF8AA}"/>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4C1325-A5FC-1176-8F86-0B8ABA59BBDD}"/>
                  </a:ext>
                </a:extLst>
              </p:cNvPr>
              <p:cNvSpPr>
                <a:spLocks noGrp="1"/>
              </p:cNvSpPr>
              <p:nvPr>
                <p:ph idx="1"/>
              </p:nvPr>
            </p:nvSpPr>
            <p:spPr/>
            <p:txBody>
              <a:bodyPr>
                <a:normAutofit/>
              </a:bodyPr>
              <a:lstStyle/>
              <a:p>
                <a:pPr marL="0" indent="0">
                  <a:buNone/>
                </a:pPr>
                <a:r>
                  <a:rPr lang="es-AR" sz="2400" dirty="0"/>
                  <a:t>RAZÓN DE VALOR DE LA EMPRESA/EBITDA</a:t>
                </a:r>
              </a:p>
              <a:p>
                <a:pPr marL="0" indent="0">
                  <a:buNone/>
                </a:pPr>
                <a:endParaRPr lang="es-AR" sz="2400" dirty="0"/>
              </a:p>
              <a:p>
                <a14:m>
                  <m:oMath xmlns:m="http://schemas.openxmlformats.org/officeDocument/2006/math">
                    <m:r>
                      <m:rPr>
                        <m:nor/>
                      </m:rPr>
                      <a:rPr lang="es-ES" sz="2400" dirty="0"/>
                      <m:t>¿</m:t>
                    </m:r>
                    <m:r>
                      <m:rPr>
                        <m:nor/>
                      </m:rPr>
                      <a:rPr lang="es-ES" sz="2400" dirty="0"/>
                      <m:t>C</m:t>
                    </m:r>
                    <m:r>
                      <m:rPr>
                        <m:nor/>
                      </m:rPr>
                      <a:rPr lang="es-ES" sz="2400" dirty="0"/>
                      <m:t>ó</m:t>
                    </m:r>
                    <m:r>
                      <m:rPr>
                        <m:nor/>
                      </m:rPr>
                      <a:rPr lang="es-ES" sz="2400" dirty="0"/>
                      <m:t>mo</m:t>
                    </m:r>
                    <m:r>
                      <m:rPr>
                        <m:nor/>
                      </m:rPr>
                      <a:rPr lang="es-ES" sz="2400" dirty="0"/>
                      <m:t> </m:t>
                    </m:r>
                    <m:r>
                      <m:rPr>
                        <m:nor/>
                      </m:rPr>
                      <a:rPr lang="es-ES" sz="2400" dirty="0"/>
                      <m:t>se</m:t>
                    </m:r>
                    <m:r>
                      <m:rPr>
                        <m:nor/>
                      </m:rPr>
                      <a:rPr lang="es-ES" sz="2400" dirty="0"/>
                      <m:t> </m:t>
                    </m:r>
                    <m:r>
                      <m:rPr>
                        <m:nor/>
                      </m:rPr>
                      <a:rPr lang="es-ES" sz="2400" dirty="0"/>
                      <m:t>interpreta</m:t>
                    </m:r>
                    <m:r>
                      <m:rPr>
                        <m:nor/>
                      </m:rPr>
                      <a:rPr lang="es-ES" sz="2400" dirty="0"/>
                      <m:t> </m:t>
                    </m:r>
                    <m:r>
                      <m:rPr>
                        <m:nor/>
                      </m:rPr>
                      <a:rPr lang="es-ES" sz="2400" dirty="0"/>
                      <m:t>el</m:t>
                    </m:r>
                    <m:r>
                      <m:rPr>
                        <m:nor/>
                      </m:rPr>
                      <a:rPr lang="es-ES" sz="2400" dirty="0"/>
                      <m:t> </m:t>
                    </m:r>
                    <m:r>
                      <m:rPr>
                        <m:nor/>
                      </m:rPr>
                      <a:rPr lang="es-ES" sz="2400" dirty="0"/>
                      <m:t>valor</m:t>
                    </m:r>
                    <m:r>
                      <m:rPr>
                        <m:nor/>
                      </m:rPr>
                      <a:rPr lang="es-ES" sz="2400" dirty="0"/>
                      <m:t> </m:t>
                    </m:r>
                    <m:r>
                      <m:rPr>
                        <m:nor/>
                      </m:rPr>
                      <a:rPr lang="es-ES" sz="2400" dirty="0"/>
                      <m:t>de</m:t>
                    </m:r>
                    <m:r>
                      <m:rPr>
                        <m:nor/>
                      </m:rPr>
                      <a:rPr lang="es-ES" sz="2400" dirty="0"/>
                      <m:t> </m:t>
                    </m:r>
                    <m:r>
                      <m:rPr>
                        <m:nor/>
                      </m:rPr>
                      <a:rPr lang="es-ES" sz="2400" dirty="0"/>
                      <m:t>esta</m:t>
                    </m:r>
                    <m:r>
                      <m:rPr>
                        <m:nor/>
                      </m:rPr>
                      <a:rPr lang="es-ES" sz="2400" dirty="0"/>
                      <m:t> </m:t>
                    </m:r>
                    <m:r>
                      <m:rPr>
                        <m:nor/>
                      </m:rPr>
                      <a:rPr lang="es-ES" sz="2400" dirty="0"/>
                      <m:t>raz</m:t>
                    </m:r>
                    <m:r>
                      <m:rPr>
                        <m:nor/>
                      </m:rPr>
                      <a:rPr lang="es-ES" sz="2400" dirty="0"/>
                      <m:t>ó</m:t>
                    </m:r>
                    <m:r>
                      <m:rPr>
                        <m:nor/>
                      </m:rPr>
                      <a:rPr lang="es-ES" sz="2400" dirty="0"/>
                      <m:t>n</m:t>
                    </m:r>
                    <m:r>
                      <m:rPr>
                        <m:nor/>
                      </m:rPr>
                      <a:rPr lang="es-ES" sz="2400" dirty="0"/>
                      <m:t> </m:t>
                    </m:r>
                    <m:r>
                      <m:rPr>
                        <m:nor/>
                      </m:rPr>
                      <a:rPr lang="es-ES" sz="2400" dirty="0"/>
                      <m:t>y</m:t>
                    </m:r>
                    <m:r>
                      <m:rPr>
                        <m:nor/>
                      </m:rPr>
                      <a:rPr lang="es-ES" sz="2400" dirty="0"/>
                      <m:t> </m:t>
                    </m:r>
                    <m:r>
                      <m:rPr>
                        <m:nor/>
                      </m:rPr>
                      <a:rPr lang="es-ES" sz="2400" dirty="0"/>
                      <m:t>c</m:t>
                    </m:r>
                    <m:r>
                      <m:rPr>
                        <m:nor/>
                      </m:rPr>
                      <a:rPr lang="es-ES" sz="2400" dirty="0"/>
                      <m:t>ó</m:t>
                    </m:r>
                    <m:r>
                      <m:rPr>
                        <m:nor/>
                      </m:rPr>
                      <a:rPr lang="es-ES" sz="2400" dirty="0"/>
                      <m:t>mo</m:t>
                    </m:r>
                    <m:r>
                      <m:rPr>
                        <m:nor/>
                      </m:rPr>
                      <a:rPr lang="es-ES" sz="2400" dirty="0"/>
                      <m:t> </m:t>
                    </m:r>
                    <m:r>
                      <m:rPr>
                        <m:nor/>
                      </m:rPr>
                      <a:rPr lang="es-ES" sz="2400" dirty="0"/>
                      <m:t>la</m:t>
                    </m:r>
                    <m:r>
                      <m:rPr>
                        <m:nor/>
                      </m:rPr>
                      <a:rPr lang="es-ES" sz="2400" dirty="0"/>
                      <m:t> </m:t>
                    </m:r>
                    <m:r>
                      <m:rPr>
                        <m:nor/>
                      </m:rPr>
                      <a:rPr lang="es-ES" sz="2400" dirty="0"/>
                      <m:t>afecta</m:t>
                    </m:r>
                    <m:r>
                      <m:rPr>
                        <m:nor/>
                      </m:rPr>
                      <a:rPr lang="es-ES" sz="2400" dirty="0"/>
                      <m:t>, </m:t>
                    </m:r>
                    <m:r>
                      <m:rPr>
                        <m:nor/>
                      </m:rPr>
                      <a:rPr lang="es-ES" sz="2400" dirty="0"/>
                      <m:t>directa</m:t>
                    </m:r>
                    <m:r>
                      <m:rPr>
                        <m:nor/>
                      </m:rPr>
                      <a:rPr lang="es-ES" sz="2400" dirty="0"/>
                      <m:t> </m:t>
                    </m:r>
                    <m:r>
                      <m:rPr>
                        <m:nor/>
                      </m:rPr>
                      <a:rPr lang="es-ES" sz="2400" dirty="0"/>
                      <m:t>e</m:t>
                    </m:r>
                    <m:r>
                      <m:rPr>
                        <m:nor/>
                      </m:rPr>
                      <a:rPr lang="es-ES" sz="2400" dirty="0"/>
                      <m:t> </m:t>
                    </m:r>
                    <m:r>
                      <m:rPr>
                        <m:nor/>
                      </m:rPr>
                      <a:rPr lang="es-ES" sz="2400" dirty="0"/>
                      <m:t>indirectamente</m:t>
                    </m:r>
                    <m:r>
                      <m:rPr>
                        <m:nor/>
                      </m:rPr>
                      <a:rPr lang="es-ES" sz="2400" dirty="0"/>
                      <m:t> </m:t>
                    </m:r>
                    <m:r>
                      <m:rPr>
                        <m:nor/>
                      </m:rPr>
                      <a:rPr lang="es-ES" sz="2400" dirty="0"/>
                      <m:t>cambios</m:t>
                    </m:r>
                    <m:r>
                      <m:rPr>
                        <m:nor/>
                      </m:rPr>
                      <a:rPr lang="es-ES" sz="2400" dirty="0"/>
                      <m:t> </m:t>
                    </m:r>
                    <m:r>
                      <m:rPr>
                        <m:nor/>
                      </m:rPr>
                      <a:rPr lang="es-ES" sz="2400" dirty="0"/>
                      <m:t>en</m:t>
                    </m:r>
                    <m:r>
                      <m:rPr>
                        <m:nor/>
                      </m:rPr>
                      <a:rPr lang="es-ES" sz="2400" dirty="0"/>
                      <m:t> </m:t>
                    </m:r>
                    <m:r>
                      <m:rPr>
                        <m:nor/>
                      </m:rPr>
                      <a:rPr lang="es-ES" sz="2400" dirty="0"/>
                      <m:t>cada</m:t>
                    </m:r>
                    <m:r>
                      <m:rPr>
                        <m:nor/>
                      </m:rPr>
                      <a:rPr lang="es-ES" sz="2400" dirty="0"/>
                      <m:t> </m:t>
                    </m:r>
                    <m:r>
                      <m:rPr>
                        <m:nor/>
                      </m:rPr>
                      <a:rPr lang="es-ES" sz="2400" dirty="0"/>
                      <m:t>uno</m:t>
                    </m:r>
                    <m:r>
                      <m:rPr>
                        <m:nor/>
                      </m:rPr>
                      <a:rPr lang="es-ES" sz="2400" dirty="0"/>
                      <m:t> </m:t>
                    </m:r>
                    <m:r>
                      <m:rPr>
                        <m:nor/>
                      </m:rPr>
                      <a:rPr lang="es-ES" sz="2400" dirty="0"/>
                      <m:t>de</m:t>
                    </m:r>
                    <m:r>
                      <m:rPr>
                        <m:nor/>
                      </m:rPr>
                      <a:rPr lang="es-ES" sz="2400" dirty="0"/>
                      <m:t> </m:t>
                    </m:r>
                    <m:r>
                      <m:rPr>
                        <m:nor/>
                      </m:rPr>
                      <a:rPr lang="es-ES" sz="2400" dirty="0"/>
                      <m:t>sus</m:t>
                    </m:r>
                    <m:r>
                      <m:rPr>
                        <m:nor/>
                      </m:rPr>
                      <a:rPr lang="es-ES" sz="2400" dirty="0"/>
                      <m:t> </m:t>
                    </m:r>
                    <m:r>
                      <m:rPr>
                        <m:nor/>
                      </m:rPr>
                      <a:rPr lang="es-ES" sz="2400" dirty="0"/>
                      <m:t>componentes</m:t>
                    </m:r>
                    <m:r>
                      <m:rPr>
                        <m:nor/>
                      </m:rPr>
                      <a:rPr lang="es-ES" sz="2400" dirty="0"/>
                      <m:t>? </m:t>
                    </m:r>
                    <m:r>
                      <m:rPr>
                        <m:nor/>
                      </m:rPr>
                      <a:rPr lang="es-ES" sz="2400" dirty="0"/>
                      <m:t>No</m:t>
                    </m:r>
                    <m:r>
                      <m:rPr>
                        <m:nor/>
                      </m:rPr>
                      <a:rPr lang="es-ES" sz="2400" dirty="0"/>
                      <m:t> </m:t>
                    </m:r>
                    <m:r>
                      <m:rPr>
                        <m:nor/>
                      </m:rPr>
                      <a:rPr lang="es-ES" sz="2400" dirty="0"/>
                      <m:t>sacar</m:t>
                    </m:r>
                    <m:r>
                      <m:rPr>
                        <m:nor/>
                      </m:rPr>
                      <a:rPr lang="es-ES" sz="2400" dirty="0"/>
                      <m:t> </m:t>
                    </m:r>
                    <m:r>
                      <m:rPr>
                        <m:nor/>
                      </m:rPr>
                      <a:rPr lang="es-ES" sz="2400" dirty="0"/>
                      <m:t>conclusiones</m:t>
                    </m:r>
                    <m:r>
                      <m:rPr>
                        <m:nor/>
                      </m:rPr>
                      <a:rPr lang="es-ES" sz="2400" dirty="0"/>
                      <m:t> </m:t>
                    </m:r>
                    <m:r>
                      <m:rPr>
                        <m:nor/>
                      </m:rPr>
                      <a:rPr lang="es-ES" sz="2400" dirty="0"/>
                      <m:t>apresuradas</m:t>
                    </m:r>
                  </m:oMath>
                </a14:m>
                <a:endParaRPr lang="es-ES" sz="2400" dirty="0"/>
              </a:p>
              <a:p>
                <a:r>
                  <a:rPr lang="es-ES" sz="2400" dirty="0"/>
                  <a:t>Una referencia podría ser</a:t>
                </a:r>
              </a:p>
              <a:p>
                <a:pPr marL="0" indent="0">
                  <a:buNone/>
                </a:pPr>
                <a:endParaRPr lang="es-ES" sz="2400" dirty="0"/>
              </a:p>
              <a:p>
                <a:pPr lvl="1">
                  <a:buFont typeface="+mj-lt"/>
                  <a:buAutoNum type="arabicPeriod"/>
                </a:pPr>
                <a:r>
                  <a:rPr lang="es-ES" sz="1800" dirty="0"/>
                  <a:t>Entre 0 y 3, la empresa está muy barata y podría ser una inversión altamente rentable.</a:t>
                </a:r>
              </a:p>
              <a:p>
                <a:pPr lvl="1">
                  <a:buFont typeface="+mj-lt"/>
                  <a:buAutoNum type="arabicPeriod"/>
                </a:pPr>
                <a:r>
                  <a:rPr lang="es-ES" sz="1800" dirty="0"/>
                  <a:t>Entre 3 y 7, está barata.</a:t>
                </a:r>
              </a:p>
              <a:p>
                <a:pPr lvl="1">
                  <a:buFont typeface="+mj-lt"/>
                  <a:buAutoNum type="arabicPeriod"/>
                </a:pPr>
                <a:r>
                  <a:rPr lang="es-ES" sz="1800" dirty="0"/>
                  <a:t>Entre 7 y 12, está en valor de mercado.</a:t>
                </a:r>
              </a:p>
              <a:p>
                <a:pPr lvl="1">
                  <a:buFont typeface="+mj-lt"/>
                  <a:buAutoNum type="arabicPeriod"/>
                </a:pPr>
                <a:r>
                  <a:rPr lang="es-ES" sz="1800" dirty="0"/>
                  <a:t>Y por encima de 12, está sobrevalorada.</a:t>
                </a:r>
              </a:p>
              <a:p>
                <a:endParaRPr lang="es-ES" sz="2000" dirty="0"/>
              </a:p>
              <a:p>
                <a:pPr marL="0" indent="0">
                  <a:buNone/>
                </a:pPr>
                <a:endParaRPr lang="es-ES" sz="2400" dirty="0"/>
              </a:p>
            </p:txBody>
          </p:sp>
        </mc:Choice>
        <mc:Fallback xmlns="">
          <p:sp>
            <p:nvSpPr>
              <p:cNvPr id="3" name="Marcador de contenido 2">
                <a:extLst>
                  <a:ext uri="{FF2B5EF4-FFF2-40B4-BE49-F238E27FC236}">
                    <a16:creationId xmlns:a16="http://schemas.microsoft.com/office/drawing/2014/main" id="{3C4C1325-A5FC-1176-8F86-0B8ABA59BBDD}"/>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s-ES">
                    <a:noFill/>
                  </a:rPr>
                  <a:t> </a:t>
                </a:r>
              </a:p>
            </p:txBody>
          </p:sp>
        </mc:Fallback>
      </mc:AlternateContent>
    </p:spTree>
    <p:extLst>
      <p:ext uri="{BB962C8B-B14F-4D97-AF65-F5344CB8AC3E}">
        <p14:creationId xmlns:p14="http://schemas.microsoft.com/office/powerpoint/2010/main" val="24379372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4EF70B-F352-2604-C15E-A29EEC6F4DD5}"/>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4E2E27E0-CCA1-A16F-21F3-A63CC28A3D88}"/>
              </a:ext>
            </a:extLst>
          </p:cNvPr>
          <p:cNvSpPr>
            <a:spLocks noGrp="1"/>
          </p:cNvSpPr>
          <p:nvPr>
            <p:ph idx="1"/>
          </p:nvPr>
        </p:nvSpPr>
        <p:spPr/>
        <p:txBody>
          <a:bodyPr>
            <a:noAutofit/>
          </a:bodyPr>
          <a:lstStyle/>
          <a:p>
            <a:pPr marL="0" indent="0">
              <a:buNone/>
            </a:pPr>
            <a:r>
              <a:rPr lang="es-AR" sz="2400" dirty="0"/>
              <a:t>RAZÓN DE VALOR DE LA EMPRESA/EBITDA</a:t>
            </a:r>
          </a:p>
          <a:p>
            <a:pPr marL="0" indent="0">
              <a:buNone/>
            </a:pPr>
            <a:endParaRPr lang="es-ES" sz="2400" b="0" i="0" dirty="0">
              <a:solidFill>
                <a:srgbClr val="212529"/>
              </a:solidFill>
              <a:effectLst/>
            </a:endParaRPr>
          </a:p>
          <a:p>
            <a:r>
              <a:rPr lang="es-ES" sz="2400" b="0" i="0" dirty="0">
                <a:solidFill>
                  <a:srgbClr val="212529"/>
                </a:solidFill>
                <a:effectLst/>
              </a:rPr>
              <a:t>Esta razón muestra el multiplicador del valor de la compañía sobre los recursos que genera una empresa con independencia de su estructura financiera (por eso se excluyen los intereses y los impuestos), su tasa impositiva y su política de </a:t>
            </a:r>
            <a:r>
              <a:rPr lang="es-ES" sz="2400" b="1" i="0" u="none" strike="noStrike" dirty="0">
                <a:effectLst/>
              </a:rPr>
              <a:t>amortizaciones.</a:t>
            </a:r>
            <a:r>
              <a:rPr lang="es-ES" sz="2400" b="0" i="0" dirty="0">
                <a:solidFill>
                  <a:srgbClr val="212529"/>
                </a:solidFill>
                <a:effectLst/>
              </a:rPr>
              <a:t> </a:t>
            </a:r>
          </a:p>
          <a:p>
            <a:r>
              <a:rPr lang="es-ES" sz="2400" b="0" i="0" dirty="0">
                <a:solidFill>
                  <a:srgbClr val="212529"/>
                </a:solidFill>
                <a:effectLst/>
              </a:rPr>
              <a:t>Es una razón que se utiliza con frecuencia para evitar el problema que tiene la razón EV/EBIT por las diferentes políticas contables de amortización, siendo muy utilizado para comparar empresas de distintos países.</a:t>
            </a:r>
          </a:p>
        </p:txBody>
      </p:sp>
    </p:spTree>
    <p:extLst>
      <p:ext uri="{BB962C8B-B14F-4D97-AF65-F5344CB8AC3E}">
        <p14:creationId xmlns:p14="http://schemas.microsoft.com/office/powerpoint/2010/main" val="4494758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4EF70B-F352-2604-C15E-A29EEC6F4DD5}"/>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4E2E27E0-CCA1-A16F-21F3-A63CC28A3D88}"/>
              </a:ext>
            </a:extLst>
          </p:cNvPr>
          <p:cNvSpPr>
            <a:spLocks noGrp="1"/>
          </p:cNvSpPr>
          <p:nvPr>
            <p:ph idx="1"/>
          </p:nvPr>
        </p:nvSpPr>
        <p:spPr/>
        <p:txBody>
          <a:bodyPr>
            <a:noAutofit/>
          </a:bodyPr>
          <a:lstStyle/>
          <a:p>
            <a:pPr marL="0" indent="0">
              <a:buNone/>
            </a:pPr>
            <a:r>
              <a:rPr lang="es-AR" sz="2000" dirty="0"/>
              <a:t>RAZÓN DE VALOR DE LA EMPRESA/EBITDA</a:t>
            </a:r>
          </a:p>
          <a:p>
            <a:pPr marL="0" indent="0">
              <a:buNone/>
            </a:pPr>
            <a:endParaRPr lang="es-ES" sz="2000" b="0" i="0" dirty="0">
              <a:solidFill>
                <a:srgbClr val="212529"/>
              </a:solidFill>
              <a:effectLst/>
            </a:endParaRPr>
          </a:p>
          <a:p>
            <a:r>
              <a:rPr lang="es-ES" sz="2000" b="0" i="0" dirty="0">
                <a:solidFill>
                  <a:srgbClr val="212529"/>
                </a:solidFill>
                <a:effectLst/>
              </a:rPr>
              <a:t>Una razón inferior a la media del mercado indica que la empresa podría estar infravalorada, que su precio de mercado (valor de cotización) no es el que refleja este múltiplo y por tanto debería subir en un futuro. La lectura que hacemos cuando este múltiplo es inferior comparado con otra empresa, es que dicha empresa está generando resultados (EBITDA) por encima de la gestión de la otra empresa, obteniendo más beneficios por unidad de valor de empresa.</a:t>
            </a:r>
          </a:p>
          <a:p>
            <a:pPr algn="l"/>
            <a:r>
              <a:rPr lang="es-ES" sz="2000" b="0" i="0" dirty="0">
                <a:solidFill>
                  <a:srgbClr val="212529"/>
                </a:solidFill>
                <a:effectLst/>
              </a:rPr>
              <a:t>«Si la razón disminuye significa que la empresa está generando más beneficios (EBITDA – Denominador) por unidad de valor de empresa (Numerador)».</a:t>
            </a:r>
          </a:p>
          <a:p>
            <a:pPr algn="l"/>
            <a:r>
              <a:rPr lang="es-ES" sz="2000" b="0" i="0" dirty="0">
                <a:solidFill>
                  <a:srgbClr val="212529"/>
                </a:solidFill>
                <a:effectLst/>
              </a:rPr>
              <a:t>Siempre habrá que compararlo contra los resultados de otros años de la propia Compañía y con los de la Industria.</a:t>
            </a:r>
          </a:p>
        </p:txBody>
      </p:sp>
    </p:spTree>
    <p:extLst>
      <p:ext uri="{BB962C8B-B14F-4D97-AF65-F5344CB8AC3E}">
        <p14:creationId xmlns:p14="http://schemas.microsoft.com/office/powerpoint/2010/main" val="17205169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4EF70B-F352-2604-C15E-A29EEC6F4DD5}"/>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4E2E27E0-CCA1-A16F-21F3-A63CC28A3D88}"/>
              </a:ext>
            </a:extLst>
          </p:cNvPr>
          <p:cNvSpPr>
            <a:spLocks noGrp="1"/>
          </p:cNvSpPr>
          <p:nvPr>
            <p:ph idx="1"/>
          </p:nvPr>
        </p:nvSpPr>
        <p:spPr/>
        <p:txBody>
          <a:bodyPr>
            <a:noAutofit/>
          </a:bodyPr>
          <a:lstStyle/>
          <a:p>
            <a:pPr marL="0" indent="0">
              <a:buNone/>
            </a:pPr>
            <a:r>
              <a:rPr lang="es-AR" sz="2000" dirty="0"/>
              <a:t>RAZÓN DE VALOR DE LA EMPRESA/EBITDA</a:t>
            </a:r>
          </a:p>
          <a:p>
            <a:pPr marL="0" indent="0" algn="l">
              <a:buNone/>
            </a:pPr>
            <a:endParaRPr lang="es-ES" sz="2000" b="0" i="0" dirty="0">
              <a:solidFill>
                <a:srgbClr val="212529"/>
              </a:solidFill>
              <a:effectLst/>
            </a:endParaRPr>
          </a:p>
          <a:p>
            <a:pPr algn="l"/>
            <a:r>
              <a:rPr lang="es-ES" sz="2000" b="0" i="0" dirty="0">
                <a:solidFill>
                  <a:srgbClr val="212529"/>
                </a:solidFill>
                <a:effectLst/>
              </a:rPr>
              <a:t>Por regla general para:</a:t>
            </a:r>
          </a:p>
          <a:p>
            <a:pPr algn="l">
              <a:buFont typeface="Arial" panose="020B0604020202020204" pitchFamily="34" charset="0"/>
              <a:buChar char="•"/>
            </a:pPr>
            <a:r>
              <a:rPr lang="es-ES" sz="2000" b="1" i="0" dirty="0">
                <a:solidFill>
                  <a:srgbClr val="212529"/>
                </a:solidFill>
                <a:effectLst/>
              </a:rPr>
              <a:t>Industrias en crecimiento a altas tasas:</a:t>
            </a:r>
            <a:r>
              <a:rPr lang="es-ES" sz="2000" b="0" i="0" dirty="0">
                <a:solidFill>
                  <a:srgbClr val="212529"/>
                </a:solidFill>
                <a:effectLst/>
              </a:rPr>
              <a:t> Esperaremos múltiplos elevados.</a:t>
            </a:r>
          </a:p>
          <a:p>
            <a:pPr algn="l">
              <a:buFont typeface="Arial" panose="020B0604020202020204" pitchFamily="34" charset="0"/>
              <a:buChar char="•"/>
            </a:pPr>
            <a:r>
              <a:rPr lang="es-ES" sz="2000" b="1" i="0" dirty="0">
                <a:solidFill>
                  <a:srgbClr val="212529"/>
                </a:solidFill>
                <a:effectLst/>
              </a:rPr>
              <a:t>Industrias de crecimiento bajo (maduras):</a:t>
            </a:r>
            <a:r>
              <a:rPr lang="es-ES" sz="2000" b="0" i="0" dirty="0">
                <a:solidFill>
                  <a:srgbClr val="212529"/>
                </a:solidFill>
                <a:effectLst/>
              </a:rPr>
              <a:t> Esperaremos múltiplos bajos.</a:t>
            </a:r>
          </a:p>
          <a:p>
            <a:pPr marL="0" indent="0" algn="l">
              <a:buNone/>
            </a:pPr>
            <a:endParaRPr lang="es-ES" sz="2000" b="0" i="0" dirty="0">
              <a:solidFill>
                <a:srgbClr val="212529"/>
              </a:solidFill>
              <a:effectLst/>
            </a:endParaRPr>
          </a:p>
          <a:p>
            <a:pPr marL="0" indent="0" algn="l">
              <a:buNone/>
            </a:pPr>
            <a:r>
              <a:rPr lang="es-ES" sz="2000" b="0" i="0" dirty="0">
                <a:solidFill>
                  <a:srgbClr val="212529"/>
                </a:solidFill>
                <a:effectLst/>
              </a:rPr>
              <a:t>Es un múltiplo muy frecuente en la valoración de empresas por múltiplos por varias razones:</a:t>
            </a:r>
          </a:p>
          <a:p>
            <a:pPr algn="l">
              <a:buFont typeface="+mj-lt"/>
              <a:buAutoNum type="arabicPeriod"/>
            </a:pPr>
            <a:r>
              <a:rPr lang="es-ES" sz="2000" b="0" i="0" dirty="0">
                <a:solidFill>
                  <a:srgbClr val="212529"/>
                </a:solidFill>
                <a:effectLst/>
              </a:rPr>
              <a:t>Ignora los efectos de los impuestos, pudiendo comparar empresas de diferentes países.</a:t>
            </a:r>
          </a:p>
          <a:p>
            <a:pPr algn="l">
              <a:buFont typeface="+mj-lt"/>
              <a:buAutoNum type="arabicPeriod"/>
            </a:pPr>
            <a:r>
              <a:rPr lang="es-ES" sz="2000" b="0" i="0" dirty="0">
                <a:solidFill>
                  <a:srgbClr val="212529"/>
                </a:solidFill>
                <a:effectLst/>
              </a:rPr>
              <a:t>Es una razón usada en las </a:t>
            </a:r>
            <a:r>
              <a:rPr lang="es-ES" sz="2000" b="1" i="0" u="none" strike="noStrike" dirty="0" err="1">
                <a:solidFill>
                  <a:srgbClr val="212529"/>
                </a:solidFill>
                <a:effectLst/>
                <a:hlinkClick r:id="rId2"/>
              </a:rPr>
              <a:t>OPA</a:t>
            </a:r>
            <a:r>
              <a:rPr lang="es-ES" sz="2000" b="1" i="0" u="none" strike="noStrike" dirty="0" err="1">
                <a:solidFill>
                  <a:srgbClr val="212529"/>
                </a:solidFill>
                <a:effectLst/>
              </a:rPr>
              <a:t>s</a:t>
            </a:r>
            <a:r>
              <a:rPr lang="es-ES" sz="2000" b="0" i="0" dirty="0">
                <a:solidFill>
                  <a:srgbClr val="212529"/>
                </a:solidFill>
                <a:effectLst/>
              </a:rPr>
              <a:t> (Ofertas Públicas de Adquisición), ya que tiene en cuenta el valor de Empresa, que viene de la suma de su Capitalización Bursátil y la Deuda Neta, así el nuevo comprador tiene en cuenta la deuda que tendrá que asumir en un futuro.</a:t>
            </a:r>
          </a:p>
          <a:p>
            <a:pPr marL="0" indent="0">
              <a:buNone/>
            </a:pPr>
            <a:br>
              <a:rPr lang="es-ES" sz="2000" b="0" i="0" dirty="0">
                <a:solidFill>
                  <a:srgbClr val="212529"/>
                </a:solidFill>
                <a:effectLst/>
              </a:rPr>
            </a:br>
            <a:endParaRPr lang="es-ES" sz="2000" dirty="0"/>
          </a:p>
        </p:txBody>
      </p:sp>
    </p:spTree>
    <p:extLst>
      <p:ext uri="{BB962C8B-B14F-4D97-AF65-F5344CB8AC3E}">
        <p14:creationId xmlns:p14="http://schemas.microsoft.com/office/powerpoint/2010/main" val="14581631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364475-1D7A-6D20-51EC-EE155D944FA1}"/>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7BFBAD5-AE6B-C271-3D29-5B65A4CAE411}"/>
                  </a:ext>
                </a:extLst>
              </p:cNvPr>
              <p:cNvSpPr>
                <a:spLocks noGrp="1"/>
              </p:cNvSpPr>
              <p:nvPr>
                <p:ph idx="1"/>
              </p:nvPr>
            </p:nvSpPr>
            <p:spPr/>
            <p:txBody>
              <a:bodyPr>
                <a:normAutofit lnSpcReduction="10000"/>
              </a:bodyPr>
              <a:lstStyle/>
              <a:p>
                <a:pPr marL="0" indent="0">
                  <a:buNone/>
                </a:pPr>
                <a:r>
                  <a:rPr lang="es-AR" dirty="0"/>
                  <a:t>ESLABONAMIENTO DE LAS RAZONES – ECUACIÓN DE DuPont </a:t>
                </a:r>
              </a:p>
              <a:p>
                <a:r>
                  <a:rPr lang="es-ES" sz="2000" dirty="0"/>
                  <a:t>Ver cómo las razones analizadas operan en común para alcanzar el ROE</a:t>
                </a:r>
              </a:p>
              <a:p>
                <a:pPr marL="0" indent="0">
                  <a:buNone/>
                </a:pPr>
                <a:endParaRPr lang="es-AR" sz="2000" b="0" i="1" dirty="0">
                  <a:latin typeface="Cambria Math" panose="02040503050406030204" pitchFamily="18" charset="0"/>
                </a:endParaRPr>
              </a:p>
              <a:p>
                <a:pPr marL="0" indent="0" algn="ctr">
                  <a:buNone/>
                </a:pPr>
                <a14:m>
                  <m:oMath xmlns:m="http://schemas.openxmlformats.org/officeDocument/2006/math">
                    <m:r>
                      <a:rPr lang="es-AR" sz="2300" b="0" i="1" smtClean="0">
                        <a:latin typeface="Cambria Math" panose="02040503050406030204" pitchFamily="18" charset="0"/>
                      </a:rPr>
                      <m:t>𝑅𝑂𝐸</m:t>
                    </m:r>
                    <m:r>
                      <a:rPr lang="es-AR" sz="2300" b="0" i="1" smtClean="0">
                        <a:latin typeface="Cambria Math" panose="02040503050406030204" pitchFamily="18" charset="0"/>
                      </a:rPr>
                      <m:t>=</m:t>
                    </m:r>
                    <m:r>
                      <m:rPr>
                        <m:nor/>
                      </m:rPr>
                      <a:rPr lang="es-ES" sz="2300" dirty="0"/>
                      <m:t>= </m:t>
                    </m:r>
                    <m:f>
                      <m:fPr>
                        <m:ctrlPr>
                          <a:rPr lang="es-AR" sz="2300" i="1">
                            <a:latin typeface="Cambria Math" panose="02040503050406030204" pitchFamily="18" charset="0"/>
                          </a:rPr>
                        </m:ctrlPr>
                      </m:fPr>
                      <m:num>
                        <m:r>
                          <a:rPr lang="es-AR" sz="2300" i="1">
                            <a:latin typeface="Cambria Math" panose="02040503050406030204" pitchFamily="18" charset="0"/>
                          </a:rPr>
                          <m:t>𝐼𝑛𝑔𝑟𝑒𝑠𝑜</m:t>
                        </m:r>
                        <m:r>
                          <a:rPr lang="es-AR" sz="2300" i="1">
                            <a:latin typeface="Cambria Math" panose="02040503050406030204" pitchFamily="18" charset="0"/>
                          </a:rPr>
                          <m:t> </m:t>
                        </m:r>
                        <m:r>
                          <a:rPr lang="es-AR" sz="2300" i="1">
                            <a:latin typeface="Cambria Math" panose="02040503050406030204" pitchFamily="18" charset="0"/>
                          </a:rPr>
                          <m:t>𝑁𝑒𝑡𝑜</m:t>
                        </m:r>
                      </m:num>
                      <m:den>
                        <m:r>
                          <a:rPr lang="es-AR" sz="2300" i="1">
                            <a:latin typeface="Cambria Math" panose="02040503050406030204" pitchFamily="18" charset="0"/>
                          </a:rPr>
                          <m:t>𝑐𝑎𝑝𝑖𝑡𝑎𝑙</m:t>
                        </m:r>
                        <m:r>
                          <a:rPr lang="es-AR" sz="2300" i="1">
                            <a:latin typeface="Cambria Math" panose="02040503050406030204" pitchFamily="18" charset="0"/>
                          </a:rPr>
                          <m:t> </m:t>
                        </m:r>
                        <m:r>
                          <a:rPr lang="es-AR" sz="2300" i="1">
                            <a:latin typeface="Cambria Math" panose="02040503050406030204" pitchFamily="18" charset="0"/>
                          </a:rPr>
                          <m:t>𝑐𝑜𝑚</m:t>
                        </m:r>
                        <m:r>
                          <a:rPr lang="es-AR" sz="2300" i="1">
                            <a:latin typeface="Cambria Math" panose="02040503050406030204" pitchFamily="18" charset="0"/>
                          </a:rPr>
                          <m:t>ú</m:t>
                        </m:r>
                        <m:r>
                          <a:rPr lang="es-AR" sz="2300" i="1">
                            <a:latin typeface="Cambria Math" panose="02040503050406030204" pitchFamily="18" charset="0"/>
                          </a:rPr>
                          <m:t>𝑛</m:t>
                        </m:r>
                      </m:den>
                    </m:f>
                    <m:r>
                      <m:rPr>
                        <m:nor/>
                      </m:rPr>
                      <a:rPr lang="es-AR" sz="2300" dirty="0"/>
                      <m:t> </m:t>
                    </m:r>
                  </m:oMath>
                </a14:m>
                <a:r>
                  <a:rPr lang="es-ES" sz="2300" dirty="0"/>
                  <a:t>= </a:t>
                </a:r>
                <a14:m>
                  <m:oMath xmlns:m="http://schemas.openxmlformats.org/officeDocument/2006/math">
                    <m:f>
                      <m:fPr>
                        <m:ctrlPr>
                          <a:rPr lang="es-AR" sz="2300" i="1">
                            <a:latin typeface="Cambria Math" panose="02040503050406030204" pitchFamily="18" charset="0"/>
                          </a:rPr>
                        </m:ctrlPr>
                      </m:fPr>
                      <m:num>
                        <m:r>
                          <a:rPr lang="es-AR" sz="2300" i="1">
                            <a:latin typeface="Cambria Math" panose="02040503050406030204" pitchFamily="18" charset="0"/>
                          </a:rPr>
                          <m:t>𝐼𝑛𝑔𝑟𝑒𝑠𝑜</m:t>
                        </m:r>
                        <m:r>
                          <a:rPr lang="es-AR" sz="2300" i="1">
                            <a:latin typeface="Cambria Math" panose="02040503050406030204" pitchFamily="18" charset="0"/>
                          </a:rPr>
                          <m:t> </m:t>
                        </m:r>
                        <m:r>
                          <a:rPr lang="es-AR" sz="2300" i="1">
                            <a:latin typeface="Cambria Math" panose="02040503050406030204" pitchFamily="18" charset="0"/>
                          </a:rPr>
                          <m:t>𝑁𝑒𝑡𝑜</m:t>
                        </m:r>
                      </m:num>
                      <m:den>
                        <m:r>
                          <a:rPr lang="es-AR" sz="2300" i="1">
                            <a:latin typeface="Cambria Math" panose="02040503050406030204" pitchFamily="18" charset="0"/>
                          </a:rPr>
                          <m:t>𝑎𝑐𝑡𝑖𝑣𝑜</m:t>
                        </m:r>
                        <m:r>
                          <a:rPr lang="es-AR" sz="2300" i="1">
                            <a:latin typeface="Cambria Math" panose="02040503050406030204" pitchFamily="18" charset="0"/>
                          </a:rPr>
                          <m:t> </m:t>
                        </m:r>
                        <m:r>
                          <a:rPr lang="es-AR" sz="2300" i="1">
                            <a:latin typeface="Cambria Math" panose="02040503050406030204" pitchFamily="18" charset="0"/>
                          </a:rPr>
                          <m:t>𝑐𝑜𝑛𝑡𝑎𝑏𝑙𝑒</m:t>
                        </m:r>
                      </m:den>
                    </m:f>
                  </m:oMath>
                </a14:m>
                <a:r>
                  <a:rPr lang="es-AR" sz="2300" dirty="0"/>
                  <a:t> </a:t>
                </a:r>
                <a14:m>
                  <m:oMath xmlns:m="http://schemas.openxmlformats.org/officeDocument/2006/math">
                    <m:r>
                      <a:rPr lang="es-AR" sz="2300" i="1">
                        <a:latin typeface="Cambria Math" panose="02040503050406030204" pitchFamily="18" charset="0"/>
                      </a:rPr>
                      <m:t>∗</m:t>
                    </m:r>
                    <m:f>
                      <m:fPr>
                        <m:ctrlPr>
                          <a:rPr lang="es-AR" sz="2300" i="1">
                            <a:latin typeface="Cambria Math" panose="02040503050406030204" pitchFamily="18" charset="0"/>
                          </a:rPr>
                        </m:ctrlPr>
                      </m:fPr>
                      <m:num>
                        <m:r>
                          <a:rPr lang="es-AR" sz="2300" i="1">
                            <a:latin typeface="Cambria Math" panose="02040503050406030204" pitchFamily="18" charset="0"/>
                          </a:rPr>
                          <m:t>𝑎𝑐𝑡𝑖𝑣𝑜</m:t>
                        </m:r>
                        <m:r>
                          <a:rPr lang="es-AR" sz="2300" i="1">
                            <a:latin typeface="Cambria Math" panose="02040503050406030204" pitchFamily="18" charset="0"/>
                          </a:rPr>
                          <m:t> </m:t>
                        </m:r>
                        <m:r>
                          <a:rPr lang="es-AR" sz="2300" i="1">
                            <a:latin typeface="Cambria Math" panose="02040503050406030204" pitchFamily="18" charset="0"/>
                          </a:rPr>
                          <m:t>𝑐𝑜𝑛𝑡𝑎𝑏𝑙𝑒</m:t>
                        </m:r>
                      </m:num>
                      <m:den>
                        <m:r>
                          <a:rPr lang="es-AR" sz="2300" i="1">
                            <a:latin typeface="Cambria Math" panose="02040503050406030204" pitchFamily="18" charset="0"/>
                          </a:rPr>
                          <m:t>𝑐𝑎𝑝𝑖𝑡𝑎𝑙</m:t>
                        </m:r>
                        <m:r>
                          <a:rPr lang="es-AR" sz="2300" i="1">
                            <a:latin typeface="Cambria Math" panose="02040503050406030204" pitchFamily="18" charset="0"/>
                          </a:rPr>
                          <m:t> </m:t>
                        </m:r>
                        <m:r>
                          <a:rPr lang="es-AR" sz="2300" i="1">
                            <a:latin typeface="Cambria Math" panose="02040503050406030204" pitchFamily="18" charset="0"/>
                          </a:rPr>
                          <m:t>𝑐𝑜𝑚</m:t>
                        </m:r>
                        <m:r>
                          <a:rPr lang="es-AR" sz="2300" i="1">
                            <a:latin typeface="Cambria Math" panose="02040503050406030204" pitchFamily="18" charset="0"/>
                          </a:rPr>
                          <m:t>ú</m:t>
                        </m:r>
                        <m:r>
                          <a:rPr lang="es-AR" sz="2300" i="1">
                            <a:latin typeface="Cambria Math" panose="02040503050406030204" pitchFamily="18" charset="0"/>
                          </a:rPr>
                          <m:t>𝑛</m:t>
                        </m:r>
                      </m:den>
                    </m:f>
                  </m:oMath>
                </a14:m>
                <a:endParaRPr lang="es-ES" sz="2300" dirty="0"/>
              </a:p>
              <a:p>
                <a:pPr marL="0" indent="0">
                  <a:buNone/>
                </a:pPr>
                <a:endParaRPr lang="es-AR" sz="2200" b="0" i="1" dirty="0">
                  <a:latin typeface="Cambria Math" panose="02040503050406030204" pitchFamily="18" charset="0"/>
                </a:endParaRPr>
              </a:p>
              <a:p>
                <a:pPr marL="0" indent="0">
                  <a:buNone/>
                </a:pPr>
                <a:r>
                  <a:rPr lang="es-AR" sz="2000" b="0" dirty="0"/>
                  <a:t>			</a:t>
                </a:r>
                <a14:m>
                  <m:oMath xmlns:m="http://schemas.openxmlformats.org/officeDocument/2006/math">
                    <m:r>
                      <a:rPr lang="es-AR" sz="2000" b="0" i="1" smtClean="0">
                        <a:latin typeface="Cambria Math" panose="02040503050406030204" pitchFamily="18" charset="0"/>
                      </a:rPr>
                      <m:t>𝑅𝑂𝐸</m:t>
                    </m:r>
                    <m:r>
                      <a:rPr lang="es-AR" sz="2000" i="1">
                        <a:latin typeface="Cambria Math" panose="02040503050406030204" pitchFamily="18" charset="0"/>
                      </a:rPr>
                      <m:t>=</m:t>
                    </m:r>
                    <m:r>
                      <a:rPr lang="es-AR" sz="2000" i="1">
                        <a:latin typeface="Cambria Math" panose="02040503050406030204" pitchFamily="18" charset="0"/>
                      </a:rPr>
                      <m:t>𝑅𝑂𝐴</m:t>
                    </m:r>
                    <m:r>
                      <a:rPr lang="es-AR" sz="2000" i="1">
                        <a:latin typeface="Cambria Math" panose="02040503050406030204" pitchFamily="18" charset="0"/>
                      </a:rPr>
                      <m:t> ∗</m:t>
                    </m:r>
                    <m:r>
                      <a:rPr lang="es-AR" sz="2000" i="1">
                        <a:latin typeface="Cambria Math" panose="02040503050406030204" pitchFamily="18" charset="0"/>
                      </a:rPr>
                      <m:t>𝑀𝑢𝑙𝑡𝑖𝑝𝑙𝑖𝑐𝑎𝑑𝑜𝑟</m:t>
                    </m:r>
                    <m:r>
                      <a:rPr lang="es-AR" sz="2000" i="1">
                        <a:latin typeface="Cambria Math" panose="02040503050406030204" pitchFamily="18" charset="0"/>
                      </a:rPr>
                      <m:t> </m:t>
                    </m:r>
                    <m:r>
                      <a:rPr lang="es-AR" sz="2000" i="1">
                        <a:latin typeface="Cambria Math" panose="02040503050406030204" pitchFamily="18" charset="0"/>
                      </a:rPr>
                      <m:t>𝑑𝑒𝑙</m:t>
                    </m:r>
                    <m:r>
                      <a:rPr lang="es-AR" sz="2000" i="1">
                        <a:latin typeface="Cambria Math" panose="02040503050406030204" pitchFamily="18" charset="0"/>
                      </a:rPr>
                      <m:t> </m:t>
                    </m:r>
                    <m:r>
                      <a:rPr lang="es-AR" sz="2000" i="1">
                        <a:latin typeface="Cambria Math" panose="02040503050406030204" pitchFamily="18" charset="0"/>
                      </a:rPr>
                      <m:t>𝐶𝑎𝑝𝑖𝑡𝑎𝑙</m:t>
                    </m:r>
                  </m:oMath>
                </a14:m>
                <a:r>
                  <a:rPr lang="es-ES" sz="2000" dirty="0"/>
                  <a:t> </a:t>
                </a:r>
              </a:p>
              <a:p>
                <a:pPr marL="0" indent="0">
                  <a:buNone/>
                </a:pPr>
                <a:endParaRPr lang="es-AR"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𝑅𝑂𝐸</m:t>
                      </m:r>
                      <m:r>
                        <a:rPr lang="es-AR" sz="2000" b="0" i="1" smtClean="0">
                          <a:latin typeface="Cambria Math" panose="02040503050406030204" pitchFamily="18" charset="0"/>
                        </a:rPr>
                        <m:t>=</m:t>
                      </m:r>
                      <m:f>
                        <m:fPr>
                          <m:ctrlPr>
                            <a:rPr lang="es-AR" sz="2000" b="0" i="1" smtClean="0">
                              <a:latin typeface="Cambria Math" panose="02040503050406030204" pitchFamily="18" charset="0"/>
                            </a:rPr>
                          </m:ctrlPr>
                        </m:fPr>
                        <m:num>
                          <m:r>
                            <a:rPr lang="es-AR" sz="2000" b="0" i="1" smtClean="0">
                              <a:latin typeface="Cambria Math" panose="02040503050406030204" pitchFamily="18" charset="0"/>
                            </a:rPr>
                            <m:t>𝐼𝑁</m:t>
                          </m:r>
                        </m:num>
                        <m:den>
                          <m:r>
                            <a:rPr lang="es-AR" sz="2000" b="0" i="1" smtClean="0">
                              <a:latin typeface="Cambria Math" panose="02040503050406030204" pitchFamily="18" charset="0"/>
                            </a:rPr>
                            <m:t>𝑣𝑒𝑛𝑡𝑎𝑠</m:t>
                          </m:r>
                        </m:den>
                      </m:f>
                      <m:r>
                        <a:rPr lang="es-AR" sz="2000" b="0" i="1" smtClean="0">
                          <a:latin typeface="Cambria Math" panose="02040503050406030204" pitchFamily="18" charset="0"/>
                        </a:rPr>
                        <m:t>∗</m:t>
                      </m:r>
                      <m:f>
                        <m:fPr>
                          <m:ctrlPr>
                            <a:rPr lang="es-AR" sz="2000" b="0" i="1" smtClean="0">
                              <a:latin typeface="Cambria Math" panose="02040503050406030204" pitchFamily="18" charset="0"/>
                            </a:rPr>
                          </m:ctrlPr>
                        </m:fPr>
                        <m:num>
                          <m:r>
                            <a:rPr lang="es-AR" sz="2000" b="0" i="1" smtClean="0">
                              <a:latin typeface="Cambria Math" panose="02040503050406030204" pitchFamily="18" charset="0"/>
                            </a:rPr>
                            <m:t>𝑣𝑒𝑛𝑡𝑎𝑠</m:t>
                          </m:r>
                        </m:num>
                        <m:den>
                          <m:r>
                            <a:rPr lang="es-AR" sz="2000" b="0" i="1" smtClean="0">
                              <a:latin typeface="Cambria Math" panose="02040503050406030204" pitchFamily="18" charset="0"/>
                            </a:rPr>
                            <m:t>𝑎𝑐𝑡𝑖𝑣𝑜</m:t>
                          </m:r>
                          <m:r>
                            <a:rPr lang="es-AR" sz="2000" b="0" i="1" smtClean="0">
                              <a:latin typeface="Cambria Math" panose="02040503050406030204" pitchFamily="18" charset="0"/>
                            </a:rPr>
                            <m:t> </m:t>
                          </m:r>
                          <m:r>
                            <a:rPr lang="es-AR" sz="2000" b="0" i="1" smtClean="0">
                              <a:latin typeface="Cambria Math" panose="02040503050406030204" pitchFamily="18" charset="0"/>
                            </a:rPr>
                            <m:t>𝑐𝑜𝑛𝑡𝑎𝑏𝑙𝑒</m:t>
                          </m:r>
                        </m:den>
                      </m:f>
                      <m:r>
                        <a:rPr lang="es-AR" sz="2000" i="1" smtClean="0">
                          <a:latin typeface="Cambria Math" panose="02040503050406030204" pitchFamily="18" charset="0"/>
                        </a:rPr>
                        <m:t>∗</m:t>
                      </m:r>
                      <m:f>
                        <m:fPr>
                          <m:ctrlPr>
                            <a:rPr lang="es-AR" sz="2000" i="1" smtClean="0">
                              <a:latin typeface="Cambria Math" panose="02040503050406030204" pitchFamily="18" charset="0"/>
                            </a:rPr>
                          </m:ctrlPr>
                        </m:fPr>
                        <m:num>
                          <m:r>
                            <a:rPr lang="es-AR" sz="2000" b="0" i="1" smtClean="0">
                              <a:latin typeface="Cambria Math" panose="02040503050406030204" pitchFamily="18" charset="0"/>
                            </a:rPr>
                            <m:t>𝑎𝑐𝑡𝑖𝑣𝑜</m:t>
                          </m:r>
                          <m:r>
                            <a:rPr lang="es-AR" sz="2000" b="0" i="1" smtClean="0">
                              <a:latin typeface="Cambria Math" panose="02040503050406030204" pitchFamily="18" charset="0"/>
                            </a:rPr>
                            <m:t> </m:t>
                          </m:r>
                          <m:r>
                            <a:rPr lang="es-AR" sz="2000" b="0" i="1" smtClean="0">
                              <a:latin typeface="Cambria Math" panose="02040503050406030204" pitchFamily="18" charset="0"/>
                            </a:rPr>
                            <m:t>𝑐𝑜𝑛𝑡𝑎𝑏𝑙𝑒</m:t>
                          </m:r>
                        </m:num>
                        <m:den>
                          <m:r>
                            <a:rPr lang="es-AR" sz="2000" b="0" i="1" smtClean="0">
                              <a:latin typeface="Cambria Math" panose="02040503050406030204" pitchFamily="18" charset="0"/>
                            </a:rPr>
                            <m:t>𝑐𝑎𝑝𝑖𝑡𝑎𝑙</m:t>
                          </m:r>
                          <m:r>
                            <a:rPr lang="es-AR" sz="2000" b="0" i="1" smtClean="0">
                              <a:latin typeface="Cambria Math" panose="02040503050406030204" pitchFamily="18" charset="0"/>
                            </a:rPr>
                            <m:t> </m:t>
                          </m:r>
                          <m:r>
                            <a:rPr lang="es-AR" sz="2000" b="0" i="1" smtClean="0">
                              <a:latin typeface="Cambria Math" panose="02040503050406030204" pitchFamily="18" charset="0"/>
                            </a:rPr>
                            <m:t>𝑐𝑜𝑚</m:t>
                          </m:r>
                          <m:r>
                            <a:rPr lang="es-AR" sz="2000" b="0" i="1" smtClean="0">
                              <a:latin typeface="Cambria Math" panose="02040503050406030204" pitchFamily="18" charset="0"/>
                            </a:rPr>
                            <m:t>ú</m:t>
                          </m:r>
                          <m:r>
                            <a:rPr lang="es-AR" sz="2000" b="0" i="1" smtClean="0">
                              <a:latin typeface="Cambria Math" panose="02040503050406030204" pitchFamily="18" charset="0"/>
                            </a:rPr>
                            <m:t>𝑛</m:t>
                          </m:r>
                        </m:den>
                      </m:f>
                    </m:oMath>
                  </m:oMathPara>
                </a14:m>
                <a:endParaRPr lang="es-ES" sz="2000" dirty="0"/>
              </a:p>
              <a:p>
                <a:pPr marL="0" indent="0">
                  <a:buNone/>
                </a:pPr>
                <a:endParaRPr lang="es-ES" sz="2000" dirty="0"/>
              </a:p>
              <a:p>
                <a:pPr marL="0" indent="0">
                  <a:buNone/>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𝑅𝑂𝐸</m:t>
                      </m:r>
                      <m:r>
                        <a:rPr lang="es-AR" sz="2000" b="0" i="1" smtClean="0">
                          <a:latin typeface="Cambria Math" panose="02040503050406030204" pitchFamily="18" charset="0"/>
                        </a:rPr>
                        <m:t>=</m:t>
                      </m:r>
                      <m:r>
                        <a:rPr lang="es-AR" sz="2000" b="0" i="1" smtClean="0">
                          <a:latin typeface="Cambria Math" panose="02040503050406030204" pitchFamily="18" charset="0"/>
                        </a:rPr>
                        <m:t>𝑚𝑎𝑟𝑔𝑒𝑛</m:t>
                      </m:r>
                      <m:r>
                        <a:rPr lang="es-AR" sz="2000" b="0" i="1" smtClean="0">
                          <a:latin typeface="Cambria Math" panose="02040503050406030204" pitchFamily="18" charset="0"/>
                        </a:rPr>
                        <m:t> </m:t>
                      </m:r>
                      <m:r>
                        <a:rPr lang="es-AR" sz="2000" b="0" i="1" smtClean="0">
                          <a:latin typeface="Cambria Math" panose="02040503050406030204" pitchFamily="18" charset="0"/>
                        </a:rPr>
                        <m:t>𝑑𝑒</m:t>
                      </m:r>
                      <m:r>
                        <a:rPr lang="es-AR" sz="2000" b="0" i="1" smtClean="0">
                          <a:latin typeface="Cambria Math" panose="02040503050406030204" pitchFamily="18" charset="0"/>
                        </a:rPr>
                        <m:t> </m:t>
                      </m:r>
                      <m:r>
                        <a:rPr lang="es-AR" sz="2000" b="0" i="1" smtClean="0">
                          <a:latin typeface="Cambria Math" panose="02040503050406030204" pitchFamily="18" charset="0"/>
                        </a:rPr>
                        <m:t>𝑢𝑡𝑖𝑙𝑖𝑑𝑎𝑑</m:t>
                      </m:r>
                      <m:r>
                        <a:rPr lang="es-AR" sz="2000" b="0" i="1" smtClean="0">
                          <a:latin typeface="Cambria Math" panose="02040503050406030204" pitchFamily="18" charset="0"/>
                        </a:rPr>
                        <m:t> ∗</m:t>
                      </m:r>
                      <m:r>
                        <a:rPr lang="es-AR" sz="2000" b="0" i="1" smtClean="0">
                          <a:latin typeface="Cambria Math" panose="02040503050406030204" pitchFamily="18" charset="0"/>
                        </a:rPr>
                        <m:t>𝑟𝑜𝑡𝑎𝑐𝑖</m:t>
                      </m:r>
                      <m:r>
                        <a:rPr lang="es-AR" sz="2000" b="0" i="1" smtClean="0">
                          <a:latin typeface="Cambria Math" panose="02040503050406030204" pitchFamily="18" charset="0"/>
                        </a:rPr>
                        <m:t>ó</m:t>
                      </m:r>
                      <m:r>
                        <a:rPr lang="es-AR" sz="2000" b="0" i="1" smtClean="0">
                          <a:latin typeface="Cambria Math" panose="02040503050406030204" pitchFamily="18" charset="0"/>
                        </a:rPr>
                        <m:t>𝑛</m:t>
                      </m:r>
                      <m:r>
                        <a:rPr lang="es-AR" sz="2000" b="0" i="1" smtClean="0">
                          <a:latin typeface="Cambria Math" panose="02040503050406030204" pitchFamily="18" charset="0"/>
                        </a:rPr>
                        <m:t> </m:t>
                      </m:r>
                      <m:r>
                        <a:rPr lang="es-AR" sz="2000" b="0" i="1" smtClean="0">
                          <a:latin typeface="Cambria Math" panose="02040503050406030204" pitchFamily="18" charset="0"/>
                        </a:rPr>
                        <m:t>𝑑𝑒𝑙</m:t>
                      </m:r>
                      <m:r>
                        <a:rPr lang="es-AR" sz="2000" b="0" i="1" smtClean="0">
                          <a:latin typeface="Cambria Math" panose="02040503050406030204" pitchFamily="18" charset="0"/>
                        </a:rPr>
                        <m:t> </m:t>
                      </m:r>
                      <m:r>
                        <a:rPr lang="es-AR" sz="2000" b="0" i="1" smtClean="0">
                          <a:latin typeface="Cambria Math" panose="02040503050406030204" pitchFamily="18" charset="0"/>
                        </a:rPr>
                        <m:t>𝑎𝑐𝑡𝑖𝑣𝑜</m:t>
                      </m:r>
                      <m:r>
                        <a:rPr lang="es-AR" sz="2000" b="0" i="1" smtClean="0">
                          <a:latin typeface="Cambria Math" panose="02040503050406030204" pitchFamily="18" charset="0"/>
                        </a:rPr>
                        <m:t> ∗</m:t>
                      </m:r>
                      <m:r>
                        <a:rPr lang="es-AR" sz="2000" b="0" i="1" smtClean="0">
                          <a:latin typeface="Cambria Math" panose="02040503050406030204" pitchFamily="18" charset="0"/>
                        </a:rPr>
                        <m:t>𝑀𝑢𝑙𝑡𝑖𝑝𝑙𝑖𝑐𝑎𝑑𝑜𝑟</m:t>
                      </m:r>
                      <m:r>
                        <a:rPr lang="es-AR" sz="2000" b="0" i="1" smtClean="0">
                          <a:latin typeface="Cambria Math" panose="02040503050406030204" pitchFamily="18" charset="0"/>
                        </a:rPr>
                        <m:t> </m:t>
                      </m:r>
                      <m:r>
                        <a:rPr lang="es-AR" sz="2000" b="0" i="1" smtClean="0">
                          <a:latin typeface="Cambria Math" panose="02040503050406030204" pitchFamily="18" charset="0"/>
                        </a:rPr>
                        <m:t>𝑑𝑒𝑙</m:t>
                      </m:r>
                      <m:r>
                        <a:rPr lang="es-AR" sz="2000" b="0" i="1" smtClean="0">
                          <a:latin typeface="Cambria Math" panose="02040503050406030204" pitchFamily="18" charset="0"/>
                        </a:rPr>
                        <m:t> </m:t>
                      </m:r>
                      <m:r>
                        <a:rPr lang="es-AR" sz="2000" b="0" i="1" smtClean="0">
                          <a:latin typeface="Cambria Math" panose="02040503050406030204" pitchFamily="18" charset="0"/>
                        </a:rPr>
                        <m:t>𝐶𝑎𝑝𝑖𝑡𝑎𝑙</m:t>
                      </m:r>
                    </m:oMath>
                  </m:oMathPara>
                </a14:m>
                <a:endParaRPr lang="es-ES" sz="2000" dirty="0"/>
              </a:p>
              <a:p>
                <a:pPr marL="0" indent="0">
                  <a:buNone/>
                </a:pPr>
                <a:endParaRPr lang="es-ES" sz="2000" dirty="0"/>
              </a:p>
            </p:txBody>
          </p:sp>
        </mc:Choice>
        <mc:Fallback xmlns="">
          <p:sp>
            <p:nvSpPr>
              <p:cNvPr id="3" name="Marcador de contenido 2">
                <a:extLst>
                  <a:ext uri="{FF2B5EF4-FFF2-40B4-BE49-F238E27FC236}">
                    <a16:creationId xmlns:a16="http://schemas.microsoft.com/office/drawing/2014/main" id="{87BFBAD5-AE6B-C271-3D29-5B65A4CAE411}"/>
                  </a:ext>
                </a:extLst>
              </p:cNvPr>
              <p:cNvSpPr>
                <a:spLocks noGrp="1" noRot="1" noChangeAspect="1" noMove="1" noResize="1" noEditPoints="1" noAdjustHandles="1" noChangeArrowheads="1" noChangeShapeType="1" noTextEdit="1"/>
              </p:cNvSpPr>
              <p:nvPr>
                <p:ph idx="1"/>
              </p:nvPr>
            </p:nvSpPr>
            <p:spPr>
              <a:blipFill>
                <a:blip r:embed="rId2"/>
                <a:stretch>
                  <a:fillRect l="-1217" t="-3081"/>
                </a:stretch>
              </a:blipFill>
            </p:spPr>
            <p:txBody>
              <a:bodyPr/>
              <a:lstStyle/>
              <a:p>
                <a:r>
                  <a:rPr lang="es-ES">
                    <a:noFill/>
                  </a:rPr>
                  <a:t> </a:t>
                </a:r>
              </a:p>
            </p:txBody>
          </p:sp>
        </mc:Fallback>
      </mc:AlternateContent>
    </p:spTree>
    <p:extLst>
      <p:ext uri="{BB962C8B-B14F-4D97-AF65-F5344CB8AC3E}">
        <p14:creationId xmlns:p14="http://schemas.microsoft.com/office/powerpoint/2010/main" val="29634396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364475-1D7A-6D20-51EC-EE155D944FA1}"/>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7BFBAD5-AE6B-C271-3D29-5B65A4CAE411}"/>
                  </a:ext>
                </a:extLst>
              </p:cNvPr>
              <p:cNvSpPr>
                <a:spLocks noGrp="1"/>
              </p:cNvSpPr>
              <p:nvPr>
                <p:ph idx="1"/>
              </p:nvPr>
            </p:nvSpPr>
            <p:spPr/>
            <p:txBody>
              <a:bodyPr>
                <a:normAutofit/>
              </a:bodyPr>
              <a:lstStyle/>
              <a:p>
                <a:pPr marL="0" indent="0">
                  <a:buNone/>
                </a:pPr>
                <a:r>
                  <a:rPr lang="es-AR" dirty="0"/>
                  <a:t>ESLABONAMIENTO DE LAS RAZONES – ECUACIÓN DE DuPont </a:t>
                </a:r>
              </a:p>
              <a:p>
                <a:r>
                  <a:rPr lang="es-ES" sz="2000" dirty="0"/>
                  <a:t>Ver cómo las razones analizadas operan en común para alcanzar el ROE</a:t>
                </a:r>
              </a:p>
              <a:p>
                <a:pPr marL="0" indent="0">
                  <a:buNone/>
                </a:pPr>
                <a:endParaRPr lang="es-AR"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𝑅𝑂𝐸</m:t>
                      </m:r>
                      <m:r>
                        <a:rPr lang="es-AR" sz="2000" b="0" i="1" smtClean="0">
                          <a:latin typeface="Cambria Math" panose="02040503050406030204" pitchFamily="18" charset="0"/>
                        </a:rPr>
                        <m:t>=</m:t>
                      </m:r>
                      <m:f>
                        <m:fPr>
                          <m:ctrlPr>
                            <a:rPr lang="es-AR" sz="2000" b="0" i="1" smtClean="0">
                              <a:latin typeface="Cambria Math" panose="02040503050406030204" pitchFamily="18" charset="0"/>
                            </a:rPr>
                          </m:ctrlPr>
                        </m:fPr>
                        <m:num>
                          <m:r>
                            <a:rPr lang="es-AR" sz="2000" b="0" i="1" smtClean="0">
                              <a:latin typeface="Cambria Math" panose="02040503050406030204" pitchFamily="18" charset="0"/>
                            </a:rPr>
                            <m:t>117,5</m:t>
                          </m:r>
                        </m:num>
                        <m:den>
                          <m:r>
                            <a:rPr lang="es-AR" sz="2000" b="0" i="1" smtClean="0">
                              <a:latin typeface="Cambria Math" panose="02040503050406030204" pitchFamily="18" charset="0"/>
                            </a:rPr>
                            <m:t>3.000</m:t>
                          </m:r>
                        </m:den>
                      </m:f>
                      <m:r>
                        <a:rPr lang="es-AR" sz="2000" b="0" i="1" smtClean="0">
                          <a:latin typeface="Cambria Math" panose="02040503050406030204" pitchFamily="18" charset="0"/>
                        </a:rPr>
                        <m:t>∗</m:t>
                      </m:r>
                      <m:f>
                        <m:fPr>
                          <m:ctrlPr>
                            <a:rPr lang="es-AR" sz="2000" b="0" i="1" smtClean="0">
                              <a:latin typeface="Cambria Math" panose="02040503050406030204" pitchFamily="18" charset="0"/>
                            </a:rPr>
                          </m:ctrlPr>
                        </m:fPr>
                        <m:num>
                          <m:r>
                            <a:rPr lang="es-AR" sz="2000" b="0" i="1" smtClean="0">
                              <a:latin typeface="Cambria Math" panose="02040503050406030204" pitchFamily="18" charset="0"/>
                            </a:rPr>
                            <m:t>3.000</m:t>
                          </m:r>
                        </m:num>
                        <m:den>
                          <m:r>
                            <a:rPr lang="es-AR" sz="2000" b="0" i="1" smtClean="0">
                              <a:latin typeface="Cambria Math" panose="02040503050406030204" pitchFamily="18" charset="0"/>
                            </a:rPr>
                            <m:t>2.000</m:t>
                          </m:r>
                        </m:den>
                      </m:f>
                      <m:r>
                        <a:rPr lang="es-AR" sz="2000" i="1">
                          <a:latin typeface="Cambria Math" panose="02040503050406030204" pitchFamily="18" charset="0"/>
                        </a:rPr>
                        <m:t>∗</m:t>
                      </m:r>
                      <m:f>
                        <m:fPr>
                          <m:ctrlPr>
                            <a:rPr lang="es-AR" sz="2000" i="1">
                              <a:latin typeface="Cambria Math" panose="02040503050406030204" pitchFamily="18" charset="0"/>
                            </a:rPr>
                          </m:ctrlPr>
                        </m:fPr>
                        <m:num>
                          <m:r>
                            <a:rPr lang="es-AR" sz="2000" b="0" i="1" smtClean="0">
                              <a:latin typeface="Cambria Math" panose="02040503050406030204" pitchFamily="18" charset="0"/>
                            </a:rPr>
                            <m:t>2.000</m:t>
                          </m:r>
                        </m:num>
                        <m:den>
                          <m:r>
                            <a:rPr lang="es-AR" sz="2000" b="0" i="1" smtClean="0">
                              <a:latin typeface="Cambria Math" panose="02040503050406030204" pitchFamily="18" charset="0"/>
                            </a:rPr>
                            <m:t>940</m:t>
                          </m:r>
                        </m:den>
                      </m:f>
                    </m:oMath>
                  </m:oMathPara>
                </a14:m>
                <a:endParaRPr lang="es-ES" sz="2000" dirty="0"/>
              </a:p>
              <a:p>
                <a:pPr marL="0" indent="0">
                  <a:buNone/>
                </a:pPr>
                <a:r>
                  <a:rPr lang="es-ES" sz="2000" dirty="0"/>
                  <a:t>		        </a:t>
                </a:r>
              </a:p>
              <a:p>
                <a:pPr marL="0" indent="0">
                  <a:buNone/>
                </a:pPr>
                <a:r>
                  <a:rPr lang="es-ES" sz="2000" dirty="0"/>
                  <a:t>		          ROE </a:t>
                </a:r>
                <a:r>
                  <a:rPr lang="es-ES" sz="2000" dirty="0" err="1"/>
                  <a:t>Allied</a:t>
                </a:r>
                <a:r>
                  <a:rPr lang="es-ES" sz="2000" dirty="0"/>
                  <a:t> = 3,92% * 1,5 veces * 2,13 veces = 12,5%</a:t>
                </a:r>
              </a:p>
              <a:p>
                <a:pPr marL="0" indent="0">
                  <a:buNone/>
                </a:pPr>
                <a:r>
                  <a:rPr lang="es-ES" sz="2000" dirty="0"/>
                  <a:t>		          ROE Industrial = 5,00% * 1,8 veces * 1,67 veces = 15,0%</a:t>
                </a:r>
              </a:p>
              <a:p>
                <a:pPr marL="0" indent="0">
                  <a:buNone/>
                </a:pPr>
                <a:endParaRPr lang="es-ES" sz="2000" dirty="0"/>
              </a:p>
            </p:txBody>
          </p:sp>
        </mc:Choice>
        <mc:Fallback xmlns="">
          <p:sp>
            <p:nvSpPr>
              <p:cNvPr id="3" name="Marcador de contenido 2">
                <a:extLst>
                  <a:ext uri="{FF2B5EF4-FFF2-40B4-BE49-F238E27FC236}">
                    <a16:creationId xmlns:a16="http://schemas.microsoft.com/office/drawing/2014/main" id="{87BFBAD5-AE6B-C271-3D29-5B65A4CAE411}"/>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s-ES">
                    <a:noFill/>
                  </a:rPr>
                  <a:t> </a:t>
                </a:r>
              </a:p>
            </p:txBody>
          </p:sp>
        </mc:Fallback>
      </mc:AlternateContent>
    </p:spTree>
    <p:extLst>
      <p:ext uri="{BB962C8B-B14F-4D97-AF65-F5344CB8AC3E}">
        <p14:creationId xmlns:p14="http://schemas.microsoft.com/office/powerpoint/2010/main" val="36921547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364475-1D7A-6D20-51EC-EE155D944FA1}"/>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7BFBAD5-AE6B-C271-3D29-5B65A4CAE411}"/>
                  </a:ext>
                </a:extLst>
              </p:cNvPr>
              <p:cNvSpPr>
                <a:spLocks noGrp="1"/>
              </p:cNvSpPr>
              <p:nvPr>
                <p:ph idx="1"/>
              </p:nvPr>
            </p:nvSpPr>
            <p:spPr/>
            <p:txBody>
              <a:bodyPr>
                <a:normAutofit fontScale="92500" lnSpcReduction="10000"/>
              </a:bodyPr>
              <a:lstStyle/>
              <a:p>
                <a:pPr marL="0" indent="0">
                  <a:buNone/>
                </a:pPr>
                <a:r>
                  <a:rPr lang="es-AR" dirty="0"/>
                  <a:t>ESLABONAMIENTO DE LAS RAZONES – ECUACIÓN DE DuPont </a:t>
                </a:r>
              </a:p>
              <a:p>
                <a:pPr marL="0" indent="0">
                  <a:buNone/>
                </a:pPr>
                <a:endParaRPr lang="es-AR"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AR" sz="2200" b="0" i="1" smtClean="0">
                          <a:latin typeface="Cambria Math" panose="02040503050406030204" pitchFamily="18" charset="0"/>
                        </a:rPr>
                        <m:t>𝑅𝑂𝐸</m:t>
                      </m:r>
                      <m:r>
                        <a:rPr lang="es-AR" sz="2200" b="0" i="1" smtClean="0">
                          <a:latin typeface="Cambria Math" panose="02040503050406030204" pitchFamily="18" charset="0"/>
                        </a:rPr>
                        <m:t>=</m:t>
                      </m:r>
                      <m:r>
                        <a:rPr lang="es-AR" sz="2200" b="0" i="1" smtClean="0">
                          <a:latin typeface="Cambria Math" panose="02040503050406030204" pitchFamily="18" charset="0"/>
                        </a:rPr>
                        <m:t>𝑚𝑎𝑟𝑔𝑒𝑛</m:t>
                      </m:r>
                      <m:r>
                        <a:rPr lang="es-AR" sz="2200" b="0" i="1" smtClean="0">
                          <a:latin typeface="Cambria Math" panose="02040503050406030204" pitchFamily="18" charset="0"/>
                        </a:rPr>
                        <m:t> </m:t>
                      </m:r>
                      <m:r>
                        <a:rPr lang="es-AR" sz="2200" b="0" i="1" smtClean="0">
                          <a:latin typeface="Cambria Math" panose="02040503050406030204" pitchFamily="18" charset="0"/>
                        </a:rPr>
                        <m:t>𝑑𝑒</m:t>
                      </m:r>
                      <m:r>
                        <a:rPr lang="es-AR" sz="2200" b="0" i="1" smtClean="0">
                          <a:latin typeface="Cambria Math" panose="02040503050406030204" pitchFamily="18" charset="0"/>
                        </a:rPr>
                        <m:t> </m:t>
                      </m:r>
                      <m:r>
                        <a:rPr lang="es-AR" sz="2200" b="0" i="1" smtClean="0">
                          <a:latin typeface="Cambria Math" panose="02040503050406030204" pitchFamily="18" charset="0"/>
                        </a:rPr>
                        <m:t>𝑢𝑡𝑖𝑙𝑖𝑑𝑎𝑑</m:t>
                      </m:r>
                      <m:r>
                        <a:rPr lang="es-AR" sz="2200" b="0" i="1" smtClean="0">
                          <a:latin typeface="Cambria Math" panose="02040503050406030204" pitchFamily="18" charset="0"/>
                        </a:rPr>
                        <m:t> ∗</m:t>
                      </m:r>
                      <m:r>
                        <a:rPr lang="es-AR" sz="2200" b="0" i="1" smtClean="0">
                          <a:latin typeface="Cambria Math" panose="02040503050406030204" pitchFamily="18" charset="0"/>
                        </a:rPr>
                        <m:t>𝑟𝑜𝑡𝑎𝑐𝑖</m:t>
                      </m:r>
                      <m:r>
                        <a:rPr lang="es-AR" sz="2200" b="0" i="1" smtClean="0">
                          <a:latin typeface="Cambria Math" panose="02040503050406030204" pitchFamily="18" charset="0"/>
                        </a:rPr>
                        <m:t>ó</m:t>
                      </m:r>
                      <m:r>
                        <a:rPr lang="es-AR" sz="2200" b="0" i="1" smtClean="0">
                          <a:latin typeface="Cambria Math" panose="02040503050406030204" pitchFamily="18" charset="0"/>
                        </a:rPr>
                        <m:t>𝑛</m:t>
                      </m:r>
                      <m:r>
                        <a:rPr lang="es-AR" sz="2200" b="0" i="1" smtClean="0">
                          <a:latin typeface="Cambria Math" panose="02040503050406030204" pitchFamily="18" charset="0"/>
                        </a:rPr>
                        <m:t> </m:t>
                      </m:r>
                      <m:r>
                        <a:rPr lang="es-AR" sz="2200" b="0" i="1" smtClean="0">
                          <a:latin typeface="Cambria Math" panose="02040503050406030204" pitchFamily="18" charset="0"/>
                        </a:rPr>
                        <m:t>𝑑𝑒𝑙</m:t>
                      </m:r>
                      <m:r>
                        <a:rPr lang="es-AR" sz="2200" b="0" i="1" smtClean="0">
                          <a:latin typeface="Cambria Math" panose="02040503050406030204" pitchFamily="18" charset="0"/>
                        </a:rPr>
                        <m:t> </m:t>
                      </m:r>
                      <m:r>
                        <a:rPr lang="es-AR" sz="2200" b="0" i="1" smtClean="0">
                          <a:latin typeface="Cambria Math" panose="02040503050406030204" pitchFamily="18" charset="0"/>
                        </a:rPr>
                        <m:t>𝑎𝑐𝑡𝑖𝑣𝑜</m:t>
                      </m:r>
                      <m:r>
                        <a:rPr lang="es-AR" sz="2200" b="0" i="1" smtClean="0">
                          <a:latin typeface="Cambria Math" panose="02040503050406030204" pitchFamily="18" charset="0"/>
                        </a:rPr>
                        <m:t> ∗</m:t>
                      </m:r>
                      <m:r>
                        <a:rPr lang="es-AR" sz="2200" b="0" i="1" smtClean="0">
                          <a:latin typeface="Cambria Math" panose="02040503050406030204" pitchFamily="18" charset="0"/>
                        </a:rPr>
                        <m:t>𝑀𝑢𝑙𝑡𝑖𝑝𝑙𝑖𝑐𝑎𝑑𝑜𝑟</m:t>
                      </m:r>
                      <m:r>
                        <a:rPr lang="es-AR" sz="2200" b="0" i="1" smtClean="0">
                          <a:latin typeface="Cambria Math" panose="02040503050406030204" pitchFamily="18" charset="0"/>
                        </a:rPr>
                        <m:t> </m:t>
                      </m:r>
                      <m:r>
                        <a:rPr lang="es-AR" sz="2200" b="0" i="1" smtClean="0">
                          <a:latin typeface="Cambria Math" panose="02040503050406030204" pitchFamily="18" charset="0"/>
                        </a:rPr>
                        <m:t>𝑑𝑒𝑙</m:t>
                      </m:r>
                      <m:r>
                        <a:rPr lang="es-AR" sz="2200" b="0" i="1" smtClean="0">
                          <a:latin typeface="Cambria Math" panose="02040503050406030204" pitchFamily="18" charset="0"/>
                        </a:rPr>
                        <m:t> </m:t>
                      </m:r>
                      <m:r>
                        <a:rPr lang="es-AR" sz="2200" b="0" i="1" smtClean="0">
                          <a:latin typeface="Cambria Math" panose="02040503050406030204" pitchFamily="18" charset="0"/>
                        </a:rPr>
                        <m:t>𝐶𝑎𝑝𝑖𝑡𝑎𝑙</m:t>
                      </m:r>
                    </m:oMath>
                  </m:oMathPara>
                </a14:m>
                <a:endParaRPr lang="es-ES" sz="2200" dirty="0"/>
              </a:p>
              <a:p>
                <a:pPr marL="0" indent="0">
                  <a:buNone/>
                </a:pPr>
                <a:endParaRPr lang="es-AR"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𝑅𝑂𝐸</m:t>
                      </m:r>
                      <m:r>
                        <a:rPr lang="es-AR" sz="2000" b="0" i="1" smtClean="0">
                          <a:latin typeface="Cambria Math" panose="02040503050406030204" pitchFamily="18" charset="0"/>
                        </a:rPr>
                        <m:t>=</m:t>
                      </m:r>
                      <m:f>
                        <m:fPr>
                          <m:ctrlPr>
                            <a:rPr lang="es-AR" sz="2000" b="0" i="1" smtClean="0">
                              <a:latin typeface="Cambria Math" panose="02040503050406030204" pitchFamily="18" charset="0"/>
                            </a:rPr>
                          </m:ctrlPr>
                        </m:fPr>
                        <m:num>
                          <m:r>
                            <a:rPr lang="es-AR" sz="2000" b="0" i="1" smtClean="0">
                              <a:latin typeface="Cambria Math" panose="02040503050406030204" pitchFamily="18" charset="0"/>
                            </a:rPr>
                            <m:t>𝐼𝑁</m:t>
                          </m:r>
                        </m:num>
                        <m:den>
                          <m:r>
                            <a:rPr lang="es-AR" sz="2000" b="0" i="1" smtClean="0">
                              <a:latin typeface="Cambria Math" panose="02040503050406030204" pitchFamily="18" charset="0"/>
                            </a:rPr>
                            <m:t>𝑣𝑒𝑛𝑡𝑎𝑠</m:t>
                          </m:r>
                        </m:den>
                      </m:f>
                      <m:r>
                        <a:rPr lang="es-AR" sz="2000" b="0" i="1" smtClean="0">
                          <a:latin typeface="Cambria Math" panose="02040503050406030204" pitchFamily="18" charset="0"/>
                        </a:rPr>
                        <m:t>∗</m:t>
                      </m:r>
                      <m:f>
                        <m:fPr>
                          <m:ctrlPr>
                            <a:rPr lang="es-AR" sz="2000" b="0" i="1" smtClean="0">
                              <a:latin typeface="Cambria Math" panose="02040503050406030204" pitchFamily="18" charset="0"/>
                            </a:rPr>
                          </m:ctrlPr>
                        </m:fPr>
                        <m:num>
                          <m:r>
                            <a:rPr lang="es-AR" sz="2000" b="0" i="1" smtClean="0">
                              <a:latin typeface="Cambria Math" panose="02040503050406030204" pitchFamily="18" charset="0"/>
                            </a:rPr>
                            <m:t>𝑣𝑒𝑛𝑡𝑎𝑠</m:t>
                          </m:r>
                        </m:num>
                        <m:den>
                          <m:r>
                            <a:rPr lang="es-AR" sz="2000" b="0" i="1" smtClean="0">
                              <a:latin typeface="Cambria Math" panose="02040503050406030204" pitchFamily="18" charset="0"/>
                            </a:rPr>
                            <m:t>𝑎𝑐𝑡𝑖𝑣𝑜</m:t>
                          </m:r>
                          <m:r>
                            <a:rPr lang="es-AR" sz="2000" b="0" i="1" smtClean="0">
                              <a:latin typeface="Cambria Math" panose="02040503050406030204" pitchFamily="18" charset="0"/>
                            </a:rPr>
                            <m:t> </m:t>
                          </m:r>
                          <m:r>
                            <a:rPr lang="es-AR" sz="2000" b="0" i="1" smtClean="0">
                              <a:latin typeface="Cambria Math" panose="02040503050406030204" pitchFamily="18" charset="0"/>
                            </a:rPr>
                            <m:t>𝑐𝑜𝑛𝑡𝑎𝑏𝑙𝑒</m:t>
                          </m:r>
                        </m:den>
                      </m:f>
                      <m:r>
                        <a:rPr lang="es-AR" sz="2000" i="1">
                          <a:latin typeface="Cambria Math" panose="02040503050406030204" pitchFamily="18" charset="0"/>
                        </a:rPr>
                        <m:t>∗</m:t>
                      </m:r>
                      <m:f>
                        <m:fPr>
                          <m:ctrlPr>
                            <a:rPr lang="es-AR" sz="2000" i="1">
                              <a:latin typeface="Cambria Math" panose="02040503050406030204" pitchFamily="18" charset="0"/>
                            </a:rPr>
                          </m:ctrlPr>
                        </m:fPr>
                        <m:num>
                          <m:r>
                            <a:rPr lang="es-AR" sz="2000" b="0" i="1" smtClean="0">
                              <a:latin typeface="Cambria Math" panose="02040503050406030204" pitchFamily="18" charset="0"/>
                            </a:rPr>
                            <m:t>𝑎𝑐𝑡𝑖𝑣𝑜</m:t>
                          </m:r>
                          <m:r>
                            <a:rPr lang="es-AR" sz="2000" b="0" i="1" smtClean="0">
                              <a:latin typeface="Cambria Math" panose="02040503050406030204" pitchFamily="18" charset="0"/>
                            </a:rPr>
                            <m:t> </m:t>
                          </m:r>
                          <m:r>
                            <a:rPr lang="es-AR" sz="2000" b="0" i="1" smtClean="0">
                              <a:latin typeface="Cambria Math" panose="02040503050406030204" pitchFamily="18" charset="0"/>
                            </a:rPr>
                            <m:t>𝑐𝑜𝑛𝑡𝑎𝑏𝑙𝑒</m:t>
                          </m:r>
                        </m:num>
                        <m:den>
                          <m:r>
                            <a:rPr lang="es-AR" sz="2000" b="0" i="1" smtClean="0">
                              <a:latin typeface="Cambria Math" panose="02040503050406030204" pitchFamily="18" charset="0"/>
                            </a:rPr>
                            <m:t>𝑐𝑎𝑝𝑖𝑡𝑎𝑙</m:t>
                          </m:r>
                          <m:r>
                            <a:rPr lang="es-AR" sz="2000" b="0" i="1" smtClean="0">
                              <a:latin typeface="Cambria Math" panose="02040503050406030204" pitchFamily="18" charset="0"/>
                            </a:rPr>
                            <m:t> </m:t>
                          </m:r>
                          <m:r>
                            <a:rPr lang="es-AR" sz="2000" b="0" i="1" smtClean="0">
                              <a:latin typeface="Cambria Math" panose="02040503050406030204" pitchFamily="18" charset="0"/>
                            </a:rPr>
                            <m:t>𝑐𝑜𝑚</m:t>
                          </m:r>
                          <m:r>
                            <a:rPr lang="es-AR" sz="2000" b="0" i="1" smtClean="0">
                              <a:latin typeface="Cambria Math" panose="02040503050406030204" pitchFamily="18" charset="0"/>
                            </a:rPr>
                            <m:t>ú</m:t>
                          </m:r>
                          <m:r>
                            <a:rPr lang="es-AR" sz="2000" b="0" i="1" smtClean="0">
                              <a:latin typeface="Cambria Math" panose="02040503050406030204" pitchFamily="18" charset="0"/>
                            </a:rPr>
                            <m:t>𝑛</m:t>
                          </m:r>
                        </m:den>
                      </m:f>
                    </m:oMath>
                  </m:oMathPara>
                </a14:m>
                <a:endParaRPr lang="es-ES" sz="2000" dirty="0"/>
              </a:p>
              <a:p>
                <a:pPr marL="0" indent="0">
                  <a:buNone/>
                </a:pPr>
                <a:endParaRPr lang="es-ES" sz="2000" dirty="0"/>
              </a:p>
              <a:p>
                <a:r>
                  <a:rPr lang="es-ES" sz="2000" dirty="0"/>
                  <a:t>El margen de utilidad mejora si subimos el precio o bajamos los costos, incluidos los intereses</a:t>
                </a:r>
              </a:p>
              <a:p>
                <a:r>
                  <a:rPr lang="es-ES" sz="2000" dirty="0"/>
                  <a:t>La rotación del activo contable es un multiplicador que nos dice cuántas veces en el año se ganó el margen de utilidad. </a:t>
                </a:r>
                <a:r>
                  <a:rPr lang="es-ES" sz="2000" dirty="0" err="1"/>
                  <a:t>Allied</a:t>
                </a:r>
                <a:r>
                  <a:rPr lang="es-ES" sz="2000" dirty="0"/>
                  <a:t> ganó 3,92% de cada dólar de ventas y su activo rotó 1,5 veces, con lo que </a:t>
                </a:r>
                <a:r>
                  <a:rPr lang="es-ES" sz="2000" dirty="0" err="1"/>
                  <a:t>Allied</a:t>
                </a:r>
                <a:r>
                  <a:rPr lang="es-ES" sz="2000" dirty="0"/>
                  <a:t> ganó 5,9% de </a:t>
                </a:r>
                <a:r>
                  <a:rPr lang="es-ES" sz="2000" b="1" dirty="0"/>
                  <a:t>su activo</a:t>
                </a:r>
                <a:r>
                  <a:rPr lang="es-ES" sz="2000" dirty="0"/>
                  <a:t>. Pertenece a los accionistas en su totalidad, los intereses ya fueron neteados en el ingreso</a:t>
                </a:r>
              </a:p>
              <a:p>
                <a:r>
                  <a:rPr lang="es-ES" sz="2000" dirty="0"/>
                  <a:t>Como la rentabilidad fue calculada </a:t>
                </a:r>
                <a:r>
                  <a:rPr lang="es-ES" sz="2000" b="1" dirty="0"/>
                  <a:t>sobre el activo</a:t>
                </a:r>
                <a:r>
                  <a:rPr lang="es-ES" sz="2000" dirty="0"/>
                  <a:t>, debemos introducir el multiplicador del capital (2,13 para </a:t>
                </a:r>
                <a:r>
                  <a:rPr lang="es-ES" sz="2000" dirty="0" err="1"/>
                  <a:t>Allied</a:t>
                </a:r>
                <a:r>
                  <a:rPr lang="es-ES" sz="2000" dirty="0"/>
                  <a:t>) para llevarla a términos del capital propio y obtener así el ROE del 12,5%</a:t>
                </a:r>
              </a:p>
            </p:txBody>
          </p:sp>
        </mc:Choice>
        <mc:Fallback xmlns="">
          <p:sp>
            <p:nvSpPr>
              <p:cNvPr id="3" name="Marcador de contenido 2">
                <a:extLst>
                  <a:ext uri="{FF2B5EF4-FFF2-40B4-BE49-F238E27FC236}">
                    <a16:creationId xmlns:a16="http://schemas.microsoft.com/office/drawing/2014/main" id="{87BFBAD5-AE6B-C271-3D29-5B65A4CAE411}"/>
                  </a:ext>
                </a:extLst>
              </p:cNvPr>
              <p:cNvSpPr>
                <a:spLocks noGrp="1" noRot="1" noChangeAspect="1" noMove="1" noResize="1" noEditPoints="1" noAdjustHandles="1" noChangeArrowheads="1" noChangeShapeType="1" noTextEdit="1"/>
              </p:cNvSpPr>
              <p:nvPr>
                <p:ph idx="1"/>
              </p:nvPr>
            </p:nvSpPr>
            <p:spPr>
              <a:blipFill>
                <a:blip r:embed="rId2"/>
                <a:stretch>
                  <a:fillRect l="-1043" t="-2801" b="-1401"/>
                </a:stretch>
              </a:blipFill>
            </p:spPr>
            <p:txBody>
              <a:bodyPr/>
              <a:lstStyle/>
              <a:p>
                <a:r>
                  <a:rPr lang="es-ES">
                    <a:noFill/>
                  </a:rPr>
                  <a:t> </a:t>
                </a:r>
              </a:p>
            </p:txBody>
          </p:sp>
        </mc:Fallback>
      </mc:AlternateContent>
    </p:spTree>
    <p:extLst>
      <p:ext uri="{BB962C8B-B14F-4D97-AF65-F5344CB8AC3E}">
        <p14:creationId xmlns:p14="http://schemas.microsoft.com/office/powerpoint/2010/main" val="36132417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364475-1D7A-6D20-51EC-EE155D944FA1}"/>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7BFBAD5-AE6B-C271-3D29-5B65A4CAE411}"/>
                  </a:ext>
                </a:extLst>
              </p:cNvPr>
              <p:cNvSpPr>
                <a:spLocks noGrp="1"/>
              </p:cNvSpPr>
              <p:nvPr>
                <p:ph idx="1"/>
              </p:nvPr>
            </p:nvSpPr>
            <p:spPr/>
            <p:txBody>
              <a:bodyPr>
                <a:normAutofit lnSpcReduction="10000"/>
              </a:bodyPr>
              <a:lstStyle/>
              <a:p>
                <a:pPr marL="0" indent="0">
                  <a:buNone/>
                </a:pPr>
                <a:r>
                  <a:rPr lang="es-AR" dirty="0"/>
                  <a:t>ESLABONAMIENTO DE LAS RAZONES – ECUACIÓN DE DuPont </a:t>
                </a:r>
              </a:p>
              <a:p>
                <a:pPr marL="0" indent="0">
                  <a:buNone/>
                </a:pPr>
                <a:endParaRPr lang="es-AR"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𝑅𝑂𝐸</m:t>
                      </m:r>
                      <m:r>
                        <a:rPr lang="es-AR" sz="2000" b="0" i="1" smtClean="0">
                          <a:latin typeface="Cambria Math" panose="02040503050406030204" pitchFamily="18" charset="0"/>
                        </a:rPr>
                        <m:t>=</m:t>
                      </m:r>
                      <m:f>
                        <m:fPr>
                          <m:ctrlPr>
                            <a:rPr lang="es-AR" sz="2000" b="0" i="1" smtClean="0">
                              <a:latin typeface="Cambria Math" panose="02040503050406030204" pitchFamily="18" charset="0"/>
                            </a:rPr>
                          </m:ctrlPr>
                        </m:fPr>
                        <m:num>
                          <m:r>
                            <a:rPr lang="es-AR" sz="2000" b="0" i="1" smtClean="0">
                              <a:latin typeface="Cambria Math" panose="02040503050406030204" pitchFamily="18" charset="0"/>
                            </a:rPr>
                            <m:t>𝑁𝐼</m:t>
                          </m:r>
                        </m:num>
                        <m:den>
                          <m:r>
                            <a:rPr lang="es-AR" sz="2000" b="0" i="1" smtClean="0">
                              <a:latin typeface="Cambria Math" panose="02040503050406030204" pitchFamily="18" charset="0"/>
                            </a:rPr>
                            <m:t>𝑣𝑒𝑛𝑡𝑎𝑠</m:t>
                          </m:r>
                        </m:den>
                      </m:f>
                      <m:r>
                        <a:rPr lang="es-AR" sz="2000" b="0" i="1" smtClean="0">
                          <a:latin typeface="Cambria Math" panose="02040503050406030204" pitchFamily="18" charset="0"/>
                        </a:rPr>
                        <m:t>∗</m:t>
                      </m:r>
                      <m:f>
                        <m:fPr>
                          <m:ctrlPr>
                            <a:rPr lang="es-AR" sz="2000" b="0" i="1" smtClean="0">
                              <a:latin typeface="Cambria Math" panose="02040503050406030204" pitchFamily="18" charset="0"/>
                            </a:rPr>
                          </m:ctrlPr>
                        </m:fPr>
                        <m:num>
                          <m:r>
                            <a:rPr lang="es-AR" sz="2000" b="0" i="1" smtClean="0">
                              <a:latin typeface="Cambria Math" panose="02040503050406030204" pitchFamily="18" charset="0"/>
                            </a:rPr>
                            <m:t>𝑣𝑒𝑛𝑡𝑎𝑠</m:t>
                          </m:r>
                        </m:num>
                        <m:den>
                          <m:r>
                            <a:rPr lang="es-AR" sz="2000" b="0" i="1" smtClean="0">
                              <a:latin typeface="Cambria Math" panose="02040503050406030204" pitchFamily="18" charset="0"/>
                            </a:rPr>
                            <m:t>𝑎𝑐𝑡𝑖𝑣𝑜</m:t>
                          </m:r>
                          <m:r>
                            <a:rPr lang="es-AR" sz="2000" b="0" i="1" smtClean="0">
                              <a:latin typeface="Cambria Math" panose="02040503050406030204" pitchFamily="18" charset="0"/>
                            </a:rPr>
                            <m:t> </m:t>
                          </m:r>
                          <m:r>
                            <a:rPr lang="es-AR" sz="2000" b="0" i="1" smtClean="0">
                              <a:latin typeface="Cambria Math" panose="02040503050406030204" pitchFamily="18" charset="0"/>
                            </a:rPr>
                            <m:t>𝑐𝑜𝑛𝑡𝑎𝑏𝑙𝑒</m:t>
                          </m:r>
                        </m:den>
                      </m:f>
                      <m:r>
                        <a:rPr lang="es-AR" sz="2000" i="1">
                          <a:latin typeface="Cambria Math" panose="02040503050406030204" pitchFamily="18" charset="0"/>
                        </a:rPr>
                        <m:t>∗</m:t>
                      </m:r>
                      <m:f>
                        <m:fPr>
                          <m:ctrlPr>
                            <a:rPr lang="es-AR" sz="2000" i="1">
                              <a:latin typeface="Cambria Math" panose="02040503050406030204" pitchFamily="18" charset="0"/>
                            </a:rPr>
                          </m:ctrlPr>
                        </m:fPr>
                        <m:num>
                          <m:r>
                            <a:rPr lang="es-AR" sz="2000" b="0" i="1" smtClean="0">
                              <a:latin typeface="Cambria Math" panose="02040503050406030204" pitchFamily="18" charset="0"/>
                            </a:rPr>
                            <m:t>𝑎𝑐𝑡𝑖𝑣𝑜</m:t>
                          </m:r>
                          <m:r>
                            <a:rPr lang="es-AR" sz="2000" b="0" i="1" smtClean="0">
                              <a:latin typeface="Cambria Math" panose="02040503050406030204" pitchFamily="18" charset="0"/>
                            </a:rPr>
                            <m:t> </m:t>
                          </m:r>
                          <m:r>
                            <a:rPr lang="es-AR" sz="2000" b="0" i="1" smtClean="0">
                              <a:latin typeface="Cambria Math" panose="02040503050406030204" pitchFamily="18" charset="0"/>
                            </a:rPr>
                            <m:t>𝑐𝑜𝑛𝑡𝑎𝑏𝑙𝑒</m:t>
                          </m:r>
                        </m:num>
                        <m:den>
                          <m:r>
                            <a:rPr lang="es-AR" sz="2000" b="0" i="1" smtClean="0">
                              <a:latin typeface="Cambria Math" panose="02040503050406030204" pitchFamily="18" charset="0"/>
                            </a:rPr>
                            <m:t>𝑐𝑎𝑝𝑖𝑡𝑎𝑙</m:t>
                          </m:r>
                          <m:r>
                            <a:rPr lang="es-AR" sz="2000" b="0" i="1" smtClean="0">
                              <a:latin typeface="Cambria Math" panose="02040503050406030204" pitchFamily="18" charset="0"/>
                            </a:rPr>
                            <m:t> </m:t>
                          </m:r>
                          <m:r>
                            <a:rPr lang="es-AR" sz="2000" b="0" i="1" smtClean="0">
                              <a:latin typeface="Cambria Math" panose="02040503050406030204" pitchFamily="18" charset="0"/>
                            </a:rPr>
                            <m:t>𝑐𝑜𝑚</m:t>
                          </m:r>
                          <m:r>
                            <a:rPr lang="es-AR" sz="2000" b="0" i="1" smtClean="0">
                              <a:latin typeface="Cambria Math" panose="02040503050406030204" pitchFamily="18" charset="0"/>
                            </a:rPr>
                            <m:t>ú</m:t>
                          </m:r>
                          <m:r>
                            <a:rPr lang="es-AR" sz="2000" b="0" i="1" smtClean="0">
                              <a:latin typeface="Cambria Math" panose="02040503050406030204" pitchFamily="18" charset="0"/>
                            </a:rPr>
                            <m:t>𝑛</m:t>
                          </m:r>
                        </m:den>
                      </m:f>
                    </m:oMath>
                  </m:oMathPara>
                </a14:m>
                <a:endParaRPr lang="es-ES" sz="2000" dirty="0"/>
              </a:p>
              <a:p>
                <a:endParaRPr lang="es-ES" sz="2000" dirty="0"/>
              </a:p>
              <a:p>
                <a:r>
                  <a:rPr lang="es-ES" sz="2000" dirty="0"/>
                  <a:t>Desglosamos el ROE para entender por qué </a:t>
                </a:r>
                <a:r>
                  <a:rPr lang="es-ES" sz="2000" dirty="0" err="1"/>
                  <a:t>Allied</a:t>
                </a:r>
                <a:r>
                  <a:rPr lang="es-ES" sz="2000" dirty="0"/>
                  <a:t> consigue sólo 12,5% cuando su sector industrial consigue 15%</a:t>
                </a:r>
              </a:p>
              <a:p>
                <a:r>
                  <a:rPr lang="es-ES" sz="2000" dirty="0"/>
                  <a:t>Lo primero que vemos es que su margen de utilidad es inferior. Precio-costo-Intereses</a:t>
                </a:r>
              </a:p>
              <a:p>
                <a:r>
                  <a:rPr lang="es-ES" sz="2000" dirty="0"/>
                  <a:t>Su rotación es inferior al promedio. Tiene más activos de lo que necesita, o no los puede aprovechar adecuadamente por su nivel de ventas</a:t>
                </a:r>
              </a:p>
              <a:p>
                <a:r>
                  <a:rPr lang="es-ES" sz="2000" dirty="0"/>
                  <a:t>Su multiplicador de capital es bastante alto, con lo que compensa los dos puntos anteriores apalancándose. Pero así se expone, en mayor medida que el promedio industrial, al riesgo de quiebra</a:t>
                </a:r>
              </a:p>
            </p:txBody>
          </p:sp>
        </mc:Choice>
        <mc:Fallback xmlns="">
          <p:sp>
            <p:nvSpPr>
              <p:cNvPr id="3" name="Marcador de contenido 2">
                <a:extLst>
                  <a:ext uri="{FF2B5EF4-FFF2-40B4-BE49-F238E27FC236}">
                    <a16:creationId xmlns:a16="http://schemas.microsoft.com/office/drawing/2014/main" id="{87BFBAD5-AE6B-C271-3D29-5B65A4CAE411}"/>
                  </a:ext>
                </a:extLst>
              </p:cNvPr>
              <p:cNvSpPr>
                <a:spLocks noGrp="1" noRot="1" noChangeAspect="1" noMove="1" noResize="1" noEditPoints="1" noAdjustHandles="1" noChangeArrowheads="1" noChangeShapeType="1" noTextEdit="1"/>
              </p:cNvSpPr>
              <p:nvPr>
                <p:ph idx="1"/>
              </p:nvPr>
            </p:nvSpPr>
            <p:spPr>
              <a:blipFill>
                <a:blip r:embed="rId2"/>
                <a:stretch>
                  <a:fillRect l="-1217" t="-3081" r="-986"/>
                </a:stretch>
              </a:blipFill>
            </p:spPr>
            <p:txBody>
              <a:bodyPr/>
              <a:lstStyle/>
              <a:p>
                <a:r>
                  <a:rPr lang="es-ES">
                    <a:noFill/>
                  </a:rPr>
                  <a:t> </a:t>
                </a:r>
              </a:p>
            </p:txBody>
          </p:sp>
        </mc:Fallback>
      </mc:AlternateContent>
    </p:spTree>
    <p:extLst>
      <p:ext uri="{BB962C8B-B14F-4D97-AF65-F5344CB8AC3E}">
        <p14:creationId xmlns:p14="http://schemas.microsoft.com/office/powerpoint/2010/main" val="2994709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364475-1D7A-6D20-51EC-EE155D944FA1}"/>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7BFBAD5-AE6B-C271-3D29-5B65A4CAE411}"/>
                  </a:ext>
                </a:extLst>
              </p:cNvPr>
              <p:cNvSpPr>
                <a:spLocks noGrp="1"/>
              </p:cNvSpPr>
              <p:nvPr>
                <p:ph idx="1"/>
              </p:nvPr>
            </p:nvSpPr>
            <p:spPr/>
            <p:txBody>
              <a:bodyPr>
                <a:normAutofit/>
              </a:bodyPr>
              <a:lstStyle/>
              <a:p>
                <a:pPr marL="0" indent="0">
                  <a:buNone/>
                </a:pPr>
                <a:r>
                  <a:rPr lang="es-AR" dirty="0"/>
                  <a:t>ESLABONAMIENTO DE LAS RAZONES – ECUACIÓN DE DuPont </a:t>
                </a:r>
              </a:p>
              <a:p>
                <a:pPr marL="0" indent="0">
                  <a:buNone/>
                </a:pPr>
                <a:endParaRPr lang="es-AR"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AR" sz="1600" b="0" i="1" smtClean="0">
                          <a:latin typeface="Cambria Math" panose="02040503050406030204" pitchFamily="18" charset="0"/>
                        </a:rPr>
                        <m:t>𝑅𝑂𝐸</m:t>
                      </m:r>
                      <m:r>
                        <a:rPr lang="es-AR" sz="1600" b="0" i="1" smtClean="0">
                          <a:latin typeface="Cambria Math" panose="02040503050406030204" pitchFamily="18" charset="0"/>
                        </a:rPr>
                        <m:t>=</m:t>
                      </m:r>
                      <m:f>
                        <m:fPr>
                          <m:ctrlPr>
                            <a:rPr lang="es-AR" sz="1600" b="0" i="1" smtClean="0">
                              <a:latin typeface="Cambria Math" panose="02040503050406030204" pitchFamily="18" charset="0"/>
                            </a:rPr>
                          </m:ctrlPr>
                        </m:fPr>
                        <m:num>
                          <m:r>
                            <a:rPr lang="es-AR" sz="1600" b="0" i="1" smtClean="0">
                              <a:latin typeface="Cambria Math" panose="02040503050406030204" pitchFamily="18" charset="0"/>
                            </a:rPr>
                            <m:t>𝑁𝐼</m:t>
                          </m:r>
                        </m:num>
                        <m:den>
                          <m:r>
                            <a:rPr lang="es-AR" sz="1600" b="0" i="1" smtClean="0">
                              <a:latin typeface="Cambria Math" panose="02040503050406030204" pitchFamily="18" charset="0"/>
                            </a:rPr>
                            <m:t>𝑣𝑒𝑛𝑡𝑎𝑠</m:t>
                          </m:r>
                        </m:den>
                      </m:f>
                      <m:r>
                        <a:rPr lang="es-AR" sz="1600" b="0" i="1" smtClean="0">
                          <a:latin typeface="Cambria Math" panose="02040503050406030204" pitchFamily="18" charset="0"/>
                        </a:rPr>
                        <m:t>∗</m:t>
                      </m:r>
                      <m:f>
                        <m:fPr>
                          <m:ctrlPr>
                            <a:rPr lang="es-AR" sz="1600" b="0" i="1" smtClean="0">
                              <a:latin typeface="Cambria Math" panose="02040503050406030204" pitchFamily="18" charset="0"/>
                            </a:rPr>
                          </m:ctrlPr>
                        </m:fPr>
                        <m:num>
                          <m:r>
                            <a:rPr lang="es-AR" sz="1600" b="0" i="1" smtClean="0">
                              <a:latin typeface="Cambria Math" panose="02040503050406030204" pitchFamily="18" charset="0"/>
                            </a:rPr>
                            <m:t>𝑣𝑒𝑛𝑡𝑎𝑠</m:t>
                          </m:r>
                        </m:num>
                        <m:den>
                          <m:r>
                            <a:rPr lang="es-AR" sz="1600" b="0" i="1" smtClean="0">
                              <a:latin typeface="Cambria Math" panose="02040503050406030204" pitchFamily="18" charset="0"/>
                            </a:rPr>
                            <m:t>𝑎𝑐𝑡𝑖𝑣𝑜</m:t>
                          </m:r>
                          <m:r>
                            <a:rPr lang="es-AR" sz="1600" b="0" i="1" smtClean="0">
                              <a:latin typeface="Cambria Math" panose="02040503050406030204" pitchFamily="18" charset="0"/>
                            </a:rPr>
                            <m:t> </m:t>
                          </m:r>
                          <m:r>
                            <a:rPr lang="es-AR" sz="1600" b="0" i="1" smtClean="0">
                              <a:latin typeface="Cambria Math" panose="02040503050406030204" pitchFamily="18" charset="0"/>
                            </a:rPr>
                            <m:t>𝑐𝑜𝑛𝑡𝑎𝑏𝑙𝑒</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b="0" i="1" smtClean="0">
                              <a:latin typeface="Cambria Math" panose="02040503050406030204" pitchFamily="18" charset="0"/>
                            </a:rPr>
                            <m:t>𝑎𝑐𝑡𝑖𝑣𝑜</m:t>
                          </m:r>
                          <m:r>
                            <a:rPr lang="es-AR" sz="1600" b="0" i="1" smtClean="0">
                              <a:latin typeface="Cambria Math" panose="02040503050406030204" pitchFamily="18" charset="0"/>
                            </a:rPr>
                            <m:t> </m:t>
                          </m:r>
                          <m:r>
                            <a:rPr lang="es-AR" sz="1600" b="0" i="1" smtClean="0">
                              <a:latin typeface="Cambria Math" panose="02040503050406030204" pitchFamily="18" charset="0"/>
                            </a:rPr>
                            <m:t>𝑐𝑜𝑛𝑡𝑎𝑏𝑙𝑒</m:t>
                          </m:r>
                        </m:num>
                        <m:den>
                          <m:r>
                            <a:rPr lang="es-AR" sz="1600" b="0" i="1" smtClean="0">
                              <a:latin typeface="Cambria Math" panose="02040503050406030204" pitchFamily="18" charset="0"/>
                            </a:rPr>
                            <m:t>𝑐𝑎𝑝𝑖𝑡𝑎𝑙</m:t>
                          </m:r>
                          <m:r>
                            <a:rPr lang="es-AR" sz="1600" b="0" i="1" smtClean="0">
                              <a:latin typeface="Cambria Math" panose="02040503050406030204" pitchFamily="18" charset="0"/>
                            </a:rPr>
                            <m:t> </m:t>
                          </m:r>
                          <m:r>
                            <a:rPr lang="es-AR" sz="1600" b="0" i="1" smtClean="0">
                              <a:latin typeface="Cambria Math" panose="02040503050406030204" pitchFamily="18" charset="0"/>
                            </a:rPr>
                            <m:t>𝑐𝑜𝑚</m:t>
                          </m:r>
                          <m:r>
                            <a:rPr lang="es-AR" sz="1600" b="0" i="1" smtClean="0">
                              <a:latin typeface="Cambria Math" panose="02040503050406030204" pitchFamily="18" charset="0"/>
                            </a:rPr>
                            <m:t>ú</m:t>
                          </m:r>
                          <m:r>
                            <a:rPr lang="es-AR" sz="1600" b="0" i="1" smtClean="0">
                              <a:latin typeface="Cambria Math" panose="02040503050406030204" pitchFamily="18" charset="0"/>
                            </a:rPr>
                            <m:t>𝑛</m:t>
                          </m:r>
                        </m:den>
                      </m:f>
                    </m:oMath>
                  </m:oMathPara>
                </a14:m>
                <a:endParaRPr lang="es-ES" sz="2000" dirty="0"/>
              </a:p>
              <a:p>
                <a:endParaRPr lang="es-ES" sz="2000" dirty="0"/>
              </a:p>
              <a:p>
                <a:r>
                  <a:rPr lang="es-ES" sz="2000" dirty="0"/>
                  <a:t>Si observamos un riesgo de quiebra nos podríamos preguntar cuál sería el ROE de Allied si tuviera una razón de endeudamiento promedio de mercado</a:t>
                </a:r>
              </a:p>
              <a:p>
                <a:endParaRPr lang="es-ES" sz="2000" dirty="0"/>
              </a:p>
              <a:p>
                <a:r>
                  <a:rPr lang="es-ES" sz="2000" dirty="0"/>
                  <a:t>Si tomamos el multiplicador de capital del mercado, 1.67, el ROE pasaría a ser</a:t>
                </a:r>
              </a:p>
              <a:p>
                <a:pPr marL="0" indent="0" algn="ctr">
                  <a:buNone/>
                </a:pPr>
                <a:r>
                  <a:rPr lang="es-ES" sz="1800" dirty="0"/>
                  <a:t>ROE Allied = 3,92% * 1,5 veces * 1,67 veces = 9.8%</a:t>
                </a:r>
              </a:p>
              <a:p>
                <a:pPr marL="0" indent="0" algn="ctr">
                  <a:buNone/>
                </a:pPr>
                <a:r>
                  <a:rPr lang="es-ES" sz="2000" dirty="0"/>
                  <a:t>que en realidad sería mayor, por la baja en el pago de intereses al tener menos deuda</a:t>
                </a:r>
              </a:p>
            </p:txBody>
          </p:sp>
        </mc:Choice>
        <mc:Fallback xmlns="">
          <p:sp>
            <p:nvSpPr>
              <p:cNvPr id="3" name="Marcador de contenido 2">
                <a:extLst>
                  <a:ext uri="{FF2B5EF4-FFF2-40B4-BE49-F238E27FC236}">
                    <a16:creationId xmlns:a16="http://schemas.microsoft.com/office/drawing/2014/main" id="{87BFBAD5-AE6B-C271-3D29-5B65A4CAE411}"/>
                  </a:ext>
                </a:extLst>
              </p:cNvPr>
              <p:cNvSpPr>
                <a:spLocks noGrp="1" noRot="1" noChangeAspect="1" noMove="1" noResize="1" noEditPoints="1" noAdjustHandles="1" noChangeArrowheads="1" noChangeShapeType="1" noTextEdit="1"/>
              </p:cNvSpPr>
              <p:nvPr>
                <p:ph idx="1"/>
              </p:nvPr>
            </p:nvSpPr>
            <p:spPr>
              <a:blipFill>
                <a:blip r:embed="rId2"/>
                <a:stretch>
                  <a:fillRect l="-1217" t="-2241" r="-580"/>
                </a:stretch>
              </a:blipFill>
            </p:spPr>
            <p:txBody>
              <a:bodyPr/>
              <a:lstStyle/>
              <a:p>
                <a:r>
                  <a:rPr lang="es-ES">
                    <a:noFill/>
                  </a:rPr>
                  <a:t> </a:t>
                </a:r>
              </a:p>
            </p:txBody>
          </p:sp>
        </mc:Fallback>
      </mc:AlternateContent>
    </p:spTree>
    <p:extLst>
      <p:ext uri="{BB962C8B-B14F-4D97-AF65-F5344CB8AC3E}">
        <p14:creationId xmlns:p14="http://schemas.microsoft.com/office/powerpoint/2010/main" val="36165606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364475-1D7A-6D20-51EC-EE155D944FA1}"/>
              </a:ext>
            </a:extLst>
          </p:cNvPr>
          <p:cNvSpPr>
            <a:spLocks noGrp="1"/>
          </p:cNvSpPr>
          <p:nvPr>
            <p:ph type="title"/>
          </p:nvPr>
        </p:nvSpPr>
        <p:spPr/>
        <p:txBody>
          <a:bodyPr/>
          <a:lstStyle/>
          <a:p>
            <a:r>
              <a:rPr lang="es-AR" sz="4400" dirty="0"/>
              <a:t>Análisis de Estados Financieros</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7BFBAD5-AE6B-C271-3D29-5B65A4CAE411}"/>
                  </a:ext>
                </a:extLst>
              </p:cNvPr>
              <p:cNvSpPr>
                <a:spLocks noGrp="1"/>
              </p:cNvSpPr>
              <p:nvPr>
                <p:ph idx="1"/>
              </p:nvPr>
            </p:nvSpPr>
            <p:spPr/>
            <p:txBody>
              <a:bodyPr>
                <a:normAutofit/>
              </a:bodyPr>
              <a:lstStyle/>
              <a:p>
                <a:pPr marL="0" indent="0">
                  <a:buNone/>
                </a:pPr>
                <a:r>
                  <a:rPr lang="es-AR" dirty="0"/>
                  <a:t>ESLABONAMIENTO DE LAS RAZONES – ECUACIÓN DE DuPont </a:t>
                </a:r>
              </a:p>
              <a:p>
                <a:pPr marL="0" indent="0">
                  <a:buNone/>
                </a:pPr>
                <a:endParaRPr lang="es-AR" sz="2000" i="1" dirty="0">
                  <a:latin typeface="Cambria Math" panose="02040503050406030204" pitchFamily="18" charset="0"/>
                </a:endParaRPr>
              </a:p>
              <a:p>
                <a:pPr marL="0" indent="0" algn="ctr">
                  <a:buNone/>
                </a:pPr>
                <a:r>
                  <a:rPr lang="es-AR" sz="2000" dirty="0"/>
                  <a:t>¿Cómo podemos obtener el multiplicador del capital del mercado?</a:t>
                </a:r>
              </a:p>
              <a:p>
                <a:pPr marL="0" indent="0">
                  <a:buNone/>
                </a:pPr>
                <a:endParaRPr lang="es-AR" sz="2000" dirty="0"/>
              </a:p>
              <a:p>
                <a:pPr marL="0" indent="0">
                  <a:buNone/>
                </a:pPr>
                <a:r>
                  <a:rPr lang="es-AR" sz="2000" dirty="0"/>
                  <a:t>Hemos visto que este multiplicador se relaciona con el nivel de uso de Deuda de la Empresa, uno de los puntos observados en Allied. Tomando ROE y ROA podemos obtener el multiplicador industrial </a:t>
                </a:r>
              </a:p>
              <a:p>
                <a:pPr marL="0" indent="0">
                  <a:buNone/>
                </a:pPr>
                <a:endParaRPr lang="es-AR"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s-AR" sz="1600" i="1">
                              <a:latin typeface="Cambria Math" panose="02040503050406030204" pitchFamily="18" charset="0"/>
                            </a:rPr>
                          </m:ctrlPr>
                        </m:fPr>
                        <m:num>
                          <m:r>
                            <a:rPr lang="es-AR" sz="1600" b="0" i="1" smtClean="0">
                              <a:latin typeface="Cambria Math" panose="02040503050406030204" pitchFamily="18" charset="0"/>
                            </a:rPr>
                            <m:t>𝑅𝑂𝐸</m:t>
                          </m:r>
                        </m:num>
                        <m:den>
                          <m:r>
                            <a:rPr lang="es-AR" sz="1600" b="0" i="1" smtClean="0">
                              <a:latin typeface="Cambria Math" panose="02040503050406030204" pitchFamily="18" charset="0"/>
                            </a:rPr>
                            <m:t>𝑅𝑂𝐴</m:t>
                          </m:r>
                        </m:den>
                      </m:f>
                      <m:r>
                        <a:rPr lang="es-AR" sz="1600" b="0" i="1" smtClean="0">
                          <a:latin typeface="Cambria Math" panose="02040503050406030204" pitchFamily="18" charset="0"/>
                        </a:rPr>
                        <m:t> = </m:t>
                      </m:r>
                      <m:f>
                        <m:fPr>
                          <m:ctrlPr>
                            <a:rPr lang="es-AR" sz="1600" b="0" i="1" smtClean="0">
                              <a:latin typeface="Cambria Math" panose="02040503050406030204" pitchFamily="18" charset="0"/>
                            </a:rPr>
                          </m:ctrlPr>
                        </m:fPr>
                        <m:num>
                          <m:f>
                            <m:fPr>
                              <m:ctrlPr>
                                <a:rPr lang="es-AR" sz="1600" b="0" i="1" smtClean="0">
                                  <a:latin typeface="Cambria Math" panose="02040503050406030204" pitchFamily="18" charset="0"/>
                                </a:rPr>
                              </m:ctrlPr>
                            </m:fPr>
                            <m:num>
                              <m:r>
                                <a:rPr lang="es-AR" sz="1600" b="0" i="1" smtClean="0">
                                  <a:latin typeface="Cambria Math" panose="02040503050406030204" pitchFamily="18" charset="0"/>
                                </a:rPr>
                                <m:t>𝐼𝑁</m:t>
                              </m:r>
                            </m:num>
                            <m:den>
                              <m:r>
                                <a:rPr lang="es-AR" sz="1600" b="0" i="1" smtClean="0">
                                  <a:latin typeface="Cambria Math" panose="02040503050406030204" pitchFamily="18" charset="0"/>
                                </a:rPr>
                                <m:t>𝐶𝐴𝑃𝐼𝑇𝐴𝐿</m:t>
                              </m:r>
                            </m:den>
                          </m:f>
                        </m:num>
                        <m:den>
                          <m:f>
                            <m:fPr>
                              <m:ctrlPr>
                                <a:rPr lang="es-AR" sz="1600" b="0" i="1" smtClean="0">
                                  <a:latin typeface="Cambria Math" panose="02040503050406030204" pitchFamily="18" charset="0"/>
                                </a:rPr>
                              </m:ctrlPr>
                            </m:fPr>
                            <m:num>
                              <m:r>
                                <a:rPr lang="es-AR" sz="1600" b="0" i="1" smtClean="0">
                                  <a:latin typeface="Cambria Math" panose="02040503050406030204" pitchFamily="18" charset="0"/>
                                </a:rPr>
                                <m:t>𝐼𝑁</m:t>
                              </m:r>
                            </m:num>
                            <m:den>
                              <m:r>
                                <a:rPr lang="es-AR" sz="1600" b="0" i="1" smtClean="0">
                                  <a:latin typeface="Cambria Math" panose="02040503050406030204" pitchFamily="18" charset="0"/>
                                </a:rPr>
                                <m:t>𝐴𝐶𝑇𝐼𝑉𝑂</m:t>
                              </m:r>
                            </m:den>
                          </m:f>
                        </m:den>
                      </m:f>
                      <m:r>
                        <a:rPr lang="es-AR" sz="1600" b="0" i="1" smtClean="0">
                          <a:latin typeface="Cambria Math" panose="02040503050406030204" pitchFamily="18" charset="0"/>
                        </a:rPr>
                        <m:t>= </m:t>
                      </m:r>
                      <m:f>
                        <m:fPr>
                          <m:ctrlPr>
                            <a:rPr lang="es-AR" sz="1600" i="1">
                              <a:latin typeface="Cambria Math" panose="02040503050406030204" pitchFamily="18" charset="0"/>
                            </a:rPr>
                          </m:ctrlPr>
                        </m:fPr>
                        <m:num>
                          <m:r>
                            <a:rPr lang="es-AR" sz="1600" b="0" i="1" smtClean="0">
                              <a:latin typeface="Cambria Math" panose="02040503050406030204" pitchFamily="18" charset="0"/>
                            </a:rPr>
                            <m:t>𝐴𝐶𝑇𝐼𝑉𝑂</m:t>
                          </m:r>
                        </m:num>
                        <m:den>
                          <m:r>
                            <a:rPr lang="es-AR" sz="1600" b="0" i="1" smtClean="0">
                              <a:latin typeface="Cambria Math" panose="02040503050406030204" pitchFamily="18" charset="0"/>
                            </a:rPr>
                            <m:t>𝐶𝐴𝑃𝐼𝑇𝐴𝐿</m:t>
                          </m:r>
                        </m:den>
                      </m:f>
                      <m:r>
                        <a:rPr lang="es-AR" sz="1600" b="0" i="1" smtClean="0">
                          <a:latin typeface="Cambria Math" panose="02040503050406030204" pitchFamily="18" charset="0"/>
                        </a:rPr>
                        <m:t>=</m:t>
                      </m:r>
                      <m:r>
                        <a:rPr lang="es-AR" sz="1600" b="0" i="1" smtClean="0">
                          <a:latin typeface="Cambria Math" panose="02040503050406030204" pitchFamily="18" charset="0"/>
                        </a:rPr>
                        <m:t>𝑀𝑢𝑙𝑡𝑖𝑝𝑙𝑖𝑐𝑎𝑑𝑜𝑟</m:t>
                      </m:r>
                      <m:r>
                        <a:rPr lang="es-AR" sz="1600" b="0" i="1" smtClean="0">
                          <a:latin typeface="Cambria Math" panose="02040503050406030204" pitchFamily="18" charset="0"/>
                        </a:rPr>
                        <m:t> </m:t>
                      </m:r>
                      <m:r>
                        <a:rPr lang="es-AR" sz="1600" b="0" i="1" smtClean="0">
                          <a:latin typeface="Cambria Math" panose="02040503050406030204" pitchFamily="18" charset="0"/>
                        </a:rPr>
                        <m:t>𝑑𝑒𝑙</m:t>
                      </m:r>
                      <m:r>
                        <a:rPr lang="es-AR" sz="1600" b="0" i="1" smtClean="0">
                          <a:latin typeface="Cambria Math" panose="02040503050406030204" pitchFamily="18" charset="0"/>
                        </a:rPr>
                        <m:t> </m:t>
                      </m:r>
                      <m:r>
                        <a:rPr lang="es-AR" sz="1600" b="0" i="1" smtClean="0">
                          <a:latin typeface="Cambria Math" panose="02040503050406030204" pitchFamily="18" charset="0"/>
                        </a:rPr>
                        <m:t>𝐶𝑎𝑝𝑖𝑡𝑎𝑙</m:t>
                      </m:r>
                    </m:oMath>
                  </m:oMathPara>
                </a14:m>
                <a:endParaRPr lang="es-ES" sz="2000" dirty="0"/>
              </a:p>
              <a:p>
                <a:endParaRPr lang="es-ES" sz="2000" dirty="0"/>
              </a:p>
              <a:p>
                <a:endParaRPr lang="es-ES" sz="2000" dirty="0"/>
              </a:p>
            </p:txBody>
          </p:sp>
        </mc:Choice>
        <mc:Fallback xmlns="">
          <p:sp>
            <p:nvSpPr>
              <p:cNvPr id="3" name="Marcador de contenido 2">
                <a:extLst>
                  <a:ext uri="{FF2B5EF4-FFF2-40B4-BE49-F238E27FC236}">
                    <a16:creationId xmlns:a16="http://schemas.microsoft.com/office/drawing/2014/main" id="{87BFBAD5-AE6B-C271-3D29-5B65A4CAE411}"/>
                  </a:ext>
                </a:extLst>
              </p:cNvPr>
              <p:cNvSpPr>
                <a:spLocks noGrp="1" noRot="1" noChangeAspect="1" noMove="1" noResize="1" noEditPoints="1" noAdjustHandles="1" noChangeArrowheads="1" noChangeShapeType="1" noTextEdit="1"/>
              </p:cNvSpPr>
              <p:nvPr>
                <p:ph idx="1"/>
              </p:nvPr>
            </p:nvSpPr>
            <p:spPr>
              <a:blipFill>
                <a:blip r:embed="rId2"/>
                <a:stretch>
                  <a:fillRect l="-1217" t="-2241" r="-638"/>
                </a:stretch>
              </a:blipFill>
            </p:spPr>
            <p:txBody>
              <a:bodyPr/>
              <a:lstStyle/>
              <a:p>
                <a:r>
                  <a:rPr lang="es-ES">
                    <a:noFill/>
                  </a:rPr>
                  <a:t> </a:t>
                </a:r>
              </a:p>
            </p:txBody>
          </p:sp>
        </mc:Fallback>
      </mc:AlternateContent>
    </p:spTree>
    <p:extLst>
      <p:ext uri="{BB962C8B-B14F-4D97-AF65-F5344CB8AC3E}">
        <p14:creationId xmlns:p14="http://schemas.microsoft.com/office/powerpoint/2010/main" val="11141266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lstStyle/>
          <a:p>
            <a:r>
              <a:rPr lang="es-AR" dirty="0"/>
              <a:t>La ecuación de DuPont puede ayudar a Allied a identificar áreas de mejora</a:t>
            </a:r>
          </a:p>
          <a:p>
            <a:r>
              <a:rPr lang="es-AR" dirty="0"/>
              <a:t>Margen de utilidad: Precios más altos/Nuevos Productos con mayor margen/Reducir Costos</a:t>
            </a:r>
          </a:p>
          <a:p>
            <a:r>
              <a:rPr lang="es-AR" dirty="0"/>
              <a:t>Rotación: Reducir DSO (</a:t>
            </a:r>
            <a:r>
              <a:rPr lang="es-AR" dirty="0" err="1"/>
              <a:t>Days</a:t>
            </a:r>
            <a:r>
              <a:rPr lang="es-AR" dirty="0"/>
              <a:t> Sales </a:t>
            </a:r>
            <a:r>
              <a:rPr lang="es-AR" dirty="0" err="1"/>
              <a:t>Outstanding</a:t>
            </a:r>
            <a:r>
              <a:rPr lang="es-AR" dirty="0"/>
              <a:t>) ¿por qué mejoraría? </a:t>
            </a:r>
          </a:p>
          <a:p>
            <a:r>
              <a:rPr lang="es-AR" dirty="0"/>
              <a:t>Multiplicador de Capital: Formas de financiarse, cómo afectan el ROE y el riesgo de quiebra</a:t>
            </a:r>
          </a:p>
          <a:p>
            <a:r>
              <a:rPr lang="es-AR" dirty="0"/>
              <a:t>¿Qué pasos emprenderá la CEO de Allied junto a sus ejecutivos? Sus retribuciones están atadas a la performance de la compañía</a:t>
            </a:r>
          </a:p>
          <a:p>
            <a:endParaRPr lang="es-ES" dirty="0"/>
          </a:p>
        </p:txBody>
      </p:sp>
    </p:spTree>
    <p:extLst>
      <p:ext uri="{BB962C8B-B14F-4D97-AF65-F5344CB8AC3E}">
        <p14:creationId xmlns:p14="http://schemas.microsoft.com/office/powerpoint/2010/main" val="39675605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fontScale="92500" lnSpcReduction="20000"/>
          </a:bodyPr>
          <a:lstStyle/>
          <a:p>
            <a:pPr marL="0" indent="0">
              <a:buNone/>
            </a:pPr>
            <a:r>
              <a:rPr lang="es-AR" dirty="0"/>
              <a:t>MALOS USOS POTENCIALES DEL ROE</a:t>
            </a:r>
          </a:p>
          <a:p>
            <a:pPr marL="0" indent="0">
              <a:buNone/>
            </a:pPr>
            <a:endParaRPr lang="es-AR" dirty="0"/>
          </a:p>
          <a:p>
            <a:r>
              <a:rPr lang="es-AR" dirty="0"/>
              <a:t>Mayor ROE no significa necesariamente mayor patrimonio de los accionistas</a:t>
            </a:r>
          </a:p>
          <a:p>
            <a:pPr marL="0" indent="0">
              <a:buNone/>
            </a:pPr>
            <a:r>
              <a:rPr lang="es-AR" dirty="0"/>
              <a:t>Apoyarnos demasiado en el ROE nos enfrenta a tres problemas</a:t>
            </a:r>
          </a:p>
          <a:p>
            <a:r>
              <a:rPr lang="es-AR" dirty="0"/>
              <a:t>Primero, no mide riesgo. Al accionista le interesa retorno y riesgo. Por ejemplo, una empresa (o división dentro de una empresa) con un ROE esperado algo menor, pero estable, agrega más valor que otro algo superior, pero con mayor riesgo ¿Cómo serán recompensados los directivos de una y otra división?</a:t>
            </a:r>
          </a:p>
          <a:p>
            <a:r>
              <a:rPr lang="es-AR" dirty="0"/>
              <a:t>Además, aumentar el apalancamiento mejorará el ROE, pero incrementará el riesgo ¿Cómo afectará al valor de la compañía?</a:t>
            </a:r>
          </a:p>
        </p:txBody>
      </p:sp>
    </p:spTree>
    <p:extLst>
      <p:ext uri="{BB962C8B-B14F-4D97-AF65-F5344CB8AC3E}">
        <p14:creationId xmlns:p14="http://schemas.microsoft.com/office/powerpoint/2010/main" val="20450612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fontScale="92500" lnSpcReduction="10000"/>
          </a:bodyPr>
          <a:lstStyle/>
          <a:p>
            <a:pPr marL="0" indent="0">
              <a:buNone/>
            </a:pPr>
            <a:r>
              <a:rPr lang="es-AR" dirty="0"/>
              <a:t>MALOS USOS POTENCIALES DEL ROE</a:t>
            </a:r>
          </a:p>
          <a:p>
            <a:pPr marL="0" indent="0">
              <a:buNone/>
            </a:pPr>
            <a:endParaRPr lang="es-AR" dirty="0"/>
          </a:p>
          <a:p>
            <a:r>
              <a:rPr lang="es-AR" dirty="0"/>
              <a:t>Segundo, el ROE no considera el capital invertido ni el valor que se agrega en términos nominales (mira el porcentaje)</a:t>
            </a:r>
          </a:p>
          <a:p>
            <a:r>
              <a:rPr lang="es-AR" dirty="0"/>
              <a:t> Proyectos mutuamente excluyentes de igual riesgo ¿ROE esperado de 50% sobre 50.000 o 45% sobre 1.000.000?, ¿quién agrega mayor valor al accionista?</a:t>
            </a:r>
          </a:p>
          <a:p>
            <a:r>
              <a:rPr lang="es-AR" dirty="0"/>
              <a:t>Tercero, el riesgo de retribuir a los directores mediante ROE. Proyectos de muy bajo riesgo, con ROE inferiores a los actuales pero muy superiores al costo de capital serían rechazados y eso atentará contra los intereses del accionista</a:t>
            </a:r>
            <a:endParaRPr lang="es-ES" dirty="0"/>
          </a:p>
        </p:txBody>
      </p:sp>
    </p:spTree>
    <p:extLst>
      <p:ext uri="{BB962C8B-B14F-4D97-AF65-F5344CB8AC3E}">
        <p14:creationId xmlns:p14="http://schemas.microsoft.com/office/powerpoint/2010/main" val="19103465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lstStyle/>
          <a:p>
            <a:r>
              <a:rPr lang="es-AR" dirty="0"/>
              <a:t>Los tres puntos señalados indican porqué el ROE de cualquier proyecto debe combinarse con su magnitud y riesgo para determinar su efecto en el patrimonio de los accionistas</a:t>
            </a:r>
            <a:endParaRPr lang="es-ES" dirty="0"/>
          </a:p>
        </p:txBody>
      </p:sp>
      <p:sp>
        <p:nvSpPr>
          <p:cNvPr id="4" name="Rectángulo 3">
            <a:extLst>
              <a:ext uri="{FF2B5EF4-FFF2-40B4-BE49-F238E27FC236}">
                <a16:creationId xmlns:a16="http://schemas.microsoft.com/office/drawing/2014/main" id="{07D2A1A1-B7C5-1206-70A2-0DE806BF4A85}"/>
              </a:ext>
            </a:extLst>
          </p:cNvPr>
          <p:cNvSpPr/>
          <p:nvPr/>
        </p:nvSpPr>
        <p:spPr>
          <a:xfrm>
            <a:off x="1953491" y="3131132"/>
            <a:ext cx="2410691" cy="997527"/>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dirty="0"/>
              <a:t>ROE</a:t>
            </a:r>
            <a:endParaRPr lang="es-ES" dirty="0"/>
          </a:p>
        </p:txBody>
      </p:sp>
      <p:sp>
        <p:nvSpPr>
          <p:cNvPr id="5" name="Rectángulo 4">
            <a:extLst>
              <a:ext uri="{FF2B5EF4-FFF2-40B4-BE49-F238E27FC236}">
                <a16:creationId xmlns:a16="http://schemas.microsoft.com/office/drawing/2014/main" id="{FFD7E3B8-B352-4B9C-0A34-2B4FA4ADFC95}"/>
              </a:ext>
            </a:extLst>
          </p:cNvPr>
          <p:cNvSpPr/>
          <p:nvPr/>
        </p:nvSpPr>
        <p:spPr>
          <a:xfrm>
            <a:off x="1953490" y="4249524"/>
            <a:ext cx="2410691" cy="997527"/>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dirty="0"/>
              <a:t>RIESGO</a:t>
            </a:r>
            <a:endParaRPr lang="es-ES" dirty="0"/>
          </a:p>
        </p:txBody>
      </p:sp>
      <p:sp>
        <p:nvSpPr>
          <p:cNvPr id="6" name="Rectángulo 5">
            <a:extLst>
              <a:ext uri="{FF2B5EF4-FFF2-40B4-BE49-F238E27FC236}">
                <a16:creationId xmlns:a16="http://schemas.microsoft.com/office/drawing/2014/main" id="{62055F39-57B1-8C40-11BC-BF87F07DE9FA}"/>
              </a:ext>
            </a:extLst>
          </p:cNvPr>
          <p:cNvSpPr/>
          <p:nvPr/>
        </p:nvSpPr>
        <p:spPr>
          <a:xfrm>
            <a:off x="1953491" y="5375134"/>
            <a:ext cx="2410691" cy="997527"/>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dirty="0"/>
              <a:t>CAPITAL INVERTIDO</a:t>
            </a:r>
            <a:endParaRPr lang="es-ES" dirty="0"/>
          </a:p>
        </p:txBody>
      </p:sp>
      <p:sp>
        <p:nvSpPr>
          <p:cNvPr id="7" name="Rectángulo 6">
            <a:extLst>
              <a:ext uri="{FF2B5EF4-FFF2-40B4-BE49-F238E27FC236}">
                <a16:creationId xmlns:a16="http://schemas.microsoft.com/office/drawing/2014/main" id="{6D66A1D5-6E6F-BAA9-33A9-E52FC6A9262D}"/>
              </a:ext>
            </a:extLst>
          </p:cNvPr>
          <p:cNvSpPr/>
          <p:nvPr/>
        </p:nvSpPr>
        <p:spPr>
          <a:xfrm>
            <a:off x="6968837" y="3941623"/>
            <a:ext cx="2410691" cy="997527"/>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dirty="0"/>
              <a:t>PATRIOMONIO DE LOS ACCIONISTAS</a:t>
            </a:r>
            <a:endParaRPr lang="es-ES" dirty="0"/>
          </a:p>
        </p:txBody>
      </p:sp>
      <p:cxnSp>
        <p:nvCxnSpPr>
          <p:cNvPr id="9" name="Conector recto de flecha 8">
            <a:extLst>
              <a:ext uri="{FF2B5EF4-FFF2-40B4-BE49-F238E27FC236}">
                <a16:creationId xmlns:a16="http://schemas.microsoft.com/office/drawing/2014/main" id="{2D9250EF-516E-35BC-3CAD-54171D6126B8}"/>
              </a:ext>
            </a:extLst>
          </p:cNvPr>
          <p:cNvCxnSpPr/>
          <p:nvPr/>
        </p:nvCxnSpPr>
        <p:spPr>
          <a:xfrm>
            <a:off x="4502727" y="3629895"/>
            <a:ext cx="2299855" cy="775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6E67D69F-0C6E-D8ED-280D-1CD4A1B87C20}"/>
              </a:ext>
            </a:extLst>
          </p:cNvPr>
          <p:cNvCxnSpPr/>
          <p:nvPr/>
        </p:nvCxnSpPr>
        <p:spPr>
          <a:xfrm flipV="1">
            <a:off x="4516581" y="4513917"/>
            <a:ext cx="2299855" cy="2343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5E278643-90C4-3A15-A450-F476637FDDA5}"/>
              </a:ext>
            </a:extLst>
          </p:cNvPr>
          <p:cNvCxnSpPr/>
          <p:nvPr/>
        </p:nvCxnSpPr>
        <p:spPr>
          <a:xfrm flipV="1">
            <a:off x="4530436" y="4748287"/>
            <a:ext cx="2178627" cy="1125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88404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a:bodyPr>
          <a:lstStyle/>
          <a:p>
            <a:pPr marL="0" indent="0">
              <a:buNone/>
            </a:pPr>
            <a:r>
              <a:rPr lang="es-AR" sz="2400" dirty="0"/>
              <a:t>USO DE LAS RAZONES FINANCIERAS PARA EVALUAR DESEMPEÑO</a:t>
            </a:r>
          </a:p>
          <a:p>
            <a:r>
              <a:rPr lang="es-ES" sz="2400" dirty="0"/>
              <a:t>Las razones financieras que hemos visto nos ayudan a entender ciertos aspectos, pero no necesariamente tendremos una clara imagen del desempeño, aun analizando el conjunto. Por ello lo que se suele hacer es</a:t>
            </a:r>
          </a:p>
          <a:p>
            <a:pPr lvl="1"/>
            <a:r>
              <a:rPr lang="es-ES" sz="2000" dirty="0"/>
              <a:t>Comparación con el promedio de la industria, como hemos ido realizando</a:t>
            </a:r>
          </a:p>
          <a:p>
            <a:pPr lvl="1"/>
            <a:r>
              <a:rPr lang="es-ES" sz="2000" dirty="0"/>
              <a:t>Evaluación comparativa, con un grupo de compañías dentro de nuestra industria. Podrían se las “Estrellas” o nuestros competidores objetivo</a:t>
            </a:r>
          </a:p>
          <a:p>
            <a:pPr lvl="1"/>
            <a:r>
              <a:rPr lang="es-ES" sz="2000" dirty="0"/>
              <a:t>Análisis de tendencias. Gráficos a través del tiempo, y comparación con Industria</a:t>
            </a:r>
          </a:p>
          <a:p>
            <a:pPr lvl="1"/>
            <a:endParaRPr lang="es-ES" sz="2000" dirty="0"/>
          </a:p>
          <a:p>
            <a:r>
              <a:rPr lang="es-ES" sz="2400" dirty="0"/>
              <a:t>Siempre se debe tener clara la fuente de información y cómo ésta define las razones y demás valores presentados para que nuestras comparaciones sean correctas</a:t>
            </a:r>
          </a:p>
        </p:txBody>
      </p:sp>
    </p:spTree>
    <p:extLst>
      <p:ext uri="{BB962C8B-B14F-4D97-AF65-F5344CB8AC3E}">
        <p14:creationId xmlns:p14="http://schemas.microsoft.com/office/powerpoint/2010/main" val="4594573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fontScale="92500" lnSpcReduction="10000"/>
          </a:bodyPr>
          <a:lstStyle/>
          <a:p>
            <a:pPr marL="0" indent="0">
              <a:buNone/>
            </a:pPr>
            <a:r>
              <a:rPr lang="es-AR" dirty="0"/>
              <a:t>PREGUNTAS</a:t>
            </a:r>
          </a:p>
          <a:p>
            <a:endParaRPr lang="es-ES" dirty="0"/>
          </a:p>
          <a:p>
            <a:r>
              <a:rPr lang="es-ES" dirty="0"/>
              <a:t>¿A qué se debe que los FFCC tengan una rotación de activo contable tan baja y los mayoristas de alimentos y supermercados una rotación tan alta?</a:t>
            </a:r>
          </a:p>
          <a:p>
            <a:r>
              <a:rPr lang="es-ES" dirty="0"/>
              <a:t>Si producto de la competencia, todas las compañías tienden a tener similar ROE a largo plazo, ¿cómo serán los márgenes de utilidad de las empresas con alta rotación, bajos o altos? Justifique</a:t>
            </a:r>
          </a:p>
          <a:p>
            <a:r>
              <a:rPr lang="es-ES" dirty="0"/>
              <a:t>¿Por qué son útiles los análisis de razones comparadas?</a:t>
            </a:r>
          </a:p>
          <a:p>
            <a:r>
              <a:rPr lang="es-ES" dirty="0"/>
              <a:t>¿Cómo se realiza un análisis de tendencias?</a:t>
            </a:r>
          </a:p>
          <a:p>
            <a:r>
              <a:rPr lang="es-ES" dirty="0"/>
              <a:t>¿Qué información importante aporta?</a:t>
            </a:r>
          </a:p>
        </p:txBody>
      </p:sp>
    </p:spTree>
    <p:extLst>
      <p:ext uri="{BB962C8B-B14F-4D97-AF65-F5344CB8AC3E}">
        <p14:creationId xmlns:p14="http://schemas.microsoft.com/office/powerpoint/2010/main" val="1444123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a:bodyPr>
          <a:lstStyle/>
          <a:p>
            <a:pPr marL="0" indent="0">
              <a:buNone/>
            </a:pPr>
            <a:r>
              <a:rPr lang="es-AR" sz="2400" dirty="0"/>
              <a:t>Usos y limitaciones de las razones</a:t>
            </a:r>
          </a:p>
          <a:p>
            <a:r>
              <a:rPr lang="es-AR" sz="2400" dirty="0"/>
              <a:t>Las razones son utilizadas por</a:t>
            </a:r>
          </a:p>
          <a:p>
            <a:pPr lvl="1"/>
            <a:r>
              <a:rPr lang="es-AR" sz="2000" dirty="0"/>
              <a:t>Gerentes para controlar y mejorar las operaciones de sus empresas</a:t>
            </a:r>
          </a:p>
          <a:p>
            <a:pPr lvl="1"/>
            <a:r>
              <a:rPr lang="es-AR" sz="2000" dirty="0"/>
              <a:t>Analistas de crédito en general, para juzgar la capacidad de pago de una compañía</a:t>
            </a:r>
          </a:p>
          <a:p>
            <a:pPr lvl="1"/>
            <a:r>
              <a:rPr lang="es-AR" sz="2000" dirty="0"/>
              <a:t>Analista de valores, a quienes les interesa entender la eficiencia, el riesgo y perspectivas de crecimiento de una compañía</a:t>
            </a:r>
          </a:p>
          <a:p>
            <a:pPr marL="0" indent="0">
              <a:buNone/>
            </a:pPr>
            <a:endParaRPr lang="es-AR" sz="2400" dirty="0"/>
          </a:p>
          <a:p>
            <a:r>
              <a:rPr lang="es-ES" sz="2400" dirty="0"/>
              <a:t>Veremos que, además de su indudable valor, el análisis de las razones tiene sus limitaciones y potenciales problemas</a:t>
            </a:r>
          </a:p>
        </p:txBody>
      </p:sp>
    </p:spTree>
    <p:extLst>
      <p:ext uri="{BB962C8B-B14F-4D97-AF65-F5344CB8AC3E}">
        <p14:creationId xmlns:p14="http://schemas.microsoft.com/office/powerpoint/2010/main" val="30649367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a:bodyPr>
          <a:lstStyle/>
          <a:p>
            <a:pPr marL="0" indent="0">
              <a:buNone/>
            </a:pPr>
            <a:r>
              <a:rPr lang="es-AR" dirty="0"/>
              <a:t>Usos y limitaciones de las razones</a:t>
            </a:r>
          </a:p>
          <a:p>
            <a:r>
              <a:rPr lang="es-AR" dirty="0"/>
              <a:t>Limitaciones</a:t>
            </a:r>
          </a:p>
          <a:p>
            <a:pPr lvl="1"/>
            <a:r>
              <a:rPr lang="es-AR" dirty="0"/>
              <a:t>Empresas multi divisionales. No hay índices industriales comparables</a:t>
            </a:r>
          </a:p>
          <a:p>
            <a:pPr lvl="1"/>
            <a:r>
              <a:rPr lang="es-AR" dirty="0"/>
              <a:t>Queremos ser mejores que el promedio. Necesidad de la Evaluación Comparativa contra los mejores de nuestra Industria</a:t>
            </a:r>
          </a:p>
          <a:p>
            <a:pPr lvl="1"/>
            <a:r>
              <a:rPr lang="es-AR" dirty="0"/>
              <a:t>Inflación y paso del tiempo o antigüedad de las plantas y equipos dificultan las comparaciones. El análisis requiere prudencia y buen juicio</a:t>
            </a:r>
          </a:p>
          <a:p>
            <a:pPr lvl="1"/>
            <a:r>
              <a:rPr lang="es-AR" dirty="0"/>
              <a:t>Factores estacionales afectan las razones, inventarios, cuentas por cobrar. Usar promedios anuales</a:t>
            </a:r>
          </a:p>
          <a:p>
            <a:pPr lvl="1"/>
            <a:r>
              <a:rPr lang="es-AR" dirty="0"/>
              <a:t>Técnicas de Montaje de Escaparates. Para que los EEFF luzcan mejor de lo que son. Mejorar las razones en forma artificial</a:t>
            </a:r>
          </a:p>
          <a:p>
            <a:pPr marL="457200" lvl="1" indent="0">
              <a:buNone/>
            </a:pPr>
            <a:endParaRPr lang="es-AR" dirty="0"/>
          </a:p>
          <a:p>
            <a:pPr marL="0" indent="0">
              <a:buNone/>
            </a:pPr>
            <a:endParaRPr lang="es-AR" sz="3600" dirty="0"/>
          </a:p>
          <a:p>
            <a:endParaRPr lang="es-ES" sz="3600" dirty="0"/>
          </a:p>
        </p:txBody>
      </p:sp>
    </p:spTree>
    <p:extLst>
      <p:ext uri="{BB962C8B-B14F-4D97-AF65-F5344CB8AC3E}">
        <p14:creationId xmlns:p14="http://schemas.microsoft.com/office/powerpoint/2010/main" val="20056283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lnSpcReduction="10000"/>
          </a:bodyPr>
          <a:lstStyle/>
          <a:p>
            <a:pPr marL="0" indent="0">
              <a:buNone/>
            </a:pPr>
            <a:r>
              <a:rPr lang="es-AR" dirty="0"/>
              <a:t>Usos y limitaciones de las razones</a:t>
            </a:r>
          </a:p>
          <a:p>
            <a:r>
              <a:rPr lang="es-AR" dirty="0"/>
              <a:t>Limitaciones</a:t>
            </a:r>
          </a:p>
          <a:p>
            <a:pPr lvl="1"/>
            <a:r>
              <a:rPr lang="es-AR" dirty="0"/>
              <a:t>Prácticas contables no homogéneas. Arrendamientos, mostrando menores Activos y niveles de Deuda/Pasivo</a:t>
            </a:r>
          </a:p>
          <a:p>
            <a:pPr lvl="1"/>
            <a:r>
              <a:rPr lang="es-AR" dirty="0"/>
              <a:t>Errores en generalizar el significado de las razones</a:t>
            </a:r>
          </a:p>
          <a:p>
            <a:pPr lvl="2"/>
            <a:r>
              <a:rPr lang="es-AR" dirty="0"/>
              <a:t>Solvencia ¿no hay un exceso de efectivo excedente?</a:t>
            </a:r>
          </a:p>
          <a:p>
            <a:pPr lvl="2"/>
            <a:r>
              <a:rPr lang="es-AR" dirty="0"/>
              <a:t>Rotación ¿No hay un problema de falta de inversión necesaria en activos fijos?</a:t>
            </a:r>
          </a:p>
          <a:p>
            <a:pPr lvl="2"/>
            <a:r>
              <a:rPr lang="es-AR" dirty="0"/>
              <a:t>¿Otras, cuáles se les ocurren?</a:t>
            </a:r>
          </a:p>
          <a:p>
            <a:pPr lvl="1"/>
            <a:r>
              <a:rPr lang="es-AR" dirty="0"/>
              <a:t>Las empresas tienen razones que lucen “bien” y otras que lucen “mal”. Análisis discriminante para ver cuáles tienen alta probabilidad de meterse en dificultades financieras</a:t>
            </a:r>
          </a:p>
          <a:p>
            <a:pPr lvl="1"/>
            <a:r>
              <a:rPr lang="es-AR" dirty="0"/>
              <a:t>Peligro del análisis mecánico de las razones, sin inteligencia y buen juicio</a:t>
            </a:r>
          </a:p>
          <a:p>
            <a:pPr lvl="1"/>
            <a:endParaRPr lang="es-AR" dirty="0"/>
          </a:p>
          <a:p>
            <a:pPr marL="457200" lvl="1" indent="0">
              <a:buNone/>
            </a:pPr>
            <a:endParaRPr lang="es-AR" dirty="0"/>
          </a:p>
          <a:p>
            <a:pPr marL="0" indent="0">
              <a:buNone/>
            </a:pPr>
            <a:endParaRPr lang="es-AR" sz="3600" dirty="0"/>
          </a:p>
          <a:p>
            <a:endParaRPr lang="es-ES" sz="3600" dirty="0"/>
          </a:p>
        </p:txBody>
      </p:sp>
    </p:spTree>
    <p:extLst>
      <p:ext uri="{BB962C8B-B14F-4D97-AF65-F5344CB8AC3E}">
        <p14:creationId xmlns:p14="http://schemas.microsoft.com/office/powerpoint/2010/main" val="30885383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fontScale="92500"/>
          </a:bodyPr>
          <a:lstStyle/>
          <a:p>
            <a:pPr marL="0" indent="0">
              <a:buNone/>
            </a:pPr>
            <a:r>
              <a:rPr lang="es-AR" dirty="0"/>
              <a:t>SEÑALES DE ADVERTENCIA EN LOS ESTADOS FINANCIEROS</a:t>
            </a:r>
          </a:p>
          <a:p>
            <a:r>
              <a:rPr lang="es-AR" dirty="0"/>
              <a:t>Sistemáticos cargos por reestructuraciones o reducción de valor de activos ¿Son gastos de operación encubiertos para sobre estimar ganancias?</a:t>
            </a:r>
          </a:p>
          <a:p>
            <a:r>
              <a:rPr lang="es-AR" dirty="0"/>
              <a:t>Las ganancias se disparan por compras de compañías con P/E menores que los de la adquirente. Tal “crecimiento” no es sostenible en el largo plazo</a:t>
            </a:r>
          </a:p>
          <a:p>
            <a:r>
              <a:rPr lang="es-AR" dirty="0"/>
              <a:t>Adoptar sistemas de depreciación más lentos que la industria. Muestra ganancias que no son sostenibles en el tiempo cuando impacte la depreciación remanente.</a:t>
            </a:r>
          </a:p>
          <a:p>
            <a:r>
              <a:rPr lang="es-AR" dirty="0"/>
              <a:t>Altas ganancias con un bajo flujo de efectivo. Enron</a:t>
            </a:r>
          </a:p>
          <a:p>
            <a:pPr lvl="1"/>
            <a:endParaRPr lang="es-AR" dirty="0"/>
          </a:p>
          <a:p>
            <a:pPr marL="457200" lvl="1" indent="0">
              <a:buNone/>
            </a:pPr>
            <a:endParaRPr lang="es-AR" dirty="0"/>
          </a:p>
          <a:p>
            <a:pPr marL="0" indent="0">
              <a:buNone/>
            </a:pPr>
            <a:endParaRPr lang="es-AR" sz="3600" dirty="0"/>
          </a:p>
          <a:p>
            <a:endParaRPr lang="es-ES" sz="3600" dirty="0"/>
          </a:p>
        </p:txBody>
      </p:sp>
    </p:spTree>
    <p:extLst>
      <p:ext uri="{BB962C8B-B14F-4D97-AF65-F5344CB8AC3E}">
        <p14:creationId xmlns:p14="http://schemas.microsoft.com/office/powerpoint/2010/main" val="4043975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lnSpcReduction="10000"/>
          </a:bodyPr>
          <a:lstStyle/>
          <a:p>
            <a:pPr marL="0" indent="0">
              <a:buNone/>
            </a:pPr>
            <a:r>
              <a:rPr lang="es-AR" dirty="0"/>
              <a:t>SEÑALES DE ADVERTENCIA EN LOS ESTADOS FINANCIEROS</a:t>
            </a:r>
          </a:p>
          <a:p>
            <a:r>
              <a:rPr lang="es-AR" dirty="0"/>
              <a:t>La verdad es que no entiende los estados financieros de la compañía</a:t>
            </a:r>
          </a:p>
          <a:p>
            <a:r>
              <a:rPr lang="es-AR" dirty="0"/>
              <a:t>La compañía pertenece a un ramo que se presta a la “contabilidad creativa”</a:t>
            </a:r>
          </a:p>
          <a:p>
            <a:r>
              <a:rPr lang="es-AR" dirty="0"/>
              <a:t>La compañía no cesa de aplicar cargos “no recurrentes”</a:t>
            </a:r>
          </a:p>
          <a:p>
            <a:r>
              <a:rPr lang="es-AR" dirty="0"/>
              <a:t>Las cuentas por cobrar y el inventario crecen más rápido que los ingresos por ventas</a:t>
            </a:r>
          </a:p>
          <a:p>
            <a:r>
              <a:rPr lang="es-AR" dirty="0"/>
              <a:t>Miembros de la compañía venden sus acciones</a:t>
            </a:r>
          </a:p>
          <a:p>
            <a:r>
              <a:rPr lang="es-AR" dirty="0"/>
              <a:t>La compañía hace adquisiciones agresivas, especialmente en campos a los que es ajena</a:t>
            </a:r>
          </a:p>
          <a:p>
            <a:pPr marL="457200" lvl="1" indent="0">
              <a:buNone/>
            </a:pPr>
            <a:endParaRPr lang="es-AR" dirty="0"/>
          </a:p>
          <a:p>
            <a:pPr marL="0" indent="0">
              <a:buNone/>
            </a:pPr>
            <a:endParaRPr lang="es-AR" sz="3600" dirty="0"/>
          </a:p>
          <a:p>
            <a:endParaRPr lang="es-ES" sz="3600" dirty="0"/>
          </a:p>
        </p:txBody>
      </p:sp>
    </p:spTree>
    <p:extLst>
      <p:ext uri="{BB962C8B-B14F-4D97-AF65-F5344CB8AC3E}">
        <p14:creationId xmlns:p14="http://schemas.microsoft.com/office/powerpoint/2010/main" val="18657240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33E96F-0330-6F53-2A13-C71BAF6D96C2}"/>
              </a:ext>
            </a:extLst>
          </p:cNvPr>
          <p:cNvSpPr>
            <a:spLocks noGrp="1"/>
          </p:cNvSpPr>
          <p:nvPr>
            <p:ph type="title"/>
          </p:nvPr>
        </p:nvSpPr>
        <p:spPr/>
        <p:txBody>
          <a:bodyPr/>
          <a:lstStyle/>
          <a:p>
            <a:r>
              <a:rPr lang="es-AR" sz="4400" dirty="0"/>
              <a:t>Análisis de Estados Financieros</a:t>
            </a:r>
            <a:endParaRPr lang="es-ES" dirty="0"/>
          </a:p>
        </p:txBody>
      </p:sp>
      <p:sp>
        <p:nvSpPr>
          <p:cNvPr id="3" name="Marcador de contenido 2">
            <a:extLst>
              <a:ext uri="{FF2B5EF4-FFF2-40B4-BE49-F238E27FC236}">
                <a16:creationId xmlns:a16="http://schemas.microsoft.com/office/drawing/2014/main" id="{6308E235-A6BA-FBA4-D390-BAA90B03459C}"/>
              </a:ext>
            </a:extLst>
          </p:cNvPr>
          <p:cNvSpPr>
            <a:spLocks noGrp="1"/>
          </p:cNvSpPr>
          <p:nvPr>
            <p:ph idx="1"/>
          </p:nvPr>
        </p:nvSpPr>
        <p:spPr/>
        <p:txBody>
          <a:bodyPr>
            <a:normAutofit fontScale="92500" lnSpcReduction="20000"/>
          </a:bodyPr>
          <a:lstStyle/>
          <a:p>
            <a:pPr marL="0" indent="0">
              <a:buNone/>
            </a:pPr>
            <a:r>
              <a:rPr lang="es-AR" dirty="0"/>
              <a:t>VER MÁS ALLÁ DE LOS NÚMEROS</a:t>
            </a:r>
          </a:p>
          <a:p>
            <a:pPr marL="0" indent="0">
              <a:buNone/>
            </a:pPr>
            <a:r>
              <a:rPr lang="es-AR" dirty="0"/>
              <a:t>Qué más debemos entender para evaluar la compañía y sus riesgos, aspectos cualitativos como</a:t>
            </a:r>
          </a:p>
          <a:p>
            <a:r>
              <a:rPr lang="es-AR" dirty="0"/>
              <a:t>¿Los ingresos de la compañía dependen de un solo cliente?</a:t>
            </a:r>
          </a:p>
          <a:p>
            <a:r>
              <a:rPr lang="es-AR" dirty="0"/>
              <a:t>¿Hasta qué punto los ingresos dependen de un único producto?</a:t>
            </a:r>
          </a:p>
          <a:p>
            <a:r>
              <a:rPr lang="es-AR" dirty="0"/>
              <a:t>¿La compañía deprende de un solo proveedor?</a:t>
            </a:r>
          </a:p>
          <a:p>
            <a:r>
              <a:rPr lang="es-AR" dirty="0"/>
              <a:t>¿Qué porcentaje de las ventas se generan en el exterior?</a:t>
            </a:r>
          </a:p>
          <a:p>
            <a:r>
              <a:rPr lang="es-AR" dirty="0"/>
              <a:t>¿Cuánta competencia enfrenta la compañía?</a:t>
            </a:r>
          </a:p>
          <a:p>
            <a:r>
              <a:rPr lang="es-AR" dirty="0"/>
              <a:t>¿Es necesario que la compañía invierta permanentemente en R&amp;D?</a:t>
            </a:r>
          </a:p>
          <a:p>
            <a:r>
              <a:rPr lang="es-AR" dirty="0"/>
              <a:t>¿Los cambios en leyes y reglamentos podrían tener grandes implicaciones para </a:t>
            </a:r>
            <a:r>
              <a:rPr lang="es-AR"/>
              <a:t>la empresa?</a:t>
            </a:r>
            <a:endParaRPr lang="es-AR" dirty="0"/>
          </a:p>
          <a:p>
            <a:pPr marL="0" indent="0">
              <a:buNone/>
            </a:pPr>
            <a:endParaRPr lang="es-AR" sz="3600" dirty="0"/>
          </a:p>
          <a:p>
            <a:endParaRPr lang="es-ES" sz="3600" dirty="0"/>
          </a:p>
        </p:txBody>
      </p:sp>
    </p:spTree>
    <p:extLst>
      <p:ext uri="{BB962C8B-B14F-4D97-AF65-F5344CB8AC3E}">
        <p14:creationId xmlns:p14="http://schemas.microsoft.com/office/powerpoint/2010/main" val="174017907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0668E3FE9A3174EAF1AA80B147CEE15" ma:contentTypeVersion="4" ma:contentTypeDescription="Crear nuevo documento." ma:contentTypeScope="" ma:versionID="d29dfd9a9a7666034e5ad4f5ee96d9e6">
  <xsd:schema xmlns:xsd="http://www.w3.org/2001/XMLSchema" xmlns:xs="http://www.w3.org/2001/XMLSchema" xmlns:p="http://schemas.microsoft.com/office/2006/metadata/properties" xmlns:ns2="e0a2096b-51a3-4c59-a6bd-c7f798262ca8" targetNamespace="http://schemas.microsoft.com/office/2006/metadata/properties" ma:root="true" ma:fieldsID="bfc5d357d775e068c7ede3c89a10d3d3" ns2:_="">
    <xsd:import namespace="e0a2096b-51a3-4c59-a6bd-c7f798262c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a2096b-51a3-4c59-a6bd-c7f798262c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38869E7-444D-4609-9665-05F5C98D1610}"/>
</file>

<file path=customXml/itemProps2.xml><?xml version="1.0" encoding="utf-8"?>
<ds:datastoreItem xmlns:ds="http://schemas.openxmlformats.org/officeDocument/2006/customXml" ds:itemID="{7F399BD4-B9A9-4C21-8A4F-FB95F4B317C3}"/>
</file>

<file path=customXml/itemProps3.xml><?xml version="1.0" encoding="utf-8"?>
<ds:datastoreItem xmlns:ds="http://schemas.openxmlformats.org/officeDocument/2006/customXml" ds:itemID="{049E43E8-64EF-4A29-B3D1-215D89D0C5B9}"/>
</file>

<file path=docProps/app.xml><?xml version="1.0" encoding="utf-8"?>
<Properties xmlns="http://schemas.openxmlformats.org/officeDocument/2006/extended-properties" xmlns:vt="http://schemas.openxmlformats.org/officeDocument/2006/docPropsVTypes">
  <TotalTime>4636</TotalTime>
  <Words>6969</Words>
  <Application>Microsoft Office PowerPoint</Application>
  <PresentationFormat>Panorámica</PresentationFormat>
  <Paragraphs>618</Paragraphs>
  <Slides>69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69</vt:i4>
      </vt:variant>
    </vt:vector>
  </HeadingPairs>
  <TitlesOfParts>
    <vt:vector size="75" baseType="lpstr">
      <vt:lpstr>Arial</vt:lpstr>
      <vt:lpstr>Calibri</vt:lpstr>
      <vt:lpstr>Calibri Light</vt:lpstr>
      <vt:lpstr>Cambria Math</vt:lpstr>
      <vt:lpstr>Times New Roman</vt:lpstr>
      <vt:lpstr>Tema de Office</vt:lpstr>
      <vt:lpstr>MAESTRIA EN GESTION ECONOMICA Y FINANCIERA DE RIESGOS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lpstr>Análisis de Estados Financieros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GESTION ECONOMICA Y FINANCIERA DE RIESGOS</dc:title>
  <dc:creator>GRINBLAT GUSTAVO GABRIEL</dc:creator>
  <cp:lastModifiedBy>GRINBLAT GUSTAVO GABRIEL</cp:lastModifiedBy>
  <cp:revision>92</cp:revision>
  <dcterms:created xsi:type="dcterms:W3CDTF">2023-02-14T14:19:39Z</dcterms:created>
  <dcterms:modified xsi:type="dcterms:W3CDTF">2024-04-10T22:09:39Z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0x01010020668E3FE9A3174EAF1AA80B147CEE15</vt:lpwstr>
  </property>
</Properties>
</file>