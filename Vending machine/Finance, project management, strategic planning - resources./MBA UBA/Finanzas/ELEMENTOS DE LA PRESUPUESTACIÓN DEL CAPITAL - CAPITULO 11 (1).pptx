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75" r:id="rId8"/>
    <p:sldId id="276" r:id="rId9"/>
    <p:sldId id="278" r:id="rId10"/>
    <p:sldId id="263" r:id="rId11"/>
    <p:sldId id="277"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70DE0-4B97-CC8B-DA2B-D60A2C0FB91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CE1EAE-CFDC-004A-8AD0-B51F2403A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E0B6E68-C188-7EEF-0E02-F4E288897831}"/>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5" name="Marcador de pie de página 4">
            <a:extLst>
              <a:ext uri="{FF2B5EF4-FFF2-40B4-BE49-F238E27FC236}">
                <a16:creationId xmlns:a16="http://schemas.microsoft.com/office/drawing/2014/main" id="{F7066B6E-0635-0E1F-4379-C36A419EE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F0A89BD-292B-7733-6B8D-EB945709119F}"/>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10880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55550-A5A3-28B0-87A6-8BFA8585B8F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BD66766-5859-4C0F-EE4B-095181ED33E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0B49D55-9129-2BCB-CC58-BE8A5A02F695}"/>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5" name="Marcador de pie de página 4">
            <a:extLst>
              <a:ext uri="{FF2B5EF4-FFF2-40B4-BE49-F238E27FC236}">
                <a16:creationId xmlns:a16="http://schemas.microsoft.com/office/drawing/2014/main" id="{8178981B-655E-868D-A913-990DA313B7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E03A5C-2E50-F104-6EF2-328548C6ACC5}"/>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59285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39DAC-2954-AAC3-037A-EE7F5657C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38DAC5-5A1D-5565-6BE0-F8F9CBDC3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33658DC-F3F3-6928-E77C-724A8CE3D717}"/>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5" name="Marcador de pie de página 4">
            <a:extLst>
              <a:ext uri="{FF2B5EF4-FFF2-40B4-BE49-F238E27FC236}">
                <a16:creationId xmlns:a16="http://schemas.microsoft.com/office/drawing/2014/main" id="{C6F300DF-7CC3-8B85-E0CB-780F59CDA4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A390DF-3D5D-2441-8768-0FF172747768}"/>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9275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F108A-B6FD-4DD3-E57D-35251CCA8CD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ED3077-0282-9BA1-9647-34DCFFE91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F063130-158D-0337-1366-179AEC517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3EA4455-1040-78B0-9A83-CCFB496E4222}"/>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6" name="Marcador de pie de página 5">
            <a:extLst>
              <a:ext uri="{FF2B5EF4-FFF2-40B4-BE49-F238E27FC236}">
                <a16:creationId xmlns:a16="http://schemas.microsoft.com/office/drawing/2014/main" id="{42995CC5-9BF9-C25B-E551-617C0C741D3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3C6B983-CC89-87A7-83C5-E8A9302FAFA4}"/>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21824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3BB85-25AE-B83A-CCC5-5CA70BF9579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508F49-1586-2659-B704-8505E9964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781A51-2B5A-F1EE-3EDC-384ADF465F9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E8D3E41-1105-8E60-E088-8DDD261F5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DB2382-0414-A436-50DA-DA2406F429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57C37DA-8221-6D56-EC43-58433E468377}"/>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8" name="Marcador de pie de página 7">
            <a:extLst>
              <a:ext uri="{FF2B5EF4-FFF2-40B4-BE49-F238E27FC236}">
                <a16:creationId xmlns:a16="http://schemas.microsoft.com/office/drawing/2014/main" id="{7D2644E8-DD3F-D216-6AA3-E589B5767C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2884065-FAAE-BDB4-32F3-248B22010F12}"/>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6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6098B-B84A-5C8C-354A-8F8F9A6BD0E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D87682-7DDD-B19E-DDA9-A7CE4E324285}"/>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4" name="Marcador de pie de página 3">
            <a:extLst>
              <a:ext uri="{FF2B5EF4-FFF2-40B4-BE49-F238E27FC236}">
                <a16:creationId xmlns:a16="http://schemas.microsoft.com/office/drawing/2014/main" id="{0589A9E0-1E31-1CF9-9385-98ABD95ADFC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EC26854-C66C-13B9-DDBA-65127106A9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86231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4BDD1B5-8696-85E6-0336-67B2AFAA156B}"/>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3" name="Marcador de pie de página 2">
            <a:extLst>
              <a:ext uri="{FF2B5EF4-FFF2-40B4-BE49-F238E27FC236}">
                <a16:creationId xmlns:a16="http://schemas.microsoft.com/office/drawing/2014/main" id="{22484739-613F-8753-FA98-4D103CB30D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0D31B71-6907-91D9-EF05-792F513E347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69000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FB5C3-3275-A698-026C-886DC55FF4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BCABC4-5D18-3E27-6A44-FC26838C2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5E40746-4F71-7DE0-F012-7DDD0883F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EC19EE-490E-414E-CA52-E77AFF261BC8}"/>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6" name="Marcador de pie de página 5">
            <a:extLst>
              <a:ext uri="{FF2B5EF4-FFF2-40B4-BE49-F238E27FC236}">
                <a16:creationId xmlns:a16="http://schemas.microsoft.com/office/drawing/2014/main" id="{AD5E8014-1302-B4C8-7D17-5F4C8787FE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B6F6371-277E-CA55-1C44-DF90C0B487E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04195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F3D7D-6DB8-5CA8-33D8-A03C43B3A8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64D5670-BFC0-3DB3-A109-81380518AD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B36B38D-9A81-E64C-CE8E-3AEE8BAC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3425C7-DE0E-64F8-F3F8-B160236A6DAB}"/>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6" name="Marcador de pie de página 5">
            <a:extLst>
              <a:ext uri="{FF2B5EF4-FFF2-40B4-BE49-F238E27FC236}">
                <a16:creationId xmlns:a16="http://schemas.microsoft.com/office/drawing/2014/main" id="{2E301EDD-7F0A-9740-3332-CBB88123C04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3BE84C-6D96-5ADC-F3AA-6D44DAE245CB}"/>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4311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7BA53-C170-1009-035B-6DF474E71D2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91F61C2-014C-A45F-EB74-9AE786E3CC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AA3C9E-EE3D-1DC0-EA4A-7F73CAC9D3E8}"/>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5" name="Marcador de pie de página 4">
            <a:extLst>
              <a:ext uri="{FF2B5EF4-FFF2-40B4-BE49-F238E27FC236}">
                <a16:creationId xmlns:a16="http://schemas.microsoft.com/office/drawing/2014/main" id="{8334C08C-24E9-70D6-53B2-5821E4F4112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E8F520-0506-EC10-69F1-4C13CCE99709}"/>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3189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CA22DF-B559-E639-75C9-BC3D422A04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854BBD4-C434-4B35-66A5-AFBBAD652C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FE2F62-687B-D702-F79B-AC39487E9DA1}"/>
              </a:ext>
            </a:extLst>
          </p:cNvPr>
          <p:cNvSpPr>
            <a:spLocks noGrp="1"/>
          </p:cNvSpPr>
          <p:nvPr>
            <p:ph type="dt" sz="half" idx="10"/>
          </p:nvPr>
        </p:nvSpPr>
        <p:spPr/>
        <p:txBody>
          <a:bodyPr/>
          <a:lstStyle/>
          <a:p>
            <a:fld id="{6D4528C1-82C9-4445-A848-4CBA9F23312B}" type="datetimeFigureOut">
              <a:rPr lang="es-ES" smtClean="0"/>
              <a:t>28/04/2024</a:t>
            </a:fld>
            <a:endParaRPr lang="es-ES"/>
          </a:p>
        </p:txBody>
      </p:sp>
      <p:sp>
        <p:nvSpPr>
          <p:cNvPr id="5" name="Marcador de pie de página 4">
            <a:extLst>
              <a:ext uri="{FF2B5EF4-FFF2-40B4-BE49-F238E27FC236}">
                <a16:creationId xmlns:a16="http://schemas.microsoft.com/office/drawing/2014/main" id="{5226CF39-33C2-9BF3-544B-2B7B1446465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C9EBFF-3268-DB30-71CF-0042D24CE2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80733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40DA5B-4F04-5E8A-6DE3-71F150CED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B4A1CE-C411-332B-579B-A08B8F347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A8FEF5-8DEC-BE49-ED2C-FC43B05D4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28C1-82C9-4445-A848-4CBA9F23312B}" type="datetimeFigureOut">
              <a:rPr lang="es-ES" smtClean="0"/>
              <a:t>28/04/2024</a:t>
            </a:fld>
            <a:endParaRPr lang="es-ES"/>
          </a:p>
        </p:txBody>
      </p:sp>
      <p:sp>
        <p:nvSpPr>
          <p:cNvPr id="5" name="Marcador de pie de página 4">
            <a:extLst>
              <a:ext uri="{FF2B5EF4-FFF2-40B4-BE49-F238E27FC236}">
                <a16:creationId xmlns:a16="http://schemas.microsoft.com/office/drawing/2014/main" id="{EF70E8C6-1AE4-42A3-03D5-549133C6F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A2F828B-082D-E8A8-31BA-02F0F7F04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4C4F5-1195-4895-81EB-16EC24AC6F40}" type="slidenum">
              <a:rPr lang="es-ES" smtClean="0"/>
              <a:t>‹Nº›</a:t>
            </a:fld>
            <a:endParaRPr lang="es-ES"/>
          </a:p>
        </p:txBody>
      </p:sp>
    </p:spTree>
    <p:extLst>
      <p:ext uri="{BB962C8B-B14F-4D97-AF65-F5344CB8AC3E}">
        <p14:creationId xmlns:p14="http://schemas.microsoft.com/office/powerpoint/2010/main" val="1201274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a:effectLst/>
                <a:latin typeface="Times New Roman" panose="02020603050405020304" pitchFamily="18" charset="0"/>
                <a:ea typeface="Times New Roman" panose="02020603050405020304" pitchFamily="18" charset="0"/>
              </a:rPr>
              <a:t>MAESTRIA </a:t>
            </a:r>
            <a:r>
              <a:rPr lang="es-ES" sz="1800" b="1" dirty="0">
                <a:effectLst/>
                <a:latin typeface="Times New Roman" panose="02020603050405020304" pitchFamily="18" charset="0"/>
                <a:ea typeface="Times New Roman" panose="02020603050405020304" pitchFamily="18" charset="0"/>
              </a:rPr>
              <a:t>EN GESTION ECONOMICA </a:t>
            </a:r>
            <a:r>
              <a:rPr lang="es-ES" sz="1800" b="1">
                <a:effectLst/>
                <a:latin typeface="Times New Roman" panose="02020603050405020304" pitchFamily="18" charset="0"/>
                <a:ea typeface="Times New Roman" panose="02020603050405020304" pitchFamily="18" charset="0"/>
              </a:rPr>
              <a:t>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a:effectLst/>
                <a:latin typeface="Arial" panose="020B0604020202020204" pitchFamily="34" charset="0"/>
                <a:ea typeface="Times New Roman" panose="02020603050405020304" pitchFamily="18" charset="0"/>
              </a:rPr>
              <a:t>ASIGNATURA</a:t>
            </a:r>
            <a:r>
              <a:rPr lang="es-ES" sz="1800" b="1" dirty="0">
                <a:effectLst/>
                <a:latin typeface="Arial" panose="020B0604020202020204" pitchFamily="34" charset="0"/>
                <a:ea typeface="Times New Roman" panose="02020603050405020304" pitchFamily="18" charset="0"/>
              </a:rPr>
              <a:t>:  TÓPICOS DE </a:t>
            </a:r>
            <a:r>
              <a:rPr lang="es-ES" sz="1800" b="1">
                <a:effectLst/>
                <a:latin typeface="Arial" panose="020B0604020202020204" pitchFamily="34" charset="0"/>
                <a:ea typeface="Times New Roman" panose="02020603050405020304" pitchFamily="18" charset="0"/>
              </a:rPr>
              <a:t>FINANZAS CORPORATIVAS</a:t>
            </a:r>
            <a:endParaRPr lang="es-ES" sz="1800" b="1" dirty="0">
              <a:effectLst/>
              <a:latin typeface="Arial" panose="020B0604020202020204" pitchFamily="34" charset="0"/>
              <a:ea typeface="Times New Roman" panose="02020603050405020304" pitchFamily="18" charset="0"/>
            </a:endParaRP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a:t>
            </a:r>
            <a:r>
              <a:rPr lang="es-ES" sz="1800">
                <a:effectLst/>
                <a:latin typeface="Arial" panose="020B0604020202020204" pitchFamily="34" charset="0"/>
                <a:ea typeface="Times New Roman" panose="02020603050405020304" pitchFamily="18" charset="0"/>
              </a:rPr>
              <a:t>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sz="2400" dirty="0"/>
              <a:t>Los Cambios tecnológicos y las condiciones </a:t>
            </a:r>
            <a:r>
              <a:rPr lang="es-AR" sz="2400"/>
              <a:t>de mercado son oportunidades de grandes proyectos </a:t>
            </a:r>
            <a:r>
              <a:rPr lang="es-AR" sz="2400" dirty="0"/>
              <a:t>de éxito (o no</a:t>
            </a:r>
            <a:r>
              <a:rPr lang="es-AR" sz="2400"/>
              <a:t>) para </a:t>
            </a:r>
            <a:r>
              <a:rPr lang="es-AR" sz="2400" dirty="0"/>
              <a:t>los ejecutivos y </a:t>
            </a:r>
            <a:r>
              <a:rPr lang="es-AR" sz="2400"/>
              <a:t>el futuro </a:t>
            </a:r>
            <a:r>
              <a:rPr lang="es-AR" sz="2400" dirty="0"/>
              <a:t>de sus compañías</a:t>
            </a:r>
          </a:p>
          <a:p>
            <a:pPr lvl="1"/>
            <a:r>
              <a:rPr lang="es-AR" sz="2000"/>
              <a:t>Ford</a:t>
            </a:r>
            <a:r>
              <a:rPr lang="es-AR" sz="2000" dirty="0"/>
              <a:t>, inclusión de aluminio en sus Pick Ups F-150</a:t>
            </a:r>
          </a:p>
          <a:p>
            <a:pPr lvl="1"/>
            <a:r>
              <a:rPr lang="es-AR" sz="2000" dirty="0"/>
              <a:t>Apple, con su Apple </a:t>
            </a:r>
            <a:r>
              <a:rPr lang="es-AR" sz="2000" dirty="0" err="1"/>
              <a:t>watch</a:t>
            </a:r>
            <a:endParaRPr lang="es-AR" sz="2000" dirty="0"/>
          </a:p>
          <a:p>
            <a:pPr lvl="1"/>
            <a:r>
              <a:rPr lang="es-AR" sz="2000" dirty="0"/>
              <a:t>Boing </a:t>
            </a:r>
            <a:r>
              <a:rPr lang="es-AR" sz="2000"/>
              <a:t>y Airbus</a:t>
            </a:r>
            <a:r>
              <a:rPr lang="es-AR" sz="2000" dirty="0"/>
              <a:t>, </a:t>
            </a:r>
            <a:r>
              <a:rPr lang="es-AR" sz="2000"/>
              <a:t>nuevos proyectos </a:t>
            </a:r>
            <a:r>
              <a:rPr lang="es-AR" sz="2000" dirty="0"/>
              <a:t>de aviones</a:t>
            </a:r>
          </a:p>
          <a:p>
            <a:r>
              <a:rPr lang="es-AR" sz="2400"/>
              <a:t>Grandes </a:t>
            </a:r>
            <a:r>
              <a:rPr lang="es-AR" sz="2400" dirty="0"/>
              <a:t>necesidades de Capitales</a:t>
            </a:r>
            <a:r>
              <a:rPr lang="es-AR" sz="2400"/>
              <a:t>, dentro </a:t>
            </a:r>
            <a:r>
              <a:rPr lang="es-AR" sz="2400" dirty="0"/>
              <a:t>de </a:t>
            </a:r>
            <a:r>
              <a:rPr lang="es-AR" sz="2400"/>
              <a:t>un entorno </a:t>
            </a:r>
            <a:r>
              <a:rPr lang="es-AR" sz="2400" dirty="0"/>
              <a:t>altamente competitivo</a:t>
            </a:r>
          </a:p>
          <a:p>
            <a:pPr lvl="1"/>
            <a:r>
              <a:rPr lang="es-AR" sz="2000"/>
              <a:t>Proyecciones </a:t>
            </a:r>
            <a:r>
              <a:rPr lang="es-AR" sz="2000" dirty="0"/>
              <a:t>de cada </a:t>
            </a:r>
            <a:r>
              <a:rPr lang="es-AR" sz="2000"/>
              <a:t>“jugador”</a:t>
            </a:r>
            <a:endParaRPr lang="es-AR" sz="2000" dirty="0"/>
          </a:p>
          <a:p>
            <a:pPr lvl="1"/>
            <a:r>
              <a:rPr lang="es-AR" sz="2000" dirty="0"/>
              <a:t>Decisiones, </a:t>
            </a:r>
            <a:r>
              <a:rPr lang="es-AR" sz="2000"/>
              <a:t>que definirán </a:t>
            </a:r>
            <a:r>
              <a:rPr lang="es-AR" sz="2000" dirty="0"/>
              <a:t>quién </a:t>
            </a:r>
            <a:r>
              <a:rPr lang="es-AR" sz="2000"/>
              <a:t>“ganará</a:t>
            </a:r>
            <a:r>
              <a:rPr lang="es-AR" sz="2000" dirty="0"/>
              <a:t>” el juego. Ejemplo Samsung vs Apple</a:t>
            </a:r>
          </a:p>
          <a:p>
            <a:pPr lvl="1"/>
            <a:r>
              <a:rPr lang="es-AR" sz="2000"/>
              <a:t>Pronósticos </a:t>
            </a:r>
            <a:r>
              <a:rPr lang="es-AR" sz="2000" dirty="0"/>
              <a:t>de flujos negativos iniciales a </a:t>
            </a:r>
            <a:r>
              <a:rPr lang="es-AR" sz="2000"/>
              <a:t>cambio grandes </a:t>
            </a:r>
            <a:r>
              <a:rPr lang="es-AR" sz="2000" dirty="0"/>
              <a:t>y estables flujos positivos en </a:t>
            </a:r>
            <a:r>
              <a:rPr lang="es-AR" sz="2000"/>
              <a:t>el futuro</a:t>
            </a:r>
            <a:endParaRPr lang="es-AR" sz="2000" dirty="0"/>
          </a:p>
          <a:p>
            <a:r>
              <a:rPr lang="es-AR" sz="2400" dirty="0"/>
              <a:t>Estos </a:t>
            </a:r>
            <a:r>
              <a:rPr lang="es-AR" sz="2400"/>
              <a:t>elementos definirán </a:t>
            </a:r>
            <a:r>
              <a:rPr lang="es-AR" sz="2400" dirty="0"/>
              <a:t>la adopción o no de cada uno de </a:t>
            </a:r>
            <a:r>
              <a:rPr lang="es-AR" sz="2400"/>
              <a:t>esos grandes proyectos</a:t>
            </a:r>
            <a:r>
              <a:rPr lang="es-AR" sz="2400" dirty="0"/>
              <a:t>, basados en si el </a:t>
            </a:r>
            <a:r>
              <a:rPr lang="es-AR" sz="2400"/>
              <a:t>mismo incrementa </a:t>
            </a:r>
            <a:r>
              <a:rPr lang="es-AR" sz="2400" dirty="0"/>
              <a:t>o no </a:t>
            </a:r>
            <a:r>
              <a:rPr lang="es-AR" sz="2400"/>
              <a:t>el valor intrínseco </a:t>
            </a:r>
            <a:r>
              <a:rPr lang="es-AR" sz="2400" dirty="0"/>
              <a:t>de la Compañía</a:t>
            </a:r>
          </a:p>
          <a:p>
            <a:pPr lvl="1"/>
            <a:r>
              <a:rPr lang="es-AR" sz="2000"/>
              <a:t>El entorno competitivo aporta variabilidad </a:t>
            </a:r>
            <a:r>
              <a:rPr lang="es-AR" sz="2000" dirty="0"/>
              <a:t>y posibilidad </a:t>
            </a:r>
            <a:r>
              <a:rPr lang="es-AR" sz="2000"/>
              <a:t>de mayores errores </a:t>
            </a:r>
            <a:r>
              <a:rPr lang="es-AR" sz="2000" dirty="0"/>
              <a:t>en </a:t>
            </a:r>
            <a:r>
              <a:rPr lang="es-AR" sz="2000"/>
              <a:t>los pronósticos</a:t>
            </a:r>
            <a:endParaRPr lang="es-AR" sz="2000" dirty="0"/>
          </a:p>
          <a:p>
            <a:r>
              <a:rPr lang="es-AR" sz="2400" dirty="0"/>
              <a:t>Del mismo modo, </a:t>
            </a:r>
            <a:r>
              <a:rPr lang="es-AR" sz="2400"/>
              <a:t>decisiones rutinarias </a:t>
            </a:r>
            <a:r>
              <a:rPr lang="es-AR" sz="2400" dirty="0"/>
              <a:t>como </a:t>
            </a:r>
            <a:r>
              <a:rPr lang="es-AR" sz="2400"/>
              <a:t>la renovación </a:t>
            </a:r>
            <a:r>
              <a:rPr lang="es-AR" sz="2400" dirty="0"/>
              <a:t>de equipos y flotas de la Compañía, se exponen a los </a:t>
            </a:r>
            <a:r>
              <a:rPr lang="es-AR" sz="2400"/>
              <a:t>mismos principios </a:t>
            </a:r>
            <a:r>
              <a:rPr lang="es-AR" sz="2400" dirty="0"/>
              <a:t>de análisis </a:t>
            </a:r>
          </a:p>
          <a:p>
            <a:endParaRPr lang="es-AR" sz="2400" dirty="0"/>
          </a:p>
        </p:txBody>
      </p:sp>
    </p:spTree>
    <p:extLst>
      <p:ext uri="{BB962C8B-B14F-4D97-AF65-F5344CB8AC3E}">
        <p14:creationId xmlns:p14="http://schemas.microsoft.com/office/powerpoint/2010/main" val="165581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sz="2400" dirty="0"/>
              <a:t>En el </a:t>
            </a:r>
            <a:r>
              <a:rPr lang="es-AR" sz="2400"/>
              <a:t>tema anterior, </a:t>
            </a:r>
            <a:r>
              <a:rPr lang="es-AR" sz="2400" dirty="0"/>
              <a:t>hemos analizado el Costo del Capital </a:t>
            </a:r>
            <a:r>
              <a:rPr lang="es-AR" sz="2400"/>
              <a:t>a través </a:t>
            </a:r>
            <a:r>
              <a:rPr lang="es-AR" sz="2400" dirty="0"/>
              <a:t>de WACC</a:t>
            </a:r>
          </a:p>
          <a:p>
            <a:r>
              <a:rPr lang="es-AR" sz="2400"/>
              <a:t>Ahora pasaremos </a:t>
            </a:r>
            <a:r>
              <a:rPr lang="es-AR" sz="2400" dirty="0"/>
              <a:t>a las decisiones </a:t>
            </a:r>
            <a:r>
              <a:rPr lang="es-AR" sz="2400"/>
              <a:t>de inversión que involucran </a:t>
            </a:r>
            <a:r>
              <a:rPr lang="es-AR" sz="2400" dirty="0"/>
              <a:t>al Activo fijo </a:t>
            </a:r>
            <a:r>
              <a:rPr lang="es-AR" sz="2400"/>
              <a:t>o Presupuestación </a:t>
            </a:r>
            <a:r>
              <a:rPr lang="es-AR" sz="2400" dirty="0"/>
              <a:t>del Capital</a:t>
            </a:r>
          </a:p>
          <a:p>
            <a:r>
              <a:rPr lang="es-AR" sz="2400" dirty="0"/>
              <a:t>Nos </a:t>
            </a:r>
            <a:r>
              <a:rPr lang="es-AR" sz="2400"/>
              <a:t>estamos refiriendo</a:t>
            </a:r>
            <a:r>
              <a:rPr lang="es-AR" sz="2400" dirty="0"/>
              <a:t>, </a:t>
            </a:r>
            <a:r>
              <a:rPr lang="es-AR" sz="2400"/>
              <a:t>al hablar </a:t>
            </a:r>
            <a:r>
              <a:rPr lang="es-AR" sz="2400" dirty="0"/>
              <a:t>de Capital, a Activos </a:t>
            </a:r>
            <a:r>
              <a:rPr lang="es-AR" sz="2400"/>
              <a:t>de Largo </a:t>
            </a:r>
            <a:r>
              <a:rPr lang="es-AR" sz="2400" dirty="0"/>
              <a:t>Plazo utilizados en </a:t>
            </a:r>
            <a:r>
              <a:rPr lang="es-AR" sz="2400"/>
              <a:t>la producción </a:t>
            </a:r>
            <a:endParaRPr lang="es-AR" sz="2400" dirty="0"/>
          </a:p>
          <a:p>
            <a:r>
              <a:rPr lang="es-AR" sz="2400"/>
              <a:t>Un presupuesto </a:t>
            </a:r>
            <a:r>
              <a:rPr lang="es-AR" sz="2400" dirty="0"/>
              <a:t>es un plan </a:t>
            </a:r>
            <a:r>
              <a:rPr lang="es-AR" sz="2400"/>
              <a:t>que perfila </a:t>
            </a:r>
            <a:r>
              <a:rPr lang="es-AR" sz="2400" dirty="0"/>
              <a:t>los </a:t>
            </a:r>
            <a:r>
              <a:rPr lang="es-AR" sz="2400"/>
              <a:t>gastos proyectados durante un período futuro</a:t>
            </a:r>
            <a:endParaRPr lang="es-AR" sz="2400" dirty="0"/>
          </a:p>
          <a:p>
            <a:r>
              <a:rPr lang="es-AR" sz="2400"/>
              <a:t>El presupuesto </a:t>
            </a:r>
            <a:r>
              <a:rPr lang="es-AR" sz="2400" dirty="0"/>
              <a:t>de Capital es </a:t>
            </a:r>
            <a:r>
              <a:rPr lang="es-AR" sz="2400"/>
              <a:t>un resumen de inversiones </a:t>
            </a:r>
            <a:r>
              <a:rPr lang="es-AR" sz="2400" dirty="0"/>
              <a:t>planeadas en Activos </a:t>
            </a:r>
            <a:r>
              <a:rPr lang="es-AR" sz="2400"/>
              <a:t>de Largo </a:t>
            </a:r>
            <a:r>
              <a:rPr lang="es-AR" sz="2400" dirty="0"/>
              <a:t>Plazo</a:t>
            </a:r>
          </a:p>
          <a:p>
            <a:r>
              <a:rPr lang="es-AR" sz="2400"/>
              <a:t>La presupuestación </a:t>
            </a:r>
            <a:r>
              <a:rPr lang="es-AR" sz="2400" dirty="0"/>
              <a:t>del Capital es </a:t>
            </a:r>
            <a:r>
              <a:rPr lang="es-AR" sz="2400"/>
              <a:t>el proceso entero de analizar proyectos y decidir cuáles incluir </a:t>
            </a:r>
            <a:r>
              <a:rPr lang="es-AR" sz="2400" dirty="0"/>
              <a:t>en </a:t>
            </a:r>
            <a:r>
              <a:rPr lang="es-AR" sz="2400"/>
              <a:t>el presupuesto </a:t>
            </a:r>
            <a:r>
              <a:rPr lang="es-AR" sz="2400" dirty="0"/>
              <a:t>de </a:t>
            </a:r>
            <a:r>
              <a:rPr lang="es-AR" sz="2400"/>
              <a:t>Capital arriba </a:t>
            </a:r>
            <a:r>
              <a:rPr lang="es-AR" sz="2400" dirty="0"/>
              <a:t>mencionado</a:t>
            </a:r>
          </a:p>
          <a:p>
            <a:r>
              <a:rPr lang="es-AR" sz="2400"/>
              <a:t>Las grandes empresas </a:t>
            </a:r>
            <a:r>
              <a:rPr lang="es-AR" sz="2400" dirty="0"/>
              <a:t>usan las técnicas </a:t>
            </a:r>
            <a:r>
              <a:rPr lang="es-AR" sz="2400"/>
              <a:t>que analizaremos</a:t>
            </a:r>
            <a:r>
              <a:rPr lang="es-AR" sz="2400" dirty="0"/>
              <a:t>, a </a:t>
            </a:r>
            <a:r>
              <a:rPr lang="es-AR" sz="2400"/>
              <a:t>la hora de aceptar o rechazar propuestas de erogación </a:t>
            </a:r>
            <a:r>
              <a:rPr lang="es-AR" sz="2400" dirty="0"/>
              <a:t>de Capital</a:t>
            </a:r>
          </a:p>
        </p:txBody>
      </p:sp>
    </p:spTree>
    <p:extLst>
      <p:ext uri="{BB962C8B-B14F-4D97-AF65-F5344CB8AC3E}">
        <p14:creationId xmlns:p14="http://schemas.microsoft.com/office/powerpoint/2010/main" val="3252891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a:t>Visión panorámica </a:t>
            </a:r>
            <a:r>
              <a:rPr lang="es-AR" sz="2400" dirty="0"/>
              <a:t>de </a:t>
            </a:r>
            <a:r>
              <a:rPr lang="es-AR" sz="2400"/>
              <a:t>la presupuestación </a:t>
            </a:r>
            <a:r>
              <a:rPr lang="es-AR" sz="2400" dirty="0"/>
              <a:t>del Capital</a:t>
            </a:r>
          </a:p>
          <a:p>
            <a:r>
              <a:rPr lang="es-AR" sz="2400"/>
              <a:t>Iguales principios </a:t>
            </a:r>
            <a:r>
              <a:rPr lang="es-AR" sz="2400" dirty="0"/>
              <a:t>que la valuación de </a:t>
            </a:r>
            <a:r>
              <a:rPr lang="es-AR" sz="2400"/>
              <a:t>títulos bursátiles, pero </a:t>
            </a:r>
            <a:r>
              <a:rPr lang="es-AR" sz="2400" dirty="0"/>
              <a:t>con </a:t>
            </a:r>
            <a:r>
              <a:rPr lang="es-AR" sz="2400"/>
              <a:t>dos grandes diferencias, primero</a:t>
            </a:r>
            <a:endParaRPr lang="es-AR" sz="2400" dirty="0"/>
          </a:p>
          <a:p>
            <a:pPr lvl="1"/>
            <a:r>
              <a:rPr lang="es-AR" sz="2000" dirty="0"/>
              <a:t>Los </a:t>
            </a:r>
            <a:r>
              <a:rPr lang="es-AR" sz="2000"/>
              <a:t>títulos bursátiles </a:t>
            </a:r>
            <a:r>
              <a:rPr lang="es-AR" sz="2000" dirty="0"/>
              <a:t>se </a:t>
            </a:r>
            <a:r>
              <a:rPr lang="es-AR" sz="2000"/>
              <a:t>seleccionan entre </a:t>
            </a:r>
            <a:r>
              <a:rPr lang="es-AR" sz="2000" dirty="0"/>
              <a:t>los </a:t>
            </a:r>
            <a:r>
              <a:rPr lang="es-AR" sz="2000" b="1" dirty="0"/>
              <a:t>disponibles</a:t>
            </a:r>
            <a:r>
              <a:rPr lang="es-AR" sz="2000" dirty="0"/>
              <a:t> en </a:t>
            </a:r>
            <a:r>
              <a:rPr lang="es-AR" sz="2000"/>
              <a:t>el mercado </a:t>
            </a:r>
            <a:r>
              <a:rPr lang="es-AR" sz="2000" dirty="0"/>
              <a:t>(ya existen)</a:t>
            </a:r>
          </a:p>
          <a:p>
            <a:pPr lvl="1"/>
            <a:r>
              <a:rPr lang="es-AR" sz="2000"/>
              <a:t>Las Empresas</a:t>
            </a:r>
            <a:r>
              <a:rPr lang="es-AR" sz="2000" dirty="0"/>
              <a:t>, en cambio</a:t>
            </a:r>
            <a:r>
              <a:rPr lang="es-AR" sz="2000"/>
              <a:t>, crean proyectos de presupuestación </a:t>
            </a:r>
            <a:r>
              <a:rPr lang="es-AR" sz="2000" dirty="0"/>
              <a:t>del Capital</a:t>
            </a:r>
          </a:p>
          <a:p>
            <a:r>
              <a:rPr lang="es-AR" sz="2400" dirty="0"/>
              <a:t>y, segundo,</a:t>
            </a:r>
          </a:p>
          <a:p>
            <a:pPr lvl="1"/>
            <a:r>
              <a:rPr lang="es-AR" sz="2000"/>
              <a:t>El inversionista </a:t>
            </a:r>
            <a:r>
              <a:rPr lang="es-AR" sz="2000" dirty="0"/>
              <a:t>en </a:t>
            </a:r>
            <a:r>
              <a:rPr lang="es-AR" sz="2000"/>
              <a:t>el mercado de valores </a:t>
            </a:r>
            <a:r>
              <a:rPr lang="es-AR" sz="2000" dirty="0"/>
              <a:t>no tiene </a:t>
            </a:r>
            <a:r>
              <a:rPr lang="es-AR" sz="2000"/>
              <a:t>cómo influir </a:t>
            </a:r>
            <a:r>
              <a:rPr lang="es-AR" sz="2000" dirty="0"/>
              <a:t>en los CF de </a:t>
            </a:r>
            <a:r>
              <a:rPr lang="es-AR" sz="2000"/>
              <a:t>sus inversiones</a:t>
            </a:r>
            <a:endParaRPr lang="es-AR" sz="2000" dirty="0"/>
          </a:p>
          <a:p>
            <a:pPr lvl="1"/>
            <a:r>
              <a:rPr lang="es-AR" sz="2000"/>
              <a:t>Las Corporaciones, por el contrario, ejercen gran </a:t>
            </a:r>
            <a:r>
              <a:rPr lang="es-AR" sz="2000" dirty="0"/>
              <a:t>influencia en </a:t>
            </a:r>
            <a:r>
              <a:rPr lang="es-AR" sz="2000"/>
              <a:t>los resultados </a:t>
            </a:r>
            <a:r>
              <a:rPr lang="es-AR" sz="2000" dirty="0"/>
              <a:t>de </a:t>
            </a:r>
            <a:r>
              <a:rPr lang="es-AR" sz="2000"/>
              <a:t>sus proyectos</a:t>
            </a:r>
            <a:endParaRPr lang="es-AR" sz="2000" dirty="0"/>
          </a:p>
          <a:p>
            <a:r>
              <a:rPr lang="es-AR" sz="2400" dirty="0"/>
              <a:t>Aun así, en ambos casos </a:t>
            </a:r>
            <a:r>
              <a:rPr lang="es-AR" sz="2400"/>
              <a:t>estamos pronosticando </a:t>
            </a:r>
            <a:r>
              <a:rPr lang="es-AR" sz="2400" dirty="0"/>
              <a:t>flujos de efectivo, su VA y hacemos </a:t>
            </a:r>
            <a:r>
              <a:rPr lang="es-AR" sz="2400"/>
              <a:t>la inversión </a:t>
            </a:r>
            <a:r>
              <a:rPr lang="es-AR" sz="2400" dirty="0"/>
              <a:t>sólo si </a:t>
            </a:r>
            <a:r>
              <a:rPr lang="es-AR" sz="2400"/>
              <a:t>éste supera </a:t>
            </a:r>
            <a:r>
              <a:rPr lang="es-AR" sz="2400" dirty="0"/>
              <a:t>el costo del </a:t>
            </a:r>
            <a:r>
              <a:rPr lang="es-AR" sz="2400"/>
              <a:t>título bursátil </a:t>
            </a:r>
            <a:r>
              <a:rPr lang="es-AR" sz="2400" dirty="0"/>
              <a:t>o </a:t>
            </a:r>
            <a:r>
              <a:rPr lang="es-AR" sz="2400"/>
              <a:t>la inversión</a:t>
            </a:r>
            <a:endParaRPr lang="es-AR" sz="2400" dirty="0"/>
          </a:p>
        </p:txBody>
      </p:sp>
    </p:spTree>
    <p:extLst>
      <p:ext uri="{BB962C8B-B14F-4D97-AF65-F5344CB8AC3E}">
        <p14:creationId xmlns:p14="http://schemas.microsoft.com/office/powerpoint/2010/main" val="2947732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sz="2400"/>
              <a:t>Visión panorámica </a:t>
            </a:r>
            <a:r>
              <a:rPr lang="es-AR" sz="2400" dirty="0"/>
              <a:t>de </a:t>
            </a:r>
            <a:r>
              <a:rPr lang="es-AR" sz="2400"/>
              <a:t>la presupuestación </a:t>
            </a:r>
            <a:r>
              <a:rPr lang="es-AR" sz="2400" dirty="0"/>
              <a:t>del Capital</a:t>
            </a:r>
          </a:p>
          <a:p>
            <a:r>
              <a:rPr lang="es-AR" sz="2400"/>
              <a:t>El crecimiento </a:t>
            </a:r>
            <a:r>
              <a:rPr lang="es-AR" sz="2400" dirty="0"/>
              <a:t>de </a:t>
            </a:r>
            <a:r>
              <a:rPr lang="es-AR" sz="2400"/>
              <a:t>una empresa </a:t>
            </a:r>
            <a:r>
              <a:rPr lang="es-AR" sz="2400" dirty="0"/>
              <a:t>y su capacidad competitiva dependen de un flujo constante de </a:t>
            </a:r>
            <a:r>
              <a:rPr lang="es-AR" sz="2400"/>
              <a:t>ideas relativas </a:t>
            </a:r>
            <a:r>
              <a:rPr lang="es-AR" sz="2400" dirty="0"/>
              <a:t>a</a:t>
            </a:r>
          </a:p>
          <a:p>
            <a:pPr lvl="1"/>
            <a:r>
              <a:rPr lang="es-AR" sz="2000"/>
              <a:t>Nuevos productos</a:t>
            </a:r>
            <a:endParaRPr lang="es-AR" sz="2000" dirty="0"/>
          </a:p>
          <a:p>
            <a:pPr lvl="1"/>
            <a:r>
              <a:rPr lang="es-AR" sz="2000"/>
              <a:t>Mejoras </a:t>
            </a:r>
            <a:r>
              <a:rPr lang="es-AR" sz="2000" dirty="0"/>
              <a:t>de los existentes</a:t>
            </a:r>
          </a:p>
          <a:p>
            <a:pPr lvl="1"/>
            <a:r>
              <a:rPr lang="es-AR" sz="2000"/>
              <a:t>Cómo volverse </a:t>
            </a:r>
            <a:r>
              <a:rPr lang="es-AR" sz="2000" dirty="0"/>
              <a:t>cada vez más eficientes en  </a:t>
            </a:r>
            <a:r>
              <a:rPr lang="es-AR" sz="2000"/>
              <a:t>la operación</a:t>
            </a:r>
            <a:endParaRPr lang="es-AR" sz="2000" dirty="0"/>
          </a:p>
          <a:p>
            <a:r>
              <a:rPr lang="es-AR" sz="2400" dirty="0"/>
              <a:t>Esto lleva </a:t>
            </a:r>
            <a:r>
              <a:rPr lang="es-AR" sz="2400"/>
              <a:t>a desarrollar buenas propuestas de presupuestación </a:t>
            </a:r>
            <a:r>
              <a:rPr lang="es-AR" sz="2400" dirty="0"/>
              <a:t>del Capital, </a:t>
            </a:r>
            <a:r>
              <a:rPr lang="es-AR" sz="2400"/>
              <a:t>y para involucrar </a:t>
            </a:r>
            <a:r>
              <a:rPr lang="es-AR" sz="2400" dirty="0"/>
              <a:t>a toda </a:t>
            </a:r>
            <a:r>
              <a:rPr lang="es-AR" sz="2400"/>
              <a:t>la Corporación se desarrollan </a:t>
            </a:r>
            <a:r>
              <a:rPr lang="es-AR" sz="2400" dirty="0"/>
              <a:t>planes de incentivos a distintos niveles</a:t>
            </a:r>
            <a:r>
              <a:rPr lang="es-AR" sz="2400"/>
              <a:t>, para alentar </a:t>
            </a:r>
            <a:r>
              <a:rPr lang="es-AR" sz="2400" dirty="0"/>
              <a:t>la búsqueda de buenas ideas, en especial las </a:t>
            </a:r>
            <a:r>
              <a:rPr lang="es-AR" sz="2400"/>
              <a:t>que desembocarán en inversiones </a:t>
            </a:r>
            <a:r>
              <a:rPr lang="es-AR" sz="2400" dirty="0"/>
              <a:t>de Capital</a:t>
            </a:r>
          </a:p>
          <a:p>
            <a:r>
              <a:rPr lang="es-AR" sz="2400" dirty="0"/>
              <a:t>El análisis de </a:t>
            </a:r>
            <a:r>
              <a:rPr lang="es-AR" sz="2400"/>
              <a:t>posibles inversiones </a:t>
            </a:r>
            <a:r>
              <a:rPr lang="es-AR" sz="2400" dirty="0"/>
              <a:t>no </a:t>
            </a:r>
            <a:r>
              <a:rPr lang="es-AR" sz="2400"/>
              <a:t>está libre </a:t>
            </a:r>
            <a:r>
              <a:rPr lang="es-AR" sz="2400" dirty="0"/>
              <a:t>de costos, </a:t>
            </a:r>
            <a:r>
              <a:rPr lang="es-AR" sz="2400"/>
              <a:t>algunos requieren </a:t>
            </a:r>
            <a:r>
              <a:rPr lang="es-AR" sz="2400" dirty="0"/>
              <a:t>de </a:t>
            </a:r>
            <a:r>
              <a:rPr lang="es-AR" sz="2400"/>
              <a:t>muchas horas </a:t>
            </a:r>
            <a:r>
              <a:rPr lang="es-AR" sz="2400" dirty="0"/>
              <a:t>costosas de especialistas, lo que lleva a </a:t>
            </a:r>
            <a:r>
              <a:rPr lang="es-AR" sz="2400"/>
              <a:t>las empresas a clasificar sus proyectos y analizarlos </a:t>
            </a:r>
            <a:r>
              <a:rPr lang="es-AR" sz="2400" dirty="0"/>
              <a:t>en </a:t>
            </a:r>
            <a:r>
              <a:rPr lang="es-AR" sz="2400"/>
              <a:t>una forma acorde </a:t>
            </a:r>
            <a:r>
              <a:rPr lang="es-AR" sz="2400" dirty="0"/>
              <a:t>a </a:t>
            </a:r>
            <a:r>
              <a:rPr lang="es-AR" sz="2400"/>
              <a:t>su categoría, por </a:t>
            </a:r>
            <a:r>
              <a:rPr lang="es-AR" sz="2400" dirty="0"/>
              <a:t>ejemplo … </a:t>
            </a:r>
          </a:p>
        </p:txBody>
      </p:sp>
    </p:spTree>
    <p:extLst>
      <p:ext uri="{BB962C8B-B14F-4D97-AF65-F5344CB8AC3E}">
        <p14:creationId xmlns:p14="http://schemas.microsoft.com/office/powerpoint/2010/main" val="1411072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sz="2400"/>
              <a:t>Visión panorámica </a:t>
            </a:r>
            <a:r>
              <a:rPr lang="es-AR" sz="2400" dirty="0"/>
              <a:t>de </a:t>
            </a:r>
            <a:r>
              <a:rPr lang="es-AR" sz="2400"/>
              <a:t>la presupuestación </a:t>
            </a:r>
            <a:r>
              <a:rPr lang="es-AR" sz="2400" dirty="0"/>
              <a:t>del Capital</a:t>
            </a:r>
          </a:p>
          <a:p>
            <a:pPr marL="457200" indent="-457200">
              <a:buFont typeface="+mj-lt"/>
              <a:buAutoNum type="arabicPeriod"/>
            </a:pPr>
            <a:r>
              <a:rPr lang="es-AR" sz="2400"/>
              <a:t>Reemplazos</a:t>
            </a:r>
            <a:r>
              <a:rPr lang="es-AR" sz="2400" dirty="0"/>
              <a:t>: </a:t>
            </a:r>
            <a:r>
              <a:rPr lang="es-AR" sz="2400"/>
              <a:t>indispensable para mantener la operación en curso</a:t>
            </a:r>
            <a:r>
              <a:rPr lang="es-AR" sz="2400" dirty="0"/>
              <a:t>. Equipos desgastados/</a:t>
            </a:r>
            <a:r>
              <a:rPr lang="es-AR" sz="2400"/>
              <a:t>dañados para continuar la producción</a:t>
            </a:r>
            <a:r>
              <a:rPr lang="es-AR" sz="2400" dirty="0"/>
              <a:t>: ¿</a:t>
            </a:r>
            <a:r>
              <a:rPr lang="es-AR" sz="2400"/>
              <a:t>Esta producción debe continuar </a:t>
            </a:r>
            <a:r>
              <a:rPr lang="es-AR" sz="2400" dirty="0"/>
              <a:t>y</a:t>
            </a:r>
            <a:r>
              <a:rPr lang="es-AR" sz="2400"/>
              <a:t>, por </a:t>
            </a:r>
            <a:r>
              <a:rPr lang="es-AR" sz="2400" dirty="0"/>
              <a:t>ende</a:t>
            </a:r>
            <a:r>
              <a:rPr lang="es-AR" sz="2400"/>
              <a:t>, realizar los reemplazos</a:t>
            </a:r>
            <a:r>
              <a:rPr lang="es-AR" sz="2400" dirty="0"/>
              <a:t>, con </a:t>
            </a:r>
            <a:r>
              <a:rPr lang="es-AR" sz="2400"/>
              <a:t>iguales procesos y maquinarias</a:t>
            </a:r>
            <a:r>
              <a:rPr lang="es-AR" sz="2400" dirty="0"/>
              <a:t>? Si </a:t>
            </a:r>
            <a:r>
              <a:rPr lang="es-AR" sz="2400"/>
              <a:t>la respuesta es afirmativa</a:t>
            </a:r>
            <a:r>
              <a:rPr lang="es-AR" sz="2400" dirty="0"/>
              <a:t>, </a:t>
            </a:r>
            <a:r>
              <a:rPr lang="es-AR" sz="2400"/>
              <a:t>no debiera implicar un proceso </a:t>
            </a:r>
            <a:r>
              <a:rPr lang="es-AR" sz="2400" dirty="0"/>
              <a:t>de decisión muy complejo</a:t>
            </a:r>
          </a:p>
          <a:p>
            <a:pPr marL="457200" indent="-457200">
              <a:buFont typeface="+mj-lt"/>
              <a:buAutoNum type="arabicPeriod"/>
            </a:pPr>
            <a:r>
              <a:rPr lang="es-AR" sz="2400"/>
              <a:t>Reemplazo: Reducción </a:t>
            </a:r>
            <a:r>
              <a:rPr lang="es-AR" sz="2400" dirty="0"/>
              <a:t>de costos. </a:t>
            </a:r>
            <a:r>
              <a:rPr lang="es-AR" sz="2400"/>
              <a:t>Gastos para reemplazar </a:t>
            </a:r>
            <a:r>
              <a:rPr lang="es-AR" sz="2400" dirty="0"/>
              <a:t>equipos </a:t>
            </a:r>
            <a:r>
              <a:rPr lang="es-AR" sz="2400"/>
              <a:t>obsoletos por más modernos </a:t>
            </a:r>
            <a:r>
              <a:rPr lang="es-AR" sz="2400" dirty="0"/>
              <a:t>y </a:t>
            </a:r>
            <a:r>
              <a:rPr lang="es-AR" sz="2400"/>
              <a:t>así reducir </a:t>
            </a:r>
            <a:r>
              <a:rPr lang="es-AR" sz="2400" dirty="0"/>
              <a:t>costos. La decisión </a:t>
            </a:r>
            <a:r>
              <a:rPr lang="es-AR" sz="2400"/>
              <a:t>es discrecional y requiere en general </a:t>
            </a:r>
            <a:r>
              <a:rPr lang="es-AR" sz="2400" dirty="0"/>
              <a:t>un análisis más detallado</a:t>
            </a:r>
          </a:p>
          <a:p>
            <a:pPr marL="457200" indent="-457200">
              <a:buFont typeface="+mj-lt"/>
              <a:buAutoNum type="arabicPeriod"/>
            </a:pPr>
            <a:r>
              <a:rPr lang="es-AR" sz="2400" dirty="0"/>
              <a:t>Expansión </a:t>
            </a:r>
            <a:r>
              <a:rPr lang="es-AR" sz="2400"/>
              <a:t>de productos o mercado </a:t>
            </a:r>
            <a:r>
              <a:rPr lang="es-AR" sz="2400" dirty="0"/>
              <a:t>existentes</a:t>
            </a:r>
            <a:r>
              <a:rPr lang="es-AR" sz="2400"/>
              <a:t>. Erogaciones para incrementarlos</a:t>
            </a:r>
            <a:r>
              <a:rPr lang="es-AR" sz="2400" dirty="0"/>
              <a:t>. Estas decisiones son más complejas </a:t>
            </a:r>
            <a:r>
              <a:rPr lang="es-AR" sz="2400"/>
              <a:t>y requieren de mayores </a:t>
            </a:r>
            <a:r>
              <a:rPr lang="es-AR" sz="2400" dirty="0"/>
              <a:t>análisis</a:t>
            </a:r>
            <a:r>
              <a:rPr lang="es-AR" sz="2400"/>
              <a:t>, crecimiento </a:t>
            </a:r>
            <a:r>
              <a:rPr lang="es-AR" sz="2400" dirty="0"/>
              <a:t>de la demanda</a:t>
            </a:r>
            <a:r>
              <a:rPr lang="es-AR" sz="2400"/>
              <a:t>, por </a:t>
            </a:r>
            <a:r>
              <a:rPr lang="es-AR" sz="2400" dirty="0"/>
              <a:t>ejemplo. La decisión </a:t>
            </a:r>
            <a:r>
              <a:rPr lang="es-AR" sz="2400"/>
              <a:t>de invertir </a:t>
            </a:r>
            <a:r>
              <a:rPr lang="es-AR" sz="2400" dirty="0"/>
              <a:t>o no en la expansión se toma en los niveles más altos de la Compañía</a:t>
            </a:r>
          </a:p>
          <a:p>
            <a:pPr marL="457200" indent="-457200">
              <a:buFont typeface="+mj-lt"/>
              <a:buAutoNum type="arabicPeriod"/>
            </a:pPr>
            <a:endParaRPr lang="es-AR" sz="2400" dirty="0"/>
          </a:p>
          <a:p>
            <a:pPr marL="457200" indent="-457200">
              <a:buFont typeface="+mj-lt"/>
              <a:buAutoNum type="arabicPeriod"/>
            </a:pPr>
            <a:endParaRPr lang="es-AR" sz="2400" dirty="0"/>
          </a:p>
        </p:txBody>
      </p:sp>
    </p:spTree>
    <p:extLst>
      <p:ext uri="{BB962C8B-B14F-4D97-AF65-F5344CB8AC3E}">
        <p14:creationId xmlns:p14="http://schemas.microsoft.com/office/powerpoint/2010/main" val="2239385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a:t>Visión panorámica </a:t>
            </a:r>
            <a:r>
              <a:rPr lang="es-AR" sz="2400" dirty="0"/>
              <a:t>de </a:t>
            </a:r>
            <a:r>
              <a:rPr lang="es-AR" sz="2400"/>
              <a:t>la presupuestación </a:t>
            </a:r>
            <a:r>
              <a:rPr lang="es-AR" sz="2400" dirty="0"/>
              <a:t>del Capital</a:t>
            </a:r>
          </a:p>
          <a:p>
            <a:pPr marL="457200" indent="-457200">
              <a:buFont typeface="+mj-lt"/>
              <a:buAutoNum type="arabicPeriod" startAt="4"/>
            </a:pPr>
            <a:r>
              <a:rPr lang="es-AR" sz="2400" dirty="0"/>
              <a:t>Expansión a </a:t>
            </a:r>
            <a:r>
              <a:rPr lang="es-AR" sz="2400"/>
              <a:t>nuevos productos o mercados. Involucra decisiones estratégicas que podrían cambiar la naturaleza </a:t>
            </a:r>
            <a:r>
              <a:rPr lang="es-AR" sz="2400" dirty="0"/>
              <a:t>fundamental de </a:t>
            </a:r>
            <a:r>
              <a:rPr lang="es-AR" sz="2400"/>
              <a:t>la Empresa</a:t>
            </a:r>
            <a:r>
              <a:rPr lang="es-AR" sz="2400" dirty="0"/>
              <a:t>. Análisis mucho más detallado y la decisión final </a:t>
            </a:r>
            <a:r>
              <a:rPr lang="es-AR" sz="2400"/>
              <a:t>se tomará </a:t>
            </a:r>
            <a:r>
              <a:rPr lang="es-AR" sz="2400" dirty="0"/>
              <a:t>al más alto </a:t>
            </a:r>
            <a:r>
              <a:rPr lang="es-AR" sz="2400"/>
              <a:t>Nivel Gerencial</a:t>
            </a:r>
            <a:endParaRPr lang="es-AR" sz="2400" dirty="0"/>
          </a:p>
          <a:p>
            <a:pPr marL="457200" indent="-457200">
              <a:buFont typeface="+mj-lt"/>
              <a:buAutoNum type="arabicPeriod" startAt="4"/>
            </a:pPr>
            <a:r>
              <a:rPr lang="es-AR" sz="2400"/>
              <a:t>Proyectos de Seguridad </a:t>
            </a:r>
            <a:r>
              <a:rPr lang="es-AR" sz="2400" dirty="0"/>
              <a:t>o Ambientales. De distinta magnitud, </a:t>
            </a:r>
            <a:r>
              <a:rPr lang="es-AR" sz="2400"/>
              <a:t>impuestos externamente</a:t>
            </a:r>
            <a:endParaRPr lang="es-AR" sz="2400" dirty="0"/>
          </a:p>
          <a:p>
            <a:pPr marL="457200" indent="-457200">
              <a:buFont typeface="+mj-lt"/>
              <a:buAutoNum type="arabicPeriod" startAt="4"/>
            </a:pPr>
            <a:r>
              <a:rPr lang="es-AR" sz="2400"/>
              <a:t>Otros Proyectos</a:t>
            </a:r>
            <a:r>
              <a:rPr lang="es-AR" sz="2400" dirty="0"/>
              <a:t>. Nuevas oficinas</a:t>
            </a:r>
            <a:r>
              <a:rPr lang="es-AR" sz="2400"/>
              <a:t>, parking</a:t>
            </a:r>
            <a:r>
              <a:rPr lang="es-AR" sz="2400" dirty="0"/>
              <a:t>, ¿aviones ejecutivos?</a:t>
            </a:r>
          </a:p>
          <a:p>
            <a:pPr marL="457200" indent="-457200">
              <a:buFont typeface="+mj-lt"/>
              <a:buAutoNum type="arabicPeriod" startAt="4"/>
            </a:pPr>
            <a:r>
              <a:rPr lang="es-AR" sz="2400" dirty="0"/>
              <a:t>Fusiones y adquisiciones. </a:t>
            </a:r>
            <a:r>
              <a:rPr lang="es-AR" sz="2400"/>
              <a:t>Iguales principios </a:t>
            </a:r>
            <a:r>
              <a:rPr lang="es-AR" sz="2400" dirty="0"/>
              <a:t>de análisis </a:t>
            </a:r>
          </a:p>
          <a:p>
            <a:pPr marL="457200" indent="-457200">
              <a:buFont typeface="+mj-lt"/>
              <a:buAutoNum type="arabicPeriod" startAt="4"/>
            </a:pPr>
            <a:endParaRPr lang="es-AR" sz="2400" dirty="0"/>
          </a:p>
          <a:p>
            <a:pPr marL="0" indent="0">
              <a:buNone/>
            </a:pPr>
            <a:r>
              <a:rPr lang="es-AR" sz="2400" dirty="0"/>
              <a:t>Dependiendo de la cantidad de </a:t>
            </a:r>
            <a:r>
              <a:rPr lang="es-AR" sz="2400"/>
              <a:t>USD involucrados</a:t>
            </a:r>
            <a:r>
              <a:rPr lang="es-AR" sz="2400" dirty="0"/>
              <a:t>, las decisiones </a:t>
            </a:r>
            <a:r>
              <a:rPr lang="es-AR" sz="2400"/>
              <a:t>de inversión se tomarán </a:t>
            </a:r>
            <a:r>
              <a:rPr lang="es-AR" sz="2400" dirty="0"/>
              <a:t>en distintos niveles de </a:t>
            </a:r>
            <a:r>
              <a:rPr lang="es-AR" sz="2400"/>
              <a:t>la empresa</a:t>
            </a:r>
            <a:endParaRPr lang="es-AR" sz="2400" dirty="0"/>
          </a:p>
          <a:p>
            <a:pPr marL="0" indent="0">
              <a:buNone/>
            </a:pPr>
            <a:r>
              <a:rPr lang="es-AR" sz="2400" dirty="0"/>
              <a:t>Los incentivos adecuados en los </a:t>
            </a:r>
            <a:r>
              <a:rPr lang="es-AR" sz="2400"/>
              <a:t>empleados harán que surjan </a:t>
            </a:r>
            <a:r>
              <a:rPr lang="es-AR" sz="2400" dirty="0"/>
              <a:t>muchas </a:t>
            </a:r>
            <a:r>
              <a:rPr lang="es-AR" sz="2400"/>
              <a:t>más propuestas</a:t>
            </a:r>
            <a:r>
              <a:rPr lang="es-AR" sz="2400" dirty="0"/>
              <a:t>, las cuales </a:t>
            </a:r>
            <a:r>
              <a:rPr lang="es-AR" sz="2400"/>
              <a:t>se aprobarán o rechazarán</a:t>
            </a:r>
            <a:r>
              <a:rPr lang="es-AR" sz="2400" dirty="0"/>
              <a:t>. </a:t>
            </a:r>
          </a:p>
          <a:p>
            <a:pPr lvl="1"/>
            <a:r>
              <a:rPr lang="es-AR" sz="2000"/>
              <a:t>Procesos para seleccionar proyectos</a:t>
            </a:r>
            <a:endParaRPr lang="es-AR" sz="2000" dirty="0"/>
          </a:p>
        </p:txBody>
      </p:sp>
    </p:spTree>
    <p:extLst>
      <p:ext uri="{BB962C8B-B14F-4D97-AF65-F5344CB8AC3E}">
        <p14:creationId xmlns:p14="http://schemas.microsoft.com/office/powerpoint/2010/main" val="4067720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sz="2400"/>
              <a:t>Visión panorámica </a:t>
            </a:r>
            <a:r>
              <a:rPr lang="es-AR" sz="2400" dirty="0"/>
              <a:t>de </a:t>
            </a:r>
            <a:r>
              <a:rPr lang="es-AR" sz="2400"/>
              <a:t>la presupuestación </a:t>
            </a:r>
            <a:r>
              <a:rPr lang="es-AR" sz="2400" dirty="0"/>
              <a:t>del Capital</a:t>
            </a:r>
          </a:p>
          <a:p>
            <a:pPr marL="0" indent="0">
              <a:buNone/>
            </a:pPr>
            <a:r>
              <a:rPr lang="es-AR" sz="2400" u="sng"/>
              <a:t>Criterios para aceptar o rechazar proyectos</a:t>
            </a:r>
            <a:endParaRPr lang="es-AR" sz="2400" u="sng" dirty="0"/>
          </a:p>
          <a:p>
            <a:pPr marL="457200" indent="-457200">
              <a:buFont typeface="+mj-lt"/>
              <a:buAutoNum type="arabicPeriod"/>
            </a:pPr>
            <a:r>
              <a:rPr lang="es-AR" sz="2400"/>
              <a:t>Valor presente </a:t>
            </a:r>
            <a:r>
              <a:rPr lang="es-AR" sz="2400" dirty="0"/>
              <a:t>neto – NPV o VPN</a:t>
            </a:r>
          </a:p>
          <a:p>
            <a:pPr marL="457200" indent="-457200">
              <a:buFont typeface="+mj-lt"/>
              <a:buAutoNum type="arabicPeriod"/>
            </a:pPr>
            <a:r>
              <a:rPr lang="es-AR" sz="2400" dirty="0"/>
              <a:t>Tasa </a:t>
            </a:r>
            <a:r>
              <a:rPr lang="es-AR" sz="2400"/>
              <a:t>de rendimiento interno – IRR o TIR</a:t>
            </a:r>
            <a:endParaRPr lang="es-AR" sz="2400" dirty="0"/>
          </a:p>
          <a:p>
            <a:pPr marL="457200" indent="-457200">
              <a:buFont typeface="+mj-lt"/>
              <a:buAutoNum type="arabicPeriod"/>
            </a:pPr>
            <a:r>
              <a:rPr lang="es-AR" sz="2400" dirty="0"/>
              <a:t>Tasa modificada </a:t>
            </a:r>
            <a:r>
              <a:rPr lang="es-AR" sz="2400"/>
              <a:t>del rendimiento interno – MIRR o TIRM</a:t>
            </a:r>
            <a:endParaRPr lang="es-AR" sz="2400" dirty="0"/>
          </a:p>
          <a:p>
            <a:pPr marL="457200" indent="-457200">
              <a:buFont typeface="+mj-lt"/>
              <a:buAutoNum type="arabicPeriod"/>
            </a:pPr>
            <a:r>
              <a:rPr lang="es-AR" sz="2400"/>
              <a:t>Recuperación regular </a:t>
            </a:r>
            <a:r>
              <a:rPr lang="es-AR" sz="2400" dirty="0"/>
              <a:t>de </a:t>
            </a:r>
            <a:r>
              <a:rPr lang="es-AR" sz="2400"/>
              <a:t>la inversión</a:t>
            </a:r>
            <a:endParaRPr lang="es-AR" sz="2400" dirty="0"/>
          </a:p>
          <a:p>
            <a:pPr marL="457200" indent="-457200">
              <a:buFont typeface="+mj-lt"/>
              <a:buAutoNum type="arabicPeriod"/>
            </a:pPr>
            <a:r>
              <a:rPr lang="es-AR" sz="2400"/>
              <a:t>Recuperación </a:t>
            </a:r>
            <a:r>
              <a:rPr lang="es-AR" sz="2400" dirty="0"/>
              <a:t>descontada de </a:t>
            </a:r>
            <a:r>
              <a:rPr lang="es-AR" sz="2400"/>
              <a:t>la inversión</a:t>
            </a:r>
            <a:endParaRPr lang="es-AR" sz="2400" dirty="0"/>
          </a:p>
          <a:p>
            <a:pPr marL="0" indent="0">
              <a:buNone/>
            </a:pPr>
            <a:endParaRPr lang="es-AR" sz="2400" dirty="0"/>
          </a:p>
          <a:p>
            <a:pPr marL="0" indent="0">
              <a:buNone/>
            </a:pPr>
            <a:r>
              <a:rPr lang="es-AR" sz="2400" dirty="0"/>
              <a:t>El NPV es </a:t>
            </a:r>
            <a:r>
              <a:rPr lang="es-AR" sz="2400"/>
              <a:t>el mejor </a:t>
            </a:r>
            <a:r>
              <a:rPr lang="es-AR" sz="2400" dirty="0"/>
              <a:t>método debido a </a:t>
            </a:r>
            <a:r>
              <a:rPr lang="es-AR" sz="2400"/>
              <a:t>que aborda </a:t>
            </a:r>
            <a:r>
              <a:rPr lang="es-AR" sz="2400" dirty="0"/>
              <a:t>la </a:t>
            </a:r>
            <a:r>
              <a:rPr lang="es-AR" sz="2400"/>
              <a:t>Meta Central </a:t>
            </a:r>
            <a:r>
              <a:rPr lang="es-AR" sz="2400" dirty="0"/>
              <a:t>de </a:t>
            </a:r>
            <a:r>
              <a:rPr lang="es-AR" sz="2400"/>
              <a:t>la Administración Financiera</a:t>
            </a:r>
            <a:r>
              <a:rPr lang="es-AR" sz="2400" dirty="0"/>
              <a:t>. </a:t>
            </a:r>
            <a:r>
              <a:rPr lang="es-AR" sz="2400"/>
              <a:t>“Maximizar </a:t>
            </a:r>
            <a:r>
              <a:rPr lang="es-AR" sz="2400" dirty="0"/>
              <a:t>el PN de los Accionistas” </a:t>
            </a:r>
            <a:r>
              <a:rPr lang="es-AR" sz="2400"/>
              <a:t>Sin embargo</a:t>
            </a:r>
            <a:r>
              <a:rPr lang="es-AR" sz="2400" dirty="0"/>
              <a:t>, todos se utilizan en </a:t>
            </a:r>
            <a:r>
              <a:rPr lang="es-AR" sz="2400"/>
              <a:t>la práctica por aportar información </a:t>
            </a:r>
            <a:r>
              <a:rPr lang="es-AR" sz="2400" dirty="0"/>
              <a:t>de utilidad</a:t>
            </a:r>
          </a:p>
          <a:p>
            <a:pPr marL="0" indent="0">
              <a:buNone/>
            </a:pPr>
            <a:endParaRPr lang="es-AR" sz="2400" dirty="0"/>
          </a:p>
        </p:txBody>
      </p:sp>
    </p:spTree>
    <p:extLst>
      <p:ext uri="{BB962C8B-B14F-4D97-AF65-F5344CB8AC3E}">
        <p14:creationId xmlns:p14="http://schemas.microsoft.com/office/powerpoint/2010/main" val="3170568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a:t>Valor Presente </a:t>
            </a:r>
            <a:r>
              <a:rPr lang="es-AR" sz="2400" dirty="0"/>
              <a:t>Neto</a:t>
            </a:r>
          </a:p>
          <a:p>
            <a:r>
              <a:rPr lang="es-AR" sz="2400"/>
              <a:t>Al inversionista le importan </a:t>
            </a:r>
            <a:r>
              <a:rPr lang="es-AR" sz="2400" dirty="0"/>
              <a:t>los FCF, y </a:t>
            </a:r>
            <a:r>
              <a:rPr lang="es-AR" sz="2400"/>
              <a:t>no valores </a:t>
            </a:r>
            <a:r>
              <a:rPr lang="es-AR" sz="2400" dirty="0"/>
              <a:t>contables</a:t>
            </a:r>
          </a:p>
          <a:p>
            <a:r>
              <a:rPr lang="es-AR" sz="2400"/>
              <a:t>El valor </a:t>
            </a:r>
            <a:r>
              <a:rPr lang="es-AR" sz="2400" dirty="0"/>
              <a:t>de </a:t>
            </a:r>
            <a:r>
              <a:rPr lang="es-AR" sz="2400"/>
              <a:t>una empresa </a:t>
            </a:r>
            <a:r>
              <a:rPr lang="es-AR" sz="2400" dirty="0"/>
              <a:t>es el VA de los FCF</a:t>
            </a:r>
          </a:p>
          <a:p>
            <a:r>
              <a:rPr lang="es-AR" sz="2400" dirty="0"/>
              <a:t>De </a:t>
            </a:r>
            <a:r>
              <a:rPr lang="es-AR" sz="2400"/>
              <a:t>igual forma</a:t>
            </a:r>
            <a:r>
              <a:rPr lang="es-AR" sz="2400" dirty="0"/>
              <a:t>, </a:t>
            </a:r>
            <a:r>
              <a:rPr lang="es-AR" sz="2400"/>
              <a:t>el valor </a:t>
            </a:r>
            <a:r>
              <a:rPr lang="es-AR" sz="2400" dirty="0"/>
              <a:t>de </a:t>
            </a:r>
            <a:r>
              <a:rPr lang="es-AR" sz="2400"/>
              <a:t>un proyecto </a:t>
            </a:r>
            <a:r>
              <a:rPr lang="es-AR" sz="2400" dirty="0"/>
              <a:t>es igual al su VAN, </a:t>
            </a:r>
            <a:r>
              <a:rPr lang="es-AR" sz="2400"/>
              <a:t>es decir </a:t>
            </a:r>
            <a:r>
              <a:rPr lang="es-AR" sz="2400" dirty="0"/>
              <a:t>los FCF descontados al costo del capital</a:t>
            </a:r>
          </a:p>
          <a:p>
            <a:r>
              <a:rPr lang="es-AR" sz="2400" dirty="0"/>
              <a:t>El VAN indica </a:t>
            </a:r>
            <a:r>
              <a:rPr lang="es-AR" sz="2400"/>
              <a:t>cuánto contribuye el proyecto </a:t>
            </a:r>
            <a:r>
              <a:rPr lang="es-AR" sz="2400" dirty="0"/>
              <a:t>al PN de los Accionistas, y </a:t>
            </a:r>
            <a:r>
              <a:rPr lang="es-AR" sz="2400"/>
              <a:t>a mayor VAN aumentará el precio </a:t>
            </a:r>
            <a:r>
              <a:rPr lang="es-AR" sz="2400" dirty="0"/>
              <a:t>de las Acciones</a:t>
            </a:r>
          </a:p>
          <a:p>
            <a:r>
              <a:rPr lang="es-AR" sz="2400" dirty="0"/>
              <a:t>Lo más difícil </a:t>
            </a:r>
            <a:r>
              <a:rPr lang="es-AR" sz="2400"/>
              <a:t>es proyectar </a:t>
            </a:r>
            <a:r>
              <a:rPr lang="es-AR" sz="2400" dirty="0"/>
              <a:t>los flujos de </a:t>
            </a:r>
            <a:r>
              <a:rPr lang="es-AR" sz="2400"/>
              <a:t>efectivo relevantes</a:t>
            </a:r>
            <a:r>
              <a:rPr lang="es-AR" sz="2400" dirty="0"/>
              <a:t>, que </a:t>
            </a:r>
            <a:r>
              <a:rPr lang="es-AR" sz="2400"/>
              <a:t>los daremos dados para concentrarnos </a:t>
            </a:r>
            <a:r>
              <a:rPr lang="es-AR" sz="2400" dirty="0"/>
              <a:t>en </a:t>
            </a:r>
            <a:r>
              <a:rPr lang="es-AR" sz="2400"/>
              <a:t>las reglas para </a:t>
            </a:r>
            <a:r>
              <a:rPr lang="es-AR" sz="2400" dirty="0"/>
              <a:t>la toma de decisiones</a:t>
            </a:r>
          </a:p>
          <a:p>
            <a:r>
              <a:rPr lang="es-AR" sz="2400"/>
              <a:t>Usaremos dos proyectos</a:t>
            </a:r>
            <a:r>
              <a:rPr lang="es-AR" sz="2400" dirty="0"/>
              <a:t>, S</a:t>
            </a:r>
            <a:r>
              <a:rPr lang="es-AR" sz="2400"/>
              <a:t>= short </a:t>
            </a:r>
            <a:r>
              <a:rPr lang="es-AR" sz="2400" dirty="0"/>
              <a:t>y L=</a:t>
            </a:r>
            <a:r>
              <a:rPr lang="es-AR" sz="2400" err="1"/>
              <a:t>long</a:t>
            </a:r>
            <a:r>
              <a:rPr lang="es-AR" sz="2400"/>
              <a:t> (relativos </a:t>
            </a:r>
            <a:r>
              <a:rPr lang="es-AR" sz="2400" dirty="0"/>
              <a:t>al tiempo de los Flujos)</a:t>
            </a:r>
          </a:p>
          <a:p>
            <a:pPr lvl="1"/>
            <a:r>
              <a:rPr lang="es-AR" sz="2000"/>
              <a:t>Ambos proyectos serán igualmente riesgosos</a:t>
            </a:r>
            <a:endParaRPr lang="es-AR" sz="2000" dirty="0"/>
          </a:p>
          <a:p>
            <a:pPr lvl="1"/>
            <a:r>
              <a:rPr lang="es-AR" sz="2000"/>
              <a:t>Ambos tendrán </a:t>
            </a:r>
            <a:r>
              <a:rPr lang="es-AR" sz="2000" dirty="0"/>
              <a:t>un Costo del Capital del 10%</a:t>
            </a:r>
          </a:p>
          <a:p>
            <a:pPr lvl="1"/>
            <a:r>
              <a:rPr lang="es-AR" sz="2000" dirty="0"/>
              <a:t>Se contemplan D&amp;A, Impuestos, </a:t>
            </a:r>
            <a:r>
              <a:rPr lang="es-AR" sz="2000"/>
              <a:t>y valores de recuperación</a:t>
            </a:r>
            <a:endParaRPr lang="es-AR" sz="2000" dirty="0"/>
          </a:p>
          <a:p>
            <a:pPr lvl="1"/>
            <a:r>
              <a:rPr lang="es-AR" sz="2000" dirty="0"/>
              <a:t>Se valúan los flujos de efectivo al final de cada año</a:t>
            </a:r>
          </a:p>
          <a:p>
            <a:pPr marL="0" indent="0">
              <a:buNone/>
            </a:pPr>
            <a:endParaRPr lang="es-AR" sz="2400" dirty="0"/>
          </a:p>
        </p:txBody>
      </p:sp>
    </p:spTree>
    <p:extLst>
      <p:ext uri="{BB962C8B-B14F-4D97-AF65-F5344CB8AC3E}">
        <p14:creationId xmlns:p14="http://schemas.microsoft.com/office/powerpoint/2010/main" val="2756613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sz="2400"/>
                  <a:t>Valor Presente </a:t>
                </a:r>
                <a:r>
                  <a:rPr lang="es-AR" sz="2400" dirty="0"/>
                  <a:t>Neto</a:t>
                </a:r>
              </a:p>
              <a:p>
                <a:r>
                  <a:rPr lang="es-AR" sz="2400"/>
                  <a:t>El valor presente </a:t>
                </a:r>
                <a:r>
                  <a:rPr lang="es-AR" sz="2400" dirty="0"/>
                  <a:t>de cada flujo se calcula y descuenta al costo del capital ajustado </a:t>
                </a:r>
                <a:r>
                  <a:rPr lang="es-AR" sz="2400"/>
                  <a:t>al riesgo del proyecto</a:t>
                </a:r>
                <a:r>
                  <a:rPr lang="es-AR" sz="2400" dirty="0"/>
                  <a:t>, 10% </a:t>
                </a:r>
                <a:r>
                  <a:rPr lang="es-AR" sz="2400"/>
                  <a:t>en nuestro </a:t>
                </a:r>
                <a:r>
                  <a:rPr lang="es-AR" sz="2400" dirty="0"/>
                  <a:t>caso</a:t>
                </a:r>
              </a:p>
              <a:p>
                <a:r>
                  <a:rPr lang="es-AR" sz="2400" dirty="0"/>
                  <a:t>El NPV es la suma de dichos flujos</a:t>
                </a:r>
              </a:p>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𝑁𝑃𝑉</m:t>
                        </m:r>
                      </m:e>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𝐶𝐹</m:t>
                        </m:r>
                      </m:e>
                      <m:sub>
                        <m:r>
                          <a:rPr lang="es-AR" sz="2400" b="0" i="1" smtClean="0">
                            <a:latin typeface="Cambria Math" panose="02040503050406030204" pitchFamily="18" charset="0"/>
                          </a:rPr>
                          <m:t>0</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𝐶𝐹</m:t>
                            </m:r>
                          </m:e>
                          <m:sub>
                            <m:r>
                              <a:rPr lang="es-AR" sz="2400" b="0" i="1" smtClean="0">
                                <a:latin typeface="Cambria Math" panose="02040503050406030204" pitchFamily="18" charset="0"/>
                              </a:rPr>
                              <m:t>1</m:t>
                            </m:r>
                          </m:sub>
                        </m:sSub>
                      </m:num>
                      <m:den>
                        <m:sSup>
                          <m:sSupPr>
                            <m:ctrlPr>
                              <a:rPr lang="es-AR" sz="2400" b="0" i="1" smtClean="0">
                                <a:latin typeface="Cambria Math" panose="02040503050406030204" pitchFamily="18" charset="0"/>
                              </a:rPr>
                            </m:ctrlPr>
                          </m:sSupPr>
                          <m:e>
                            <m:r>
                              <a:rPr lang="es-AR" sz="2400" b="0" i="1" smtClean="0">
                                <a:latin typeface="Cambria Math" panose="02040503050406030204" pitchFamily="18" charset="0"/>
                              </a:rPr>
                              <m:t>(1+</m:t>
                            </m:r>
                            <m:r>
                              <a:rPr lang="es-AR" sz="2400" b="0" i="1" smtClean="0">
                                <a:latin typeface="Cambria Math" panose="02040503050406030204" pitchFamily="18" charset="0"/>
                              </a:rPr>
                              <m:t>𝑟</m:t>
                            </m:r>
                            <m:r>
                              <a:rPr lang="es-AR" sz="2400" b="0" i="1" smtClean="0">
                                <a:latin typeface="Cambria Math" panose="02040503050406030204" pitchFamily="18" charset="0"/>
                              </a:rPr>
                              <m:t>)</m:t>
                            </m:r>
                          </m:e>
                          <m:sup>
                            <m:r>
                              <a:rPr lang="es-AR" sz="2400" b="0" i="1" smtClean="0">
                                <a:latin typeface="Cambria Math" panose="02040503050406030204" pitchFamily="18" charset="0"/>
                              </a:rPr>
                              <m:t>1</m:t>
                            </m:r>
                          </m:sup>
                        </m:sSup>
                      </m:den>
                    </m:f>
                    <m:r>
                      <a:rPr lang="es-AR" sz="2400" b="0" i="1" smtClean="0">
                        <a:latin typeface="Cambria Math" panose="02040503050406030204" pitchFamily="18" charset="0"/>
                      </a:rPr>
                      <m:t>+</m:t>
                    </m:r>
                  </m:oMath>
                </a14:m>
                <a:r>
                  <a:rPr lang="es-AR" sz="2400" dirty="0"/>
                  <a:t> </a:t>
                </a:r>
                <a14:m>
                  <m:oMath xmlns:m="http://schemas.openxmlformats.org/officeDocument/2006/math">
                    <m:f>
                      <m:fPr>
                        <m:ctrlPr>
                          <a:rPr lang="es-AR" sz="240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𝐶𝐹</m:t>
                            </m:r>
                          </m:e>
                          <m:sub>
                            <m:r>
                              <a:rPr lang="es-AR" sz="2400" b="0" i="1" smtClean="0">
                                <a:latin typeface="Cambria Math" panose="02040503050406030204" pitchFamily="18" charset="0"/>
                              </a:rPr>
                              <m:t>2</m:t>
                            </m:r>
                          </m:sub>
                        </m:sSub>
                      </m:num>
                      <m:den>
                        <m:sSup>
                          <m:sSupPr>
                            <m:ctrlPr>
                              <a:rPr lang="es-AR" sz="2400" i="1">
                                <a:latin typeface="Cambria Math" panose="02040503050406030204" pitchFamily="18" charset="0"/>
                              </a:rPr>
                            </m:ctrlPr>
                          </m:sSupPr>
                          <m:e>
                            <m:r>
                              <a:rPr lang="es-AR" sz="2400" i="1">
                                <a:latin typeface="Cambria Math" panose="02040503050406030204" pitchFamily="18" charset="0"/>
                              </a:rPr>
                              <m:t>(1+</m:t>
                            </m:r>
                            <m:r>
                              <a:rPr lang="es-AR" sz="2400" i="1">
                                <a:latin typeface="Cambria Math" panose="02040503050406030204" pitchFamily="18" charset="0"/>
                              </a:rPr>
                              <m:t>𝑟</m:t>
                            </m:r>
                            <m:r>
                              <a:rPr lang="es-AR" sz="2400" i="1">
                                <a:latin typeface="Cambria Math" panose="02040503050406030204" pitchFamily="18" charset="0"/>
                              </a:rPr>
                              <m:t>)</m:t>
                            </m:r>
                          </m:e>
                          <m:sup>
                            <m:r>
                              <a:rPr lang="es-AR" sz="2400" b="0" i="1" smtClean="0">
                                <a:latin typeface="Cambria Math" panose="02040503050406030204" pitchFamily="18" charset="0"/>
                              </a:rPr>
                              <m:t>2</m:t>
                            </m:r>
                          </m:sup>
                        </m:sSup>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𝐶𝐹</m:t>
                            </m:r>
                          </m:e>
                          <m:sub>
                            <m:r>
                              <a:rPr lang="es-AR" sz="2400" b="0" i="1" smtClean="0">
                                <a:latin typeface="Cambria Math" panose="02040503050406030204" pitchFamily="18" charset="0"/>
                              </a:rPr>
                              <m:t>𝑁</m:t>
                            </m:r>
                          </m:sub>
                        </m:sSub>
                      </m:num>
                      <m:den>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r>
                                  <a:rPr lang="es-AR" sz="2400" i="1">
                                    <a:latin typeface="Cambria Math" panose="02040503050406030204" pitchFamily="18" charset="0"/>
                                  </a:rPr>
                                  <m:t>𝑟</m:t>
                                </m:r>
                              </m:e>
                            </m:d>
                          </m:e>
                          <m:sup>
                            <m:r>
                              <a:rPr lang="es-AR" sz="2400" b="0" i="1" smtClean="0">
                                <a:latin typeface="Cambria Math" panose="02040503050406030204" pitchFamily="18" charset="0"/>
                              </a:rPr>
                              <m:t>𝑁</m:t>
                            </m:r>
                          </m:sup>
                        </m:sSup>
                      </m:den>
                    </m:f>
                    <m:r>
                      <a:rPr lang="es-AR" sz="2400" b="0" i="1" smtClean="0">
                        <a:latin typeface="Cambria Math" panose="02040503050406030204" pitchFamily="18" charset="0"/>
                      </a:rPr>
                      <m:t>=</m:t>
                    </m:r>
                    <m:nary>
                      <m:naryPr>
                        <m:chr m:val="∑"/>
                        <m:ctrlPr>
                          <a:rPr lang="es-AR" sz="2400" b="0" i="1" smtClean="0">
                            <a:latin typeface="Cambria Math" panose="02040503050406030204" pitchFamily="18" charset="0"/>
                          </a:rPr>
                        </m:ctrlPr>
                      </m:naryPr>
                      <m:sub>
                        <m:r>
                          <m:rPr>
                            <m:brk m:alnAt="23"/>
                          </m:rPr>
                          <a:rPr lang="es-AR" sz="2400" b="0" i="1" smtClean="0">
                            <a:latin typeface="Cambria Math" panose="02040503050406030204" pitchFamily="18" charset="0"/>
                          </a:rPr>
                          <m:t>𝑡</m:t>
                        </m:r>
                        <m:r>
                          <a:rPr lang="es-AR" sz="2400" b="0" i="1" smtClean="0">
                            <a:latin typeface="Cambria Math" panose="02040503050406030204" pitchFamily="18" charset="0"/>
                          </a:rPr>
                          <m:t>=0</m:t>
                        </m:r>
                      </m:sub>
                      <m:sup>
                        <m:r>
                          <a:rPr lang="es-AR" sz="2400" b="0" i="1" smtClean="0">
                            <a:latin typeface="Cambria Math" panose="02040503050406030204" pitchFamily="18" charset="0"/>
                          </a:rPr>
                          <m:t>𝑁</m:t>
                        </m:r>
                      </m:sup>
                      <m:e>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𝐶𝐹</m:t>
                                </m:r>
                              </m:e>
                              <m:sub>
                                <m:r>
                                  <a:rPr lang="es-AR" sz="2400" i="1">
                                    <a:latin typeface="Cambria Math" panose="02040503050406030204" pitchFamily="18" charset="0"/>
                                  </a:rPr>
                                  <m:t>𝑡</m:t>
                                </m:r>
                              </m:sub>
                            </m:sSub>
                          </m:num>
                          <m:den>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r>
                                      <a:rPr lang="es-AR" sz="2400" i="1">
                                        <a:latin typeface="Cambria Math" panose="02040503050406030204" pitchFamily="18" charset="0"/>
                                      </a:rPr>
                                      <m:t>𝑟</m:t>
                                    </m:r>
                                  </m:e>
                                </m:d>
                              </m:e>
                              <m:sup>
                                <m:r>
                                  <a:rPr lang="es-AR" sz="2400" b="0" i="1" smtClean="0">
                                    <a:latin typeface="Cambria Math" panose="02040503050406030204" pitchFamily="18" charset="0"/>
                                  </a:rPr>
                                  <m:t>𝑡</m:t>
                                </m:r>
                              </m:sup>
                            </m:sSup>
                          </m:den>
                        </m:f>
                      </m:e>
                    </m:nary>
                  </m:oMath>
                </a14:m>
                <a:r>
                  <a:rPr lang="es-AR" sz="2400" dirty="0"/>
                  <a:t> </a:t>
                </a:r>
              </a:p>
              <a:p>
                <a:r>
                  <a:rPr lang="es-AR" sz="2400" dirty="0"/>
                  <a:t>Lo vemos en el </a:t>
                </a:r>
                <a:r>
                  <a:rPr lang="es-AR" sz="2400"/>
                  <a:t>Excel para ambos proyectos</a:t>
                </a:r>
                <a:endParaRPr lang="es-AR" sz="2400" dirty="0"/>
              </a:p>
              <a:p>
                <a:endParaRPr lang="es-AR" sz="2400" dirty="0"/>
              </a:p>
              <a:p>
                <a:r>
                  <a:rPr lang="es-AR" sz="2400" dirty="0"/>
                  <a:t>En la medida que </a:t>
                </a:r>
                <a:r>
                  <a:rPr lang="es-AR" sz="2400"/>
                  <a:t>estos proyectos no fueran </a:t>
                </a:r>
                <a:r>
                  <a:rPr lang="es-AR" sz="2400" dirty="0"/>
                  <a:t>mutuamente excluyentes</a:t>
                </a:r>
                <a:r>
                  <a:rPr lang="es-AR" sz="2400"/>
                  <a:t>, invertiríamos </a:t>
                </a:r>
                <a:r>
                  <a:rPr lang="es-AR" sz="2400" dirty="0"/>
                  <a:t>en ambos</a:t>
                </a:r>
              </a:p>
              <a:p>
                <a:r>
                  <a:rPr lang="es-AR" sz="2400" dirty="0"/>
                  <a:t>Si</a:t>
                </a:r>
                <a:r>
                  <a:rPr lang="es-AR" sz="2400"/>
                  <a:t>, por el contrario</a:t>
                </a:r>
                <a:r>
                  <a:rPr lang="es-AR" sz="2400" dirty="0"/>
                  <a:t>, </a:t>
                </a:r>
                <a:r>
                  <a:rPr lang="es-AR" sz="2400"/>
                  <a:t>lo fueran, invertiríamos </a:t>
                </a:r>
                <a:r>
                  <a:rPr lang="es-AR" sz="2400" dirty="0"/>
                  <a:t>en el “L</a:t>
                </a:r>
                <a:r>
                  <a:rPr lang="es-AR" sz="2400"/>
                  <a:t>” porque tiene mayor </a:t>
                </a:r>
                <a:r>
                  <a:rPr lang="es-AR" sz="2400" dirty="0"/>
                  <a:t>NPV</a:t>
                </a:r>
              </a:p>
              <a:p>
                <a:r>
                  <a:rPr lang="es-AR" sz="2400"/>
                  <a:t>Nunca invertiremos en proyectos </a:t>
                </a:r>
                <a:r>
                  <a:rPr lang="es-AR" sz="2400" dirty="0"/>
                  <a:t>con NPV negativo</a:t>
                </a:r>
              </a:p>
              <a:p>
                <a:endParaRPr lang="es-AR" sz="2400" dirty="0"/>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754" t="-2241"/>
                </a:stretch>
              </a:blipFill>
            </p:spPr>
            <p:txBody>
              <a:bodyPr/>
              <a:lstStyle/>
              <a:p>
                <a:r>
                  <a:rPr lang="es-ES">
                    <a:noFill/>
                  </a:rPr>
                  <a:t> </a:t>
                </a:r>
              </a:p>
            </p:txBody>
          </p:sp>
        </mc:Fallback>
      </mc:AlternateContent>
    </p:spTree>
    <p:extLst>
      <p:ext uri="{BB962C8B-B14F-4D97-AF65-F5344CB8AC3E}">
        <p14:creationId xmlns:p14="http://schemas.microsoft.com/office/powerpoint/2010/main" val="3002646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dirty="0"/>
              <a:t>Tasa interna de retorno TIR o IRR</a:t>
            </a:r>
          </a:p>
          <a:p>
            <a:pPr marL="0" indent="0">
              <a:buNone/>
            </a:pPr>
            <a:endParaRPr lang="es-AR" sz="2400" dirty="0"/>
          </a:p>
          <a:p>
            <a:pPr marL="0" indent="0">
              <a:buNone/>
            </a:pPr>
            <a:r>
              <a:rPr lang="es-AR" sz="2400" dirty="0"/>
              <a:t>Al analizar bonos vimos que si lo conservamos hasta su vencimiento obtenemos el YTM de la inversión</a:t>
            </a:r>
          </a:p>
          <a:p>
            <a:pPr marL="0" indent="0">
              <a:buNone/>
            </a:pPr>
            <a:r>
              <a:rPr lang="es-AR" sz="2400" dirty="0"/>
              <a:t>El YTM es la única tasa de descuento que fuerza al PV de las entradas de efectivo a ser iguales  al precio del Bono</a:t>
            </a:r>
          </a:p>
          <a:p>
            <a:pPr marL="0" indent="0">
              <a:buNone/>
            </a:pPr>
            <a:r>
              <a:rPr lang="es-AR" sz="2400" dirty="0"/>
              <a:t>Este mismo concepto aplica en la presupuestación del Capital cuando estamos calculando la TIR de un proyecto</a:t>
            </a:r>
          </a:p>
          <a:p>
            <a:pPr marL="0" indent="0">
              <a:buNone/>
            </a:pPr>
            <a:r>
              <a:rPr lang="es-AR" sz="2400" dirty="0"/>
              <a:t>La TIR hará que el NPV del proyecto sea $0.-, es una estimación de la tasa de rendimiento del proyecto y es comparable a la YTM</a:t>
            </a:r>
          </a:p>
        </p:txBody>
      </p:sp>
    </p:spTree>
    <p:extLst>
      <p:ext uri="{BB962C8B-B14F-4D97-AF65-F5344CB8AC3E}">
        <p14:creationId xmlns:p14="http://schemas.microsoft.com/office/powerpoint/2010/main" val="3167608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la Presupuestación del Capital</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742931"/>
                <a:ext cx="10515600" cy="4351338"/>
              </a:xfrm>
            </p:spPr>
            <p:txBody>
              <a:bodyPr>
                <a:normAutofit fontScale="92500" lnSpcReduction="10000"/>
              </a:bodyPr>
              <a:lstStyle/>
              <a:p>
                <a:pPr marL="0" indent="0">
                  <a:buNone/>
                </a:pPr>
                <a:r>
                  <a:rPr lang="es-AR" sz="2400" dirty="0"/>
                  <a:t>Tasa interna de retorno TIR o IRR</a:t>
                </a:r>
              </a:p>
              <a:p>
                <a:pPr marL="0" indent="0">
                  <a:buNone/>
                </a:pPr>
                <a:endParaRPr lang="es-AR" sz="2400" dirty="0"/>
              </a:p>
              <a:p>
                <a:pPr marL="0" indent="0">
                  <a:buNone/>
                </a:pP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𝑁𝑃𝑉</m:t>
                        </m:r>
                      </m:e>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𝐶𝐹</m:t>
                        </m:r>
                      </m:e>
                      <m:sub>
                        <m:r>
                          <a:rPr lang="es-AR" sz="2400" b="0" i="1" smtClean="0">
                            <a:latin typeface="Cambria Math" panose="02040503050406030204" pitchFamily="18" charset="0"/>
                          </a:rPr>
                          <m:t>0</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𝐶𝐹</m:t>
                            </m:r>
                          </m:e>
                          <m:sub>
                            <m:r>
                              <a:rPr lang="es-AR" sz="2400" b="0" i="1" smtClean="0">
                                <a:latin typeface="Cambria Math" panose="02040503050406030204" pitchFamily="18" charset="0"/>
                              </a:rPr>
                              <m:t>1</m:t>
                            </m:r>
                          </m:sub>
                        </m:sSub>
                      </m:num>
                      <m:den>
                        <m:sSup>
                          <m:sSupPr>
                            <m:ctrlPr>
                              <a:rPr lang="es-AR" sz="2400" b="0" i="1" smtClean="0">
                                <a:latin typeface="Cambria Math" panose="02040503050406030204" pitchFamily="18" charset="0"/>
                              </a:rPr>
                            </m:ctrlPr>
                          </m:sSupPr>
                          <m:e>
                            <m:r>
                              <a:rPr lang="es-AR" sz="2400" b="0" i="1" smtClean="0">
                                <a:latin typeface="Cambria Math" panose="02040503050406030204" pitchFamily="18" charset="0"/>
                              </a:rPr>
                              <m:t>(1+</m:t>
                            </m:r>
                            <m:r>
                              <a:rPr lang="es-AR" sz="2400" b="0" i="1" smtClean="0">
                                <a:latin typeface="Cambria Math" panose="02040503050406030204" pitchFamily="18" charset="0"/>
                              </a:rPr>
                              <m:t>𝑇𝐼𝑅</m:t>
                            </m:r>
                            <m:r>
                              <a:rPr lang="es-AR" sz="2400" b="0" i="1" smtClean="0">
                                <a:latin typeface="Cambria Math" panose="02040503050406030204" pitchFamily="18" charset="0"/>
                              </a:rPr>
                              <m:t>)</m:t>
                            </m:r>
                          </m:e>
                          <m:sup>
                            <m:r>
                              <a:rPr lang="es-AR" sz="2400" b="0" i="1" smtClean="0">
                                <a:latin typeface="Cambria Math" panose="02040503050406030204" pitchFamily="18" charset="0"/>
                              </a:rPr>
                              <m:t>1</m:t>
                            </m:r>
                          </m:sup>
                        </m:sSup>
                      </m:den>
                    </m:f>
                    <m:r>
                      <a:rPr lang="es-AR" sz="2400" b="0" i="1" smtClean="0">
                        <a:latin typeface="Cambria Math" panose="02040503050406030204" pitchFamily="18" charset="0"/>
                      </a:rPr>
                      <m:t>+</m:t>
                    </m:r>
                  </m:oMath>
                </a14:m>
                <a:r>
                  <a:rPr lang="es-AR" sz="2400" dirty="0"/>
                  <a:t> </a:t>
                </a:r>
                <a14:m>
                  <m:oMath xmlns:m="http://schemas.openxmlformats.org/officeDocument/2006/math">
                    <m:f>
                      <m:fPr>
                        <m:ctrlPr>
                          <a:rPr lang="es-AR" sz="240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𝐶𝐹</m:t>
                            </m:r>
                          </m:e>
                          <m:sub>
                            <m:r>
                              <a:rPr lang="es-AR" sz="2400" b="0" i="1" smtClean="0">
                                <a:latin typeface="Cambria Math" panose="02040503050406030204" pitchFamily="18" charset="0"/>
                              </a:rPr>
                              <m:t>2</m:t>
                            </m:r>
                          </m:sub>
                        </m:sSub>
                      </m:num>
                      <m:den>
                        <m:sSup>
                          <m:sSupPr>
                            <m:ctrlPr>
                              <a:rPr lang="es-AR" sz="2400" i="1">
                                <a:latin typeface="Cambria Math" panose="02040503050406030204" pitchFamily="18" charset="0"/>
                              </a:rPr>
                            </m:ctrlPr>
                          </m:sSupPr>
                          <m:e>
                            <m:r>
                              <a:rPr lang="es-AR" sz="2400" i="1">
                                <a:latin typeface="Cambria Math" panose="02040503050406030204" pitchFamily="18" charset="0"/>
                              </a:rPr>
                              <m:t>(1+</m:t>
                            </m:r>
                            <m:r>
                              <a:rPr lang="es-AR" sz="2400" i="1">
                                <a:latin typeface="Cambria Math" panose="02040503050406030204" pitchFamily="18" charset="0"/>
                              </a:rPr>
                              <m:t>𝑇𝐼𝑅</m:t>
                            </m:r>
                            <m:r>
                              <a:rPr lang="es-AR" sz="2400" i="1">
                                <a:latin typeface="Cambria Math" panose="02040503050406030204" pitchFamily="18" charset="0"/>
                              </a:rPr>
                              <m:t>)</m:t>
                            </m:r>
                          </m:e>
                          <m:sup>
                            <m:r>
                              <a:rPr lang="es-AR" sz="2400" b="0" i="1" smtClean="0">
                                <a:latin typeface="Cambria Math" panose="02040503050406030204" pitchFamily="18" charset="0"/>
                              </a:rPr>
                              <m:t>2</m:t>
                            </m:r>
                          </m:sup>
                        </m:sSup>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𝐶𝐹</m:t>
                            </m:r>
                          </m:e>
                          <m:sub>
                            <m:r>
                              <a:rPr lang="es-AR" sz="2400" b="0" i="1" smtClean="0">
                                <a:latin typeface="Cambria Math" panose="02040503050406030204" pitchFamily="18" charset="0"/>
                              </a:rPr>
                              <m:t>𝑁</m:t>
                            </m:r>
                          </m:sub>
                        </m:sSub>
                      </m:num>
                      <m:den>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r>
                                  <a:rPr lang="es-AR" sz="2400" i="1">
                                    <a:latin typeface="Cambria Math" panose="02040503050406030204" pitchFamily="18" charset="0"/>
                                  </a:rPr>
                                  <m:t>𝑇𝐼𝑅</m:t>
                                </m:r>
                              </m:e>
                            </m:d>
                          </m:e>
                          <m:sup>
                            <m:r>
                              <a:rPr lang="es-AR" sz="2400" b="0" i="1" smtClean="0">
                                <a:latin typeface="Cambria Math" panose="02040503050406030204" pitchFamily="18" charset="0"/>
                              </a:rPr>
                              <m:t>𝑁</m:t>
                            </m:r>
                          </m:sup>
                        </m:sSup>
                      </m:den>
                    </m:f>
                    <m:r>
                      <a:rPr lang="es-AR" sz="2400" b="0" i="1" smtClean="0">
                        <a:latin typeface="Cambria Math" panose="02040503050406030204" pitchFamily="18" charset="0"/>
                      </a:rPr>
                      <m:t>=0</m:t>
                    </m:r>
                  </m:oMath>
                </a14:m>
                <a:endParaRPr lang="es-AR" sz="2400" b="0" i="1" dirty="0">
                  <a:latin typeface="Cambria Math" panose="02040503050406030204" pitchFamily="18" charset="0"/>
                </a:endParaRPr>
              </a:p>
              <a:p>
                <a:pPr marL="0" indent="0">
                  <a:buNone/>
                </a:pPr>
                <a:endParaRPr lang="es-AR" sz="24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𝑁𝑃𝑉</m:t>
                          </m:r>
                        </m:e>
                        <m:sub/>
                      </m:sSub>
                      <m:r>
                        <a:rPr lang="es-AR" sz="2400" i="1">
                          <a:latin typeface="Cambria Math" panose="02040503050406030204" pitchFamily="18" charset="0"/>
                        </a:rPr>
                        <m:t> =</m:t>
                      </m:r>
                      <m:nary>
                        <m:naryPr>
                          <m:chr m:val="∑"/>
                          <m:ctrlPr>
                            <a:rPr lang="es-AR" sz="2400" b="0" i="1" smtClean="0">
                              <a:latin typeface="Cambria Math" panose="02040503050406030204" pitchFamily="18" charset="0"/>
                            </a:rPr>
                          </m:ctrlPr>
                        </m:naryPr>
                        <m:sub>
                          <m:r>
                            <m:rPr>
                              <m:brk m:alnAt="23"/>
                            </m:rPr>
                            <a:rPr lang="es-AR" sz="2400" b="0" i="1" smtClean="0">
                              <a:latin typeface="Cambria Math" panose="02040503050406030204" pitchFamily="18" charset="0"/>
                            </a:rPr>
                            <m:t>𝑡</m:t>
                          </m:r>
                          <m:r>
                            <a:rPr lang="es-AR" sz="2400" b="0" i="1" smtClean="0">
                              <a:latin typeface="Cambria Math" panose="02040503050406030204" pitchFamily="18" charset="0"/>
                            </a:rPr>
                            <m:t>=0</m:t>
                          </m:r>
                        </m:sub>
                        <m:sup>
                          <m:r>
                            <a:rPr lang="es-AR" sz="2400" b="0" i="1" smtClean="0">
                              <a:latin typeface="Cambria Math" panose="02040503050406030204" pitchFamily="18" charset="0"/>
                            </a:rPr>
                            <m:t>𝑁</m:t>
                          </m:r>
                        </m:sup>
                        <m:e>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𝐶𝐹</m:t>
                                  </m:r>
                                </m:e>
                                <m:sub>
                                  <m:r>
                                    <a:rPr lang="es-AR" sz="2400" i="1">
                                      <a:latin typeface="Cambria Math" panose="02040503050406030204" pitchFamily="18" charset="0"/>
                                    </a:rPr>
                                    <m:t>𝑡</m:t>
                                  </m:r>
                                </m:sub>
                              </m:sSub>
                            </m:num>
                            <m:den>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r>
                                        <a:rPr lang="es-AR" sz="2400" i="1">
                                          <a:latin typeface="Cambria Math" panose="02040503050406030204" pitchFamily="18" charset="0"/>
                                        </a:rPr>
                                        <m:t>𝑇𝐼𝑅</m:t>
                                      </m:r>
                                    </m:e>
                                  </m:d>
                                </m:e>
                                <m:sup>
                                  <m:r>
                                    <a:rPr lang="es-AR" sz="2400" b="0" i="1" smtClean="0">
                                      <a:latin typeface="Cambria Math" panose="02040503050406030204" pitchFamily="18" charset="0"/>
                                    </a:rPr>
                                    <m:t>𝑡</m:t>
                                  </m:r>
                                </m:sup>
                              </m:sSup>
                            </m:den>
                          </m:f>
                          <m:r>
                            <a:rPr lang="es-AR" sz="2400" b="0" i="1" smtClean="0">
                              <a:latin typeface="Cambria Math" panose="02040503050406030204" pitchFamily="18" charset="0"/>
                            </a:rPr>
                            <m:t>=0</m:t>
                          </m:r>
                        </m:e>
                      </m:nary>
                    </m:oMath>
                  </m:oMathPara>
                </a14:m>
                <a:endParaRPr lang="es-AR" sz="2400" dirty="0"/>
              </a:p>
              <a:p>
                <a:pPr marL="0" indent="0">
                  <a:buNone/>
                </a:pPr>
                <a:endParaRPr lang="es-AR" sz="2400" dirty="0"/>
              </a:p>
              <a:p>
                <a:pPr marL="0" indent="0">
                  <a:buNone/>
                </a:pPr>
                <a:r>
                  <a:rPr lang="es-AR" sz="2400" dirty="0"/>
                  <a:t>Vamos al Excel y analizamos nuevamente los proyectos S y L, junto a la función TIR que nos resuelve la búsqueda</a:t>
                </a:r>
              </a:p>
              <a:p>
                <a:pPr marL="0" indent="0">
                  <a:buNone/>
                </a:pPr>
                <a:r>
                  <a:rPr lang="es-AR" sz="2400" dirty="0"/>
                  <a:t>¿Por qué están importante la TIR? Porque en la medida que exceda al costo del capital, será una “bonificación” a los accionistas y elevará en precio de las acciones</a:t>
                </a:r>
              </a:p>
            </p:txBody>
          </p:sp>
        </mc:Choice>
        <mc:Fallback>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xfrm>
                <a:off x="838200" y="1742931"/>
                <a:ext cx="10515600" cy="4351338"/>
              </a:xfrm>
              <a:blipFill>
                <a:blip r:embed="rId2"/>
                <a:stretch>
                  <a:fillRect l="-754" t="-2381" r="-638" b="-980"/>
                </a:stretch>
              </a:blipFill>
            </p:spPr>
            <p:txBody>
              <a:bodyPr/>
              <a:lstStyle/>
              <a:p>
                <a:r>
                  <a:rPr lang="es-ES">
                    <a:noFill/>
                  </a:rPr>
                  <a:t> </a:t>
                </a:r>
              </a:p>
            </p:txBody>
          </p:sp>
        </mc:Fallback>
      </mc:AlternateContent>
    </p:spTree>
    <p:extLst>
      <p:ext uri="{BB962C8B-B14F-4D97-AF65-F5344CB8AC3E}">
        <p14:creationId xmlns:p14="http://schemas.microsoft.com/office/powerpoint/2010/main" val="130681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la Presupuestación 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pPr marL="0" indent="0">
              <a:buNone/>
            </a:pPr>
            <a:r>
              <a:rPr lang="es-AR" sz="2400" dirty="0"/>
              <a:t>Tasa interna de retorno TIR o IRR</a:t>
            </a:r>
          </a:p>
          <a:p>
            <a:pPr marL="0" indent="0">
              <a:buNone/>
            </a:pPr>
            <a:endParaRPr lang="es-AR" sz="2400" dirty="0"/>
          </a:p>
          <a:p>
            <a:r>
              <a:rPr lang="es-AR" sz="2400" dirty="0"/>
              <a:t>Ambos proyectos, S y L, exceden el costo del capital</a:t>
            </a:r>
          </a:p>
          <a:p>
            <a:r>
              <a:rPr lang="es-AR" sz="2400" dirty="0"/>
              <a:t>NPV, la tasa viene dada, TIR, buscamos la tasa porque el NPV viene dado y es igual a cero</a:t>
            </a:r>
          </a:p>
          <a:p>
            <a:r>
              <a:rPr lang="es-AR" sz="2400" dirty="0"/>
              <a:t>Priorizar por la TIR en proyectos mutuamente excluyentes es erróneo</a:t>
            </a:r>
          </a:p>
          <a:p>
            <a:r>
              <a:rPr lang="es-AR" sz="2400" dirty="0"/>
              <a:t>Además, en ciertas condiciones, la TIR podría tener más de una respuesta para un proyecto dado</a:t>
            </a:r>
          </a:p>
          <a:p>
            <a:r>
              <a:rPr lang="es-AR" sz="2400" dirty="0"/>
              <a:t>Caso de flujos normales, egresos uno o más seguidos por entradas de efectivo</a:t>
            </a:r>
          </a:p>
          <a:p>
            <a:r>
              <a:rPr lang="es-AR" sz="2400" dirty="0"/>
              <a:t>Caso de flujos Anormales, egresos posteriores a los flujos positivos. Un caso sería la explotación de una mina de carbón, donde al final del proyecto hay que invertir para restituir el terreno a condiciones normales. Podría tener más de una TIR</a:t>
            </a:r>
          </a:p>
          <a:p>
            <a:endParaRPr lang="es-AR" sz="2400" dirty="0"/>
          </a:p>
        </p:txBody>
      </p:sp>
    </p:spTree>
    <p:extLst>
      <p:ext uri="{BB962C8B-B14F-4D97-AF65-F5344CB8AC3E}">
        <p14:creationId xmlns:p14="http://schemas.microsoft.com/office/powerpoint/2010/main" val="724023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dirty="0"/>
              <a:t>Tasa interna de retorno TIR o IRR</a:t>
            </a:r>
          </a:p>
          <a:p>
            <a:pPr marL="0" indent="0">
              <a:buNone/>
            </a:pPr>
            <a:r>
              <a:rPr lang="es-AR" sz="2400" dirty="0"/>
              <a:t>Ejemplo simplificado de una mina de carbón, en Excel</a:t>
            </a:r>
          </a:p>
          <a:p>
            <a:pPr marL="0" indent="0">
              <a:buNone/>
            </a:pPr>
            <a:endParaRPr lang="es-AR" sz="2400" dirty="0"/>
          </a:p>
          <a:p>
            <a:pPr marL="0" indent="0">
              <a:buNone/>
            </a:pPr>
            <a:r>
              <a:rPr lang="es-AR" sz="2400" dirty="0"/>
              <a:t>Basado en NPV hubiéramos rechazado el proyecto, mientras que con la TIR dudaríamos si es 25% o 400%</a:t>
            </a:r>
          </a:p>
          <a:p>
            <a:pPr marL="0" indent="0">
              <a:buNone/>
            </a:pPr>
            <a:endParaRPr lang="es-AR" sz="2400" dirty="0"/>
          </a:p>
          <a:p>
            <a:pPr marL="0" indent="0">
              <a:buNone/>
            </a:pPr>
            <a:r>
              <a:rPr lang="es-AR" sz="2400" u="sng" dirty="0"/>
              <a:t>Supuestos de la Tasa de Reinversión</a:t>
            </a:r>
          </a:p>
          <a:p>
            <a:pPr marL="0" indent="0">
              <a:buNone/>
            </a:pPr>
            <a:r>
              <a:rPr lang="es-AR" sz="2400" dirty="0"/>
              <a:t>El NPV asume reinversión de las entradas de efectivo al WACC, mientras que el cálculo de la TIR asume reinversiones a dicha tasa. En la mayoría de las empresas suponer reinversiones al WACC es lo más razonable porque</a:t>
            </a:r>
          </a:p>
          <a:p>
            <a:r>
              <a:rPr lang="es-AR" sz="2400" dirty="0"/>
              <a:t>La empresa puede conseguir fondos adicionales a dicha tasa o reinvertir fondos propios para evitar pagar intereses de una tasa equivalente al WACC, que pasa a ser el costo de oportunidad de los flujos de efectivo generados</a:t>
            </a:r>
          </a:p>
        </p:txBody>
      </p:sp>
    </p:spTree>
    <p:extLst>
      <p:ext uri="{BB962C8B-B14F-4D97-AF65-F5344CB8AC3E}">
        <p14:creationId xmlns:p14="http://schemas.microsoft.com/office/powerpoint/2010/main" val="3927426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sz="2400" dirty="0"/>
              <a:t>Tasa interna de retorno TIR o IRR</a:t>
            </a:r>
          </a:p>
          <a:p>
            <a:pPr marL="0" indent="0">
              <a:buNone/>
            </a:pPr>
            <a:endParaRPr lang="es-AR" sz="2400" dirty="0"/>
          </a:p>
          <a:p>
            <a:r>
              <a:rPr lang="es-AR" sz="2400" dirty="0"/>
              <a:t>Supongamos que la TIR de un proyecto es del 50%, el WACC es del 10% y la empresa tiene acceso adecuado a los mercados de capital al 10%</a:t>
            </a:r>
          </a:p>
          <a:p>
            <a:r>
              <a:rPr lang="es-AR" sz="2400" dirty="0"/>
              <a:t>En la medida que no se trate de un monopolio, la TIR del 50% atraería a la competencia, lo que dificultaría hallar nuevos proyectos con altos rendimientos similares (en los cuales poder reinvertir al 50%)</a:t>
            </a:r>
          </a:p>
          <a:p>
            <a:r>
              <a:rPr lang="es-AR" sz="2400" dirty="0"/>
              <a:t>Por otro lado, cuanto mejor le vaya, más probable es poder seguir consiguiendo financiación al WACC, con lo que la tasa de reinversión será próxima al WACC y no a la TIR</a:t>
            </a:r>
          </a:p>
          <a:p>
            <a:r>
              <a:rPr lang="es-AR" sz="2400" dirty="0"/>
              <a:t>Si los flujos obtenidos no pueden reinvertirse a la TIR, entonces ésta pasa a ser engañosa porque el proyecto no obtiene dicha tasa</a:t>
            </a:r>
          </a:p>
          <a:p>
            <a:endParaRPr lang="es-AR" sz="2400" dirty="0"/>
          </a:p>
        </p:txBody>
      </p:sp>
    </p:spTree>
    <p:extLst>
      <p:ext uri="{BB962C8B-B14F-4D97-AF65-F5344CB8AC3E}">
        <p14:creationId xmlns:p14="http://schemas.microsoft.com/office/powerpoint/2010/main" val="2083913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dirty="0"/>
              <a:t>Tasa modificada interna de retorno MIRR</a:t>
            </a:r>
          </a:p>
          <a:p>
            <a:r>
              <a:rPr lang="es-AR" sz="2400" dirty="0"/>
              <a:t>Los gerentes desean conocer la tasa de rendimiento de sus inversiones, y hemos visto que la TIR no suele ser correcta por el problema de la reinversión</a:t>
            </a:r>
          </a:p>
          <a:p>
            <a:r>
              <a:rPr lang="es-AR" sz="2400" dirty="0"/>
              <a:t>Sobreestimación</a:t>
            </a:r>
          </a:p>
          <a:p>
            <a:r>
              <a:rPr lang="es-AR" sz="2400" dirty="0"/>
              <a:t>Podemos modificar la TIR para que sea una mejor medida de la rentabilidad, llegando a la MIRR, en donde los flujos de efectivo se reinvierten al WACC u otra tasa explícita si fuera más razonable como supuesto</a:t>
            </a:r>
          </a:p>
          <a:p>
            <a:r>
              <a:rPr lang="es-AR" sz="2400" dirty="0"/>
              <a:t>Veamos el Excel para reanalizar el proyecto S</a:t>
            </a:r>
          </a:p>
          <a:p>
            <a:r>
              <a:rPr lang="es-AR" sz="2400" dirty="0"/>
              <a:t>La MIRR tiene dos ventajas significativas sobre la TIR</a:t>
            </a:r>
          </a:p>
          <a:p>
            <a:pPr lvl="1"/>
            <a:r>
              <a:rPr lang="es-AR" sz="2000" dirty="0"/>
              <a:t>Asume reinversión al WACC, lo que la vuelve más realista</a:t>
            </a:r>
          </a:p>
          <a:p>
            <a:pPr lvl="1"/>
            <a:r>
              <a:rPr lang="es-AR" sz="2000" dirty="0"/>
              <a:t>Elimina el problema de las TIR múltiples, y puede entonces compararse directamente contra el WACC para decidir una inversión o rechazarla</a:t>
            </a:r>
          </a:p>
          <a:p>
            <a:endParaRPr lang="es-AR" sz="2400" dirty="0"/>
          </a:p>
          <a:p>
            <a:r>
              <a:rPr lang="es-AR" sz="2400" dirty="0"/>
              <a:t>VEAMOS OTRO EJEMPLO EN EXCEL</a:t>
            </a:r>
          </a:p>
          <a:p>
            <a:endParaRPr lang="es-AR" sz="2400" dirty="0"/>
          </a:p>
        </p:txBody>
      </p:sp>
    </p:spTree>
    <p:extLst>
      <p:ext uri="{BB962C8B-B14F-4D97-AF65-F5344CB8AC3E}">
        <p14:creationId xmlns:p14="http://schemas.microsoft.com/office/powerpoint/2010/main" val="4050002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dirty="0"/>
              <a:t>Conclusiones</a:t>
            </a:r>
          </a:p>
          <a:p>
            <a:r>
              <a:rPr lang="es-AR" sz="2400" dirty="0"/>
              <a:t>En proyectos independientes, el NPV, la TIR y la MIRR coincidirán</a:t>
            </a:r>
          </a:p>
          <a:p>
            <a:r>
              <a:rPr lang="es-AR" sz="2400" dirty="0"/>
              <a:t>En proyectos mutuamente excluyentes debe usarse NPV, único que refleja el valor que se agrega al PN</a:t>
            </a:r>
          </a:p>
          <a:p>
            <a:endParaRPr lang="es-AR" sz="2400" dirty="0"/>
          </a:p>
        </p:txBody>
      </p:sp>
    </p:spTree>
    <p:extLst>
      <p:ext uri="{BB962C8B-B14F-4D97-AF65-F5344CB8AC3E}">
        <p14:creationId xmlns:p14="http://schemas.microsoft.com/office/powerpoint/2010/main" val="1378176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dirty="0"/>
              <a:t>Período de recuperación de la inversión</a:t>
            </a:r>
          </a:p>
          <a:p>
            <a:r>
              <a:rPr lang="es-AR" sz="2400" dirty="0"/>
              <a:t>Si bien hoy el NPV es el método por excelencia, en los primeros tiempos se utilizaba como un criterio importante, el período de recuperación de la inversión, definido como el número de años requeridos para recuperar los fondos invertidos </a:t>
            </a:r>
          </a:p>
          <a:p>
            <a:r>
              <a:rPr lang="es-AR" sz="2400" dirty="0"/>
              <a:t>El año de recuperación será el año previo a la recuperación total, más una fracción igual al déficit final de ese año dividido entre el flujo de efectivo durante el año de plena recuperación.</a:t>
            </a:r>
          </a:p>
          <a:p>
            <a:r>
              <a:rPr lang="es-AR" sz="2400" dirty="0"/>
              <a:t>Del mismo modo, como una versión más apropiada, se realiza el cálculo, pero con los flujos descontados al costo del Capital </a:t>
            </a:r>
          </a:p>
          <a:p>
            <a:endParaRPr lang="es-AR" sz="2400" dirty="0"/>
          </a:p>
        </p:txBody>
      </p:sp>
    </p:spTree>
    <p:extLst>
      <p:ext uri="{BB962C8B-B14F-4D97-AF65-F5344CB8AC3E}">
        <p14:creationId xmlns:p14="http://schemas.microsoft.com/office/powerpoint/2010/main" val="3404639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Elementos de </a:t>
            </a:r>
            <a:r>
              <a:rPr lang="es-AR" sz="4000"/>
              <a:t>la Presupuestación </a:t>
            </a:r>
            <a:r>
              <a:rPr lang="es-AR" sz="4000" dirty="0"/>
              <a:t>del Capital</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10000"/>
          </a:bodyPr>
          <a:lstStyle/>
          <a:p>
            <a:pPr marL="0" indent="0">
              <a:buNone/>
            </a:pPr>
            <a:r>
              <a:rPr lang="es-AR" sz="2400" dirty="0"/>
              <a:t>Conclusiones finales</a:t>
            </a:r>
          </a:p>
          <a:p>
            <a:r>
              <a:rPr lang="es-AR" sz="2400" dirty="0"/>
              <a:t>La medida “adecuada” siempre es NPV, pero en ciertas circunstancias no será el que defina</a:t>
            </a:r>
          </a:p>
          <a:p>
            <a:r>
              <a:rPr lang="es-AR" sz="2400" dirty="0"/>
              <a:t>Las demás aportan otros elementos adicionales de importancia para tomar decisiones y son demasiado sencillos de calcular para no tenerlos en cuenta</a:t>
            </a:r>
          </a:p>
          <a:p>
            <a:r>
              <a:rPr lang="es-AR" sz="2400" dirty="0"/>
              <a:t>Hay situaciones donde la TIR aporta mucho más que el NPV, porque nos muestra el margen de error tolerable en el proyecto (para no caer por debajo del costo del capital), cuando los NPV son muy cercanos entre sí</a:t>
            </a:r>
          </a:p>
          <a:p>
            <a:pPr lvl="1"/>
            <a:r>
              <a:rPr lang="es-AR" sz="2000" dirty="0"/>
              <a:t>NPV X = 5,000 y TIR 60%, con WACC del 10%</a:t>
            </a:r>
          </a:p>
          <a:p>
            <a:pPr lvl="1"/>
            <a:r>
              <a:rPr lang="es-AR" sz="2000" dirty="0"/>
              <a:t>NPV Y = 5,010 y TIR 15%, con WACC del 10%</a:t>
            </a:r>
          </a:p>
          <a:p>
            <a:r>
              <a:rPr lang="es-AR" sz="2400" dirty="0"/>
              <a:t>¿Cuál elegiríamos?</a:t>
            </a:r>
          </a:p>
          <a:p>
            <a:r>
              <a:rPr lang="es-AR" sz="2400" dirty="0"/>
              <a:t>La MIRR tiene todas las ventajas de la TIR, pero agrega dos más (tasa de reinversión e inexistencia de respuestas múltiples)</a:t>
            </a:r>
          </a:p>
          <a:p>
            <a:r>
              <a:rPr lang="es-AR" sz="2400" dirty="0"/>
              <a:t>El período de recuperación y el descontado, ofrecen indicaciones de liquidez y riesgo de un proyecto</a:t>
            </a:r>
          </a:p>
        </p:txBody>
      </p:sp>
    </p:spTree>
    <p:extLst>
      <p:ext uri="{BB962C8B-B14F-4D97-AF65-F5344CB8AC3E}">
        <p14:creationId xmlns:p14="http://schemas.microsoft.com/office/powerpoint/2010/main" val="53900983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9E03824-7536-41BC-A238-E6F78E1F2A08}"/>
</file>

<file path=customXml/itemProps2.xml><?xml version="1.0" encoding="utf-8"?>
<ds:datastoreItem xmlns:ds="http://schemas.openxmlformats.org/officeDocument/2006/customXml" ds:itemID="{13C00987-A1C7-4867-9A88-98630F03E8F3}"/>
</file>

<file path=customXml/itemProps3.xml><?xml version="1.0" encoding="utf-8"?>
<ds:datastoreItem xmlns:ds="http://schemas.openxmlformats.org/officeDocument/2006/customXml" ds:itemID="{F991250A-E1D7-46E5-B4B9-CD2587FBA7AC}"/>
</file>

<file path=docProps/app.xml><?xml version="1.0" encoding="utf-8"?>
<Properties xmlns="http://schemas.openxmlformats.org/officeDocument/2006/extended-properties" xmlns:vt="http://schemas.openxmlformats.org/officeDocument/2006/docPropsVTypes">
  <TotalTime>12872</TotalTime>
  <Words>2235</Words>
  <Application>Microsoft Office PowerPoint</Application>
  <PresentationFormat>Panorámica</PresentationFormat>
  <Paragraphs>160</Paragraphs>
  <Slides>19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Arial</vt:lpstr>
      <vt:lpstr>Calibri</vt:lpstr>
      <vt:lpstr>Calibri Light</vt:lpstr>
      <vt:lpstr>Cambria Math</vt:lpstr>
      <vt:lpstr>Times New Roman</vt:lpstr>
      <vt:lpstr>Tema de Office</vt:lpstr>
      <vt:lpstr>MAESTRIA EN GESTION ECONOMICA Y FINANCIERA DE RIESGOS</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lpstr>Elementos de la Presupuestación del Capital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GRINBLAT GUSTAVO GABRIEL</dc:creator>
  <cp:lastModifiedBy>GRINBLAT GUSTAVO GABRIEL</cp:lastModifiedBy>
  <cp:revision>110</cp:revision>
  <dcterms:created xsi:type="dcterms:W3CDTF">2023-02-14T14:19:39Z</dcterms:created>
  <dcterms:modified xsi:type="dcterms:W3CDTF">2024-04-29T16:28:51Z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