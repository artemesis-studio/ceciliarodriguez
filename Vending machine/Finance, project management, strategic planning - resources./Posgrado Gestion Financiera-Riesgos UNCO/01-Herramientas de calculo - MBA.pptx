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0.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4" r:id="rId3"/>
    <p:sldId id="266" r:id="rId4"/>
    <p:sldId id="267" r:id="rId5"/>
    <p:sldId id="257" r:id="rId6"/>
    <p:sldId id="268" r:id="rId7"/>
    <p:sldId id="284" r:id="rId8"/>
    <p:sldId id="272" r:id="rId9"/>
    <p:sldId id="270" r:id="rId10"/>
    <p:sldId id="269" r:id="rId11"/>
    <p:sldId id="271" r:id="rId12"/>
    <p:sldId id="261" r:id="rId13"/>
    <p:sldId id="260" r:id="rId14"/>
    <p:sldId id="262" r:id="rId15"/>
    <p:sldId id="273" r:id="rId16"/>
    <p:sldId id="274" r:id="rId17"/>
    <p:sldId id="275" r:id="rId18"/>
    <p:sldId id="276" r:id="rId19"/>
    <p:sldId id="277" r:id="rId20"/>
    <p:sldId id="278" r:id="rId21"/>
    <p:sldId id="279" r:id="rId22"/>
    <p:sldId id="280" r:id="rId23"/>
    <p:sldId id="281" r:id="rId24"/>
    <p:sldId id="282" r:id="rId25"/>
    <p:sldId id="283"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14" name="Group 13"/>
          <p:cNvGrpSpPr/>
          <p:nvPr/>
        </p:nvGrpSpPr>
        <p:grpSpPr>
          <a:xfrm>
            <a:off x="-1588" y="0"/>
            <a:ext cx="12193588" cy="6861555"/>
            <a:chOff x="-1588" y="0"/>
            <a:chExt cx="12193588" cy="6861555"/>
          </a:xfrm>
        </p:grpSpPr>
        <p:sp>
          <p:nvSpPr>
            <p:cNvPr id="9" name="Rectangle 8"/>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a:prstGeom prst="rect">
            <a:avLst/>
          </a:prstGeom>
        </p:spPr>
        <p:txBody>
          <a:bodyPr anchor="b"/>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tx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rot="5400000">
            <a:off x="10158984" y="1792224"/>
            <a:ext cx="990599" cy="304799"/>
          </a:xfrm>
        </p:spPr>
        <p:txBody>
          <a:bodyPr/>
          <a:lstStyle>
            <a:lvl1pPr algn="l">
              <a:defRPr b="0">
                <a:solidFill>
                  <a:schemeClr val="bg1"/>
                </a:solidFill>
              </a:defRPr>
            </a:lvl1pPr>
          </a:lstStyle>
          <a:p>
            <a:fld id="{E9462EF3-3C4F-43EE-ACEE-D4B806740EA3}" type="datetimeFigureOut">
              <a:rPr lang="en-US" dirty="0"/>
              <a:pPr/>
              <a:t>9/28/2022</a:t>
            </a:fld>
            <a:endParaRPr lang="en-US" dirty="0"/>
          </a:p>
        </p:txBody>
      </p:sp>
      <p:sp>
        <p:nvSpPr>
          <p:cNvPr id="5" name="Footer Placeholder 4"/>
          <p:cNvSpPr>
            <a:spLocks noGrp="1"/>
          </p:cNvSpPr>
          <p:nvPr>
            <p:ph type="ftr" sz="quarter" idx="11"/>
          </p:nvPr>
        </p:nvSpPr>
        <p:spPr>
          <a:xfrm rot="5400000">
            <a:off x="8951976" y="3227832"/>
            <a:ext cx="3867912" cy="310896"/>
          </a:xfrm>
        </p:spPr>
        <p:txBody>
          <a:bodyPr/>
          <a:lstStyle>
            <a:lvl1pPr>
              <a:defRPr sz="1000" b="0">
                <a:solidFill>
                  <a:schemeClr val="bg1"/>
                </a:solidFill>
              </a:defRPr>
            </a:lvl1pPr>
          </a:lstStyle>
          <a:p>
            <a:r>
              <a:rPr lang="en-US" dirty="0"/>
              <a:t>
              </a:t>
            </a:r>
          </a:p>
        </p:txBody>
      </p:sp>
      <p:sp>
        <p:nvSpPr>
          <p:cNvPr id="8" name="Rectangle 7"/>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D57F1E4F-1CFF-5643-939E-217C01CDF565}"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9"/>
            <a:ext cx="8825659" cy="706964"/>
          </a:xfrm>
          <a:prstGeom prst="rect">
            <a:avLst/>
          </a:prstGeom>
        </p:spPr>
        <p:txBody>
          <a:bodyPr anchor="ctr"/>
          <a:lstStyle/>
          <a:p>
            <a:r>
              <a:rPr lang="es-ES"/>
              <a:t>Haga clic para modificar el estilo de título del patrón</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76C0EF2-9919-473B-8215-8616BAF10692}" type="datetimeFigureOut">
              <a:rPr lang="en-US" dirty="0"/>
              <a:t>9/28/2022</a:t>
            </a:fld>
            <a:endParaRPr lang="en-US" dirty="0"/>
          </a:p>
        </p:txBody>
      </p:sp>
      <p:sp>
        <p:nvSpPr>
          <p:cNvPr id="5" name="Footer Placeholder 4"/>
          <p:cNvSpPr>
            <a:spLocks noGrp="1"/>
          </p:cNvSpPr>
          <p:nvPr>
            <p:ph type="ftr" sz="quarter" idx="11"/>
          </p:nvPr>
        </p:nvSpPr>
        <p:spPr/>
        <p:txBody>
          <a:bodyPr/>
          <a:lstStyle>
            <a:lvl1pPr>
              <a:defRPr sz="1000" b="1"/>
            </a:lvl1p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9192"/>
            <a:ext cx="4343400" cy="2286000"/>
          </a:xfrm>
          <a:prstGeom prst="rect">
            <a:avLst/>
          </a:prstGeom>
        </p:spPr>
        <p:txBody>
          <a:bodyPr anchor="ctr" anchorCtr="0"/>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94576" y="2679192"/>
            <a:ext cx="3758184" cy="2286000"/>
          </a:xfrm>
        </p:spPr>
        <p:txBody>
          <a:bodyPr anchor="ctr" anchorCtr="0"/>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A09472EB-AC54-4713-BFC2-BEB621108C63}" type="datetimeFigureOut">
              <a:rPr lang="en-US" dirty="0"/>
              <a:t>9/28/2022</a:t>
            </a:fld>
            <a:endParaRPr lang="en-US" dirty="0"/>
          </a:p>
        </p:txBody>
      </p:sp>
      <p:sp>
        <p:nvSpPr>
          <p:cNvPr id="5" name="Footer Placeholder 4"/>
          <p:cNvSpPr>
            <a:spLocks noGrp="1"/>
          </p:cNvSpPr>
          <p:nvPr>
            <p:ph type="ftr" sz="quarter" idx="11"/>
          </p:nvPr>
        </p:nvSpPr>
        <p:spPr/>
        <p:txBody>
          <a:bodyPr/>
          <a:lstStyle>
            <a:lvl1pPr>
              <a:defRPr sz="1000" b="1"/>
            </a:lvl1pPr>
          </a:lstStyle>
          <a:p>
            <a:r>
              <a:rPr lang="en-US" dirty="0"/>
              <a:t>
              </a:t>
            </a:r>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1154953" y="969264"/>
            <a:ext cx="8825659" cy="704088"/>
          </a:xfrm>
          <a:prstGeom prst="rect">
            <a:avLst/>
          </a:prstGeo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54954" y="2603500"/>
            <a:ext cx="4828032" cy="3416301"/>
          </a:xfrm>
        </p:spPr>
        <p:txBody>
          <a:bodyP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08776" y="2603500"/>
            <a:ext cx="4828032" cy="3416300"/>
          </a:xfrm>
        </p:spPr>
        <p:txBody>
          <a:bodyP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99455A0C-791E-4545-B787-F98AD45CD761}" type="datetimeFigureOut">
              <a:rPr lang="en-US" dirty="0"/>
              <a:t>9/28/2022</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154954" y="969264"/>
            <a:ext cx="8825659" cy="704088"/>
          </a:xfrm>
          <a:prstGeom prst="rect">
            <a:avLst/>
          </a:prstGeom>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4"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1154954" y="3198448"/>
            <a:ext cx="4828032" cy="2843784"/>
          </a:xfrm>
        </p:spPr>
        <p:txBody>
          <a:bodyP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08776"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6208711" y="3187921"/>
            <a:ext cx="4825160" cy="2854311"/>
          </a:xfrm>
        </p:spPr>
        <p:txBody>
          <a:bodyP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2536B77-F4F4-4427-AC4F-9A623798AD82}" type="datetimeFigureOut">
              <a:rPr lang="en-US" dirty="0"/>
              <a:t>9/28/2022</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1152144" y="969264"/>
            <a:ext cx="8825659" cy="704088"/>
          </a:xfrm>
          <a:prstGeom prst="rect">
            <a:avLst/>
          </a:prstGeo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D8BE790C-34EB-4565-8437-CACF4CDB7822}" type="datetimeFigureOut">
              <a:rPr lang="en-US" dirty="0"/>
              <a:t>9/28/2022</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4A4C11-22B8-4A4E-8126-B3AF6B948A8E}" type="datetimeFigureOut">
              <a:rPr lang="en-US" dirty="0"/>
              <a:t>9/28/2022</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6" name="Rectangle 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3" y="1298448"/>
            <a:ext cx="2793159" cy="1597152"/>
          </a:xfrm>
          <a:prstGeom prst="rect">
            <a:avLst/>
          </a:prstGeom>
        </p:spPr>
        <p:txBody>
          <a:bodyPr anchor="b"/>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779008" y="1447800"/>
            <a:ext cx="5195997" cy="4572000"/>
          </a:xfrm>
        </p:spPr>
        <p:txBody>
          <a:bodyPr anchor="ct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bwMode="gray">
          <a:xfrm>
            <a:off x="1154953" y="3129280"/>
            <a:ext cx="2793159" cy="2895599"/>
          </a:xfrm>
        </p:spPr>
        <p:txBody>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16ED06B6-C816-4861-964D-15A98395707D}" type="datetimeFigureOut">
              <a:rPr lang="en-US" dirty="0"/>
              <a:t>9/28/2022</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59" cy="1735668"/>
          </a:xfrm>
          <a:prstGeom prst="rect">
            <a:avLst/>
          </a:prstGeom>
        </p:spPr>
        <p:txBody>
          <a:bodyPr anchor="b">
            <a:normAutofit/>
          </a:bodyPr>
          <a:lstStyle>
            <a:lvl1pPr algn="l">
              <a:defRPr sz="36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00B1A8AB-EA7C-4B1B-9D73-E2551851FABE}" type="datetimeFigureOut">
              <a:rPr lang="en-US" dirty="0"/>
              <a:t>9/28/2022</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Imagen panorámica con descripción">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7" y="4969927"/>
            <a:ext cx="8825657" cy="566738"/>
          </a:xfrm>
          <a:prstGeom prst="rect">
            <a:avLst/>
          </a:prstGeo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bwMode="gray">
          <a:xfrm>
            <a:off x="1154957" y="5536665"/>
            <a:ext cx="8825656" cy="493712"/>
          </a:xfrm>
        </p:spPr>
        <p:txBody>
          <a:bodyPr>
            <a:normAutofit/>
          </a:bodyPr>
          <a:lstStyle>
            <a:lvl1pPr marL="0" indent="0">
              <a:buNone/>
              <a:defRPr sz="12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36343B39-165A-4B68-AA5C-581F5336313C}" type="datetimeFigureOut">
              <a:rPr lang="en-US" dirty="0"/>
              <a:t>9/28/2022</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ítulo y descripción">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0" name="Rectangle 9"/>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0704"/>
            <a:ext cx="8833104" cy="1371600"/>
          </a:xfrm>
          <a:prstGeom prst="rect">
            <a:avLst/>
          </a:prstGeom>
        </p:spPr>
        <p:txBody>
          <a:bodyPr anchor="ctr" anchorCtr="0"/>
          <a:lstStyle>
            <a:lvl1pPr>
              <a:defRPr sz="4000"/>
            </a:lvl1pPr>
          </a:lstStyle>
          <a:p>
            <a:r>
              <a:rPr lang="es-ES"/>
              <a:t>Haga clic para modificar el estilo de título del patrón</a:t>
            </a:r>
            <a:endParaRPr lang="en-US" dirty="0"/>
          </a:p>
        </p:txBody>
      </p:sp>
      <p:sp>
        <p:nvSpPr>
          <p:cNvPr id="8" name="Text Placeholder 3"/>
          <p:cNvSpPr>
            <a:spLocks noGrp="1"/>
          </p:cNvSpPr>
          <p:nvPr>
            <p:ph type="body" sz="half" idx="2"/>
          </p:nvPr>
        </p:nvSpPr>
        <p:spPr>
          <a:xfrm>
            <a:off x="1152144" y="3547872"/>
            <a:ext cx="8825659" cy="2478024"/>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942C8C57-33F9-4259-AC4F-0E3F5BEC9B94}" type="datetimeFigureOut">
              <a:rPr lang="en-US" dirty="0"/>
              <a:t>9/28/2022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 con descripción">
    <p:spTree>
      <p:nvGrpSpPr>
        <p:cNvPr id="1" name=""/>
        <p:cNvGrpSpPr/>
        <p:nvPr/>
      </p:nvGrpSpPr>
      <p:grpSpPr>
        <a:xfrm>
          <a:off x="0" y="0"/>
          <a:ext cx="0" cy="0"/>
          <a:chOff x="0" y="0"/>
          <a:chExt cx="0" cy="0"/>
        </a:xfrm>
      </p:grpSpPr>
      <p:grpSp>
        <p:nvGrpSpPr>
          <p:cNvPr id="7" name="Group 6"/>
          <p:cNvGrpSpPr/>
          <p:nvPr/>
        </p:nvGrpSpPr>
        <p:grpSpPr>
          <a:xfrm>
            <a:off x="-1588" y="0"/>
            <a:ext cx="12193588" cy="6861555"/>
            <a:chOff x="-1588" y="0"/>
            <a:chExt cx="12193588" cy="6861555"/>
          </a:xfrm>
        </p:grpSpPr>
        <p:sp>
          <p:nvSpPr>
            <p:cNvPr id="16" name="Rectangle 15"/>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Oval 17"/>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7"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2" name="TextBox 11"/>
          <p:cNvSpPr txBox="1"/>
          <p:nvPr/>
        </p:nvSpPr>
        <p:spPr bwMode="gray">
          <a:xfrm>
            <a:off x="898295" y="596767"/>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15" name="TextBox 14"/>
          <p:cNvSpPr txBox="1"/>
          <p:nvPr/>
        </p:nvSpPr>
        <p:spPr bwMode="gray">
          <a:xfrm>
            <a:off x="9715063" y="2629300"/>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2" name="Title 1"/>
          <p:cNvSpPr>
            <a:spLocks noGrp="1"/>
          </p:cNvSpPr>
          <p:nvPr>
            <p:ph type="title"/>
          </p:nvPr>
        </p:nvSpPr>
        <p:spPr>
          <a:xfrm>
            <a:off x="1574801" y="980517"/>
            <a:ext cx="8460983" cy="2698249"/>
          </a:xfrm>
          <a:prstGeom prst="rect">
            <a:avLst/>
          </a:prstGeom>
        </p:spPr>
        <p:txBody>
          <a:bodyPr anchor="ctr" anchorCtr="0"/>
          <a:lstStyle>
            <a:lvl1pPr>
              <a:defRPr sz="4000"/>
            </a:lvl1pPr>
          </a:lstStyle>
          <a:p>
            <a:r>
              <a:rPr lang="es-ES"/>
              <a:t>Haga clic para modificar el estilo de título del patrón</a:t>
            </a:r>
            <a:endParaRPr lang="en-US" dirty="0"/>
          </a:p>
        </p:txBody>
      </p:sp>
      <p:sp>
        <p:nvSpPr>
          <p:cNvPr id="11" name="Text Placeholder 3"/>
          <p:cNvSpPr>
            <a:spLocks noGrp="1"/>
          </p:cNvSpPr>
          <p:nvPr>
            <p:ph type="body" sz="half" idx="14"/>
          </p:nvPr>
        </p:nvSpPr>
        <p:spPr bwMode="gray">
          <a:xfrm>
            <a:off x="1945945" y="3679987"/>
            <a:ext cx="7725772" cy="342174"/>
          </a:xfrm>
        </p:spPr>
        <p:txBody>
          <a:bodyPr vert="horz" lIns="91440" tIns="45720" rIns="91440" bIns="45720" rtlCol="0" anchor="t">
            <a:normAutofit/>
          </a:bodyPr>
          <a:lstStyle>
            <a:lvl1pPr>
              <a:buNone/>
              <a:defRPr lang="en-US" sz="1400" cap="small" dirty="0">
                <a:solidFill>
                  <a:schemeClr val="tx2">
                    <a:lumMod val="40000"/>
                    <a:lumOff val="60000"/>
                  </a:schemeClr>
                </a:solidFill>
                <a:latin typeface="+mn-lt"/>
              </a:defRPr>
            </a:lvl1pPr>
          </a:lstStyle>
          <a:p>
            <a:pPr marL="0" lvl="0" indent="0">
              <a:buNone/>
            </a:pPr>
            <a:r>
              <a:rPr lang="es-ES"/>
              <a:t>Haga clic para modificar el estilo de texto del patrón</a:t>
            </a:r>
          </a:p>
        </p:txBody>
      </p:sp>
      <p:sp>
        <p:nvSpPr>
          <p:cNvPr id="10" name="Text Placeholder 3"/>
          <p:cNvSpPr>
            <a:spLocks noGrp="1"/>
          </p:cNvSpPr>
          <p:nvPr>
            <p:ph type="body" sz="half" idx="2"/>
          </p:nvPr>
        </p:nvSpPr>
        <p:spPr>
          <a:xfrm>
            <a:off x="1154954" y="5029198"/>
            <a:ext cx="8825659" cy="997858"/>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8748772B-8FA2-401F-A0A1-A59855EDBC3E}" type="datetimeFigureOut">
              <a:rPr lang="en-US" dirty="0"/>
              <a:t>9/28/2022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23" name="Rectangle 2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arjeta de nombre">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3525"/>
            <a:ext cx="8865623" cy="1819656"/>
          </a:xfrm>
          <a:prstGeom prst="rect">
            <a:avLst/>
          </a:prstGeo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4" y="5029200"/>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D3DD5BDE-5A90-4611-82E9-0FC5746D30C5}" type="datetimeFigureOut">
              <a:rPr lang="en-US" dirty="0"/>
              <a:t>9/28/2022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lvl1pPr>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4" y="2603500"/>
            <a:ext cx="3129168"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16" name="Text Placeholder 3"/>
          <p:cNvSpPr>
            <a:spLocks noGrp="1"/>
          </p:cNvSpPr>
          <p:nvPr>
            <p:ph type="body" sz="half" idx="15"/>
          </p:nvPr>
        </p:nvSpPr>
        <p:spPr>
          <a:xfrm>
            <a:off x="1154954" y="3179764"/>
            <a:ext cx="3129168"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Text Placeholder 4"/>
          <p:cNvSpPr>
            <a:spLocks noGrp="1"/>
          </p:cNvSpPr>
          <p:nvPr>
            <p:ph type="body" sz="quarter" idx="3"/>
          </p:nvPr>
        </p:nvSpPr>
        <p:spPr>
          <a:xfrm>
            <a:off x="4512721" y="2603500"/>
            <a:ext cx="3145380"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19" name="Text Placeholder 3"/>
          <p:cNvSpPr>
            <a:spLocks noGrp="1"/>
          </p:cNvSpPr>
          <p:nvPr>
            <p:ph type="body" sz="half" idx="16"/>
          </p:nvPr>
        </p:nvSpPr>
        <p:spPr>
          <a:xfrm>
            <a:off x="4512721" y="3179764"/>
            <a:ext cx="3145380"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14" name="Text Placeholder 4"/>
          <p:cNvSpPr>
            <a:spLocks noGrp="1"/>
          </p:cNvSpPr>
          <p:nvPr>
            <p:ph type="body" sz="quarter" idx="13"/>
          </p:nvPr>
        </p:nvSpPr>
        <p:spPr>
          <a:xfrm>
            <a:off x="7886700" y="2595032"/>
            <a:ext cx="3161029" cy="58473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20" name="Text Placeholder 3"/>
          <p:cNvSpPr>
            <a:spLocks noGrp="1"/>
          </p:cNvSpPr>
          <p:nvPr>
            <p:ph type="body" sz="half" idx="17"/>
          </p:nvPr>
        </p:nvSpPr>
        <p:spPr>
          <a:xfrm>
            <a:off x="7886700" y="3179764"/>
            <a:ext cx="3161029"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cxnSp>
        <p:nvCxnSpPr>
          <p:cNvPr id="17" name="Straight Connector 16"/>
          <p:cNvCxnSpPr/>
          <p:nvPr/>
        </p:nvCxnSpPr>
        <p:spPr>
          <a:xfrm>
            <a:off x="4384991" y="2603500"/>
            <a:ext cx="32564"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5824" y="2603500"/>
            <a:ext cx="0"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ADDA17D-0BEA-4E76-A7FC-F7C188BC48D1}" type="datetimeFigureOut">
              <a:rPr lang="en-US" dirty="0"/>
              <a:t>9/28/2022</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nchor="ctr" anchorCtr="0"/>
          <a:lstStyle>
            <a:lvl1pPr>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4" y="4532845"/>
            <a:ext cx="3050438" cy="57626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29" name="Picture Placeholder 2"/>
          <p:cNvSpPr>
            <a:spLocks noGrp="1" noChangeAspect="1"/>
          </p:cNvSpPr>
          <p:nvPr>
            <p:ph type="pic" idx="15"/>
          </p:nvPr>
        </p:nvSpPr>
        <p:spPr>
          <a:xfrm>
            <a:off x="1334552" y="2610916"/>
            <a:ext cx="2691242" cy="1584094"/>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2" name="Text Placeholder 3"/>
          <p:cNvSpPr>
            <a:spLocks noGrp="1"/>
          </p:cNvSpPr>
          <p:nvPr>
            <p:ph type="body" sz="half" idx="18"/>
          </p:nvPr>
        </p:nvSpPr>
        <p:spPr>
          <a:xfrm>
            <a:off x="1154954" y="5109107"/>
            <a:ext cx="3050438"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Text Placeholder 4"/>
          <p:cNvSpPr>
            <a:spLocks noGrp="1"/>
          </p:cNvSpPr>
          <p:nvPr>
            <p:ph type="body" sz="quarter" idx="3"/>
          </p:nvPr>
        </p:nvSpPr>
        <p:spPr>
          <a:xfrm>
            <a:off x="4568865"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30" name="Picture Placeholder 2"/>
          <p:cNvSpPr>
            <a:spLocks noGrp="1" noChangeAspect="1"/>
          </p:cNvSpPr>
          <p:nvPr>
            <p:ph type="pic" idx="21"/>
          </p:nvPr>
        </p:nvSpPr>
        <p:spPr>
          <a:xfrm>
            <a:off x="474846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3" name="Text Placeholder 3"/>
          <p:cNvSpPr>
            <a:spLocks noGrp="1"/>
          </p:cNvSpPr>
          <p:nvPr>
            <p:ph type="body" sz="half" idx="19"/>
          </p:nvPr>
        </p:nvSpPr>
        <p:spPr>
          <a:xfrm>
            <a:off x="4568865" y="5109108"/>
            <a:ext cx="3050438" cy="91257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14" name="Text Placeholder 4"/>
          <p:cNvSpPr>
            <a:spLocks noGrp="1"/>
          </p:cNvSpPr>
          <p:nvPr>
            <p:ph type="body" sz="quarter" idx="13"/>
          </p:nvPr>
        </p:nvSpPr>
        <p:spPr>
          <a:xfrm>
            <a:off x="7983433"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20"/>
          </p:nvPr>
        </p:nvSpPr>
        <p:spPr>
          <a:xfrm>
            <a:off x="7983433" y="5109107"/>
            <a:ext cx="3050438" cy="91794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cxnSp>
        <p:nvCxnSpPr>
          <p:cNvPr id="17" name="Straight Connector 16"/>
          <p:cNvCxnSpPr/>
          <p:nvPr/>
        </p:nvCxnSpPr>
        <p:spPr>
          <a:xfrm>
            <a:off x="4384245" y="2603500"/>
            <a:ext cx="1"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7352" y="2603500"/>
            <a:ext cx="0"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6909AC7D-18CA-4236-82B9-D75EB1D66EAE}" type="datetimeFigureOut">
              <a:rPr lang="en-US" dirty="0"/>
              <a:t>9/28/2022</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154954" y="2595033"/>
            <a:ext cx="8825659" cy="3424768"/>
          </a:xfrm>
        </p:spPr>
        <p:txBody>
          <a:bodyPr vert="eaVert" anchor="t" anchorCtr="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568300E-C023-45CD-A0BE-EDB7A8C6EA8B}" type="datetimeFigureOut">
              <a:rPr lang="en-US" dirty="0"/>
              <a:t>9/28/2022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grpSp>
        <p:nvGrpSpPr>
          <p:cNvPr id="8" name="Group 7"/>
          <p:cNvGrpSpPr/>
          <p:nvPr/>
        </p:nvGrpSpPr>
        <p:grpSpPr>
          <a:xfrm>
            <a:off x="-1588" y="0"/>
            <a:ext cx="12193588" cy="6861555"/>
            <a:chOff x="-1588" y="0"/>
            <a:chExt cx="12193588" cy="6861555"/>
          </a:xfrm>
        </p:grpSpPr>
        <p:sp>
          <p:nvSpPr>
            <p:cNvPr id="15" name="Rectangle 14"/>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Rectangle 12"/>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6"/>
            <a:ext cx="1441567" cy="4748591"/>
          </a:xfrm>
          <a:prstGeom prst="rect">
            <a:avLst/>
          </a:prstGeom>
        </p:spPr>
        <p:txBody>
          <a:bodyPr vert="eaVert" anchor="b" anchorCtr="0"/>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154954" y="1278465"/>
            <a:ext cx="6256025" cy="4748591"/>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B620EAD-E369-4933-8469-ED7764B56A1B}" type="datetimeFigureOut">
              <a:rPr lang="en-US" dirty="0"/>
              <a:t>9/28/2022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20" name="Rectangle 1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1"/>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19">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4"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7"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30"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652760" y="6391656"/>
            <a:ext cx="990599" cy="304799"/>
          </a:xfrm>
          <a:prstGeom prst="rect">
            <a:avLst/>
          </a:prstGeom>
        </p:spPr>
        <p:txBody>
          <a:bodyPr vert="horz" lIns="91440" tIns="45720" rIns="91440" bIns="45720" rtlCol="0" anchor="ctr" anchorCtr="0"/>
          <a:lstStyle>
            <a:lvl1pPr algn="r">
              <a:defRPr sz="1000" b="1" i="0">
                <a:solidFill>
                  <a:schemeClr val="accent1"/>
                </a:solidFill>
              </a:defRPr>
            </a:lvl1pPr>
          </a:lstStyle>
          <a:p>
            <a:fld id="{90786BE5-D2A3-4BF0-8B30-D7403E61B3DC}" type="datetimeFigureOut">
              <a:rPr lang="en-US" dirty="0"/>
              <a:t>9/28/2022</a:t>
            </a:fld>
            <a:endParaRPr lang="en-US" dirty="0"/>
          </a:p>
        </p:txBody>
      </p:sp>
      <p:sp>
        <p:nvSpPr>
          <p:cNvPr id="5" name="Footer Placeholder 4"/>
          <p:cNvSpPr>
            <a:spLocks noGrp="1"/>
          </p:cNvSpPr>
          <p:nvPr>
            <p:ph type="ftr" sz="quarter" idx="3"/>
          </p:nvPr>
        </p:nvSpPr>
        <p:spPr>
          <a:xfrm>
            <a:off x="557784" y="6391656"/>
            <a:ext cx="3867912" cy="310896"/>
          </a:xfrm>
          <a:prstGeom prst="rect">
            <a:avLst/>
          </a:prstGeom>
        </p:spPr>
        <p:txBody>
          <a:bodyPr vert="horz" lIns="91440" tIns="45720" rIns="91440" bIns="45720" rtlCol="0" anchor="ctr" anchorCtr="0"/>
          <a:lstStyle>
            <a:lvl1pPr algn="l">
              <a:defRPr sz="1000" b="1" i="0">
                <a:solidFill>
                  <a:schemeClr val="accent1"/>
                </a:solidFill>
              </a:defRPr>
            </a:lvl1pPr>
          </a:lstStyle>
          <a:p>
            <a:r>
              <a:rPr lang="en-US" dirty="0"/>
              <a:t>
              </a:t>
            </a:r>
          </a:p>
        </p:txBody>
      </p:sp>
      <p:sp>
        <p:nvSpPr>
          <p:cNvPr id="29" name="Rectangle 2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154955" y="2099732"/>
            <a:ext cx="8825658" cy="4009519"/>
          </a:xfrm>
        </p:spPr>
        <p:txBody>
          <a:bodyPr/>
          <a:lstStyle/>
          <a:p>
            <a:br>
              <a:rPr lang="es-AR" dirty="0"/>
            </a:br>
            <a:endParaRPr lang="es-AR" dirty="0"/>
          </a:p>
        </p:txBody>
      </p:sp>
      <p:sp>
        <p:nvSpPr>
          <p:cNvPr id="3" name="Subtítulo 2"/>
          <p:cNvSpPr>
            <a:spLocks noGrp="1"/>
          </p:cNvSpPr>
          <p:nvPr>
            <p:ph type="subTitle" idx="1"/>
          </p:nvPr>
        </p:nvSpPr>
        <p:spPr>
          <a:xfrm>
            <a:off x="1791060" y="1553817"/>
            <a:ext cx="8825658" cy="3750365"/>
          </a:xfrm>
        </p:spPr>
        <p:txBody>
          <a:bodyPr>
            <a:normAutofit fontScale="92500" lnSpcReduction="20000"/>
          </a:bodyPr>
          <a:lstStyle/>
          <a:p>
            <a:pPr algn="ctr"/>
            <a:r>
              <a:rPr lang="es-ES" sz="4000" b="1" dirty="0"/>
              <a:t>MAESTRIA EN ADMINISTRACION</a:t>
            </a:r>
          </a:p>
          <a:p>
            <a:pPr algn="ctr"/>
            <a:r>
              <a:rPr lang="es-ES" sz="4000" b="1" dirty="0"/>
              <a:t>CARRERA A DISTANCIA</a:t>
            </a:r>
          </a:p>
          <a:p>
            <a:endParaRPr lang="es-ES" dirty="0"/>
          </a:p>
          <a:p>
            <a:pPr algn="ctr"/>
            <a:r>
              <a:rPr lang="es-ES" sz="2800" dirty="0"/>
              <a:t>ASIGNATURA: ANÁLISIS FINANCIERO – SEMANA 1</a:t>
            </a:r>
          </a:p>
          <a:p>
            <a:pPr algn="ctr"/>
            <a:endParaRPr lang="es-AR" sz="2800" dirty="0"/>
          </a:p>
          <a:p>
            <a:pPr algn="ctr"/>
            <a:r>
              <a:rPr lang="es-AR" sz="2400" dirty="0"/>
              <a:t>TASAS DE INTERÉS – SISTEMAS DE AMORTIZACIÓN – VAN – TIR –</a:t>
            </a:r>
          </a:p>
          <a:p>
            <a:pPr algn="ctr"/>
            <a:endParaRPr lang="es-AR" sz="2400" dirty="0"/>
          </a:p>
          <a:p>
            <a:pPr algn="ctr"/>
            <a:r>
              <a:rPr lang="es-AR" sz="2100" dirty="0"/>
              <a:t>Mg. Mario Luis Perossa </a:t>
            </a:r>
          </a:p>
        </p:txBody>
      </p:sp>
    </p:spTree>
    <p:extLst>
      <p:ext uri="{BB962C8B-B14F-4D97-AF65-F5344CB8AC3E}">
        <p14:creationId xmlns:p14="http://schemas.microsoft.com/office/powerpoint/2010/main" val="2500539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sz="2800" b="1" dirty="0"/>
              <a:t>Decisiones básicas en materia financiera</a:t>
            </a:r>
          </a:p>
        </p:txBody>
      </p:sp>
      <p:sp>
        <p:nvSpPr>
          <p:cNvPr id="3" name="Marcador de contenido 2"/>
          <p:cNvSpPr>
            <a:spLocks noGrp="1"/>
          </p:cNvSpPr>
          <p:nvPr>
            <p:ph idx="1"/>
          </p:nvPr>
        </p:nvSpPr>
        <p:spPr/>
        <p:txBody>
          <a:bodyPr>
            <a:normAutofit/>
          </a:bodyPr>
          <a:lstStyle/>
          <a:p>
            <a:pPr marL="457200" lvl="0" indent="-457200">
              <a:buFont typeface="+mj-lt"/>
              <a:buAutoNum type="arabicPeriod"/>
              <a:tabLst>
                <a:tab pos="685800" algn="l"/>
              </a:tabLst>
            </a:pPr>
            <a:r>
              <a:rPr lang="es-MX" sz="2400" b="1" dirty="0">
                <a:latin typeface="Arial" panose="020B0604020202020204" pitchFamily="34" charset="0"/>
                <a:ea typeface="Times New Roman" panose="02020603050405020304" pitchFamily="18" charset="0"/>
              </a:rPr>
              <a:t>Decisiones de inversión</a:t>
            </a:r>
            <a:endParaRPr lang="es-AR" sz="2400" b="1" dirty="0">
              <a:latin typeface="Times New Roman" panose="02020603050405020304" pitchFamily="18" charset="0"/>
              <a:ea typeface="Times New Roman" panose="02020603050405020304" pitchFamily="18" charset="0"/>
            </a:endParaRPr>
          </a:p>
          <a:p>
            <a:pPr marL="457200" lvl="0" indent="-457200">
              <a:buFont typeface="+mj-lt"/>
              <a:buAutoNum type="arabicPeriod"/>
              <a:tabLst>
                <a:tab pos="685800" algn="l"/>
              </a:tabLst>
            </a:pPr>
            <a:endParaRPr lang="es-AR" sz="2400" b="1" dirty="0">
              <a:latin typeface="Times New Roman" panose="02020603050405020304" pitchFamily="18" charset="0"/>
              <a:ea typeface="Times New Roman" panose="02020603050405020304" pitchFamily="18" charset="0"/>
            </a:endParaRPr>
          </a:p>
          <a:p>
            <a:pPr marL="457200" lvl="0" indent="-457200">
              <a:buFont typeface="+mj-lt"/>
              <a:buAutoNum type="arabicPeriod"/>
              <a:tabLst>
                <a:tab pos="685800" algn="l"/>
              </a:tabLst>
            </a:pPr>
            <a:r>
              <a:rPr lang="es-MX" sz="2400" b="1" dirty="0">
                <a:latin typeface="Arial" panose="020B0604020202020204" pitchFamily="34" charset="0"/>
                <a:ea typeface="Times New Roman" panose="02020603050405020304" pitchFamily="18" charset="0"/>
              </a:rPr>
              <a:t>Decisiones de Financiamiento</a:t>
            </a:r>
            <a:endParaRPr lang="es-AR" sz="2400" b="1" dirty="0">
              <a:latin typeface="Times New Roman" panose="02020603050405020304" pitchFamily="18" charset="0"/>
              <a:ea typeface="Times New Roman" panose="02020603050405020304" pitchFamily="18" charset="0"/>
            </a:endParaRPr>
          </a:p>
          <a:p>
            <a:pPr marL="457200" indent="-457200">
              <a:buFont typeface="+mj-lt"/>
              <a:buAutoNum type="arabicPeriod"/>
            </a:pPr>
            <a:endParaRPr lang="es-AR" sz="2400" b="1" dirty="0"/>
          </a:p>
          <a:p>
            <a:pPr marL="457200" indent="-457200">
              <a:buFont typeface="+mj-lt"/>
              <a:buAutoNum type="arabicPeriod"/>
            </a:pPr>
            <a:r>
              <a:rPr lang="es-AR" sz="2400" b="1" dirty="0"/>
              <a:t>Decisiones de políticas de dividendos</a:t>
            </a:r>
          </a:p>
          <a:p>
            <a:pPr marL="457200" indent="-457200">
              <a:buFont typeface="+mj-lt"/>
              <a:buAutoNum type="arabicPeriod"/>
            </a:pPr>
            <a:endParaRPr lang="es-AR" sz="2400" b="1" dirty="0"/>
          </a:p>
          <a:p>
            <a:pPr marL="457200" indent="-457200">
              <a:buFont typeface="+mj-lt"/>
              <a:buAutoNum type="arabicPeriod"/>
            </a:pPr>
            <a:r>
              <a:rPr lang="es-AR" sz="2400" b="1" dirty="0"/>
              <a:t>Decisiones de planificación de la ganancia</a:t>
            </a:r>
          </a:p>
        </p:txBody>
      </p:sp>
    </p:spTree>
    <p:extLst>
      <p:ext uri="{BB962C8B-B14F-4D97-AF65-F5344CB8AC3E}">
        <p14:creationId xmlns:p14="http://schemas.microsoft.com/office/powerpoint/2010/main" val="1401673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sz="2800" b="1" dirty="0"/>
              <a:t>COMPONENTES DE LA TASA DE INTERÉS</a:t>
            </a:r>
          </a:p>
        </p:txBody>
      </p:sp>
      <p:sp>
        <p:nvSpPr>
          <p:cNvPr id="3" name="Marcador de contenido 2"/>
          <p:cNvSpPr>
            <a:spLocks noGrp="1"/>
          </p:cNvSpPr>
          <p:nvPr>
            <p:ph idx="1"/>
          </p:nvPr>
        </p:nvSpPr>
        <p:spPr/>
        <p:txBody>
          <a:bodyPr>
            <a:normAutofit fontScale="85000" lnSpcReduction="20000"/>
          </a:bodyPr>
          <a:lstStyle/>
          <a:p>
            <a:pPr marL="0" indent="0">
              <a:buNone/>
            </a:pPr>
            <a:r>
              <a:rPr lang="es-AR" dirty="0"/>
              <a:t>Si bien la parte observable de una tasa de interés, cualquier tasa de interés, es simplemente un número, el mismo es el resultado de una serie de componentes implícitos que le dan valor a la misma.</a:t>
            </a:r>
          </a:p>
          <a:p>
            <a:endParaRPr lang="es-AR" dirty="0"/>
          </a:p>
          <a:p>
            <a:pPr marL="0" indent="0">
              <a:buNone/>
            </a:pPr>
            <a:r>
              <a:rPr lang="es-AR" dirty="0"/>
              <a:t>En principio, son tres los rubros mas valorados en la tasa de interés:</a:t>
            </a:r>
          </a:p>
          <a:p>
            <a:endParaRPr lang="es-AR" dirty="0"/>
          </a:p>
          <a:p>
            <a:pPr marL="0" indent="0">
              <a:buNone/>
            </a:pPr>
            <a:r>
              <a:rPr lang="es-AR" dirty="0"/>
              <a:t>•	</a:t>
            </a:r>
            <a:r>
              <a:rPr lang="es-AR" sz="2200" b="1" dirty="0"/>
              <a:t>Tasa libre de riesgo (</a:t>
            </a:r>
            <a:r>
              <a:rPr lang="es-AR" sz="2200" b="1" dirty="0" err="1"/>
              <a:t>rf</a:t>
            </a:r>
            <a:r>
              <a:rPr lang="es-AR" sz="2200" b="1" dirty="0"/>
              <a:t>)</a:t>
            </a:r>
          </a:p>
          <a:p>
            <a:pPr marL="0" indent="0">
              <a:buNone/>
            </a:pPr>
            <a:endParaRPr lang="es-AR" sz="2200" b="1" dirty="0"/>
          </a:p>
          <a:p>
            <a:pPr marL="0" indent="0">
              <a:buNone/>
            </a:pPr>
            <a:r>
              <a:rPr lang="es-AR" sz="2200" b="1" dirty="0"/>
              <a:t>•	Expectativa de inflación (π)</a:t>
            </a:r>
          </a:p>
          <a:p>
            <a:pPr marL="0" indent="0">
              <a:buNone/>
            </a:pPr>
            <a:endParaRPr lang="es-AR" sz="2200" b="1" dirty="0"/>
          </a:p>
          <a:p>
            <a:pPr marL="0" indent="0">
              <a:buNone/>
            </a:pPr>
            <a:r>
              <a:rPr lang="es-AR" sz="2200" b="1" dirty="0"/>
              <a:t>•	Riesgo (σ)</a:t>
            </a:r>
          </a:p>
          <a:p>
            <a:endParaRPr lang="es-AR" dirty="0"/>
          </a:p>
        </p:txBody>
      </p:sp>
    </p:spTree>
    <p:extLst>
      <p:ext uri="{BB962C8B-B14F-4D97-AF65-F5344CB8AC3E}">
        <p14:creationId xmlns:p14="http://schemas.microsoft.com/office/powerpoint/2010/main" val="3441648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sz="2800" b="1" dirty="0"/>
              <a:t>Tasas nominales y tasas efectivas</a:t>
            </a:r>
          </a:p>
        </p:txBody>
      </p:sp>
      <p:sp>
        <p:nvSpPr>
          <p:cNvPr id="3" name="Marcador de contenido 2"/>
          <p:cNvSpPr>
            <a:spLocks noGrp="1"/>
          </p:cNvSpPr>
          <p:nvPr>
            <p:ph idx="1"/>
          </p:nvPr>
        </p:nvSpPr>
        <p:spPr>
          <a:xfrm>
            <a:off x="1154954" y="2603500"/>
            <a:ext cx="9992017" cy="3416300"/>
          </a:xfrm>
        </p:spPr>
        <p:txBody>
          <a:bodyPr>
            <a:noAutofit/>
          </a:bodyPr>
          <a:lstStyle/>
          <a:p>
            <a:r>
              <a:rPr lang="es-AR" sz="2400" dirty="0"/>
              <a:t>Tasas nominales se relacionan se relacionan con el interés simple, se  divide o multiplica: es una función lineal.</a:t>
            </a:r>
          </a:p>
          <a:p>
            <a:r>
              <a:rPr lang="es-AR" sz="2400" dirty="0"/>
              <a:t>Financieramente se utilizan como referencia.</a:t>
            </a:r>
          </a:p>
          <a:p>
            <a:r>
              <a:rPr lang="es-AR" sz="2400" dirty="0"/>
              <a:t>Tasas efectivas indican el interés efectivo de la operación suponiendo el uso del interés compuesto: esto supone la capitalización de los intereses entre períodos. Es una función exponencial, por lo tanto se representa mediante una curva.</a:t>
            </a:r>
          </a:p>
          <a:p>
            <a:r>
              <a:rPr lang="es-AR" sz="2400" dirty="0"/>
              <a:t>En finanzas se utiliza la tasa anual.</a:t>
            </a:r>
          </a:p>
        </p:txBody>
      </p:sp>
    </p:spTree>
    <p:extLst>
      <p:ext uri="{BB962C8B-B14F-4D97-AF65-F5344CB8AC3E}">
        <p14:creationId xmlns:p14="http://schemas.microsoft.com/office/powerpoint/2010/main" val="4098800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30771" y="864812"/>
            <a:ext cx="8825659" cy="706964"/>
          </a:xfrm>
        </p:spPr>
        <p:txBody>
          <a:bodyPr/>
          <a:lstStyle/>
          <a:p>
            <a:pPr lvl="0" algn="ctr" defTabSz="914400" eaLnBrk="0" fontAlgn="base" hangingPunct="0">
              <a:spcAft>
                <a:spcPct val="0"/>
              </a:spcAft>
            </a:pPr>
            <a:br>
              <a:rPr lang="en-US" altLang="es-AR" sz="2400" dirty="0">
                <a:solidFill>
                  <a:schemeClr val="bg1"/>
                </a:solidFill>
                <a:latin typeface="Tahoma" panose="020B0604030504040204" pitchFamily="34" charset="0"/>
                <a:ea typeface="+mn-ea"/>
                <a:cs typeface="+mn-cs"/>
              </a:rPr>
            </a:br>
            <a:r>
              <a:rPr lang="en-US" altLang="es-AR" sz="2800" b="1" dirty="0">
                <a:solidFill>
                  <a:schemeClr val="bg1"/>
                </a:solidFill>
                <a:latin typeface="Century Gothic" panose="020B0502020202020204" pitchFamily="34" charset="0"/>
                <a:ea typeface="+mn-ea"/>
                <a:cs typeface="+mn-cs"/>
              </a:rPr>
              <a:t>TASA NOMINAL VS. TASA EFECTIVA</a:t>
            </a:r>
            <a:br>
              <a:rPr lang="en-US" altLang="es-AR" sz="1600" b="1" u="sng" dirty="0">
                <a:solidFill>
                  <a:srgbClr val="000000"/>
                </a:solidFill>
                <a:latin typeface="Tahoma" panose="020B0604030504040204" pitchFamily="34" charset="0"/>
                <a:ea typeface="+mn-ea"/>
                <a:cs typeface="+mn-cs"/>
              </a:rPr>
            </a:br>
            <a:endParaRPr lang="es-AR" dirty="0"/>
          </a:p>
        </p:txBody>
      </p:sp>
      <p:pic>
        <p:nvPicPr>
          <p:cNvPr id="4" name="Marcador de contenido 3"/>
          <p:cNvPicPr>
            <a:picLocks noGrp="1" noChangeAspect="1"/>
          </p:cNvPicPr>
          <p:nvPr>
            <p:ph idx="1"/>
          </p:nvPr>
        </p:nvPicPr>
        <p:blipFill>
          <a:blip r:embed="rId2"/>
          <a:stretch>
            <a:fillRect/>
          </a:stretch>
        </p:blipFill>
        <p:spPr>
          <a:xfrm>
            <a:off x="566058" y="2603500"/>
            <a:ext cx="10755086" cy="4254500"/>
          </a:xfrm>
          <a:prstGeom prst="rect">
            <a:avLst/>
          </a:prstGeom>
        </p:spPr>
      </p:pic>
    </p:spTree>
    <p:extLst>
      <p:ext uri="{BB962C8B-B14F-4D97-AF65-F5344CB8AC3E}">
        <p14:creationId xmlns:p14="http://schemas.microsoft.com/office/powerpoint/2010/main" val="1433413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sz="2800" b="1" dirty="0"/>
              <a:t>TASAS EFECTIVAS</a:t>
            </a:r>
          </a:p>
        </p:txBody>
      </p:sp>
      <p:sp>
        <p:nvSpPr>
          <p:cNvPr id="3" name="Marcador de contenido 2"/>
          <p:cNvSpPr>
            <a:spLocks noGrp="1"/>
          </p:cNvSpPr>
          <p:nvPr>
            <p:ph idx="1"/>
          </p:nvPr>
        </p:nvSpPr>
        <p:spPr>
          <a:xfrm>
            <a:off x="1154954" y="2634343"/>
            <a:ext cx="10209732" cy="3690257"/>
          </a:xfrm>
        </p:spPr>
        <p:txBody>
          <a:bodyPr>
            <a:noAutofit/>
          </a:bodyPr>
          <a:lstStyle/>
          <a:p>
            <a:r>
              <a:rPr lang="es-AR" sz="2000" dirty="0"/>
              <a:t>Tasa efectiva anual ( 24%) con capitalización semestral:</a:t>
            </a:r>
          </a:p>
          <a:p>
            <a:endParaRPr lang="es-AR" sz="2000" dirty="0"/>
          </a:p>
          <a:p>
            <a:r>
              <a:rPr lang="es-AR" sz="2000" dirty="0"/>
              <a:t>(1 + 0.24/2)2 – 1 = (1 + 0,12)2 – 1  = 1,122 – 1 =                   0.2544 </a:t>
            </a:r>
            <a:r>
              <a:rPr lang="es-AR" sz="2000" dirty="0" err="1"/>
              <a:t>ó</a:t>
            </a:r>
            <a:r>
              <a:rPr lang="es-AR" sz="2000" dirty="0"/>
              <a:t> 25,44%</a:t>
            </a:r>
          </a:p>
          <a:p>
            <a:r>
              <a:rPr lang="es-AR" sz="2000" dirty="0"/>
              <a:t>Tasa efectiva anual con capitalización cuatrimestral:    </a:t>
            </a:r>
          </a:p>
          <a:p>
            <a:r>
              <a:rPr lang="es-AR" sz="2000" dirty="0"/>
              <a:t>Tasa efectiva anual con capitalización trimestral:</a:t>
            </a:r>
          </a:p>
          <a:p>
            <a:r>
              <a:rPr lang="es-AR" sz="2000" dirty="0"/>
              <a:t>Tasa efectiva anual con capitalización bimestral:           </a:t>
            </a:r>
          </a:p>
          <a:p>
            <a:r>
              <a:rPr lang="es-AR" sz="2000" dirty="0"/>
              <a:t>Tasa efectiva anual con capitalización mensual:            </a:t>
            </a:r>
          </a:p>
          <a:p>
            <a:r>
              <a:rPr lang="es-AR" sz="2000" dirty="0"/>
              <a:t>Tasa efectiva anual con capitalización diaria:</a:t>
            </a:r>
          </a:p>
        </p:txBody>
      </p:sp>
    </p:spTree>
    <p:extLst>
      <p:ext uri="{BB962C8B-B14F-4D97-AF65-F5344CB8AC3E}">
        <p14:creationId xmlns:p14="http://schemas.microsoft.com/office/powerpoint/2010/main" val="15108047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sz="2800" b="1" dirty="0"/>
              <a:t>TASAS EFECTIVAS</a:t>
            </a:r>
          </a:p>
        </p:txBody>
      </p:sp>
      <p:sp>
        <p:nvSpPr>
          <p:cNvPr id="3" name="Marcador de contenido 2"/>
          <p:cNvSpPr>
            <a:spLocks noGrp="1"/>
          </p:cNvSpPr>
          <p:nvPr>
            <p:ph idx="1"/>
          </p:nvPr>
        </p:nvSpPr>
        <p:spPr>
          <a:xfrm>
            <a:off x="1154954" y="2634343"/>
            <a:ext cx="10209732" cy="3690257"/>
          </a:xfrm>
        </p:spPr>
        <p:txBody>
          <a:bodyPr>
            <a:noAutofit/>
          </a:bodyPr>
          <a:lstStyle/>
          <a:p>
            <a:r>
              <a:rPr lang="es-AR" sz="2000" dirty="0"/>
              <a:t>Tasa efectiva anual ( 24%) con capitalización semestral:</a:t>
            </a:r>
          </a:p>
          <a:p>
            <a:endParaRPr lang="es-AR" sz="2000" dirty="0"/>
          </a:p>
          <a:p>
            <a:r>
              <a:rPr lang="es-AR" sz="2000" dirty="0"/>
              <a:t>(1 + 0.24/2)2 – 1 = (1 + 0,12)2 – 1  = 1,122 – 1 =                   0.2544 </a:t>
            </a:r>
            <a:r>
              <a:rPr lang="es-AR" sz="2000" dirty="0" err="1"/>
              <a:t>ó</a:t>
            </a:r>
            <a:r>
              <a:rPr lang="es-AR" sz="2000" dirty="0"/>
              <a:t> 25,44%</a:t>
            </a:r>
          </a:p>
          <a:p>
            <a:r>
              <a:rPr lang="es-AR" sz="2000" dirty="0"/>
              <a:t>Tasa efectiva anual con capitalización cuatrimestral:    0.2597 </a:t>
            </a:r>
            <a:r>
              <a:rPr lang="es-AR" sz="2000" dirty="0" err="1"/>
              <a:t>ó</a:t>
            </a:r>
            <a:r>
              <a:rPr lang="es-AR" sz="2000" dirty="0"/>
              <a:t> 25,97 %</a:t>
            </a:r>
          </a:p>
          <a:p>
            <a:r>
              <a:rPr lang="es-AR" sz="2000" dirty="0"/>
              <a:t>Tasa efectiva anual con capitalización trimestral:           0.2624 </a:t>
            </a:r>
            <a:r>
              <a:rPr lang="es-AR" sz="2000" dirty="0" err="1"/>
              <a:t>ó</a:t>
            </a:r>
            <a:r>
              <a:rPr lang="es-AR" sz="2000" dirty="0"/>
              <a:t> 26,24 %                                     </a:t>
            </a:r>
          </a:p>
          <a:p>
            <a:r>
              <a:rPr lang="es-AR" sz="2000" dirty="0"/>
              <a:t>Tasa efectiva anual con capitalización bimestral:           0.2653 </a:t>
            </a:r>
            <a:r>
              <a:rPr lang="es-AR" sz="2000" dirty="0" err="1"/>
              <a:t>ó</a:t>
            </a:r>
            <a:r>
              <a:rPr lang="es-AR" sz="2000" dirty="0"/>
              <a:t> 26,53 %</a:t>
            </a:r>
          </a:p>
          <a:p>
            <a:r>
              <a:rPr lang="es-AR" sz="2000" dirty="0"/>
              <a:t>Tasa efectiva anual con capitalización mensual:            0.2682 </a:t>
            </a:r>
            <a:r>
              <a:rPr lang="es-AR" sz="2000" dirty="0" err="1"/>
              <a:t>ó</a:t>
            </a:r>
            <a:r>
              <a:rPr lang="es-AR" sz="2000" dirty="0"/>
              <a:t> 26,82 %</a:t>
            </a:r>
          </a:p>
          <a:p>
            <a:r>
              <a:rPr lang="es-AR" sz="2000" dirty="0"/>
              <a:t>Tasa efectiva anual con capitalización diaria:                 0.2711 </a:t>
            </a:r>
            <a:r>
              <a:rPr lang="es-AR" sz="2000" dirty="0" err="1"/>
              <a:t>ó</a:t>
            </a:r>
            <a:r>
              <a:rPr lang="es-AR" sz="2000" dirty="0"/>
              <a:t> 27,11 %</a:t>
            </a:r>
          </a:p>
        </p:txBody>
      </p:sp>
    </p:spTree>
    <p:extLst>
      <p:ext uri="{BB962C8B-B14F-4D97-AF65-F5344CB8AC3E}">
        <p14:creationId xmlns:p14="http://schemas.microsoft.com/office/powerpoint/2010/main" val="1776400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sz="2800" b="1" dirty="0"/>
              <a:t>INTERÉS SIMPLE VS. INTERÉS COMPUESTO</a:t>
            </a:r>
          </a:p>
        </p:txBody>
      </p:sp>
      <p:pic>
        <p:nvPicPr>
          <p:cNvPr id="4" name="Marcador de contenido 3"/>
          <p:cNvPicPr>
            <a:picLocks noGrp="1" noChangeAspect="1"/>
          </p:cNvPicPr>
          <p:nvPr>
            <p:ph idx="1"/>
          </p:nvPr>
        </p:nvPicPr>
        <p:blipFill>
          <a:blip r:embed="rId2"/>
          <a:stretch>
            <a:fillRect/>
          </a:stretch>
        </p:blipFill>
        <p:spPr>
          <a:xfrm>
            <a:off x="849087" y="2242457"/>
            <a:ext cx="9688284" cy="4376057"/>
          </a:xfrm>
          <a:prstGeom prst="rect">
            <a:avLst/>
          </a:prstGeom>
        </p:spPr>
      </p:pic>
    </p:spTree>
    <p:extLst>
      <p:ext uri="{BB962C8B-B14F-4D97-AF65-F5344CB8AC3E}">
        <p14:creationId xmlns:p14="http://schemas.microsoft.com/office/powerpoint/2010/main" val="18013995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sz="2800" b="1" dirty="0">
                <a:solidFill>
                  <a:schemeClr val="bg1"/>
                </a:solidFill>
              </a:rPr>
              <a:t>Curva de rendimiento de la TEA (con distintas capitalizaciones) correspondientes a una TNA 24%</a:t>
            </a:r>
          </a:p>
        </p:txBody>
      </p:sp>
      <p:pic>
        <p:nvPicPr>
          <p:cNvPr id="4" name="Marcador de contenido 3"/>
          <p:cNvPicPr>
            <a:picLocks noGrp="1" noChangeAspect="1"/>
          </p:cNvPicPr>
          <p:nvPr>
            <p:ph idx="1"/>
          </p:nvPr>
        </p:nvPicPr>
        <p:blipFill>
          <a:blip r:embed="rId2"/>
          <a:stretch>
            <a:fillRect/>
          </a:stretch>
        </p:blipFill>
        <p:spPr>
          <a:xfrm>
            <a:off x="1785257" y="2590800"/>
            <a:ext cx="8195356" cy="3701143"/>
          </a:xfrm>
          <a:prstGeom prst="rect">
            <a:avLst/>
          </a:prstGeom>
        </p:spPr>
      </p:pic>
    </p:spTree>
    <p:extLst>
      <p:ext uri="{BB962C8B-B14F-4D97-AF65-F5344CB8AC3E}">
        <p14:creationId xmlns:p14="http://schemas.microsoft.com/office/powerpoint/2010/main" val="4178922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sz="2800" b="1" dirty="0"/>
              <a:t>TASA INSTANTÁNEA</a:t>
            </a:r>
          </a:p>
        </p:txBody>
      </p:sp>
      <p:sp>
        <p:nvSpPr>
          <p:cNvPr id="3" name="Marcador de contenido 2"/>
          <p:cNvSpPr>
            <a:spLocks noGrp="1"/>
          </p:cNvSpPr>
          <p:nvPr>
            <p:ph idx="1"/>
          </p:nvPr>
        </p:nvSpPr>
        <p:spPr/>
        <p:txBody>
          <a:bodyPr/>
          <a:lstStyle/>
          <a:p>
            <a:r>
              <a:rPr lang="es-AR" dirty="0"/>
              <a:t>Se utiliza la función matemática de donde resulta la base de los logaritmos naturales (el número e ): </a:t>
            </a:r>
          </a:p>
          <a:p>
            <a:r>
              <a:rPr lang="es-AR" dirty="0"/>
              <a:t>                                ( 1 + 1/x)x = e  </a:t>
            </a:r>
          </a:p>
          <a:p>
            <a:r>
              <a:rPr lang="es-AR" dirty="0"/>
              <a:t>                   </a:t>
            </a:r>
            <a:r>
              <a:rPr lang="es-AR" dirty="0" err="1"/>
              <a:t>Lím</a:t>
            </a:r>
            <a:r>
              <a:rPr lang="es-AR" dirty="0"/>
              <a:t> x →∞</a:t>
            </a:r>
          </a:p>
          <a:p>
            <a:pPr marL="0" indent="0">
              <a:buNone/>
            </a:pPr>
            <a:endParaRPr lang="es-AR" dirty="0"/>
          </a:p>
        </p:txBody>
      </p:sp>
      <p:pic>
        <p:nvPicPr>
          <p:cNvPr id="4" name="Imagen 3"/>
          <p:cNvPicPr>
            <a:picLocks noChangeAspect="1"/>
          </p:cNvPicPr>
          <p:nvPr/>
        </p:nvPicPr>
        <p:blipFill>
          <a:blip r:embed="rId2"/>
          <a:stretch>
            <a:fillRect/>
          </a:stretch>
        </p:blipFill>
        <p:spPr>
          <a:xfrm>
            <a:off x="1763486" y="4311650"/>
            <a:ext cx="7685314" cy="2154464"/>
          </a:xfrm>
          <a:prstGeom prst="rect">
            <a:avLst/>
          </a:prstGeom>
        </p:spPr>
      </p:pic>
    </p:spTree>
    <p:extLst>
      <p:ext uri="{BB962C8B-B14F-4D97-AF65-F5344CB8AC3E}">
        <p14:creationId xmlns:p14="http://schemas.microsoft.com/office/powerpoint/2010/main" val="1220383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sz="2800" b="1" dirty="0"/>
              <a:t>TASAS DE DESCUENTO Y TASAS DE INTERÉS</a:t>
            </a:r>
          </a:p>
        </p:txBody>
      </p:sp>
      <p:pic>
        <p:nvPicPr>
          <p:cNvPr id="4" name="Marcador de contenido 3"/>
          <p:cNvPicPr>
            <a:picLocks noGrp="1" noChangeAspect="1"/>
          </p:cNvPicPr>
          <p:nvPr>
            <p:ph idx="1"/>
          </p:nvPr>
        </p:nvPicPr>
        <p:blipFill>
          <a:blip r:embed="rId2"/>
          <a:stretch>
            <a:fillRect/>
          </a:stretch>
        </p:blipFill>
        <p:spPr>
          <a:xfrm>
            <a:off x="3338619" y="2634343"/>
            <a:ext cx="4458328" cy="1484736"/>
          </a:xfrm>
          <a:prstGeom prst="rect">
            <a:avLst/>
          </a:prstGeom>
        </p:spPr>
      </p:pic>
      <p:sp>
        <p:nvSpPr>
          <p:cNvPr id="5" name="Rectángulo 4"/>
          <p:cNvSpPr/>
          <p:nvPr/>
        </p:nvSpPr>
        <p:spPr>
          <a:xfrm>
            <a:off x="2090057" y="4459852"/>
            <a:ext cx="8251372" cy="2123658"/>
          </a:xfrm>
          <a:prstGeom prst="rect">
            <a:avLst/>
          </a:prstGeom>
        </p:spPr>
        <p:txBody>
          <a:bodyPr wrap="square">
            <a:spAutoFit/>
          </a:bodyPr>
          <a:lstStyle/>
          <a:p>
            <a:r>
              <a:rPr lang="es-AR" sz="2400" dirty="0"/>
              <a:t>De esta igualdad (operando algebraicamente) se obtienen las siguientes relaciones:</a:t>
            </a:r>
          </a:p>
          <a:p>
            <a:endParaRPr lang="es-AR" sz="2400" dirty="0"/>
          </a:p>
          <a:p>
            <a:r>
              <a:rPr lang="es-AR" sz="2400" dirty="0"/>
              <a:t>d = i / ( 1 + i )           i = d / ( 1 – d )</a:t>
            </a:r>
          </a:p>
          <a:p>
            <a:endParaRPr lang="es-AR" dirty="0"/>
          </a:p>
          <a:p>
            <a:endParaRPr lang="es-AR" dirty="0"/>
          </a:p>
        </p:txBody>
      </p:sp>
    </p:spTree>
    <p:extLst>
      <p:ext uri="{BB962C8B-B14F-4D97-AF65-F5344CB8AC3E}">
        <p14:creationId xmlns:p14="http://schemas.microsoft.com/office/powerpoint/2010/main" val="28524313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sz="2800" b="1" dirty="0"/>
              <a:t>CAPITALIZACIÓN Y ACTUALIZACIÓN</a:t>
            </a:r>
          </a:p>
        </p:txBody>
      </p:sp>
      <p:pic>
        <p:nvPicPr>
          <p:cNvPr id="4" name="Marcador de contenido 3"/>
          <p:cNvPicPr>
            <a:picLocks noGrp="1" noChangeAspect="1"/>
          </p:cNvPicPr>
          <p:nvPr>
            <p:ph idx="1"/>
          </p:nvPr>
        </p:nvPicPr>
        <p:blipFill>
          <a:blip r:embed="rId2"/>
          <a:stretch>
            <a:fillRect/>
          </a:stretch>
        </p:blipFill>
        <p:spPr>
          <a:xfrm>
            <a:off x="867909" y="2483491"/>
            <a:ext cx="4248150" cy="3002909"/>
          </a:xfrm>
          <a:prstGeom prst="rect">
            <a:avLst/>
          </a:prstGeom>
        </p:spPr>
      </p:pic>
      <p:sp>
        <p:nvSpPr>
          <p:cNvPr id="5" name="Rectángulo 4"/>
          <p:cNvSpPr/>
          <p:nvPr/>
        </p:nvSpPr>
        <p:spPr>
          <a:xfrm>
            <a:off x="609600" y="5486400"/>
            <a:ext cx="4677682" cy="1015663"/>
          </a:xfrm>
          <a:prstGeom prst="rect">
            <a:avLst/>
          </a:prstGeom>
        </p:spPr>
        <p:txBody>
          <a:bodyPr wrap="square">
            <a:spAutoFit/>
          </a:bodyPr>
          <a:lstStyle/>
          <a:p>
            <a:r>
              <a:rPr lang="es-AR" sz="2000" b="1" dirty="0"/>
              <a:t>Capitalización: C0 . ( 1 + i )n = </a:t>
            </a:r>
            <a:r>
              <a:rPr lang="es-AR" sz="2000" b="1" dirty="0" err="1"/>
              <a:t>Cn</a:t>
            </a:r>
            <a:endParaRPr lang="es-AR" sz="2000" b="1" dirty="0"/>
          </a:p>
          <a:p>
            <a:endParaRPr lang="es-AR" sz="2000" b="1" dirty="0"/>
          </a:p>
          <a:p>
            <a:r>
              <a:rPr lang="es-AR" sz="2000" b="1" dirty="0"/>
              <a:t>Actualización: </a:t>
            </a:r>
            <a:r>
              <a:rPr lang="es-AR" sz="2000" b="1" dirty="0" err="1"/>
              <a:t>Cn</a:t>
            </a:r>
            <a:r>
              <a:rPr lang="es-AR" sz="2000" b="1" dirty="0"/>
              <a:t> / ( 1 + i )n</a:t>
            </a:r>
          </a:p>
        </p:txBody>
      </p:sp>
      <p:sp>
        <p:nvSpPr>
          <p:cNvPr id="6" name="Rectángulo 5"/>
          <p:cNvSpPr/>
          <p:nvPr/>
        </p:nvSpPr>
        <p:spPr>
          <a:xfrm>
            <a:off x="5287282" y="2610683"/>
            <a:ext cx="6621689" cy="3693319"/>
          </a:xfrm>
          <a:prstGeom prst="rect">
            <a:avLst/>
          </a:prstGeom>
        </p:spPr>
        <p:txBody>
          <a:bodyPr wrap="square">
            <a:spAutoFit/>
          </a:bodyPr>
          <a:lstStyle/>
          <a:p>
            <a:r>
              <a:rPr lang="es-AR" b="1" dirty="0"/>
              <a:t>Año 0      año 1       año 2      año 3       año 4     año 5 </a:t>
            </a:r>
          </a:p>
          <a:p>
            <a:endParaRPr lang="es-AR" b="1" dirty="0"/>
          </a:p>
          <a:p>
            <a:r>
              <a:rPr lang="es-AR" b="1" dirty="0"/>
              <a:t>Depósito   100.000   112.000   125.440   140.493   157.352   176.234</a:t>
            </a:r>
          </a:p>
          <a:p>
            <a:endParaRPr lang="es-AR" b="1" dirty="0"/>
          </a:p>
          <a:p>
            <a:r>
              <a:rPr lang="es-AR" b="1" dirty="0"/>
              <a:t>Intereses     12.000     13.440     15.053     16.859     18.882                    </a:t>
            </a:r>
          </a:p>
          <a:p>
            <a:endParaRPr lang="es-AR" b="1" dirty="0"/>
          </a:p>
          <a:p>
            <a:r>
              <a:rPr lang="es-AR" b="1" dirty="0"/>
              <a:t>Retiro        112.000   125.440   140.493   157.352   176.234  </a:t>
            </a:r>
          </a:p>
          <a:p>
            <a:r>
              <a:rPr lang="es-AR" b="1" dirty="0"/>
              <a:t>      </a:t>
            </a:r>
          </a:p>
          <a:p>
            <a:endParaRPr lang="es-AR" b="1" dirty="0"/>
          </a:p>
          <a:p>
            <a:r>
              <a:rPr lang="es-AR" b="1" dirty="0"/>
              <a:t>Capitalización: 100.000 x ( 1 + 0,12 )5 = 176.234,17</a:t>
            </a:r>
          </a:p>
          <a:p>
            <a:endParaRPr lang="es-AR" b="1" dirty="0"/>
          </a:p>
          <a:p>
            <a:r>
              <a:rPr lang="es-AR" b="1" dirty="0"/>
              <a:t>Actualización: 176.234,17 / ( 1 + 0,12 )5 = 100.000</a:t>
            </a:r>
          </a:p>
        </p:txBody>
      </p:sp>
    </p:spTree>
    <p:extLst>
      <p:ext uri="{BB962C8B-B14F-4D97-AF65-F5344CB8AC3E}">
        <p14:creationId xmlns:p14="http://schemas.microsoft.com/office/powerpoint/2010/main" val="30264959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sz="2800" b="1" dirty="0"/>
              <a:t>VALOR ACTUAL Y VALOR FINAL</a:t>
            </a:r>
          </a:p>
        </p:txBody>
      </p:sp>
      <p:pic>
        <p:nvPicPr>
          <p:cNvPr id="4" name="Marcador de contenido 3"/>
          <p:cNvPicPr>
            <a:picLocks noGrp="1" noChangeAspect="1"/>
          </p:cNvPicPr>
          <p:nvPr>
            <p:ph idx="1"/>
          </p:nvPr>
        </p:nvPicPr>
        <p:blipFill>
          <a:blip r:embed="rId2"/>
          <a:stretch>
            <a:fillRect/>
          </a:stretch>
        </p:blipFill>
        <p:spPr>
          <a:xfrm>
            <a:off x="1349830" y="2481943"/>
            <a:ext cx="8839200" cy="3940627"/>
          </a:xfrm>
          <a:prstGeom prst="rect">
            <a:avLst/>
          </a:prstGeom>
        </p:spPr>
      </p:pic>
    </p:spTree>
    <p:extLst>
      <p:ext uri="{BB962C8B-B14F-4D97-AF65-F5344CB8AC3E}">
        <p14:creationId xmlns:p14="http://schemas.microsoft.com/office/powerpoint/2010/main" val="18858078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sz="2800" b="1" dirty="0"/>
              <a:t>VALOR ACTUAL</a:t>
            </a:r>
          </a:p>
        </p:txBody>
      </p:sp>
      <p:pic>
        <p:nvPicPr>
          <p:cNvPr id="4" name="Marcador de contenido 3"/>
          <p:cNvPicPr>
            <a:picLocks noGrp="1" noChangeAspect="1"/>
          </p:cNvPicPr>
          <p:nvPr>
            <p:ph idx="1"/>
          </p:nvPr>
        </p:nvPicPr>
        <p:blipFill>
          <a:blip r:embed="rId2"/>
          <a:stretch>
            <a:fillRect/>
          </a:stretch>
        </p:blipFill>
        <p:spPr>
          <a:xfrm>
            <a:off x="914400" y="3068637"/>
            <a:ext cx="9448799" cy="3636963"/>
          </a:xfrm>
          <a:prstGeom prst="rect">
            <a:avLst/>
          </a:prstGeom>
        </p:spPr>
      </p:pic>
    </p:spTree>
    <p:extLst>
      <p:ext uri="{BB962C8B-B14F-4D97-AF65-F5344CB8AC3E}">
        <p14:creationId xmlns:p14="http://schemas.microsoft.com/office/powerpoint/2010/main" val="36308731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sz="2800" b="1" dirty="0"/>
              <a:t>VALOR FINAL</a:t>
            </a:r>
          </a:p>
        </p:txBody>
      </p:sp>
      <p:pic>
        <p:nvPicPr>
          <p:cNvPr id="4" name="Marcador de contenido 3"/>
          <p:cNvPicPr>
            <a:picLocks noGrp="1" noChangeAspect="1"/>
          </p:cNvPicPr>
          <p:nvPr>
            <p:ph idx="1"/>
          </p:nvPr>
        </p:nvPicPr>
        <p:blipFill>
          <a:blip r:embed="rId2"/>
          <a:stretch>
            <a:fillRect/>
          </a:stretch>
        </p:blipFill>
        <p:spPr>
          <a:xfrm>
            <a:off x="957944" y="2460171"/>
            <a:ext cx="10363200" cy="4223658"/>
          </a:xfrm>
          <a:prstGeom prst="rect">
            <a:avLst/>
          </a:prstGeom>
        </p:spPr>
      </p:pic>
    </p:spTree>
    <p:extLst>
      <p:ext uri="{BB962C8B-B14F-4D97-AF65-F5344CB8AC3E}">
        <p14:creationId xmlns:p14="http://schemas.microsoft.com/office/powerpoint/2010/main" val="14556848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sz="2800" b="1" dirty="0"/>
              <a:t>VALOR FINAL</a:t>
            </a:r>
          </a:p>
        </p:txBody>
      </p:sp>
      <p:pic>
        <p:nvPicPr>
          <p:cNvPr id="4" name="Marcador de contenido 3"/>
          <p:cNvPicPr>
            <a:picLocks noGrp="1" noChangeAspect="1"/>
          </p:cNvPicPr>
          <p:nvPr>
            <p:ph idx="1"/>
          </p:nvPr>
        </p:nvPicPr>
        <p:blipFill>
          <a:blip r:embed="rId2"/>
          <a:stretch>
            <a:fillRect/>
          </a:stretch>
        </p:blipFill>
        <p:spPr>
          <a:xfrm>
            <a:off x="1393370" y="2373086"/>
            <a:ext cx="9644743" cy="4288971"/>
          </a:xfrm>
          <a:prstGeom prst="rect">
            <a:avLst/>
          </a:prstGeom>
        </p:spPr>
      </p:pic>
    </p:spTree>
    <p:extLst>
      <p:ext uri="{BB962C8B-B14F-4D97-AF65-F5344CB8AC3E}">
        <p14:creationId xmlns:p14="http://schemas.microsoft.com/office/powerpoint/2010/main" val="3719933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sz="2800" b="1" dirty="0"/>
              <a:t>SISTEMAS DE AMORTIZACIÓN</a:t>
            </a:r>
          </a:p>
        </p:txBody>
      </p:sp>
      <p:sp>
        <p:nvSpPr>
          <p:cNvPr id="3" name="Marcador de contenido 2"/>
          <p:cNvSpPr>
            <a:spLocks noGrp="1"/>
          </p:cNvSpPr>
          <p:nvPr>
            <p:ph idx="1"/>
          </p:nvPr>
        </p:nvSpPr>
        <p:spPr>
          <a:xfrm>
            <a:off x="719525" y="2603500"/>
            <a:ext cx="11037046" cy="3416300"/>
          </a:xfrm>
        </p:spPr>
        <p:txBody>
          <a:bodyPr/>
          <a:lstStyle/>
          <a:p>
            <a:r>
              <a:rPr lang="es-AR" sz="2400" b="1" dirty="0"/>
              <a:t>SISTEMA            AMORTIZACIÓN           INTERÉS                    CUOTA</a:t>
            </a:r>
          </a:p>
          <a:p>
            <a:endParaRPr lang="es-AR" dirty="0"/>
          </a:p>
          <a:p>
            <a:r>
              <a:rPr lang="es-AR" dirty="0"/>
              <a:t>AMERICANO                  ÚLTIMA CUOTA                  CONSTANTE      CONSTANTE, SALVO LA ÚLTIMA</a:t>
            </a:r>
          </a:p>
          <a:p>
            <a:endParaRPr lang="es-AR" dirty="0"/>
          </a:p>
          <a:p>
            <a:r>
              <a:rPr lang="es-AR" dirty="0"/>
              <a:t>ALEMÁN                          CONSTANTE                        DECRECIENTE                 DECRECIENTE</a:t>
            </a:r>
          </a:p>
          <a:p>
            <a:endParaRPr lang="es-AR" dirty="0"/>
          </a:p>
          <a:p>
            <a:r>
              <a:rPr lang="es-AR" dirty="0"/>
              <a:t>FRANCÉS                       CRECIENTE                           DECRECIENTE                  CONSTANTE</a:t>
            </a:r>
          </a:p>
        </p:txBody>
      </p:sp>
    </p:spTree>
    <p:extLst>
      <p:ext uri="{BB962C8B-B14F-4D97-AF65-F5344CB8AC3E}">
        <p14:creationId xmlns:p14="http://schemas.microsoft.com/office/powerpoint/2010/main" val="32289953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sz="2800" b="1" dirty="0"/>
              <a:t>HOMOGENEIDAD DE SISTEMAS</a:t>
            </a:r>
          </a:p>
        </p:txBody>
      </p:sp>
      <p:sp>
        <p:nvSpPr>
          <p:cNvPr id="3" name="Marcador de contenido 2"/>
          <p:cNvSpPr>
            <a:spLocks noGrp="1"/>
          </p:cNvSpPr>
          <p:nvPr>
            <p:ph idx="1"/>
          </p:nvPr>
        </p:nvSpPr>
        <p:spPr>
          <a:xfrm>
            <a:off x="1154954" y="2603500"/>
            <a:ext cx="9926703" cy="3416300"/>
          </a:xfrm>
        </p:spPr>
        <p:txBody>
          <a:bodyPr>
            <a:noAutofit/>
          </a:bodyPr>
          <a:lstStyle/>
          <a:p>
            <a:pPr marL="0" indent="0">
              <a:buNone/>
            </a:pPr>
            <a:r>
              <a:rPr lang="es-AR" sz="2400" dirty="0"/>
              <a:t>Un sistema es homogéneo cuando como resultado de una serie de pagos calculados por algún sistema de amortización de deudas (francés, alemán, americano, u otro), si al flujo de fondos resultante se le realiza un VA con la misma tasa de interés, el resultado obtenido es el valor del préstamo solicitado. </a:t>
            </a:r>
          </a:p>
          <a:p>
            <a:pPr marL="0" indent="0">
              <a:buNone/>
            </a:pPr>
            <a:r>
              <a:rPr lang="es-AR" sz="2400" dirty="0"/>
              <a:t>Si un sistema de amortización no cumple con esta condición, se dice que el sistema no es homogéneo y por lo tanto la tasa de interés estipulada no es la pasa de interés real que surge del cálculo respectivo. </a:t>
            </a:r>
          </a:p>
        </p:txBody>
      </p:sp>
    </p:spTree>
    <p:extLst>
      <p:ext uri="{BB962C8B-B14F-4D97-AF65-F5344CB8AC3E}">
        <p14:creationId xmlns:p14="http://schemas.microsoft.com/office/powerpoint/2010/main" val="9801665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sz="2800" b="1" dirty="0"/>
              <a:t>VALOR ACTUAL NETO</a:t>
            </a:r>
          </a:p>
        </p:txBody>
      </p:sp>
      <p:sp>
        <p:nvSpPr>
          <p:cNvPr id="3" name="Marcador de contenido 2"/>
          <p:cNvSpPr>
            <a:spLocks noGrp="1"/>
          </p:cNvSpPr>
          <p:nvPr>
            <p:ph idx="1"/>
          </p:nvPr>
        </p:nvSpPr>
        <p:spPr/>
        <p:txBody>
          <a:bodyPr>
            <a:normAutofit fontScale="77500" lnSpcReduction="20000"/>
          </a:bodyPr>
          <a:lstStyle/>
          <a:p>
            <a:pPr marL="0" indent="0">
              <a:buNone/>
            </a:pPr>
            <a:r>
              <a:rPr lang="es-AR" sz="2600" dirty="0"/>
              <a:t>El cálculo del Valor Actual Neto (VAN) significa la actualización de todos los flujos de fondos involucrados en el proyecto de referencia, hasta la culminación del mismo. Por lo tanto el resultado es un monto y si la tasa de actualización utilizada es la del costo de capital para el proyecto en cuestión –la tasa proyectada-, entonces la regla de aceptación será que cuando el resultado es cero o positivo se acepta el plan, y en caso de ser negativo se rechaza, pues en caso contrario se estaría destruyendo valor de la compañía.</a:t>
            </a:r>
          </a:p>
          <a:p>
            <a:pPr marL="0" indent="0" algn="ctr">
              <a:buNone/>
            </a:pPr>
            <a:r>
              <a:rPr lang="es-AR" sz="2600" b="1" dirty="0"/>
              <a:t>                n</a:t>
            </a:r>
          </a:p>
          <a:p>
            <a:pPr marL="0" indent="0" algn="ctr">
              <a:buNone/>
            </a:pPr>
            <a:r>
              <a:rPr lang="es-AR" sz="2600" b="1" dirty="0"/>
              <a:t>VAN (</a:t>
            </a:r>
            <a:r>
              <a:rPr lang="es-AR" sz="2600" b="1" dirty="0" err="1"/>
              <a:t>ke</a:t>
            </a:r>
            <a:r>
              <a:rPr lang="es-AR" sz="2600" b="1" dirty="0"/>
              <a:t>) = - FF inicial + ∑ (</a:t>
            </a:r>
            <a:r>
              <a:rPr lang="es-AR" sz="2600" b="1" dirty="0" err="1"/>
              <a:t>FFt</a:t>
            </a:r>
            <a:r>
              <a:rPr lang="es-AR" sz="2600" b="1" dirty="0"/>
              <a:t>) / (1+ke) t</a:t>
            </a:r>
          </a:p>
          <a:p>
            <a:pPr marL="0" indent="0" algn="ctr">
              <a:buNone/>
            </a:pPr>
            <a:r>
              <a:rPr lang="es-AR" sz="2600" b="1" dirty="0"/>
              <a:t>                t=1</a:t>
            </a:r>
          </a:p>
          <a:p>
            <a:endParaRPr lang="es-AR" dirty="0"/>
          </a:p>
          <a:p>
            <a:endParaRPr lang="es-AR" dirty="0"/>
          </a:p>
        </p:txBody>
      </p:sp>
    </p:spTree>
    <p:extLst>
      <p:ext uri="{BB962C8B-B14F-4D97-AF65-F5344CB8AC3E}">
        <p14:creationId xmlns:p14="http://schemas.microsoft.com/office/powerpoint/2010/main" val="29095029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sz="2800" b="1" dirty="0"/>
              <a:t>VAN: EJEMPLO</a:t>
            </a:r>
          </a:p>
        </p:txBody>
      </p:sp>
      <p:sp>
        <p:nvSpPr>
          <p:cNvPr id="3" name="Marcador de contenido 2"/>
          <p:cNvSpPr>
            <a:spLocks noGrp="1"/>
          </p:cNvSpPr>
          <p:nvPr>
            <p:ph idx="1"/>
          </p:nvPr>
        </p:nvSpPr>
        <p:spPr>
          <a:xfrm>
            <a:off x="1154954" y="2603499"/>
            <a:ext cx="9796075" cy="4080329"/>
          </a:xfrm>
        </p:spPr>
        <p:txBody>
          <a:bodyPr>
            <a:normAutofit/>
          </a:bodyPr>
          <a:lstStyle/>
          <a:p>
            <a:pPr marL="0" indent="0">
              <a:buNone/>
            </a:pPr>
            <a:r>
              <a:rPr lang="pt-BR" sz="2000" b="1" dirty="0"/>
              <a:t>El VAN a UNA tasa del 20%, es:</a:t>
            </a:r>
          </a:p>
          <a:p>
            <a:endParaRPr lang="pt-BR" sz="2000" b="1" dirty="0"/>
          </a:p>
          <a:p>
            <a:pPr marL="0" indent="0">
              <a:buNone/>
            </a:pPr>
            <a:r>
              <a:rPr lang="pt-BR" sz="2000" b="1" dirty="0"/>
              <a:t>Período 0  Período 1  Período 2  Período 3  Período 4  Período 5  Período 6</a:t>
            </a:r>
          </a:p>
          <a:p>
            <a:pPr marL="0" indent="0">
              <a:buNone/>
            </a:pPr>
            <a:r>
              <a:rPr lang="pt-BR" sz="2000" b="1" dirty="0"/>
              <a:t> -30.000     + </a:t>
            </a:r>
            <a:r>
              <a:rPr lang="pt-BR" sz="2000" b="1" u="sng" dirty="0"/>
              <a:t>10.000</a:t>
            </a:r>
            <a:r>
              <a:rPr lang="pt-BR" sz="2000" b="1" dirty="0"/>
              <a:t>    +  </a:t>
            </a:r>
            <a:r>
              <a:rPr lang="pt-BR" sz="2000" b="1" u="sng" dirty="0"/>
              <a:t>10.000</a:t>
            </a:r>
            <a:r>
              <a:rPr lang="pt-BR" sz="2000" b="1" dirty="0"/>
              <a:t>     + </a:t>
            </a:r>
            <a:r>
              <a:rPr lang="pt-BR" sz="2000" b="1" u="sng" dirty="0"/>
              <a:t>10.000</a:t>
            </a:r>
            <a:r>
              <a:rPr lang="pt-BR" sz="2000" b="1" dirty="0"/>
              <a:t>    +   </a:t>
            </a:r>
            <a:r>
              <a:rPr lang="pt-BR" sz="2000" b="1" u="sng" dirty="0"/>
              <a:t>10.000</a:t>
            </a:r>
            <a:r>
              <a:rPr lang="pt-BR" sz="2000" b="1" dirty="0"/>
              <a:t>    + </a:t>
            </a:r>
            <a:r>
              <a:rPr lang="pt-BR" sz="2000" b="1" u="sng" dirty="0"/>
              <a:t>10.000</a:t>
            </a:r>
            <a:r>
              <a:rPr lang="pt-BR" sz="2000" b="1" dirty="0"/>
              <a:t>    +  </a:t>
            </a:r>
            <a:r>
              <a:rPr lang="pt-BR" sz="2000" b="1" u="sng" dirty="0"/>
              <a:t>10.000</a:t>
            </a:r>
          </a:p>
          <a:p>
            <a:pPr marL="0" indent="0">
              <a:buNone/>
            </a:pPr>
            <a:r>
              <a:rPr lang="pt-BR" sz="2000" b="1" dirty="0"/>
              <a:t>                      (1,2)1          (1,2)2         (1,2)3           (1,2)4        (1,2)5         (1,2)6</a:t>
            </a:r>
          </a:p>
          <a:p>
            <a:endParaRPr lang="pt-BR" sz="2000" b="1" dirty="0"/>
          </a:p>
          <a:p>
            <a:r>
              <a:rPr lang="pt-BR" sz="2000" b="1" dirty="0"/>
              <a:t>-30.000  + 8.343,24  + 6960,94 + 5807,67  + 4845,67  + 4.042,48  + 3.372,90</a:t>
            </a:r>
          </a:p>
          <a:p>
            <a:endParaRPr lang="pt-BR" sz="2000" b="1" dirty="0"/>
          </a:p>
          <a:p>
            <a:r>
              <a:rPr lang="pt-BR" sz="2000" b="1" dirty="0"/>
              <a:t>= 3.372,90.-</a:t>
            </a:r>
          </a:p>
          <a:p>
            <a:endParaRPr lang="es-AR" dirty="0"/>
          </a:p>
        </p:txBody>
      </p:sp>
    </p:spTree>
    <p:extLst>
      <p:ext uri="{BB962C8B-B14F-4D97-AF65-F5344CB8AC3E}">
        <p14:creationId xmlns:p14="http://schemas.microsoft.com/office/powerpoint/2010/main" val="16320367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sz="2800" b="1" dirty="0"/>
              <a:t>TIR</a:t>
            </a:r>
          </a:p>
        </p:txBody>
      </p:sp>
      <p:sp>
        <p:nvSpPr>
          <p:cNvPr id="3" name="Marcador de contenido 2"/>
          <p:cNvSpPr>
            <a:spLocks noGrp="1"/>
          </p:cNvSpPr>
          <p:nvPr>
            <p:ph idx="1"/>
          </p:nvPr>
        </p:nvSpPr>
        <p:spPr/>
        <p:txBody>
          <a:bodyPr>
            <a:noAutofit/>
          </a:bodyPr>
          <a:lstStyle/>
          <a:p>
            <a:r>
              <a:rPr lang="es-AR" sz="2400" dirty="0"/>
              <a:t>Para medir rentabilidad, el criterio que hay que utilizar es la Tasa Interna de Retorno (TIR). Este criterio es el único que mide rentabilidad, ya que el mecanismo para resolver la ecuación es hallar la tasa que hace cero el flujo de fondos esperado</a:t>
            </a:r>
          </a:p>
          <a:p>
            <a:pPr marL="0" indent="0">
              <a:buNone/>
            </a:pPr>
            <a:r>
              <a:rPr lang="es-AR" sz="2400" b="1" dirty="0"/>
              <a:t>                                                n</a:t>
            </a:r>
          </a:p>
          <a:p>
            <a:pPr marL="0" indent="0" algn="ctr">
              <a:buNone/>
            </a:pPr>
            <a:r>
              <a:rPr lang="es-AR" sz="2400" b="1" dirty="0"/>
              <a:t>TIR: - FF inicial +   ∑ (</a:t>
            </a:r>
            <a:r>
              <a:rPr lang="es-AR" sz="2400" b="1" dirty="0" err="1"/>
              <a:t>FFt</a:t>
            </a:r>
            <a:r>
              <a:rPr lang="es-AR" sz="2400" b="1" dirty="0"/>
              <a:t>) / (1+TIR) t = 0</a:t>
            </a:r>
          </a:p>
          <a:p>
            <a:pPr marL="0" indent="0" algn="ctr">
              <a:buNone/>
            </a:pPr>
            <a:r>
              <a:rPr lang="es-AR" sz="2400" b="1" dirty="0"/>
              <a:t>t=1</a:t>
            </a:r>
          </a:p>
        </p:txBody>
      </p:sp>
    </p:spTree>
    <p:extLst>
      <p:ext uri="{BB962C8B-B14F-4D97-AF65-F5344CB8AC3E}">
        <p14:creationId xmlns:p14="http://schemas.microsoft.com/office/powerpoint/2010/main" val="30872350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sz="2800" b="1" dirty="0"/>
              <a:t>TIR: EJEMPLO</a:t>
            </a:r>
          </a:p>
        </p:txBody>
      </p:sp>
      <p:sp>
        <p:nvSpPr>
          <p:cNvPr id="3" name="Marcador de contenido 2"/>
          <p:cNvSpPr>
            <a:spLocks noGrp="1"/>
          </p:cNvSpPr>
          <p:nvPr>
            <p:ph idx="1"/>
          </p:nvPr>
        </p:nvSpPr>
        <p:spPr>
          <a:xfrm>
            <a:off x="500743" y="2603500"/>
            <a:ext cx="11691257" cy="3416300"/>
          </a:xfrm>
        </p:spPr>
        <p:txBody>
          <a:bodyPr>
            <a:noAutofit/>
          </a:bodyPr>
          <a:lstStyle/>
          <a:p>
            <a:pPr marL="0" indent="0">
              <a:buNone/>
            </a:pPr>
            <a:r>
              <a:rPr lang="pt-BR" sz="2400" dirty="0"/>
              <a:t>Período 0  Período 1  Período 2  Período 3  Período 4  Período 5  Período 6</a:t>
            </a:r>
          </a:p>
          <a:p>
            <a:pPr marL="0" indent="0">
              <a:buNone/>
            </a:pPr>
            <a:r>
              <a:rPr lang="pt-BR" sz="2400" dirty="0"/>
              <a:t>  -30.000    + </a:t>
            </a:r>
            <a:r>
              <a:rPr lang="pt-BR" sz="2400" u="sng" dirty="0"/>
              <a:t>10.000</a:t>
            </a:r>
            <a:r>
              <a:rPr lang="pt-BR" sz="2400" dirty="0"/>
              <a:t>   +  </a:t>
            </a:r>
            <a:r>
              <a:rPr lang="pt-BR" sz="2400" u="sng" dirty="0"/>
              <a:t>10.000</a:t>
            </a:r>
            <a:r>
              <a:rPr lang="pt-BR" sz="2400" dirty="0"/>
              <a:t>    +  </a:t>
            </a:r>
            <a:r>
              <a:rPr lang="pt-BR" sz="2400" u="sng" dirty="0"/>
              <a:t>10.000</a:t>
            </a:r>
            <a:r>
              <a:rPr lang="pt-BR" sz="2400" dirty="0"/>
              <a:t>   +  </a:t>
            </a:r>
            <a:r>
              <a:rPr lang="pt-BR" sz="2400" u="sng" dirty="0"/>
              <a:t>10.000</a:t>
            </a:r>
            <a:r>
              <a:rPr lang="pt-BR" sz="2400" dirty="0"/>
              <a:t>  +    </a:t>
            </a:r>
            <a:r>
              <a:rPr lang="pt-BR" sz="2400" u="sng" dirty="0"/>
              <a:t>10.000</a:t>
            </a:r>
            <a:r>
              <a:rPr lang="pt-BR" sz="2400" dirty="0"/>
              <a:t>  +    </a:t>
            </a:r>
            <a:r>
              <a:rPr lang="pt-BR" sz="2400" u="sng" dirty="0"/>
              <a:t>10.000</a:t>
            </a:r>
            <a:r>
              <a:rPr lang="pt-BR" sz="2400" dirty="0"/>
              <a:t>   =</a:t>
            </a:r>
          </a:p>
          <a:p>
            <a:pPr marL="0" indent="0">
              <a:buNone/>
            </a:pPr>
            <a:r>
              <a:rPr lang="pt-BR" sz="2400" dirty="0"/>
              <a:t>                   (1,2429)1  (1,2429)2     (1,2429)3   (1,2429)4   (1,2429)5   (1,2429)6</a:t>
            </a:r>
          </a:p>
          <a:p>
            <a:endParaRPr lang="pt-BR" sz="2400" dirty="0"/>
          </a:p>
          <a:p>
            <a:pPr marL="0" indent="0">
              <a:buNone/>
            </a:pPr>
            <a:r>
              <a:rPr lang="pt-BR" sz="2400" dirty="0"/>
              <a:t>-30.000 + 8.045,70 + 6.473,33 + 5.208,24 + 4.19040 + 3.371,47 + 2.712,58 ≈ 0 </a:t>
            </a:r>
            <a:endParaRPr lang="es-AR" sz="2400" dirty="0"/>
          </a:p>
        </p:txBody>
      </p:sp>
    </p:spTree>
    <p:extLst>
      <p:ext uri="{BB962C8B-B14F-4D97-AF65-F5344CB8AC3E}">
        <p14:creationId xmlns:p14="http://schemas.microsoft.com/office/powerpoint/2010/main" val="23760532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dirty="0"/>
              <a:t>TIRM</a:t>
            </a:r>
          </a:p>
        </p:txBody>
      </p:sp>
      <p:sp>
        <p:nvSpPr>
          <p:cNvPr id="3" name="Marcador de texto 2"/>
          <p:cNvSpPr>
            <a:spLocks noGrp="1"/>
          </p:cNvSpPr>
          <p:nvPr>
            <p:ph type="body" sz="half" idx="2"/>
          </p:nvPr>
        </p:nvSpPr>
        <p:spPr/>
        <p:txBody>
          <a:bodyPr/>
          <a:lstStyle/>
          <a:p>
            <a:r>
              <a:rPr lang="es-AR" dirty="0"/>
              <a:t>Semejante a TIR, soluciona dos problemas:</a:t>
            </a:r>
          </a:p>
          <a:p>
            <a:r>
              <a:rPr lang="es-AR" dirty="0"/>
              <a:t>Reinversión de los FF a la tasa TIR</a:t>
            </a:r>
          </a:p>
          <a:p>
            <a:r>
              <a:rPr lang="es-AR" dirty="0"/>
              <a:t>No produce múltiples TIR por el cambio de signo.</a:t>
            </a:r>
          </a:p>
          <a:p>
            <a:endParaRPr lang="es-AR" dirty="0"/>
          </a:p>
          <a:p>
            <a:r>
              <a:rPr lang="es-AR" dirty="0"/>
              <a:t>Elemento exógeno: tasa de reinversión (WACC)</a:t>
            </a:r>
          </a:p>
        </p:txBody>
      </p:sp>
    </p:spTree>
    <p:extLst>
      <p:ext uri="{BB962C8B-B14F-4D97-AF65-F5344CB8AC3E}">
        <p14:creationId xmlns:p14="http://schemas.microsoft.com/office/powerpoint/2010/main" val="14374506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half" idx="2"/>
          </p:nvPr>
        </p:nvSpPr>
        <p:spPr/>
        <p:txBody>
          <a:bodyPr>
            <a:normAutofit/>
          </a:bodyPr>
          <a:lstStyle/>
          <a:p>
            <a:pPr algn="ctr"/>
            <a:r>
              <a:rPr lang="es-AR" sz="2400" b="1" dirty="0"/>
              <a:t>PREGUNTAS?</a:t>
            </a:r>
          </a:p>
        </p:txBody>
      </p:sp>
    </p:spTree>
    <p:extLst>
      <p:ext uri="{BB962C8B-B14F-4D97-AF65-F5344CB8AC3E}">
        <p14:creationId xmlns:p14="http://schemas.microsoft.com/office/powerpoint/2010/main" val="42197735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half" idx="2"/>
          </p:nvPr>
        </p:nvSpPr>
        <p:spPr/>
        <p:txBody>
          <a:bodyPr>
            <a:normAutofit/>
          </a:bodyPr>
          <a:lstStyle/>
          <a:p>
            <a:pPr algn="ctr"/>
            <a:r>
              <a:rPr lang="es-AR" sz="2400" b="1" dirty="0"/>
              <a:t>GRACIAS!</a:t>
            </a:r>
          </a:p>
        </p:txBody>
      </p:sp>
    </p:spTree>
    <p:extLst>
      <p:ext uri="{BB962C8B-B14F-4D97-AF65-F5344CB8AC3E}">
        <p14:creationId xmlns:p14="http://schemas.microsoft.com/office/powerpoint/2010/main" val="24468630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la de reuniones Ion">
  <a:themeElements>
    <a:clrScheme name="Ion Boardroom">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FFC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EC7F02AD-9687-440F-A9DF-FAA6F22270D7}"/>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F57E9C6DA2C2B1439EA322B109F5A332" ma:contentTypeVersion="2" ma:contentTypeDescription="Crear nuevo documento." ma:contentTypeScope="" ma:versionID="d8175c14fef5c7dfab656c9150189454">
  <xsd:schema xmlns:xsd="http://www.w3.org/2001/XMLSchema" xmlns:xs="http://www.w3.org/2001/XMLSchema" xmlns:p="http://schemas.microsoft.com/office/2006/metadata/properties" xmlns:ns2="1de4e3be-398a-432b-b68e-ce5555ce0f95" targetNamespace="http://schemas.microsoft.com/office/2006/metadata/properties" ma:root="true" ma:fieldsID="b5ef36e40a869ec69d2e6314118c8664" ns2:_="">
    <xsd:import namespace="1de4e3be-398a-432b-b68e-ce5555ce0f95"/>
    <xsd:element name="properties">
      <xsd:complexType>
        <xsd:sequence>
          <xsd:element name="documentManagement">
            <xsd:complexType>
              <xsd:all>
                <xsd:element ref="ns2:Nro"/>
                <xsd:element ref="ns2:Unida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de4e3be-398a-432b-b68e-ce5555ce0f95" elementFormDefault="qualified">
    <xsd:import namespace="http://schemas.microsoft.com/office/2006/documentManagement/types"/>
    <xsd:import namespace="http://schemas.microsoft.com/office/infopath/2007/PartnerControls"/>
    <xsd:element name="Nro" ma:index="8" ma:displayName="Nro" ma:default="0" ma:description="Campo utilizado para ordenar" ma:internalName="Nro" ma:percentage="FALSE">
      <xsd:simpleType>
        <xsd:restriction base="dms:Number"/>
      </xsd:simpleType>
    </xsd:element>
    <xsd:element name="Unidad" ma:index="9" nillable="true" ma:displayName="Unidad" ma:internalName="Unidad" ma:percentage="FALSE">
      <xsd:simpleType>
        <xsd:restriction base="dms:Number"/>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Nro xmlns="1de4e3be-398a-432b-b68e-ce5555ce0f95">0</Nro>
    <Unidad xmlns="1de4e3be-398a-432b-b68e-ce5555ce0f95" xsi:nil="true"/>
  </documentManagement>
</p:properties>
</file>

<file path=customXml/itemProps1.xml><?xml version="1.0" encoding="utf-8"?>
<ds:datastoreItem xmlns:ds="http://schemas.openxmlformats.org/officeDocument/2006/customXml" ds:itemID="{6BA5BBB8-4098-4A74-B17B-A914DF147160}"/>
</file>

<file path=customXml/itemProps2.xml><?xml version="1.0" encoding="utf-8"?>
<ds:datastoreItem xmlns:ds="http://schemas.openxmlformats.org/officeDocument/2006/customXml" ds:itemID="{C3E2D191-0764-4B1E-8BC6-87357DBABD1A}"/>
</file>

<file path=customXml/itemProps3.xml><?xml version="1.0" encoding="utf-8"?>
<ds:datastoreItem xmlns:ds="http://schemas.openxmlformats.org/officeDocument/2006/customXml" ds:itemID="{0561AB50-7475-4645-9CE5-4082AB641874}"/>
</file>

<file path=docProps/app.xml><?xml version="1.0" encoding="utf-8"?>
<Properties xmlns="http://schemas.openxmlformats.org/officeDocument/2006/extended-properties" xmlns:vt="http://schemas.openxmlformats.org/officeDocument/2006/docPropsVTypes">
  <Template>Ion Boardroom</Template>
  <TotalTime>103</TotalTime>
  <Words>1076</Words>
  <Application>Microsoft Office PowerPoint</Application>
  <PresentationFormat>Panorámica</PresentationFormat>
  <Paragraphs>126</Paragraphs>
  <Slides>25</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25</vt:i4>
      </vt:variant>
    </vt:vector>
  </HeadingPairs>
  <TitlesOfParts>
    <vt:vector size="31" baseType="lpstr">
      <vt:lpstr>Arial</vt:lpstr>
      <vt:lpstr>Century Gothic</vt:lpstr>
      <vt:lpstr>Tahoma</vt:lpstr>
      <vt:lpstr>Times New Roman</vt:lpstr>
      <vt:lpstr>Wingdings 3</vt:lpstr>
      <vt:lpstr>Sala de reuniones Ion</vt:lpstr>
      <vt:lpstr> </vt:lpstr>
      <vt:lpstr>Decisiones básicas en materia financiera</vt:lpstr>
      <vt:lpstr>COMPONENTES DE LA TASA DE INTERÉS</vt:lpstr>
      <vt:lpstr>Tasas nominales y tasas efectivas</vt:lpstr>
      <vt:lpstr> TASA NOMINAL VS. TASA EFECTIVA </vt:lpstr>
      <vt:lpstr>TASAS EFECTIVAS</vt:lpstr>
      <vt:lpstr>TASAS EFECTIVAS</vt:lpstr>
      <vt:lpstr>INTERÉS SIMPLE VS. INTERÉS COMPUESTO</vt:lpstr>
      <vt:lpstr>Curva de rendimiento de la TEA (con distintas capitalizaciones) correspondientes a una TNA 24%</vt:lpstr>
      <vt:lpstr>TASA INSTANTÁNEA</vt:lpstr>
      <vt:lpstr>TASAS DE DESCUENTO Y TASAS DE INTERÉS</vt:lpstr>
      <vt:lpstr>CAPITALIZACIÓN Y ACTUALIZACIÓN</vt:lpstr>
      <vt:lpstr>VALOR ACTUAL Y VALOR FINAL</vt:lpstr>
      <vt:lpstr>VALOR ACTUAL</vt:lpstr>
      <vt:lpstr>VALOR FINAL</vt:lpstr>
      <vt:lpstr>VALOR FINAL</vt:lpstr>
      <vt:lpstr>SISTEMAS DE AMORTIZACIÓN</vt:lpstr>
      <vt:lpstr>HOMOGENEIDAD DE SISTEMAS</vt:lpstr>
      <vt:lpstr>VALOR ACTUAL NETO</vt:lpstr>
      <vt:lpstr>VAN: EJEMPLO</vt:lpstr>
      <vt:lpstr>TIR</vt:lpstr>
      <vt:lpstr>TIR: EJEMPLO</vt:lpstr>
      <vt:lpstr>TIRM</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MAESTRIA EN FINANZAS  ASIGNATURA: GESTION DE TESORERIA E INVERSION  </dc:title>
  <dc:creator>MARIO LUIS PEROSSA</dc:creator>
  <cp:lastModifiedBy>Mario  Luis Perossa</cp:lastModifiedBy>
  <cp:revision>32</cp:revision>
  <dcterms:created xsi:type="dcterms:W3CDTF">2015-10-21T18:59:38Z</dcterms:created>
  <dcterms:modified xsi:type="dcterms:W3CDTF">2022-09-28T16:15:42Z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0x010100F57E9C6DA2C2B1439EA322B109F5A332</vt:lpwstr>
  </property>
</Properties>
</file>