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7" r:id="rId2"/>
    <p:sldId id="261" r:id="rId3"/>
    <p:sldId id="272" r:id="rId4"/>
    <p:sldId id="270" r:id="rId5"/>
    <p:sldId id="274" r:id="rId6"/>
    <p:sldId id="271" r:id="rId7"/>
    <p:sldId id="275" r:id="rId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27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7AC4E78-5698-43A4-8B91-0C1D96356CE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17A013B-C2AE-4365-B316-BBC32D1C67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7588" name="4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3C7A6-88F1-428B-B92F-5BC814517326}" type="slidenum">
              <a:rPr lang="es-ES" smtClean="0"/>
              <a:pPr/>
              <a:t>1</a:t>
            </a:fld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C61A782-FFED-45AA-A6EA-03DFCAB1808A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252C4F0-1055-48FE-9679-AE4A7DC571E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spect="1" noChangeArrowheads="1"/>
          </p:cNvSpPr>
          <p:nvPr/>
        </p:nvSpPr>
        <p:spPr bwMode="auto">
          <a:xfrm>
            <a:off x="1219200" y="785794"/>
            <a:ext cx="7924800" cy="563449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>
            <a:outerShdw dist="877863" dir="11654237" algn="ctr" rotWithShape="0">
              <a:srgbClr val="DDDDDD">
                <a:alpha val="50000"/>
              </a:srgbClr>
            </a:outerShdw>
          </a:effectLst>
        </p:spPr>
        <p:txBody>
          <a:bodyPr wrap="square" lIns="90000" tIns="46800" rIns="90000" bIns="46800">
            <a:spAutoFit/>
          </a:bodyPr>
          <a:lstStyle/>
          <a:p>
            <a:pPr algn="ctr">
              <a:defRPr/>
            </a:pPr>
            <a:r>
              <a:rPr lang="es-AR" sz="4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de comprensión</a:t>
            </a:r>
          </a:p>
          <a:p>
            <a:pPr algn="ctr">
              <a:defRPr/>
            </a:pPr>
            <a:r>
              <a:rPr lang="es-AR" sz="4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</a:t>
            </a:r>
            <a:r>
              <a:rPr lang="es-AR" sz="4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  <a:p>
            <a:pPr algn="ctr">
              <a:defRPr/>
            </a:pPr>
            <a:r>
              <a:rPr lang="es-A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Punto de </a:t>
            </a:r>
            <a:r>
              <a:rPr lang="es-A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Equilbrio</a:t>
            </a:r>
            <a:endParaRPr lang="es-A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endParaRPr lang="es-AR" sz="4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endParaRPr lang="es-AR" sz="4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endParaRPr lang="es-AR" sz="4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7" name="Line 5"/>
          <p:cNvSpPr>
            <a:spLocks noChangeShapeType="1"/>
          </p:cNvSpPr>
          <p:nvPr/>
        </p:nvSpPr>
        <p:spPr bwMode="auto">
          <a:xfrm>
            <a:off x="228600" y="6629400"/>
            <a:ext cx="845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8" name="Line 6"/>
          <p:cNvSpPr>
            <a:spLocks noChangeShapeType="1"/>
          </p:cNvSpPr>
          <p:nvPr/>
        </p:nvSpPr>
        <p:spPr bwMode="auto">
          <a:xfrm flipH="1">
            <a:off x="76200" y="76200"/>
            <a:ext cx="0" cy="662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3197225" y="5878513"/>
            <a:ext cx="4422775" cy="503237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s-AR" sz="22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rPr>
              <a:t>Dr. Roberto L. </a:t>
            </a:r>
            <a:r>
              <a:rPr lang="es-AR" sz="2200" b="1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rPr>
              <a:t>Drimer</a:t>
            </a:r>
            <a:endParaRPr lang="es-ES" sz="2200" b="1" i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charset="0"/>
            </a:endParaRP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 rot="10800000">
            <a:off x="222250" y="360363"/>
            <a:ext cx="533400" cy="587692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</p:spPr>
        <p:txBody>
          <a:bodyPr vert="eaVert" anchor="ctr" anchorCtr="1"/>
          <a:lstStyle/>
          <a:p>
            <a:pPr algn="ctr" eaLnBrk="0" hangingPunct="0">
              <a:defRPr/>
            </a:pPr>
            <a:r>
              <a:rPr lang="es-AR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- </a:t>
            </a:r>
            <a:r>
              <a:rPr lang="es-AR" sz="32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Posgrado </a:t>
            </a:r>
            <a:r>
              <a:rPr lang="es-AR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-</a:t>
            </a:r>
            <a:endParaRPr lang="es-ES" sz="3200" b="1" i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151" name="Line 10"/>
          <p:cNvSpPr>
            <a:spLocks noChangeShapeType="1"/>
          </p:cNvSpPr>
          <p:nvPr/>
        </p:nvSpPr>
        <p:spPr bwMode="auto">
          <a:xfrm>
            <a:off x="1760538" y="5516563"/>
            <a:ext cx="6553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81000" y="6629400"/>
            <a:ext cx="845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H="1">
            <a:off x="228600" y="76200"/>
            <a:ext cx="0" cy="662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6932" name="Rectangle 4"/>
          <p:cNvSpPr>
            <a:spLocks noChangeArrowheads="1"/>
          </p:cNvSpPr>
          <p:nvPr/>
        </p:nvSpPr>
        <p:spPr bwMode="auto">
          <a:xfrm>
            <a:off x="381000" y="152400"/>
            <a:ext cx="8458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s-ES_tradnl" sz="28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Pregunta # 1- Planteo</a:t>
            </a:r>
            <a:endParaRPr lang="es-ES" sz="2800" b="1" i="1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36933" name="Rectangle 5"/>
          <p:cNvSpPr>
            <a:spLocks noChangeArrowheads="1"/>
          </p:cNvSpPr>
          <p:nvPr/>
        </p:nvSpPr>
        <p:spPr bwMode="auto">
          <a:xfrm rot="10800000">
            <a:off x="304800" y="765175"/>
            <a:ext cx="533400" cy="55594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eaVert" anchor="ctr" anchorCtr="1"/>
          <a:lstStyle/>
          <a:p>
            <a:pPr algn="ctr" eaLnBrk="0" hangingPunct="0">
              <a:defRPr/>
            </a:pPr>
            <a:r>
              <a:rPr lang="es-AR" sz="30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Posgrado</a:t>
            </a:r>
            <a:endParaRPr lang="es-ES" sz="30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71550" y="714375"/>
            <a:ext cx="7977188" cy="597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s-AR" sz="2000" dirty="0" smtClean="0"/>
              <a:t> </a:t>
            </a:r>
            <a:r>
              <a:rPr lang="es-AR" sz="2000" b="1" dirty="0" smtClean="0"/>
              <a:t>Pregunta # 1</a:t>
            </a:r>
            <a:r>
              <a:rPr lang="es-AR" sz="2000" b="1" dirty="0" smtClean="0"/>
              <a:t>: Averiguar los puntos de equilibrio</a:t>
            </a:r>
            <a:endParaRPr lang="es-AR" sz="2000" b="1" dirty="0" smtClean="0"/>
          </a:p>
          <a:p>
            <a:pPr>
              <a:buFont typeface="Arial" charset="0"/>
              <a:buChar char="•"/>
            </a:pPr>
            <a:endParaRPr lang="es-AR" sz="2000" dirty="0" smtClean="0"/>
          </a:p>
          <a:p>
            <a:r>
              <a:rPr lang="es-AR" dirty="0" smtClean="0"/>
              <a:t>¿Cuáles son los puntos de equilibrio económico y punto de cierre financiero para una empresa con el siguiente cuadro  de resultados simplificado?</a:t>
            </a:r>
            <a:r>
              <a:rPr lang="es-AR" dirty="0" smtClean="0"/>
              <a:t>			</a:t>
            </a:r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r>
              <a:rPr lang="es-AR" dirty="0" smtClean="0"/>
              <a:t>			</a:t>
            </a:r>
          </a:p>
          <a:p>
            <a:r>
              <a:rPr lang="es-AR" dirty="0" smtClean="0"/>
              <a:t>						</a:t>
            </a:r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r>
              <a:rPr lang="es-AR" dirty="0" smtClean="0"/>
              <a:t>JUSTIFICACION</a:t>
            </a:r>
            <a:r>
              <a:rPr lang="es-AR" dirty="0" smtClean="0"/>
              <a:t>						</a:t>
            </a:r>
          </a:p>
          <a:p>
            <a:endParaRPr lang="es-AR" sz="5400" dirty="0"/>
          </a:p>
        </p:txBody>
      </p:sp>
      <p:sp>
        <p:nvSpPr>
          <p:cNvPr id="636935" name="Text Box 7"/>
          <p:cNvSpPr txBox="1">
            <a:spLocks noChangeAspect="1" noChangeArrowheads="1"/>
          </p:cNvSpPr>
          <p:nvPr/>
        </p:nvSpPr>
        <p:spPr bwMode="auto">
          <a:xfrm>
            <a:off x="714375" y="6232525"/>
            <a:ext cx="355282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es-AR" sz="2000" b="1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Roberto L. </a:t>
            </a:r>
            <a:r>
              <a:rPr lang="es-AR" sz="2000" b="1" i="1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Drimer</a:t>
            </a:r>
            <a:endParaRPr lang="es-ES" sz="2000" b="1" i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5 Marcador de número de diapositiva"/>
          <p:cNvSpPr txBox="1">
            <a:spLocks/>
          </p:cNvSpPr>
          <p:nvPr/>
        </p:nvSpPr>
        <p:spPr>
          <a:xfrm>
            <a:off x="6553200" y="6667500"/>
            <a:ext cx="2133600" cy="476250"/>
          </a:xfrm>
          <a:prstGeom prst="ellipse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fld id="{BB2BB9D2-3629-404D-9443-61ACEB9E372B}" type="slidenum">
              <a:rPr lang="es-AR" sz="1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pPr algn="ctr">
                <a:defRPr/>
              </a:pPr>
              <a:t>2</a:t>
            </a:fld>
            <a:endParaRPr lang="es-AR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90DD7-8AD3-41F3-8080-50B4BD64826A}" type="slidenum">
              <a:rPr lang="es-AR" smtClean="0"/>
              <a:pPr>
                <a:defRPr/>
              </a:pPr>
              <a:t>2</a:t>
            </a:fld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204864"/>
            <a:ext cx="6768752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81000" y="6629400"/>
            <a:ext cx="845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H="1">
            <a:off x="228600" y="76200"/>
            <a:ext cx="0" cy="662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6932" name="Rectangle 4"/>
          <p:cNvSpPr>
            <a:spLocks noChangeArrowheads="1"/>
          </p:cNvSpPr>
          <p:nvPr/>
        </p:nvSpPr>
        <p:spPr bwMode="auto">
          <a:xfrm>
            <a:off x="381000" y="152400"/>
            <a:ext cx="8458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s-ES_tradnl" sz="28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Pregunta # 1- Respuesta</a:t>
            </a:r>
            <a:endParaRPr lang="es-ES" sz="2800" b="1" i="1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36933" name="Rectangle 5"/>
          <p:cNvSpPr>
            <a:spLocks noChangeArrowheads="1"/>
          </p:cNvSpPr>
          <p:nvPr/>
        </p:nvSpPr>
        <p:spPr bwMode="auto">
          <a:xfrm rot="10800000">
            <a:off x="304800" y="765175"/>
            <a:ext cx="533400" cy="55594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eaVert" anchor="ctr" anchorCtr="1"/>
          <a:lstStyle/>
          <a:p>
            <a:pPr algn="ctr" eaLnBrk="0" hangingPunct="0">
              <a:defRPr/>
            </a:pPr>
            <a:r>
              <a:rPr lang="es-AR" sz="30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Posgrado</a:t>
            </a:r>
            <a:endParaRPr lang="es-ES" sz="30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71550" y="714375"/>
            <a:ext cx="7977188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s-AR" sz="2000" dirty="0" smtClean="0"/>
              <a:t> </a:t>
            </a:r>
            <a:r>
              <a:rPr lang="es-AR" sz="2000" b="1" dirty="0" smtClean="0"/>
              <a:t>Pregunta # </a:t>
            </a:r>
            <a:r>
              <a:rPr lang="es-AR" sz="2000" b="1" dirty="0" smtClean="0"/>
              <a:t>1</a:t>
            </a:r>
            <a:r>
              <a:rPr lang="es-AR" sz="2000" b="1" dirty="0" smtClean="0"/>
              <a:t> </a:t>
            </a:r>
            <a:r>
              <a:rPr lang="es-AR" sz="2000" b="1" dirty="0" smtClean="0"/>
              <a:t>: Averiguar los puntos de equilibrio</a:t>
            </a:r>
            <a:endParaRPr lang="es-AR" sz="2000" b="1" dirty="0" smtClean="0"/>
          </a:p>
          <a:p>
            <a:endParaRPr lang="es-AR" sz="2000" dirty="0" smtClean="0"/>
          </a:p>
          <a:p>
            <a:r>
              <a:rPr lang="en-US" sz="5400" dirty="0" smtClean="0"/>
              <a:t> </a:t>
            </a:r>
            <a:r>
              <a:rPr lang="en-US" sz="2800" dirty="0" smtClean="0"/>
              <a:t>La </a:t>
            </a:r>
            <a:r>
              <a:rPr lang="en-US" sz="2800" dirty="0" err="1" smtClean="0"/>
              <a:t>respuesta</a:t>
            </a:r>
            <a:r>
              <a:rPr lang="en-US" sz="2800" dirty="0" smtClean="0"/>
              <a:t> </a:t>
            </a:r>
            <a:r>
              <a:rPr lang="en-US" sz="2800" dirty="0" err="1" smtClean="0"/>
              <a:t>correcta</a:t>
            </a:r>
            <a:r>
              <a:rPr lang="en-US" sz="2800" dirty="0" smtClean="0"/>
              <a:t> </a:t>
            </a:r>
            <a:r>
              <a:rPr lang="en-US" sz="2800" dirty="0" err="1" smtClean="0"/>
              <a:t>es</a:t>
            </a:r>
            <a:r>
              <a:rPr lang="en-US" sz="2800" dirty="0" smtClean="0"/>
              <a:t> </a:t>
            </a:r>
            <a:r>
              <a:rPr lang="en-US" sz="2800" dirty="0" smtClean="0"/>
              <a:t>: </a:t>
            </a:r>
            <a:endParaRPr lang="en-US" sz="2800" dirty="0" smtClean="0"/>
          </a:p>
          <a:p>
            <a:endParaRPr lang="es-AR" sz="2800" dirty="0"/>
          </a:p>
        </p:txBody>
      </p:sp>
      <p:sp>
        <p:nvSpPr>
          <p:cNvPr id="636935" name="Text Box 7"/>
          <p:cNvSpPr txBox="1">
            <a:spLocks noChangeAspect="1" noChangeArrowheads="1"/>
          </p:cNvSpPr>
          <p:nvPr/>
        </p:nvSpPr>
        <p:spPr bwMode="auto">
          <a:xfrm>
            <a:off x="714375" y="6232525"/>
            <a:ext cx="355282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es-AR" sz="2000" b="1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Roberto L. </a:t>
            </a:r>
            <a:r>
              <a:rPr lang="es-AR" sz="2000" b="1" i="1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Drimer</a:t>
            </a:r>
            <a:endParaRPr lang="es-ES" sz="2000" b="1" i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5 Marcador de número de diapositiva"/>
          <p:cNvSpPr txBox="1">
            <a:spLocks/>
          </p:cNvSpPr>
          <p:nvPr/>
        </p:nvSpPr>
        <p:spPr>
          <a:xfrm>
            <a:off x="6553200" y="6667500"/>
            <a:ext cx="2133600" cy="476250"/>
          </a:xfrm>
          <a:prstGeom prst="ellipse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fld id="{BB2BB9D2-3629-404D-9443-61ACEB9E372B}" type="slidenum">
              <a:rPr lang="es-AR" sz="1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pPr algn="ctr">
                <a:defRPr/>
              </a:pPr>
              <a:t>3</a:t>
            </a:fld>
            <a:endParaRPr lang="es-AR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90DD7-8AD3-41F3-8080-50B4BD64826A}" type="slidenum">
              <a:rPr lang="es-AR" smtClean="0"/>
              <a:pPr>
                <a:defRPr/>
              </a:pPr>
              <a:t>3</a:t>
            </a:fld>
            <a:endParaRPr lang="es-A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185988"/>
            <a:ext cx="7272808" cy="3763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81000" y="6629400"/>
            <a:ext cx="845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H="1">
            <a:off x="228600" y="76200"/>
            <a:ext cx="0" cy="662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6932" name="Rectangle 4"/>
          <p:cNvSpPr>
            <a:spLocks noChangeArrowheads="1"/>
          </p:cNvSpPr>
          <p:nvPr/>
        </p:nvSpPr>
        <p:spPr bwMode="auto">
          <a:xfrm>
            <a:off x="381000" y="152400"/>
            <a:ext cx="8458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s-ES_tradnl" sz="28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Pregunta # 2 - Planteo</a:t>
            </a:r>
            <a:endParaRPr lang="es-ES" sz="2800" b="1" i="1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36933" name="Rectangle 5"/>
          <p:cNvSpPr>
            <a:spLocks noChangeArrowheads="1"/>
          </p:cNvSpPr>
          <p:nvPr/>
        </p:nvSpPr>
        <p:spPr bwMode="auto">
          <a:xfrm rot="10800000">
            <a:off x="304800" y="765175"/>
            <a:ext cx="533400" cy="55594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eaVert" anchor="ctr" anchorCtr="1"/>
          <a:lstStyle/>
          <a:p>
            <a:pPr algn="ctr" eaLnBrk="0" hangingPunct="0">
              <a:defRPr/>
            </a:pPr>
            <a:r>
              <a:rPr lang="es-AR" sz="30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Posgrado</a:t>
            </a:r>
            <a:endParaRPr lang="es-ES" sz="30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71550" y="714375"/>
            <a:ext cx="7977188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s-AR" sz="2000" dirty="0" smtClean="0"/>
              <a:t> </a:t>
            </a:r>
            <a:r>
              <a:rPr lang="es-AR" sz="2000" b="1" dirty="0" smtClean="0"/>
              <a:t>Pregunta # 2: </a:t>
            </a:r>
            <a:r>
              <a:rPr lang="es-AR" sz="2000" b="1" dirty="0" smtClean="0"/>
              <a:t>Lograr la meta de ganancias</a:t>
            </a:r>
            <a:endParaRPr lang="es-AR" sz="2000" b="1" dirty="0" smtClean="0"/>
          </a:p>
          <a:p>
            <a:pPr>
              <a:buFont typeface="Arial" charset="0"/>
              <a:buChar char="•"/>
            </a:pPr>
            <a:endParaRPr lang="es-AR" sz="2000" dirty="0" smtClean="0"/>
          </a:p>
          <a:p>
            <a:r>
              <a:rPr lang="es-AR" sz="2000" dirty="0" smtClean="0"/>
              <a:t> </a:t>
            </a:r>
            <a:r>
              <a:rPr lang="en-US" sz="2000" dirty="0" smtClean="0"/>
              <a:t> </a:t>
            </a:r>
            <a:r>
              <a:rPr lang="es-AR" sz="4000" dirty="0" smtClean="0"/>
              <a:t>En el caso anterior (#1) se     quiere averiguar a cuánto deberían ascender las ventas     para lograr obtener una    ganancia neta de $ 20.</a:t>
            </a:r>
            <a:endParaRPr lang="es-AR" sz="4000" dirty="0" smtClean="0"/>
          </a:p>
          <a:p>
            <a:endParaRPr lang="es-AR" sz="4000" dirty="0" smtClean="0"/>
          </a:p>
          <a:p>
            <a:endParaRPr lang="es-AR" sz="2000" dirty="0" smtClean="0"/>
          </a:p>
          <a:p>
            <a:r>
              <a:rPr lang="es-AR" sz="2000" dirty="0" smtClean="0"/>
              <a:t>		</a:t>
            </a:r>
          </a:p>
          <a:p>
            <a:r>
              <a:rPr lang="es-AR" sz="2000" dirty="0" smtClean="0"/>
              <a:t>JUSTIFICACION						</a:t>
            </a:r>
          </a:p>
          <a:p>
            <a:endParaRPr lang="es-AR" sz="2000" dirty="0"/>
          </a:p>
        </p:txBody>
      </p:sp>
      <p:sp>
        <p:nvSpPr>
          <p:cNvPr id="636935" name="Text Box 7"/>
          <p:cNvSpPr txBox="1">
            <a:spLocks noChangeAspect="1" noChangeArrowheads="1"/>
          </p:cNvSpPr>
          <p:nvPr/>
        </p:nvSpPr>
        <p:spPr bwMode="auto">
          <a:xfrm>
            <a:off x="714375" y="6232525"/>
            <a:ext cx="355282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es-AR" sz="2000" b="1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Roberto L. </a:t>
            </a:r>
            <a:r>
              <a:rPr lang="es-AR" sz="2000" b="1" i="1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Drimer</a:t>
            </a:r>
            <a:endParaRPr lang="es-ES" sz="2000" b="1" i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5 Marcador de número de diapositiva"/>
          <p:cNvSpPr txBox="1">
            <a:spLocks/>
          </p:cNvSpPr>
          <p:nvPr/>
        </p:nvSpPr>
        <p:spPr>
          <a:xfrm>
            <a:off x="6553200" y="6667500"/>
            <a:ext cx="2133600" cy="476250"/>
          </a:xfrm>
          <a:prstGeom prst="ellipse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fld id="{BB2BB9D2-3629-404D-9443-61ACEB9E372B}" type="slidenum">
              <a:rPr lang="es-AR" sz="1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pPr algn="ctr">
                <a:defRPr/>
              </a:pPr>
              <a:t>4</a:t>
            </a:fld>
            <a:endParaRPr lang="es-AR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90DD7-8AD3-41F3-8080-50B4BD64826A}" type="slidenum">
              <a:rPr lang="es-AR" smtClean="0"/>
              <a:pPr>
                <a:defRPr/>
              </a:pPr>
              <a:t>4</a:t>
            </a:fld>
            <a:endParaRPr lang="es-A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81000" y="6629400"/>
            <a:ext cx="845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H="1">
            <a:off x="228600" y="76200"/>
            <a:ext cx="0" cy="662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6932" name="Rectangle 4"/>
          <p:cNvSpPr>
            <a:spLocks noChangeArrowheads="1"/>
          </p:cNvSpPr>
          <p:nvPr/>
        </p:nvSpPr>
        <p:spPr bwMode="auto">
          <a:xfrm>
            <a:off x="381000" y="152400"/>
            <a:ext cx="8458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s-ES_tradnl" sz="28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Pregunta # 2- Respuesta</a:t>
            </a:r>
            <a:endParaRPr lang="es-ES" sz="2800" b="1" i="1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36933" name="Rectangle 5"/>
          <p:cNvSpPr>
            <a:spLocks noChangeArrowheads="1"/>
          </p:cNvSpPr>
          <p:nvPr/>
        </p:nvSpPr>
        <p:spPr bwMode="auto">
          <a:xfrm rot="10800000">
            <a:off x="304800" y="765175"/>
            <a:ext cx="533400" cy="55594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eaVert" anchor="ctr" anchorCtr="1"/>
          <a:lstStyle/>
          <a:p>
            <a:pPr algn="ctr" eaLnBrk="0" hangingPunct="0">
              <a:defRPr/>
            </a:pPr>
            <a:r>
              <a:rPr lang="es-AR" sz="30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Posgrado</a:t>
            </a:r>
            <a:endParaRPr lang="es-ES" sz="30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71550" y="714375"/>
            <a:ext cx="7977188" cy="227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s-AR" sz="2000" dirty="0" smtClean="0"/>
              <a:t> </a:t>
            </a:r>
            <a:r>
              <a:rPr lang="es-AR" sz="2000" b="1" dirty="0" smtClean="0"/>
              <a:t>Pregunta # 2: </a:t>
            </a:r>
            <a:r>
              <a:rPr lang="es-AR" sz="2000" b="1" dirty="0" smtClean="0"/>
              <a:t>Lograr la meta de ganancias</a:t>
            </a:r>
            <a:endParaRPr lang="es-AR" sz="2000" b="1" dirty="0" smtClean="0"/>
          </a:p>
          <a:p>
            <a:endParaRPr lang="es-AR" sz="2000" dirty="0" smtClean="0"/>
          </a:p>
          <a:p>
            <a:r>
              <a:rPr lang="en-US" sz="5400" dirty="0" smtClean="0"/>
              <a:t> </a:t>
            </a:r>
            <a:r>
              <a:rPr lang="en-US" sz="2400" dirty="0" err="1" smtClean="0"/>
              <a:t>Respuesta</a:t>
            </a:r>
            <a:r>
              <a:rPr lang="en-US" sz="2400" dirty="0" smtClean="0"/>
              <a:t>: $ 125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636935" name="Text Box 7"/>
          <p:cNvSpPr txBox="1">
            <a:spLocks noChangeAspect="1" noChangeArrowheads="1"/>
          </p:cNvSpPr>
          <p:nvPr/>
        </p:nvSpPr>
        <p:spPr bwMode="auto">
          <a:xfrm>
            <a:off x="714375" y="6232525"/>
            <a:ext cx="355282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es-AR" sz="2000" b="1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Roberto L. </a:t>
            </a:r>
            <a:r>
              <a:rPr lang="es-AR" sz="2000" b="1" i="1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Drimer</a:t>
            </a:r>
            <a:endParaRPr lang="es-ES" sz="2000" b="1" i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5 Marcador de número de diapositiva"/>
          <p:cNvSpPr txBox="1">
            <a:spLocks/>
          </p:cNvSpPr>
          <p:nvPr/>
        </p:nvSpPr>
        <p:spPr>
          <a:xfrm>
            <a:off x="6553200" y="6667500"/>
            <a:ext cx="2133600" cy="476250"/>
          </a:xfrm>
          <a:prstGeom prst="ellipse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fld id="{BB2BB9D2-3629-404D-9443-61ACEB9E372B}" type="slidenum">
              <a:rPr lang="es-AR" sz="1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pPr algn="ctr">
                <a:defRPr/>
              </a:pPr>
              <a:t>5</a:t>
            </a:fld>
            <a:endParaRPr lang="es-AR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90DD7-8AD3-41F3-8080-50B4BD64826A}" type="slidenum">
              <a:rPr lang="es-AR" smtClean="0"/>
              <a:pPr>
                <a:defRPr/>
              </a:pPr>
              <a:t>5</a:t>
            </a:fld>
            <a:endParaRPr lang="es-A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376488"/>
            <a:ext cx="6768752" cy="350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81000" y="6629400"/>
            <a:ext cx="845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H="1">
            <a:off x="228600" y="76200"/>
            <a:ext cx="0" cy="662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6932" name="Rectangle 4"/>
          <p:cNvSpPr>
            <a:spLocks noChangeArrowheads="1"/>
          </p:cNvSpPr>
          <p:nvPr/>
        </p:nvSpPr>
        <p:spPr bwMode="auto">
          <a:xfrm>
            <a:off x="381000" y="152400"/>
            <a:ext cx="8458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s-ES_tradnl" sz="28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Pregunta # 3 – Planteo</a:t>
            </a:r>
            <a:endParaRPr lang="es-ES" sz="2800" b="1" i="1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36933" name="Rectangle 5"/>
          <p:cNvSpPr>
            <a:spLocks noChangeArrowheads="1"/>
          </p:cNvSpPr>
          <p:nvPr/>
        </p:nvSpPr>
        <p:spPr bwMode="auto">
          <a:xfrm rot="10800000">
            <a:off x="304800" y="765175"/>
            <a:ext cx="533400" cy="55594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eaVert" anchor="ctr" anchorCtr="1"/>
          <a:lstStyle/>
          <a:p>
            <a:pPr algn="ctr" eaLnBrk="0" hangingPunct="0">
              <a:defRPr/>
            </a:pPr>
            <a:r>
              <a:rPr lang="es-AR" sz="30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Posgrado</a:t>
            </a:r>
            <a:endParaRPr lang="es-ES" sz="30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71550" y="714375"/>
            <a:ext cx="79771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s-AR" sz="2000" dirty="0" smtClean="0"/>
              <a:t> </a:t>
            </a:r>
            <a:r>
              <a:rPr lang="es-AR" sz="2000" b="1" dirty="0" smtClean="0"/>
              <a:t>Pregunta # 3: </a:t>
            </a:r>
            <a:r>
              <a:rPr lang="es-AR" sz="2000" b="1" dirty="0" smtClean="0"/>
              <a:t>Hallar el </a:t>
            </a:r>
            <a:r>
              <a:rPr lang="es-AR" sz="2000" b="1" dirty="0" smtClean="0"/>
              <a:t>unto de </a:t>
            </a:r>
            <a:r>
              <a:rPr lang="es-AR" sz="2000" b="1" dirty="0" err="1" smtClean="0"/>
              <a:t>equlibrio</a:t>
            </a:r>
            <a:r>
              <a:rPr lang="es-AR" sz="2000" b="1" dirty="0" smtClean="0"/>
              <a:t> con 2 productos                                     </a:t>
            </a:r>
            <a:endParaRPr lang="es-AR" sz="2000" b="1" dirty="0" smtClean="0"/>
          </a:p>
          <a:p>
            <a:endParaRPr lang="es-AR" sz="2000" dirty="0" smtClean="0"/>
          </a:p>
          <a:p>
            <a:r>
              <a:rPr lang="es-AR" sz="2000" dirty="0" smtClean="0"/>
              <a:t> </a:t>
            </a:r>
            <a:endParaRPr lang="es-AR" sz="2000" dirty="0"/>
          </a:p>
        </p:txBody>
      </p:sp>
      <p:sp>
        <p:nvSpPr>
          <p:cNvPr id="636935" name="Text Box 7"/>
          <p:cNvSpPr txBox="1">
            <a:spLocks noChangeAspect="1" noChangeArrowheads="1"/>
          </p:cNvSpPr>
          <p:nvPr/>
        </p:nvSpPr>
        <p:spPr bwMode="auto">
          <a:xfrm>
            <a:off x="714375" y="6232525"/>
            <a:ext cx="355282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es-AR" sz="2000" b="1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Roberto L. </a:t>
            </a:r>
            <a:r>
              <a:rPr lang="es-AR" sz="2000" b="1" i="1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Drimer</a:t>
            </a:r>
            <a:endParaRPr lang="es-ES" sz="2000" b="1" i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5 Marcador de número de diapositiva"/>
          <p:cNvSpPr txBox="1">
            <a:spLocks/>
          </p:cNvSpPr>
          <p:nvPr/>
        </p:nvSpPr>
        <p:spPr>
          <a:xfrm>
            <a:off x="6553200" y="6667500"/>
            <a:ext cx="2133600" cy="476250"/>
          </a:xfrm>
          <a:prstGeom prst="ellipse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fld id="{BB2BB9D2-3629-404D-9443-61ACEB9E372B}" type="slidenum">
              <a:rPr lang="es-AR" sz="1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pPr algn="ctr">
                <a:defRPr/>
              </a:pPr>
              <a:t>6</a:t>
            </a:fld>
            <a:endParaRPr lang="es-AR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90DD7-8AD3-41F3-8080-50B4BD64826A}" type="slidenum">
              <a:rPr lang="es-AR" smtClean="0"/>
              <a:pPr>
                <a:defRPr/>
              </a:pPr>
              <a:t>6</a:t>
            </a:fld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1043608" y="1556792"/>
            <a:ext cx="77048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/>
              <a:t> </a:t>
            </a:r>
            <a:r>
              <a:rPr lang="es-AR" dirty="0" smtClean="0"/>
              <a:t>Se debe hallar el punto de equilibrio económico general para una empresa de opera con 2 productos de características disímiles, a saber:</a:t>
            </a:r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r>
              <a:rPr lang="es-AR" dirty="0" smtClean="0"/>
              <a:t>JUSTIFICACION</a:t>
            </a:r>
            <a:r>
              <a:rPr lang="es-AR" dirty="0" smtClean="0"/>
              <a:t>						</a:t>
            </a:r>
            <a:endParaRPr lang="es-A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420888"/>
            <a:ext cx="6408711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81000" y="6629400"/>
            <a:ext cx="845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H="1">
            <a:off x="228600" y="76200"/>
            <a:ext cx="0" cy="662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6932" name="Rectangle 4"/>
          <p:cNvSpPr>
            <a:spLocks noChangeArrowheads="1"/>
          </p:cNvSpPr>
          <p:nvPr/>
        </p:nvSpPr>
        <p:spPr bwMode="auto">
          <a:xfrm>
            <a:off x="381000" y="152400"/>
            <a:ext cx="8458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s-ES_tradnl" sz="28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Pregunta # 3 - Respuesta</a:t>
            </a:r>
            <a:endParaRPr lang="es-ES" sz="2800" b="1" i="1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36933" name="Rectangle 5"/>
          <p:cNvSpPr>
            <a:spLocks noChangeArrowheads="1"/>
          </p:cNvSpPr>
          <p:nvPr/>
        </p:nvSpPr>
        <p:spPr bwMode="auto">
          <a:xfrm rot="10800000">
            <a:off x="304800" y="765175"/>
            <a:ext cx="533400" cy="55594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eaVert" anchor="ctr" anchorCtr="1"/>
          <a:lstStyle/>
          <a:p>
            <a:pPr algn="ctr" eaLnBrk="0" hangingPunct="0">
              <a:defRPr/>
            </a:pPr>
            <a:r>
              <a:rPr lang="es-AR" sz="30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Posgrado</a:t>
            </a:r>
            <a:endParaRPr lang="es-ES" sz="30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71550" y="714375"/>
            <a:ext cx="797718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s-AR" sz="2000" dirty="0" smtClean="0"/>
              <a:t> </a:t>
            </a:r>
            <a:r>
              <a:rPr lang="es-AR" sz="2000" b="1" dirty="0" smtClean="0"/>
              <a:t>Pregunta # 3</a:t>
            </a:r>
            <a:r>
              <a:rPr lang="es-AR" b="1" dirty="0" smtClean="0"/>
              <a:t>: </a:t>
            </a:r>
            <a:r>
              <a:rPr lang="es-AR" b="1" dirty="0" smtClean="0"/>
              <a:t>Hallar el punto de equilibrio con 2 productos</a:t>
            </a:r>
            <a:endParaRPr lang="es-AR" b="1" dirty="0" smtClean="0"/>
          </a:p>
          <a:p>
            <a:endParaRPr lang="es-AR" sz="2000" dirty="0" smtClean="0"/>
          </a:p>
          <a:p>
            <a:r>
              <a:rPr lang="es-AR" sz="2000" dirty="0" smtClean="0"/>
              <a:t>Respuesta: </a:t>
            </a:r>
            <a:r>
              <a:rPr lang="es-AR" sz="2000" dirty="0" smtClean="0"/>
              <a:t>$ 1.000</a:t>
            </a:r>
            <a:endParaRPr lang="es-AR" sz="2000" dirty="0" smtClean="0"/>
          </a:p>
          <a:p>
            <a:endParaRPr lang="es-AR" sz="2000" dirty="0" smtClean="0"/>
          </a:p>
          <a:p>
            <a:endParaRPr lang="es-AR" sz="2000" dirty="0" smtClean="0"/>
          </a:p>
          <a:p>
            <a:r>
              <a:rPr lang="es-AR" sz="2000" dirty="0" smtClean="0"/>
              <a:t> </a:t>
            </a:r>
            <a:r>
              <a:rPr lang="en-US" sz="2000" dirty="0" smtClean="0"/>
              <a:t> </a:t>
            </a:r>
            <a:endParaRPr lang="es-AR" sz="2000" dirty="0"/>
          </a:p>
        </p:txBody>
      </p:sp>
      <p:sp>
        <p:nvSpPr>
          <p:cNvPr id="636935" name="Text Box 7"/>
          <p:cNvSpPr txBox="1">
            <a:spLocks noChangeAspect="1" noChangeArrowheads="1"/>
          </p:cNvSpPr>
          <p:nvPr/>
        </p:nvSpPr>
        <p:spPr bwMode="auto">
          <a:xfrm>
            <a:off x="714375" y="6232525"/>
            <a:ext cx="355282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es-AR" sz="2000" b="1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Roberto L. </a:t>
            </a:r>
            <a:r>
              <a:rPr lang="es-AR" sz="2000" b="1" i="1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Drimer</a:t>
            </a:r>
            <a:endParaRPr lang="es-ES" sz="2000" b="1" i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5 Marcador de número de diapositiva"/>
          <p:cNvSpPr txBox="1">
            <a:spLocks/>
          </p:cNvSpPr>
          <p:nvPr/>
        </p:nvSpPr>
        <p:spPr>
          <a:xfrm>
            <a:off x="6553200" y="6667500"/>
            <a:ext cx="2133600" cy="476250"/>
          </a:xfrm>
          <a:prstGeom prst="ellipse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fld id="{BB2BB9D2-3629-404D-9443-61ACEB9E372B}" type="slidenum">
              <a:rPr lang="es-AR" sz="1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pPr algn="ctr">
                <a:defRPr/>
              </a:pPr>
              <a:t>7</a:t>
            </a:fld>
            <a:endParaRPr lang="es-AR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90DD7-8AD3-41F3-8080-50B4BD64826A}" type="slidenum">
              <a:rPr lang="es-AR" smtClean="0"/>
              <a:pPr>
                <a:defRPr/>
              </a:pPr>
              <a:t>7</a:t>
            </a:fld>
            <a:endParaRPr lang="es-A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060848"/>
            <a:ext cx="648072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367</TotalTime>
  <Words>259</Words>
  <Application>Microsoft Office PowerPoint</Application>
  <PresentationFormat>Presentación en pantalla (4:3)</PresentationFormat>
  <Paragraphs>89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Civil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Asus P4S8X-X</dc:creator>
  <cp:lastModifiedBy>User</cp:lastModifiedBy>
  <cp:revision>48</cp:revision>
  <dcterms:created xsi:type="dcterms:W3CDTF">2017-08-10T13:36:01Z</dcterms:created>
  <dcterms:modified xsi:type="dcterms:W3CDTF">2021-10-07T16:58:58Z</dcterms:modified>
</cp:coreProperties>
</file>