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5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slideLayouts/slideLayout3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drawing7.xml" ContentType="application/vnd.ms-office.drawingml.diagramDrawing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colors7.xml" ContentType="application/vnd.openxmlformats-officedocument.drawingml.diagramColors+xml"/>
  <Override PartName="/ppt/diagrams/layout8.xml" ContentType="application/vnd.openxmlformats-officedocument.drawingml.diagram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theme/theme2.xml" ContentType="application/vnd.openxmlformats-officedocument.them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7" r:id="rId4"/>
    <p:sldMasterId id="2147483650" r:id="rId5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9" r:id="rId12"/>
    <p:sldId id="275" r:id="rId13"/>
    <p:sldId id="276" r:id="rId14"/>
    <p:sldId id="262" r:id="rId15"/>
    <p:sldId id="277" r:id="rId16"/>
    <p:sldId id="263" r:id="rId17"/>
    <p:sldId id="278" r:id="rId18"/>
    <p:sldId id="264" r:id="rId19"/>
    <p:sldId id="267" r:id="rId20"/>
    <p:sldId id="265" r:id="rId21"/>
    <p:sldId id="266" r:id="rId22"/>
    <p:sldId id="270" r:id="rId23"/>
    <p:sldId id="279" r:id="rId24"/>
    <p:sldId id="280" r:id="rId25"/>
    <p:sldId id="289" r:id="rId26"/>
    <p:sldId id="290" r:id="rId27"/>
    <p:sldId id="291" r:id="rId28"/>
    <p:sldId id="281" r:id="rId29"/>
    <p:sldId id="288" r:id="rId30"/>
    <p:sldId id="282" r:id="rId31"/>
    <p:sldId id="283" r:id="rId32"/>
    <p:sldId id="284" r:id="rId33"/>
    <p:sldId id="292" r:id="rId34"/>
    <p:sldId id="285" r:id="rId35"/>
    <p:sldId id="286" r:id="rId36"/>
    <p:sldId id="287" r:id="rId37"/>
    <p:sldId id="271" r:id="rId38"/>
    <p:sldId id="272" r:id="rId39"/>
    <p:sldId id="273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485158-AE9D-43EC-94C2-6F85899CA83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B92BA38-A547-46C4-BD77-D0147824AE3C}">
      <dgm:prSet custT="1"/>
      <dgm:spPr/>
      <dgm:t>
        <a:bodyPr/>
        <a:lstStyle/>
        <a:p>
          <a:pPr algn="just"/>
          <a:r>
            <a:rPr lang="es-ES" sz="2400" dirty="0"/>
            <a:t>Proceso de toma de decisiones: dependerá de la calidad, cantidad y oportunidad de la información que brindan los sistemas de información.</a:t>
          </a:r>
          <a:endParaRPr lang="en-US" sz="2400" dirty="0"/>
        </a:p>
      </dgm:t>
    </dgm:pt>
    <dgm:pt modelId="{0CE19425-07C1-481F-9D5D-F1239BE7462E}" type="parTrans" cxnId="{D9435FE1-2279-40CF-BA88-0FC6005CB436}">
      <dgm:prSet/>
      <dgm:spPr/>
      <dgm:t>
        <a:bodyPr/>
        <a:lstStyle/>
        <a:p>
          <a:endParaRPr lang="en-US"/>
        </a:p>
      </dgm:t>
    </dgm:pt>
    <dgm:pt modelId="{BC430580-E74E-48EB-B021-1B8043059A9D}" type="sibTrans" cxnId="{D9435FE1-2279-40CF-BA88-0FC6005CB436}">
      <dgm:prSet/>
      <dgm:spPr/>
      <dgm:t>
        <a:bodyPr/>
        <a:lstStyle/>
        <a:p>
          <a:endParaRPr lang="en-US"/>
        </a:p>
      </dgm:t>
    </dgm:pt>
    <dgm:pt modelId="{C2E51DE1-6342-4C65-8C9A-2EB65025F527}">
      <dgm:prSet custT="1"/>
      <dgm:spPr/>
      <dgm:t>
        <a:bodyPr/>
        <a:lstStyle/>
        <a:p>
          <a:pPr algn="just"/>
          <a:r>
            <a:rPr lang="es-ES" sz="2400" dirty="0"/>
            <a:t>La contabilidad constituye un servicio que provee información cuantitativa, económica y financiera, sobre unidades económicas.</a:t>
          </a:r>
          <a:endParaRPr lang="en-US" sz="2400" dirty="0"/>
        </a:p>
      </dgm:t>
    </dgm:pt>
    <dgm:pt modelId="{DBFAA201-D1B7-44AC-A9BA-133E5D7CF865}" type="parTrans" cxnId="{59F33736-30C5-4EE3-AF35-6991AC2A3B71}">
      <dgm:prSet/>
      <dgm:spPr/>
      <dgm:t>
        <a:bodyPr/>
        <a:lstStyle/>
        <a:p>
          <a:endParaRPr lang="en-US"/>
        </a:p>
      </dgm:t>
    </dgm:pt>
    <dgm:pt modelId="{F12C7A54-D7D0-4F4F-A43C-359141EAE913}" type="sibTrans" cxnId="{59F33736-30C5-4EE3-AF35-6991AC2A3B71}">
      <dgm:prSet/>
      <dgm:spPr/>
      <dgm:t>
        <a:bodyPr/>
        <a:lstStyle/>
        <a:p>
          <a:endParaRPr lang="en-US"/>
        </a:p>
      </dgm:t>
    </dgm:pt>
    <dgm:pt modelId="{51D37638-2C78-4879-90ED-85B4DFF8DE44}">
      <dgm:prSet custT="1"/>
      <dgm:spPr/>
      <dgm:t>
        <a:bodyPr/>
        <a:lstStyle/>
        <a:p>
          <a:pPr algn="just"/>
          <a:r>
            <a:rPr lang="es-ES" sz="2400" dirty="0"/>
            <a:t>Tratando de comunicar dicha información en términos monetarios, los contadores incluirán:</a:t>
          </a:r>
          <a:endParaRPr lang="en-US" sz="2400" dirty="0"/>
        </a:p>
      </dgm:t>
    </dgm:pt>
    <dgm:pt modelId="{2D9BF907-54E1-4A48-828D-479B6ACF1057}" type="parTrans" cxnId="{B268E400-B1A5-4EE4-BC81-C47248DBD167}">
      <dgm:prSet/>
      <dgm:spPr/>
      <dgm:t>
        <a:bodyPr/>
        <a:lstStyle/>
        <a:p>
          <a:endParaRPr lang="en-US"/>
        </a:p>
      </dgm:t>
    </dgm:pt>
    <dgm:pt modelId="{A063771E-0F2E-4A87-BB09-368F697AD981}" type="sibTrans" cxnId="{B268E400-B1A5-4EE4-BC81-C47248DBD167}">
      <dgm:prSet/>
      <dgm:spPr/>
      <dgm:t>
        <a:bodyPr/>
        <a:lstStyle/>
        <a:p>
          <a:endParaRPr lang="en-US"/>
        </a:p>
      </dgm:t>
    </dgm:pt>
    <dgm:pt modelId="{7B8DDCC5-8692-4E22-8DD8-1B4A7B3F99F6}" type="pres">
      <dgm:prSet presAssocID="{CC485158-AE9D-43EC-94C2-6F85899CA83A}" presName="linear" presStyleCnt="0">
        <dgm:presLayoutVars>
          <dgm:animLvl val="lvl"/>
          <dgm:resizeHandles val="exact"/>
        </dgm:presLayoutVars>
      </dgm:prSet>
      <dgm:spPr/>
    </dgm:pt>
    <dgm:pt modelId="{FFB2EFC1-975E-4D15-9881-CC5CE3BFD856}" type="pres">
      <dgm:prSet presAssocID="{DB92BA38-A547-46C4-BD77-D0147824AE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BCFA0CE-D3F3-4E37-810C-D9C6E3FA56EE}" type="pres">
      <dgm:prSet presAssocID="{BC430580-E74E-48EB-B021-1B8043059A9D}" presName="spacer" presStyleCnt="0"/>
      <dgm:spPr/>
    </dgm:pt>
    <dgm:pt modelId="{5CA52E40-D970-4526-AD32-D293C32A39EB}" type="pres">
      <dgm:prSet presAssocID="{C2E51DE1-6342-4C65-8C9A-2EB65025F52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179AF06-835E-4D64-86FC-B0879A412289}" type="pres">
      <dgm:prSet presAssocID="{F12C7A54-D7D0-4F4F-A43C-359141EAE913}" presName="spacer" presStyleCnt="0"/>
      <dgm:spPr/>
    </dgm:pt>
    <dgm:pt modelId="{9A6FF242-5439-46FF-B450-6E9F8EEA366E}" type="pres">
      <dgm:prSet presAssocID="{51D37638-2C78-4879-90ED-85B4DFF8DE4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268E400-B1A5-4EE4-BC81-C47248DBD167}" srcId="{CC485158-AE9D-43EC-94C2-6F85899CA83A}" destId="{51D37638-2C78-4879-90ED-85B4DFF8DE44}" srcOrd="2" destOrd="0" parTransId="{2D9BF907-54E1-4A48-828D-479B6ACF1057}" sibTransId="{A063771E-0F2E-4A87-BB09-368F697AD981}"/>
    <dgm:cxn modelId="{535E7A20-9E4C-499B-8220-CA7610A0C786}" type="presOf" srcId="{51D37638-2C78-4879-90ED-85B4DFF8DE44}" destId="{9A6FF242-5439-46FF-B450-6E9F8EEA366E}" srcOrd="0" destOrd="0" presId="urn:microsoft.com/office/officeart/2005/8/layout/vList2"/>
    <dgm:cxn modelId="{59F33736-30C5-4EE3-AF35-6991AC2A3B71}" srcId="{CC485158-AE9D-43EC-94C2-6F85899CA83A}" destId="{C2E51DE1-6342-4C65-8C9A-2EB65025F527}" srcOrd="1" destOrd="0" parTransId="{DBFAA201-D1B7-44AC-A9BA-133E5D7CF865}" sibTransId="{F12C7A54-D7D0-4F4F-A43C-359141EAE913}"/>
    <dgm:cxn modelId="{3426F281-5009-4133-9405-A763FD1037DE}" type="presOf" srcId="{C2E51DE1-6342-4C65-8C9A-2EB65025F527}" destId="{5CA52E40-D970-4526-AD32-D293C32A39EB}" srcOrd="0" destOrd="0" presId="urn:microsoft.com/office/officeart/2005/8/layout/vList2"/>
    <dgm:cxn modelId="{F437D783-03A6-4D1B-AA04-03EFF4F5D179}" type="presOf" srcId="{DB92BA38-A547-46C4-BD77-D0147824AE3C}" destId="{FFB2EFC1-975E-4D15-9881-CC5CE3BFD856}" srcOrd="0" destOrd="0" presId="urn:microsoft.com/office/officeart/2005/8/layout/vList2"/>
    <dgm:cxn modelId="{68750B86-25C0-4463-83A4-201D42DEE921}" type="presOf" srcId="{CC485158-AE9D-43EC-94C2-6F85899CA83A}" destId="{7B8DDCC5-8692-4E22-8DD8-1B4A7B3F99F6}" srcOrd="0" destOrd="0" presId="urn:microsoft.com/office/officeart/2005/8/layout/vList2"/>
    <dgm:cxn modelId="{D9435FE1-2279-40CF-BA88-0FC6005CB436}" srcId="{CC485158-AE9D-43EC-94C2-6F85899CA83A}" destId="{DB92BA38-A547-46C4-BD77-D0147824AE3C}" srcOrd="0" destOrd="0" parTransId="{0CE19425-07C1-481F-9D5D-F1239BE7462E}" sibTransId="{BC430580-E74E-48EB-B021-1B8043059A9D}"/>
    <dgm:cxn modelId="{F5372041-5A4A-45BF-9D45-DC9D9A295D6B}" type="presParOf" srcId="{7B8DDCC5-8692-4E22-8DD8-1B4A7B3F99F6}" destId="{FFB2EFC1-975E-4D15-9881-CC5CE3BFD856}" srcOrd="0" destOrd="0" presId="urn:microsoft.com/office/officeart/2005/8/layout/vList2"/>
    <dgm:cxn modelId="{FE1EE13B-7B9F-465B-85BB-2B45CECC070D}" type="presParOf" srcId="{7B8DDCC5-8692-4E22-8DD8-1B4A7B3F99F6}" destId="{ABCFA0CE-D3F3-4E37-810C-D9C6E3FA56EE}" srcOrd="1" destOrd="0" presId="urn:microsoft.com/office/officeart/2005/8/layout/vList2"/>
    <dgm:cxn modelId="{18E56417-D9AB-481D-B91C-47277BF4B1A9}" type="presParOf" srcId="{7B8DDCC5-8692-4E22-8DD8-1B4A7B3F99F6}" destId="{5CA52E40-D970-4526-AD32-D293C32A39EB}" srcOrd="2" destOrd="0" presId="urn:microsoft.com/office/officeart/2005/8/layout/vList2"/>
    <dgm:cxn modelId="{2553587C-5C78-4FFA-A127-5623F4C2709F}" type="presParOf" srcId="{7B8DDCC5-8692-4E22-8DD8-1B4A7B3F99F6}" destId="{C179AF06-835E-4D64-86FC-B0879A412289}" srcOrd="3" destOrd="0" presId="urn:microsoft.com/office/officeart/2005/8/layout/vList2"/>
    <dgm:cxn modelId="{027D0BDE-AD84-45A6-B248-2C821B17BA8D}" type="presParOf" srcId="{7B8DDCC5-8692-4E22-8DD8-1B4A7B3F99F6}" destId="{9A6FF242-5439-46FF-B450-6E9F8EEA366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D79CAF-2DE1-45CC-B146-4E6372B0A709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5812DE9A-32B6-46EF-A431-19134E4D2AA5}">
      <dgm:prSet custT="1"/>
      <dgm:spPr/>
      <dgm:t>
        <a:bodyPr/>
        <a:lstStyle/>
        <a:p>
          <a:r>
            <a:rPr lang="es-ES" sz="3200" b="1" dirty="0"/>
            <a:t>Medida</a:t>
          </a:r>
          <a:endParaRPr lang="en-US" sz="3200" dirty="0"/>
        </a:p>
      </dgm:t>
    </dgm:pt>
    <dgm:pt modelId="{EA78C67E-BAB8-48A7-9A50-AAFCFA3CCDC1}" type="parTrans" cxnId="{469FA126-E413-4A1E-8A72-FB17B2178613}">
      <dgm:prSet/>
      <dgm:spPr/>
      <dgm:t>
        <a:bodyPr/>
        <a:lstStyle/>
        <a:p>
          <a:endParaRPr lang="en-US"/>
        </a:p>
      </dgm:t>
    </dgm:pt>
    <dgm:pt modelId="{87CFD194-EE15-4F35-B952-9F3AE1CA340F}" type="sibTrans" cxnId="{469FA126-E413-4A1E-8A72-FB17B2178613}">
      <dgm:prSet/>
      <dgm:spPr/>
      <dgm:t>
        <a:bodyPr/>
        <a:lstStyle/>
        <a:p>
          <a:endParaRPr lang="en-US"/>
        </a:p>
      </dgm:t>
    </dgm:pt>
    <dgm:pt modelId="{4B925751-5DB1-4799-9D89-8C9A4B5193F5}">
      <dgm:prSet custT="1"/>
      <dgm:spPr/>
      <dgm:t>
        <a:bodyPr/>
        <a:lstStyle/>
        <a:p>
          <a:r>
            <a:rPr lang="es-ES" sz="3200" b="1" dirty="0"/>
            <a:t>Registración</a:t>
          </a:r>
          <a:endParaRPr lang="en-US" sz="3200" dirty="0"/>
        </a:p>
      </dgm:t>
    </dgm:pt>
    <dgm:pt modelId="{821E2841-82CF-47DB-BB60-DD7631E03342}" type="parTrans" cxnId="{73D143FD-78AC-4D0F-9244-F25A48280985}">
      <dgm:prSet/>
      <dgm:spPr/>
      <dgm:t>
        <a:bodyPr/>
        <a:lstStyle/>
        <a:p>
          <a:endParaRPr lang="en-US"/>
        </a:p>
      </dgm:t>
    </dgm:pt>
    <dgm:pt modelId="{54219A53-F277-4E80-B7F0-7CE432B590E9}" type="sibTrans" cxnId="{73D143FD-78AC-4D0F-9244-F25A48280985}">
      <dgm:prSet/>
      <dgm:spPr/>
      <dgm:t>
        <a:bodyPr/>
        <a:lstStyle/>
        <a:p>
          <a:endParaRPr lang="en-US"/>
        </a:p>
      </dgm:t>
    </dgm:pt>
    <dgm:pt modelId="{43270102-AE23-4046-837B-5F37BFA21279}">
      <dgm:prSet custT="1"/>
      <dgm:spPr/>
      <dgm:t>
        <a:bodyPr/>
        <a:lstStyle/>
        <a:p>
          <a:r>
            <a:rPr lang="es-ES" sz="3200" b="1" dirty="0"/>
            <a:t>Clasificación</a:t>
          </a:r>
          <a:endParaRPr lang="en-US" sz="3200" dirty="0"/>
        </a:p>
      </dgm:t>
    </dgm:pt>
    <dgm:pt modelId="{6B985455-A6E5-44D8-BC7E-FAC387593D67}" type="parTrans" cxnId="{F54FB100-BE8A-47B2-86EF-19E5A89C32FE}">
      <dgm:prSet/>
      <dgm:spPr/>
      <dgm:t>
        <a:bodyPr/>
        <a:lstStyle/>
        <a:p>
          <a:endParaRPr lang="en-US"/>
        </a:p>
      </dgm:t>
    </dgm:pt>
    <dgm:pt modelId="{53CCDEA5-331A-4756-BB70-3CA0401EDB85}" type="sibTrans" cxnId="{F54FB100-BE8A-47B2-86EF-19E5A89C32FE}">
      <dgm:prSet/>
      <dgm:spPr/>
      <dgm:t>
        <a:bodyPr/>
        <a:lstStyle/>
        <a:p>
          <a:endParaRPr lang="en-US"/>
        </a:p>
      </dgm:t>
    </dgm:pt>
    <dgm:pt modelId="{1255F5DA-CEBF-4E92-A62A-0A443315CF03}">
      <dgm:prSet custT="1"/>
      <dgm:spPr/>
      <dgm:t>
        <a:bodyPr/>
        <a:lstStyle/>
        <a:p>
          <a:r>
            <a:rPr lang="es-ES" sz="3200" b="1" dirty="0"/>
            <a:t>Resumen</a:t>
          </a:r>
          <a:endParaRPr lang="en-US" sz="3200" dirty="0"/>
        </a:p>
      </dgm:t>
    </dgm:pt>
    <dgm:pt modelId="{903E9726-BE48-4B7E-ADE0-37CFD2571B43}" type="parTrans" cxnId="{132E5AD1-3D82-430B-9AC9-D371572C1842}">
      <dgm:prSet/>
      <dgm:spPr/>
      <dgm:t>
        <a:bodyPr/>
        <a:lstStyle/>
        <a:p>
          <a:endParaRPr lang="en-US"/>
        </a:p>
      </dgm:t>
    </dgm:pt>
    <dgm:pt modelId="{28E0919D-408E-4CBE-BD17-457EF92C1C26}" type="sibTrans" cxnId="{132E5AD1-3D82-430B-9AC9-D371572C1842}">
      <dgm:prSet/>
      <dgm:spPr/>
      <dgm:t>
        <a:bodyPr/>
        <a:lstStyle/>
        <a:p>
          <a:endParaRPr lang="en-US"/>
        </a:p>
      </dgm:t>
    </dgm:pt>
    <dgm:pt modelId="{CC7980F2-476D-48BD-9ADA-D5FD0B7EEF49}">
      <dgm:prSet custT="1"/>
      <dgm:spPr/>
      <dgm:t>
        <a:bodyPr/>
        <a:lstStyle/>
        <a:p>
          <a:r>
            <a:rPr lang="es-ES" sz="3200" b="1" dirty="0"/>
            <a:t>Interpretación</a:t>
          </a:r>
          <a:endParaRPr lang="en-US" sz="3200" dirty="0"/>
        </a:p>
      </dgm:t>
    </dgm:pt>
    <dgm:pt modelId="{3ECDB392-0BAD-4F2C-9039-76D8455081F4}" type="parTrans" cxnId="{201CF149-8CF1-4CAE-A0DE-3CEA78021441}">
      <dgm:prSet/>
      <dgm:spPr/>
      <dgm:t>
        <a:bodyPr/>
        <a:lstStyle/>
        <a:p>
          <a:endParaRPr lang="en-US"/>
        </a:p>
      </dgm:t>
    </dgm:pt>
    <dgm:pt modelId="{31DE4C7E-6C80-4FB7-B539-38C5273F8F78}" type="sibTrans" cxnId="{201CF149-8CF1-4CAE-A0DE-3CEA78021441}">
      <dgm:prSet/>
      <dgm:spPr/>
      <dgm:t>
        <a:bodyPr/>
        <a:lstStyle/>
        <a:p>
          <a:endParaRPr lang="en-US"/>
        </a:p>
      </dgm:t>
    </dgm:pt>
    <dgm:pt modelId="{BAAE9DC2-D485-4729-8198-584BCD1307C0}" type="pres">
      <dgm:prSet presAssocID="{EED79CAF-2DE1-45CC-B146-4E6372B0A709}" presName="linear" presStyleCnt="0">
        <dgm:presLayoutVars>
          <dgm:animLvl val="lvl"/>
          <dgm:resizeHandles val="exact"/>
        </dgm:presLayoutVars>
      </dgm:prSet>
      <dgm:spPr/>
    </dgm:pt>
    <dgm:pt modelId="{EA244FBC-F7E7-4135-977F-A304CB7BE05E}" type="pres">
      <dgm:prSet presAssocID="{5812DE9A-32B6-46EF-A431-19134E4D2AA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CF7D6CB-2E52-47D8-9516-464B7EE87FB9}" type="pres">
      <dgm:prSet presAssocID="{87CFD194-EE15-4F35-B952-9F3AE1CA340F}" presName="spacer" presStyleCnt="0"/>
      <dgm:spPr/>
    </dgm:pt>
    <dgm:pt modelId="{E8B40B54-B939-489B-BBD6-01C5D42B2CBA}" type="pres">
      <dgm:prSet presAssocID="{4B925751-5DB1-4799-9D89-8C9A4B5193F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E7B752B-DD98-4EBA-A798-68521192792E}" type="pres">
      <dgm:prSet presAssocID="{54219A53-F277-4E80-B7F0-7CE432B590E9}" presName="spacer" presStyleCnt="0"/>
      <dgm:spPr/>
    </dgm:pt>
    <dgm:pt modelId="{E44C23CF-7608-437D-BB4B-0D6DC687C7F4}" type="pres">
      <dgm:prSet presAssocID="{43270102-AE23-4046-837B-5F37BFA2127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9E1AC94-B304-40C8-916C-C1ABBA01E3FF}" type="pres">
      <dgm:prSet presAssocID="{53CCDEA5-331A-4756-BB70-3CA0401EDB85}" presName="spacer" presStyleCnt="0"/>
      <dgm:spPr/>
    </dgm:pt>
    <dgm:pt modelId="{20591FC3-9924-47DE-800A-09D397F5C194}" type="pres">
      <dgm:prSet presAssocID="{1255F5DA-CEBF-4E92-A62A-0A443315CF0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739BA8B-697B-4884-AFD5-A1CA1B0E1B92}" type="pres">
      <dgm:prSet presAssocID="{28E0919D-408E-4CBE-BD17-457EF92C1C26}" presName="spacer" presStyleCnt="0"/>
      <dgm:spPr/>
    </dgm:pt>
    <dgm:pt modelId="{6CCCAD9E-A23F-43FA-AECD-D08164DD9612}" type="pres">
      <dgm:prSet presAssocID="{CC7980F2-476D-48BD-9ADA-D5FD0B7EEF49}" presName="parentText" presStyleLbl="node1" presStyleIdx="4" presStyleCnt="5" custLinFactNeighborX="-49" custLinFactNeighborY="48885">
        <dgm:presLayoutVars>
          <dgm:chMax val="0"/>
          <dgm:bulletEnabled val="1"/>
        </dgm:presLayoutVars>
      </dgm:prSet>
      <dgm:spPr/>
    </dgm:pt>
  </dgm:ptLst>
  <dgm:cxnLst>
    <dgm:cxn modelId="{F54FB100-BE8A-47B2-86EF-19E5A89C32FE}" srcId="{EED79CAF-2DE1-45CC-B146-4E6372B0A709}" destId="{43270102-AE23-4046-837B-5F37BFA21279}" srcOrd="2" destOrd="0" parTransId="{6B985455-A6E5-44D8-BC7E-FAC387593D67}" sibTransId="{53CCDEA5-331A-4756-BB70-3CA0401EDB85}"/>
    <dgm:cxn modelId="{469FA126-E413-4A1E-8A72-FB17B2178613}" srcId="{EED79CAF-2DE1-45CC-B146-4E6372B0A709}" destId="{5812DE9A-32B6-46EF-A431-19134E4D2AA5}" srcOrd="0" destOrd="0" parTransId="{EA78C67E-BAB8-48A7-9A50-AAFCFA3CCDC1}" sibTransId="{87CFD194-EE15-4F35-B952-9F3AE1CA340F}"/>
    <dgm:cxn modelId="{9745E727-0D8B-4BCC-A324-580EC5C7904A}" type="presOf" srcId="{EED79CAF-2DE1-45CC-B146-4E6372B0A709}" destId="{BAAE9DC2-D485-4729-8198-584BCD1307C0}" srcOrd="0" destOrd="0" presId="urn:microsoft.com/office/officeart/2005/8/layout/vList2"/>
    <dgm:cxn modelId="{D487EC5C-A83A-4F54-A5B3-CB3264A3A7E6}" type="presOf" srcId="{CC7980F2-476D-48BD-9ADA-D5FD0B7EEF49}" destId="{6CCCAD9E-A23F-43FA-AECD-D08164DD9612}" srcOrd="0" destOrd="0" presId="urn:microsoft.com/office/officeart/2005/8/layout/vList2"/>
    <dgm:cxn modelId="{201CF149-8CF1-4CAE-A0DE-3CEA78021441}" srcId="{EED79CAF-2DE1-45CC-B146-4E6372B0A709}" destId="{CC7980F2-476D-48BD-9ADA-D5FD0B7EEF49}" srcOrd="4" destOrd="0" parTransId="{3ECDB392-0BAD-4F2C-9039-76D8455081F4}" sibTransId="{31DE4C7E-6C80-4FB7-B539-38C5273F8F78}"/>
    <dgm:cxn modelId="{06A4D672-E7BA-4C2E-A03B-B634D4308401}" type="presOf" srcId="{1255F5DA-CEBF-4E92-A62A-0A443315CF03}" destId="{20591FC3-9924-47DE-800A-09D397F5C194}" srcOrd="0" destOrd="0" presId="urn:microsoft.com/office/officeart/2005/8/layout/vList2"/>
    <dgm:cxn modelId="{2E5D16C6-9916-462E-838B-77EDBD65A892}" type="presOf" srcId="{4B925751-5DB1-4799-9D89-8C9A4B5193F5}" destId="{E8B40B54-B939-489B-BBD6-01C5D42B2CBA}" srcOrd="0" destOrd="0" presId="urn:microsoft.com/office/officeart/2005/8/layout/vList2"/>
    <dgm:cxn modelId="{C86CF3CF-38F8-4183-8FFD-546D86838C8D}" type="presOf" srcId="{43270102-AE23-4046-837B-5F37BFA21279}" destId="{E44C23CF-7608-437D-BB4B-0D6DC687C7F4}" srcOrd="0" destOrd="0" presId="urn:microsoft.com/office/officeart/2005/8/layout/vList2"/>
    <dgm:cxn modelId="{132E5AD1-3D82-430B-9AC9-D371572C1842}" srcId="{EED79CAF-2DE1-45CC-B146-4E6372B0A709}" destId="{1255F5DA-CEBF-4E92-A62A-0A443315CF03}" srcOrd="3" destOrd="0" parTransId="{903E9726-BE48-4B7E-ADE0-37CFD2571B43}" sibTransId="{28E0919D-408E-4CBE-BD17-457EF92C1C26}"/>
    <dgm:cxn modelId="{4527EEF9-2D9A-4ACE-B824-75AB92D9353C}" type="presOf" srcId="{5812DE9A-32B6-46EF-A431-19134E4D2AA5}" destId="{EA244FBC-F7E7-4135-977F-A304CB7BE05E}" srcOrd="0" destOrd="0" presId="urn:microsoft.com/office/officeart/2005/8/layout/vList2"/>
    <dgm:cxn modelId="{73D143FD-78AC-4D0F-9244-F25A48280985}" srcId="{EED79CAF-2DE1-45CC-B146-4E6372B0A709}" destId="{4B925751-5DB1-4799-9D89-8C9A4B5193F5}" srcOrd="1" destOrd="0" parTransId="{821E2841-82CF-47DB-BB60-DD7631E03342}" sibTransId="{54219A53-F277-4E80-B7F0-7CE432B590E9}"/>
    <dgm:cxn modelId="{ED8FD3A0-5463-4AAF-9F60-A9358E3B2C4A}" type="presParOf" srcId="{BAAE9DC2-D485-4729-8198-584BCD1307C0}" destId="{EA244FBC-F7E7-4135-977F-A304CB7BE05E}" srcOrd="0" destOrd="0" presId="urn:microsoft.com/office/officeart/2005/8/layout/vList2"/>
    <dgm:cxn modelId="{A3F599E5-9A3C-47A5-AAAB-DFF299C3F7BA}" type="presParOf" srcId="{BAAE9DC2-D485-4729-8198-584BCD1307C0}" destId="{6CF7D6CB-2E52-47D8-9516-464B7EE87FB9}" srcOrd="1" destOrd="0" presId="urn:microsoft.com/office/officeart/2005/8/layout/vList2"/>
    <dgm:cxn modelId="{8BE34964-E34D-42D8-B684-5EB75450D6AC}" type="presParOf" srcId="{BAAE9DC2-D485-4729-8198-584BCD1307C0}" destId="{E8B40B54-B939-489B-BBD6-01C5D42B2CBA}" srcOrd="2" destOrd="0" presId="urn:microsoft.com/office/officeart/2005/8/layout/vList2"/>
    <dgm:cxn modelId="{057AD171-8919-4079-B237-CD8AB5081384}" type="presParOf" srcId="{BAAE9DC2-D485-4729-8198-584BCD1307C0}" destId="{6E7B752B-DD98-4EBA-A798-68521192792E}" srcOrd="3" destOrd="0" presId="urn:microsoft.com/office/officeart/2005/8/layout/vList2"/>
    <dgm:cxn modelId="{BEC9C87E-9EA5-4F19-93F2-2462521DF73E}" type="presParOf" srcId="{BAAE9DC2-D485-4729-8198-584BCD1307C0}" destId="{E44C23CF-7608-437D-BB4B-0D6DC687C7F4}" srcOrd="4" destOrd="0" presId="urn:microsoft.com/office/officeart/2005/8/layout/vList2"/>
    <dgm:cxn modelId="{FD124693-CD08-42B8-B7E2-F796D556B182}" type="presParOf" srcId="{BAAE9DC2-D485-4729-8198-584BCD1307C0}" destId="{49E1AC94-B304-40C8-916C-C1ABBA01E3FF}" srcOrd="5" destOrd="0" presId="urn:microsoft.com/office/officeart/2005/8/layout/vList2"/>
    <dgm:cxn modelId="{1A2765C6-EF5A-476C-846B-0635EB2727EF}" type="presParOf" srcId="{BAAE9DC2-D485-4729-8198-584BCD1307C0}" destId="{20591FC3-9924-47DE-800A-09D397F5C194}" srcOrd="6" destOrd="0" presId="urn:microsoft.com/office/officeart/2005/8/layout/vList2"/>
    <dgm:cxn modelId="{F5DBAA63-506A-455A-B0C1-F0EFA5A542F2}" type="presParOf" srcId="{BAAE9DC2-D485-4729-8198-584BCD1307C0}" destId="{B739BA8B-697B-4884-AFD5-A1CA1B0E1B92}" srcOrd="7" destOrd="0" presId="urn:microsoft.com/office/officeart/2005/8/layout/vList2"/>
    <dgm:cxn modelId="{E7321901-FE4A-483F-AB33-921EA85C1452}" type="presParOf" srcId="{BAAE9DC2-D485-4729-8198-584BCD1307C0}" destId="{6CCCAD9E-A23F-43FA-AECD-D08164DD961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307587-06E1-4E28-8E61-949F9F2EA1D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71D12DA-CFAB-4B5D-B924-1A7D9CD55173}">
      <dgm:prSet/>
      <dgm:spPr/>
      <dgm:t>
        <a:bodyPr/>
        <a:lstStyle/>
        <a:p>
          <a:r>
            <a:rPr lang="es-ES"/>
            <a:t>Requisitos de la información contenida en los Estados Financieros:</a:t>
          </a:r>
          <a:endParaRPr lang="en-US"/>
        </a:p>
      </dgm:t>
    </dgm:pt>
    <dgm:pt modelId="{CC931942-6A27-4520-9328-9818322AECF2}" type="parTrans" cxnId="{34DC9E21-FB0D-4B4D-9767-DE1D90EF5632}">
      <dgm:prSet/>
      <dgm:spPr/>
      <dgm:t>
        <a:bodyPr/>
        <a:lstStyle/>
        <a:p>
          <a:endParaRPr lang="en-US"/>
        </a:p>
      </dgm:t>
    </dgm:pt>
    <dgm:pt modelId="{F8AA78B2-3BDD-40C6-81FC-E13538F3AE3D}" type="sibTrans" cxnId="{34DC9E21-FB0D-4B4D-9767-DE1D90EF5632}">
      <dgm:prSet/>
      <dgm:spPr/>
      <dgm:t>
        <a:bodyPr/>
        <a:lstStyle/>
        <a:p>
          <a:endParaRPr lang="en-US"/>
        </a:p>
      </dgm:t>
    </dgm:pt>
    <dgm:pt modelId="{3F96DF71-9944-42CD-AABE-6CB8C6A2E5BE}">
      <dgm:prSet/>
      <dgm:spPr/>
      <dgm:t>
        <a:bodyPr/>
        <a:lstStyle/>
        <a:p>
          <a:r>
            <a:rPr lang="es-ES"/>
            <a:t>Pertinencia					. Confiabilidad</a:t>
          </a:r>
          <a:endParaRPr lang="en-US"/>
        </a:p>
      </dgm:t>
    </dgm:pt>
    <dgm:pt modelId="{948C826A-6C36-4E2B-94CF-8FE038DD738D}" type="parTrans" cxnId="{013B12F3-A6B2-4EC5-B7DD-8C160E8AA828}">
      <dgm:prSet/>
      <dgm:spPr/>
      <dgm:t>
        <a:bodyPr/>
        <a:lstStyle/>
        <a:p>
          <a:endParaRPr lang="en-US"/>
        </a:p>
      </dgm:t>
    </dgm:pt>
    <dgm:pt modelId="{501063E2-AA4A-4F03-830F-FB30DF990D83}" type="sibTrans" cxnId="{013B12F3-A6B2-4EC5-B7DD-8C160E8AA828}">
      <dgm:prSet/>
      <dgm:spPr/>
      <dgm:t>
        <a:bodyPr/>
        <a:lstStyle/>
        <a:p>
          <a:endParaRPr lang="en-US"/>
        </a:p>
      </dgm:t>
    </dgm:pt>
    <dgm:pt modelId="{0278AD7C-8636-4443-9B43-B2FD90582697}">
      <dgm:prSet/>
      <dgm:spPr/>
      <dgm:t>
        <a:bodyPr/>
        <a:lstStyle/>
        <a:p>
          <a:r>
            <a:rPr lang="es-ES"/>
            <a:t>Objetividad					. Representatividad</a:t>
          </a:r>
          <a:endParaRPr lang="en-US"/>
        </a:p>
      </dgm:t>
    </dgm:pt>
    <dgm:pt modelId="{E9683369-6E31-4CF7-ABA2-3AFB417A71C6}" type="parTrans" cxnId="{28634B8A-69F8-45BB-80CC-9496823B0C44}">
      <dgm:prSet/>
      <dgm:spPr/>
      <dgm:t>
        <a:bodyPr/>
        <a:lstStyle/>
        <a:p>
          <a:endParaRPr lang="en-US"/>
        </a:p>
      </dgm:t>
    </dgm:pt>
    <dgm:pt modelId="{343AB35C-E217-4D03-B316-EECD87E0C5E8}" type="sibTrans" cxnId="{28634B8A-69F8-45BB-80CC-9496823B0C44}">
      <dgm:prSet/>
      <dgm:spPr/>
      <dgm:t>
        <a:bodyPr/>
        <a:lstStyle/>
        <a:p>
          <a:endParaRPr lang="en-US"/>
        </a:p>
      </dgm:t>
    </dgm:pt>
    <dgm:pt modelId="{36B44C6A-6489-484B-877B-64A16F18E07D}">
      <dgm:prSet/>
      <dgm:spPr/>
      <dgm:t>
        <a:bodyPr/>
        <a:lstStyle/>
        <a:p>
          <a:r>
            <a:rPr lang="es-ES"/>
            <a:t>Comparabilidad				. Certeza</a:t>
          </a:r>
          <a:endParaRPr lang="en-US"/>
        </a:p>
      </dgm:t>
    </dgm:pt>
    <dgm:pt modelId="{3FBF7CFE-BC5A-402A-8084-D0C8A35D4177}" type="parTrans" cxnId="{C7027150-815D-4753-A252-BD971577CD4E}">
      <dgm:prSet/>
      <dgm:spPr/>
      <dgm:t>
        <a:bodyPr/>
        <a:lstStyle/>
        <a:p>
          <a:endParaRPr lang="en-US"/>
        </a:p>
      </dgm:t>
    </dgm:pt>
    <dgm:pt modelId="{8F52C709-129D-4EFF-BC63-FD444022DA1E}" type="sibTrans" cxnId="{C7027150-815D-4753-A252-BD971577CD4E}">
      <dgm:prSet/>
      <dgm:spPr/>
      <dgm:t>
        <a:bodyPr/>
        <a:lstStyle/>
        <a:p>
          <a:endParaRPr lang="en-US"/>
        </a:p>
      </dgm:t>
    </dgm:pt>
    <dgm:pt modelId="{A58A4838-CF26-41BA-9A1E-70F11E517218}">
      <dgm:prSet/>
      <dgm:spPr/>
      <dgm:t>
        <a:bodyPr/>
        <a:lstStyle/>
        <a:p>
          <a:r>
            <a:rPr lang="es-ES"/>
            <a:t>Claridad					. Exactitud</a:t>
          </a:r>
          <a:endParaRPr lang="en-US"/>
        </a:p>
      </dgm:t>
    </dgm:pt>
    <dgm:pt modelId="{00FB9886-BE6D-4784-86AE-D1C1E3BDF9AE}" type="parTrans" cxnId="{13E3F31D-42CF-409E-94BC-95C7E39E2E5A}">
      <dgm:prSet/>
      <dgm:spPr/>
      <dgm:t>
        <a:bodyPr/>
        <a:lstStyle/>
        <a:p>
          <a:endParaRPr lang="en-US"/>
        </a:p>
      </dgm:t>
    </dgm:pt>
    <dgm:pt modelId="{4FAFB013-EB26-4ABD-8E78-A99152FFB2D5}" type="sibTrans" cxnId="{13E3F31D-42CF-409E-94BC-95C7E39E2E5A}">
      <dgm:prSet/>
      <dgm:spPr/>
      <dgm:t>
        <a:bodyPr/>
        <a:lstStyle/>
        <a:p>
          <a:endParaRPr lang="en-US"/>
        </a:p>
      </dgm:t>
    </dgm:pt>
    <dgm:pt modelId="{9D2CF517-C29C-4944-8244-2EB157100467}">
      <dgm:prSet/>
      <dgm:spPr/>
      <dgm:t>
        <a:bodyPr/>
        <a:lstStyle/>
        <a:p>
          <a:r>
            <a:rPr lang="es-ES"/>
            <a:t>Oportunidad					. Prudencia</a:t>
          </a:r>
          <a:endParaRPr lang="en-US"/>
        </a:p>
      </dgm:t>
    </dgm:pt>
    <dgm:pt modelId="{B8EE7566-B4DC-4BFB-AC0D-A252E6CEFC04}" type="parTrans" cxnId="{859543E5-9E06-4079-90D2-4D4E9F98AD64}">
      <dgm:prSet/>
      <dgm:spPr/>
      <dgm:t>
        <a:bodyPr/>
        <a:lstStyle/>
        <a:p>
          <a:endParaRPr lang="en-US"/>
        </a:p>
      </dgm:t>
    </dgm:pt>
    <dgm:pt modelId="{B2359C33-D715-4F00-9ABB-AC92AF1D6E93}" type="sibTrans" cxnId="{859543E5-9E06-4079-90D2-4D4E9F98AD64}">
      <dgm:prSet/>
      <dgm:spPr/>
      <dgm:t>
        <a:bodyPr/>
        <a:lstStyle/>
        <a:p>
          <a:endParaRPr lang="en-US"/>
        </a:p>
      </dgm:t>
    </dgm:pt>
    <dgm:pt modelId="{67E8CE4F-DB40-4CBD-A989-DEF2F09A3158}">
      <dgm:prSet/>
      <dgm:spPr/>
      <dgm:t>
        <a:bodyPr/>
        <a:lstStyle/>
        <a:p>
          <a:r>
            <a:rPr lang="es-ES"/>
            <a:t>Sustancia versus forma			. Verificabilidad</a:t>
          </a:r>
          <a:endParaRPr lang="en-US"/>
        </a:p>
      </dgm:t>
    </dgm:pt>
    <dgm:pt modelId="{E8DC3C10-2A1D-40C0-9858-2EC75DC8DDA3}" type="parTrans" cxnId="{F209FC63-5963-46D8-BCD4-2A0478CB05B3}">
      <dgm:prSet/>
      <dgm:spPr/>
      <dgm:t>
        <a:bodyPr/>
        <a:lstStyle/>
        <a:p>
          <a:endParaRPr lang="en-US"/>
        </a:p>
      </dgm:t>
    </dgm:pt>
    <dgm:pt modelId="{2E0DA272-CBA8-4776-B5FC-7923CC667353}" type="sibTrans" cxnId="{F209FC63-5963-46D8-BCD4-2A0478CB05B3}">
      <dgm:prSet/>
      <dgm:spPr/>
      <dgm:t>
        <a:bodyPr/>
        <a:lstStyle/>
        <a:p>
          <a:endParaRPr lang="en-US"/>
        </a:p>
      </dgm:t>
    </dgm:pt>
    <dgm:pt modelId="{9DE8F618-BB6A-4B17-A884-BC82B2B5D63A}">
      <dgm:prSet/>
      <dgm:spPr/>
      <dgm:t>
        <a:bodyPr/>
        <a:lstStyle/>
        <a:p>
          <a:r>
            <a:rPr lang="es-ES"/>
            <a:t>Utilidad					. Irremplazabilidad	</a:t>
          </a:r>
          <a:endParaRPr lang="en-US"/>
        </a:p>
      </dgm:t>
    </dgm:pt>
    <dgm:pt modelId="{9C8F7740-4FFD-4C83-B3F5-FD88AF73A908}" type="parTrans" cxnId="{B70CE16A-83AA-4A7A-9953-2F2EB21956BB}">
      <dgm:prSet/>
      <dgm:spPr/>
      <dgm:t>
        <a:bodyPr/>
        <a:lstStyle/>
        <a:p>
          <a:endParaRPr lang="en-US"/>
        </a:p>
      </dgm:t>
    </dgm:pt>
    <dgm:pt modelId="{77D4B40C-7C8D-439B-ADC3-062D0D94AF36}" type="sibTrans" cxnId="{B70CE16A-83AA-4A7A-9953-2F2EB21956BB}">
      <dgm:prSet/>
      <dgm:spPr/>
      <dgm:t>
        <a:bodyPr/>
        <a:lstStyle/>
        <a:p>
          <a:endParaRPr lang="en-US"/>
        </a:p>
      </dgm:t>
    </dgm:pt>
    <dgm:pt modelId="{8DC3E910-30D2-4E18-BEBC-4BD30F4707BE}" type="pres">
      <dgm:prSet presAssocID="{86307587-06E1-4E28-8E61-949F9F2EA1D9}" presName="diagram" presStyleCnt="0">
        <dgm:presLayoutVars>
          <dgm:dir/>
          <dgm:resizeHandles val="exact"/>
        </dgm:presLayoutVars>
      </dgm:prSet>
      <dgm:spPr/>
    </dgm:pt>
    <dgm:pt modelId="{9F8EACA9-C389-41FA-B390-1AED91870DC5}" type="pres">
      <dgm:prSet presAssocID="{371D12DA-CFAB-4B5D-B924-1A7D9CD55173}" presName="node" presStyleLbl="node1" presStyleIdx="0" presStyleCnt="8">
        <dgm:presLayoutVars>
          <dgm:bulletEnabled val="1"/>
        </dgm:presLayoutVars>
      </dgm:prSet>
      <dgm:spPr/>
    </dgm:pt>
    <dgm:pt modelId="{BF9D5588-A1D9-44D1-8F8B-E2E74A324FA1}" type="pres">
      <dgm:prSet presAssocID="{F8AA78B2-3BDD-40C6-81FC-E13538F3AE3D}" presName="sibTrans" presStyleCnt="0"/>
      <dgm:spPr/>
    </dgm:pt>
    <dgm:pt modelId="{A4FFF2C9-07A8-4DBA-97C2-91D13EDB954C}" type="pres">
      <dgm:prSet presAssocID="{3F96DF71-9944-42CD-AABE-6CB8C6A2E5BE}" presName="node" presStyleLbl="node1" presStyleIdx="1" presStyleCnt="8">
        <dgm:presLayoutVars>
          <dgm:bulletEnabled val="1"/>
        </dgm:presLayoutVars>
      </dgm:prSet>
      <dgm:spPr/>
    </dgm:pt>
    <dgm:pt modelId="{D7677CC6-D03C-4511-8ADE-EAAE76DF3C25}" type="pres">
      <dgm:prSet presAssocID="{501063E2-AA4A-4F03-830F-FB30DF990D83}" presName="sibTrans" presStyleCnt="0"/>
      <dgm:spPr/>
    </dgm:pt>
    <dgm:pt modelId="{4ECDC65B-0BB8-4E13-BEB2-12781FF40D4C}" type="pres">
      <dgm:prSet presAssocID="{0278AD7C-8636-4443-9B43-B2FD90582697}" presName="node" presStyleLbl="node1" presStyleIdx="2" presStyleCnt="8">
        <dgm:presLayoutVars>
          <dgm:bulletEnabled val="1"/>
        </dgm:presLayoutVars>
      </dgm:prSet>
      <dgm:spPr/>
    </dgm:pt>
    <dgm:pt modelId="{E01C699E-05A9-4487-9F33-C5A89CDE363C}" type="pres">
      <dgm:prSet presAssocID="{343AB35C-E217-4D03-B316-EECD87E0C5E8}" presName="sibTrans" presStyleCnt="0"/>
      <dgm:spPr/>
    </dgm:pt>
    <dgm:pt modelId="{28B3B07C-2ADC-46D8-9DA0-5E14D84ED4DF}" type="pres">
      <dgm:prSet presAssocID="{36B44C6A-6489-484B-877B-64A16F18E07D}" presName="node" presStyleLbl="node1" presStyleIdx="3" presStyleCnt="8">
        <dgm:presLayoutVars>
          <dgm:bulletEnabled val="1"/>
        </dgm:presLayoutVars>
      </dgm:prSet>
      <dgm:spPr/>
    </dgm:pt>
    <dgm:pt modelId="{9A88DD1A-C47A-4601-BA7F-5081F390C57A}" type="pres">
      <dgm:prSet presAssocID="{8F52C709-129D-4EFF-BC63-FD444022DA1E}" presName="sibTrans" presStyleCnt="0"/>
      <dgm:spPr/>
    </dgm:pt>
    <dgm:pt modelId="{1FC9CE2C-0E99-423F-AC2C-3914F26F050F}" type="pres">
      <dgm:prSet presAssocID="{A58A4838-CF26-41BA-9A1E-70F11E517218}" presName="node" presStyleLbl="node1" presStyleIdx="4" presStyleCnt="8">
        <dgm:presLayoutVars>
          <dgm:bulletEnabled val="1"/>
        </dgm:presLayoutVars>
      </dgm:prSet>
      <dgm:spPr/>
    </dgm:pt>
    <dgm:pt modelId="{9313F5C4-5AF6-4D92-9D7E-208179A5C0EB}" type="pres">
      <dgm:prSet presAssocID="{4FAFB013-EB26-4ABD-8E78-A99152FFB2D5}" presName="sibTrans" presStyleCnt="0"/>
      <dgm:spPr/>
    </dgm:pt>
    <dgm:pt modelId="{545BA527-F512-4BEA-B9A1-5FCEDD155842}" type="pres">
      <dgm:prSet presAssocID="{9D2CF517-C29C-4944-8244-2EB157100467}" presName="node" presStyleLbl="node1" presStyleIdx="5" presStyleCnt="8">
        <dgm:presLayoutVars>
          <dgm:bulletEnabled val="1"/>
        </dgm:presLayoutVars>
      </dgm:prSet>
      <dgm:spPr/>
    </dgm:pt>
    <dgm:pt modelId="{1EA80D4F-419E-4D07-9A7D-1417D9936CB6}" type="pres">
      <dgm:prSet presAssocID="{B2359C33-D715-4F00-9ABB-AC92AF1D6E93}" presName="sibTrans" presStyleCnt="0"/>
      <dgm:spPr/>
    </dgm:pt>
    <dgm:pt modelId="{2F8726AA-3FC7-41D1-A9FD-87B271DB51C2}" type="pres">
      <dgm:prSet presAssocID="{67E8CE4F-DB40-4CBD-A989-DEF2F09A3158}" presName="node" presStyleLbl="node1" presStyleIdx="6" presStyleCnt="8">
        <dgm:presLayoutVars>
          <dgm:bulletEnabled val="1"/>
        </dgm:presLayoutVars>
      </dgm:prSet>
      <dgm:spPr/>
    </dgm:pt>
    <dgm:pt modelId="{921CF7E8-92D2-4F32-97B9-E9F6FB5F2D01}" type="pres">
      <dgm:prSet presAssocID="{2E0DA272-CBA8-4776-B5FC-7923CC667353}" presName="sibTrans" presStyleCnt="0"/>
      <dgm:spPr/>
    </dgm:pt>
    <dgm:pt modelId="{3F505B48-CA7C-46D2-8A81-DA222897EE68}" type="pres">
      <dgm:prSet presAssocID="{9DE8F618-BB6A-4B17-A884-BC82B2B5D63A}" presName="node" presStyleLbl="node1" presStyleIdx="7" presStyleCnt="8">
        <dgm:presLayoutVars>
          <dgm:bulletEnabled val="1"/>
        </dgm:presLayoutVars>
      </dgm:prSet>
      <dgm:spPr/>
    </dgm:pt>
  </dgm:ptLst>
  <dgm:cxnLst>
    <dgm:cxn modelId="{6E41131A-BB47-40A1-BFEB-CE8DA05B6B91}" type="presOf" srcId="{67E8CE4F-DB40-4CBD-A989-DEF2F09A3158}" destId="{2F8726AA-3FC7-41D1-A9FD-87B271DB51C2}" srcOrd="0" destOrd="0" presId="urn:microsoft.com/office/officeart/2005/8/layout/default"/>
    <dgm:cxn modelId="{13E3F31D-42CF-409E-94BC-95C7E39E2E5A}" srcId="{86307587-06E1-4E28-8E61-949F9F2EA1D9}" destId="{A58A4838-CF26-41BA-9A1E-70F11E517218}" srcOrd="4" destOrd="0" parTransId="{00FB9886-BE6D-4784-86AE-D1C1E3BDF9AE}" sibTransId="{4FAFB013-EB26-4ABD-8E78-A99152FFB2D5}"/>
    <dgm:cxn modelId="{34DC9E21-FB0D-4B4D-9767-DE1D90EF5632}" srcId="{86307587-06E1-4E28-8E61-949F9F2EA1D9}" destId="{371D12DA-CFAB-4B5D-B924-1A7D9CD55173}" srcOrd="0" destOrd="0" parTransId="{CC931942-6A27-4520-9328-9818322AECF2}" sibTransId="{F8AA78B2-3BDD-40C6-81FC-E13538F3AE3D}"/>
    <dgm:cxn modelId="{FF52815C-25A8-4D1E-B201-E3EF82439328}" type="presOf" srcId="{9D2CF517-C29C-4944-8244-2EB157100467}" destId="{545BA527-F512-4BEA-B9A1-5FCEDD155842}" srcOrd="0" destOrd="0" presId="urn:microsoft.com/office/officeart/2005/8/layout/default"/>
    <dgm:cxn modelId="{564E5143-98D3-4B5D-926E-1A5DA646CCBC}" type="presOf" srcId="{371D12DA-CFAB-4B5D-B924-1A7D9CD55173}" destId="{9F8EACA9-C389-41FA-B390-1AED91870DC5}" srcOrd="0" destOrd="0" presId="urn:microsoft.com/office/officeart/2005/8/layout/default"/>
    <dgm:cxn modelId="{F209FC63-5963-46D8-BCD4-2A0478CB05B3}" srcId="{86307587-06E1-4E28-8E61-949F9F2EA1D9}" destId="{67E8CE4F-DB40-4CBD-A989-DEF2F09A3158}" srcOrd="6" destOrd="0" parTransId="{E8DC3C10-2A1D-40C0-9858-2EC75DC8DDA3}" sibTransId="{2E0DA272-CBA8-4776-B5FC-7923CC667353}"/>
    <dgm:cxn modelId="{1D54AB47-F0F3-4CAB-B4ED-11293F12FC7C}" type="presOf" srcId="{3F96DF71-9944-42CD-AABE-6CB8C6A2E5BE}" destId="{A4FFF2C9-07A8-4DBA-97C2-91D13EDB954C}" srcOrd="0" destOrd="0" presId="urn:microsoft.com/office/officeart/2005/8/layout/default"/>
    <dgm:cxn modelId="{B70CE16A-83AA-4A7A-9953-2F2EB21956BB}" srcId="{86307587-06E1-4E28-8E61-949F9F2EA1D9}" destId="{9DE8F618-BB6A-4B17-A884-BC82B2B5D63A}" srcOrd="7" destOrd="0" parTransId="{9C8F7740-4FFD-4C83-B3F5-FD88AF73A908}" sibTransId="{77D4B40C-7C8D-439B-ADC3-062D0D94AF36}"/>
    <dgm:cxn modelId="{C7027150-815D-4753-A252-BD971577CD4E}" srcId="{86307587-06E1-4E28-8E61-949F9F2EA1D9}" destId="{36B44C6A-6489-484B-877B-64A16F18E07D}" srcOrd="3" destOrd="0" parTransId="{3FBF7CFE-BC5A-402A-8084-D0C8A35D4177}" sibTransId="{8F52C709-129D-4EFF-BC63-FD444022DA1E}"/>
    <dgm:cxn modelId="{28634B8A-69F8-45BB-80CC-9496823B0C44}" srcId="{86307587-06E1-4E28-8E61-949F9F2EA1D9}" destId="{0278AD7C-8636-4443-9B43-B2FD90582697}" srcOrd="2" destOrd="0" parTransId="{E9683369-6E31-4CF7-ABA2-3AFB417A71C6}" sibTransId="{343AB35C-E217-4D03-B316-EECD87E0C5E8}"/>
    <dgm:cxn modelId="{CABF29A7-C020-4BF7-BEA2-0339023E5AC9}" type="presOf" srcId="{86307587-06E1-4E28-8E61-949F9F2EA1D9}" destId="{8DC3E910-30D2-4E18-BEBC-4BD30F4707BE}" srcOrd="0" destOrd="0" presId="urn:microsoft.com/office/officeart/2005/8/layout/default"/>
    <dgm:cxn modelId="{FD1976AD-6C87-4CCA-A0E1-BF1C6F9BA950}" type="presOf" srcId="{A58A4838-CF26-41BA-9A1E-70F11E517218}" destId="{1FC9CE2C-0E99-423F-AC2C-3914F26F050F}" srcOrd="0" destOrd="0" presId="urn:microsoft.com/office/officeart/2005/8/layout/default"/>
    <dgm:cxn modelId="{19D87FC4-1395-4E04-82BF-6C00F4993430}" type="presOf" srcId="{36B44C6A-6489-484B-877B-64A16F18E07D}" destId="{28B3B07C-2ADC-46D8-9DA0-5E14D84ED4DF}" srcOrd="0" destOrd="0" presId="urn:microsoft.com/office/officeart/2005/8/layout/default"/>
    <dgm:cxn modelId="{F705A5C6-5358-46B0-8440-2C64108D7F6D}" type="presOf" srcId="{9DE8F618-BB6A-4B17-A884-BC82B2B5D63A}" destId="{3F505B48-CA7C-46D2-8A81-DA222897EE68}" srcOrd="0" destOrd="0" presId="urn:microsoft.com/office/officeart/2005/8/layout/default"/>
    <dgm:cxn modelId="{FA8E1ADF-479D-4D61-B888-B35CE0574A48}" type="presOf" srcId="{0278AD7C-8636-4443-9B43-B2FD90582697}" destId="{4ECDC65B-0BB8-4E13-BEB2-12781FF40D4C}" srcOrd="0" destOrd="0" presId="urn:microsoft.com/office/officeart/2005/8/layout/default"/>
    <dgm:cxn modelId="{859543E5-9E06-4079-90D2-4D4E9F98AD64}" srcId="{86307587-06E1-4E28-8E61-949F9F2EA1D9}" destId="{9D2CF517-C29C-4944-8244-2EB157100467}" srcOrd="5" destOrd="0" parTransId="{B8EE7566-B4DC-4BFB-AC0D-A252E6CEFC04}" sibTransId="{B2359C33-D715-4F00-9ABB-AC92AF1D6E93}"/>
    <dgm:cxn modelId="{013B12F3-A6B2-4EC5-B7DD-8C160E8AA828}" srcId="{86307587-06E1-4E28-8E61-949F9F2EA1D9}" destId="{3F96DF71-9944-42CD-AABE-6CB8C6A2E5BE}" srcOrd="1" destOrd="0" parTransId="{948C826A-6C36-4E2B-94CF-8FE038DD738D}" sibTransId="{501063E2-AA4A-4F03-830F-FB30DF990D83}"/>
    <dgm:cxn modelId="{74AD44D1-E511-43C9-B38D-40499CF95F60}" type="presParOf" srcId="{8DC3E910-30D2-4E18-BEBC-4BD30F4707BE}" destId="{9F8EACA9-C389-41FA-B390-1AED91870DC5}" srcOrd="0" destOrd="0" presId="urn:microsoft.com/office/officeart/2005/8/layout/default"/>
    <dgm:cxn modelId="{682B2B98-815A-403F-9F23-F5E97E717CAB}" type="presParOf" srcId="{8DC3E910-30D2-4E18-BEBC-4BD30F4707BE}" destId="{BF9D5588-A1D9-44D1-8F8B-E2E74A324FA1}" srcOrd="1" destOrd="0" presId="urn:microsoft.com/office/officeart/2005/8/layout/default"/>
    <dgm:cxn modelId="{FE2F35E8-7EF7-4594-84E6-D8478F25BA68}" type="presParOf" srcId="{8DC3E910-30D2-4E18-BEBC-4BD30F4707BE}" destId="{A4FFF2C9-07A8-4DBA-97C2-91D13EDB954C}" srcOrd="2" destOrd="0" presId="urn:microsoft.com/office/officeart/2005/8/layout/default"/>
    <dgm:cxn modelId="{264232C6-AB7F-46D6-99A6-1DADE08F7BF0}" type="presParOf" srcId="{8DC3E910-30D2-4E18-BEBC-4BD30F4707BE}" destId="{D7677CC6-D03C-4511-8ADE-EAAE76DF3C25}" srcOrd="3" destOrd="0" presId="urn:microsoft.com/office/officeart/2005/8/layout/default"/>
    <dgm:cxn modelId="{61DBFB82-AC52-44FC-B250-22C09747F972}" type="presParOf" srcId="{8DC3E910-30D2-4E18-BEBC-4BD30F4707BE}" destId="{4ECDC65B-0BB8-4E13-BEB2-12781FF40D4C}" srcOrd="4" destOrd="0" presId="urn:microsoft.com/office/officeart/2005/8/layout/default"/>
    <dgm:cxn modelId="{D1AAE778-5F42-463A-82EA-9C0F0B2D8B83}" type="presParOf" srcId="{8DC3E910-30D2-4E18-BEBC-4BD30F4707BE}" destId="{E01C699E-05A9-4487-9F33-C5A89CDE363C}" srcOrd="5" destOrd="0" presId="urn:microsoft.com/office/officeart/2005/8/layout/default"/>
    <dgm:cxn modelId="{33FE98B3-6AAE-4339-B959-7D6838780952}" type="presParOf" srcId="{8DC3E910-30D2-4E18-BEBC-4BD30F4707BE}" destId="{28B3B07C-2ADC-46D8-9DA0-5E14D84ED4DF}" srcOrd="6" destOrd="0" presId="urn:microsoft.com/office/officeart/2005/8/layout/default"/>
    <dgm:cxn modelId="{14EAA926-4FC6-4504-A169-B424D2F5E014}" type="presParOf" srcId="{8DC3E910-30D2-4E18-BEBC-4BD30F4707BE}" destId="{9A88DD1A-C47A-4601-BA7F-5081F390C57A}" srcOrd="7" destOrd="0" presId="urn:microsoft.com/office/officeart/2005/8/layout/default"/>
    <dgm:cxn modelId="{AD80579A-8E4F-40A5-BA5D-10EDBC99BF93}" type="presParOf" srcId="{8DC3E910-30D2-4E18-BEBC-4BD30F4707BE}" destId="{1FC9CE2C-0E99-423F-AC2C-3914F26F050F}" srcOrd="8" destOrd="0" presId="urn:microsoft.com/office/officeart/2005/8/layout/default"/>
    <dgm:cxn modelId="{21426734-ACCE-47EB-B409-D0BC9AC2F06E}" type="presParOf" srcId="{8DC3E910-30D2-4E18-BEBC-4BD30F4707BE}" destId="{9313F5C4-5AF6-4D92-9D7E-208179A5C0EB}" srcOrd="9" destOrd="0" presId="urn:microsoft.com/office/officeart/2005/8/layout/default"/>
    <dgm:cxn modelId="{C90DCBA1-7D2B-4845-9C56-D2D9B2733AEF}" type="presParOf" srcId="{8DC3E910-30D2-4E18-BEBC-4BD30F4707BE}" destId="{545BA527-F512-4BEA-B9A1-5FCEDD155842}" srcOrd="10" destOrd="0" presId="urn:microsoft.com/office/officeart/2005/8/layout/default"/>
    <dgm:cxn modelId="{1052911E-8086-42AD-9449-F298A7D5731D}" type="presParOf" srcId="{8DC3E910-30D2-4E18-BEBC-4BD30F4707BE}" destId="{1EA80D4F-419E-4D07-9A7D-1417D9936CB6}" srcOrd="11" destOrd="0" presId="urn:microsoft.com/office/officeart/2005/8/layout/default"/>
    <dgm:cxn modelId="{45DF0C7F-948D-4DB0-A43B-130B9F2E21E7}" type="presParOf" srcId="{8DC3E910-30D2-4E18-BEBC-4BD30F4707BE}" destId="{2F8726AA-3FC7-41D1-A9FD-87B271DB51C2}" srcOrd="12" destOrd="0" presId="urn:microsoft.com/office/officeart/2005/8/layout/default"/>
    <dgm:cxn modelId="{24C4F0B9-9C02-469D-8928-7DF3CC77D66E}" type="presParOf" srcId="{8DC3E910-30D2-4E18-BEBC-4BD30F4707BE}" destId="{921CF7E8-92D2-4F32-97B9-E9F6FB5F2D01}" srcOrd="13" destOrd="0" presId="urn:microsoft.com/office/officeart/2005/8/layout/default"/>
    <dgm:cxn modelId="{11ED72CE-E32E-4881-9D27-87438B237E72}" type="presParOf" srcId="{8DC3E910-30D2-4E18-BEBC-4BD30F4707BE}" destId="{3F505B48-CA7C-46D2-8A81-DA222897EE6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5EBE40-C9FA-43C0-93B3-C68C27383716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5CAA844-B1D7-45C3-AB33-8303399CED05}">
      <dgm:prSet/>
      <dgm:spPr/>
      <dgm:t>
        <a:bodyPr/>
        <a:lstStyle/>
        <a:p>
          <a:r>
            <a:rPr lang="es-ES"/>
            <a:t>Ingresos: incremento en el valor de los activos y disminución en el valor de los pasivos</a:t>
          </a:r>
          <a:endParaRPr lang="en-US"/>
        </a:p>
      </dgm:t>
    </dgm:pt>
    <dgm:pt modelId="{9EBA8CBF-5ED2-4E74-8711-A7FCB7BB895E}" type="parTrans" cxnId="{3EA353D9-162A-4CE8-A356-F2A61E19FE0F}">
      <dgm:prSet/>
      <dgm:spPr/>
      <dgm:t>
        <a:bodyPr/>
        <a:lstStyle/>
        <a:p>
          <a:endParaRPr lang="en-US"/>
        </a:p>
      </dgm:t>
    </dgm:pt>
    <dgm:pt modelId="{40034FEC-E327-4A34-9BD3-8894CF94D803}" type="sibTrans" cxnId="{3EA353D9-162A-4CE8-A356-F2A61E19FE0F}">
      <dgm:prSet/>
      <dgm:spPr/>
      <dgm:t>
        <a:bodyPr/>
        <a:lstStyle/>
        <a:p>
          <a:endParaRPr lang="en-US"/>
        </a:p>
      </dgm:t>
    </dgm:pt>
    <dgm:pt modelId="{4F744FD8-73B4-443E-9425-6DD041BE108B}">
      <dgm:prSet/>
      <dgm:spPr/>
      <dgm:t>
        <a:bodyPr/>
        <a:lstStyle/>
        <a:p>
          <a:r>
            <a:rPr lang="es-ES"/>
            <a:t>Costos: disminución en el valor de los activos y aumento en el valor de los pasivos</a:t>
          </a:r>
          <a:endParaRPr lang="en-US"/>
        </a:p>
      </dgm:t>
    </dgm:pt>
    <dgm:pt modelId="{8EA9F95B-0059-41A3-A7CD-24E4B333F715}" type="parTrans" cxnId="{5E5AC334-FACE-479D-8D78-3B4DB3D85146}">
      <dgm:prSet/>
      <dgm:spPr/>
      <dgm:t>
        <a:bodyPr/>
        <a:lstStyle/>
        <a:p>
          <a:endParaRPr lang="en-US"/>
        </a:p>
      </dgm:t>
    </dgm:pt>
    <dgm:pt modelId="{C0AA73FB-4670-479F-8764-598AE6504F6E}" type="sibTrans" cxnId="{5E5AC334-FACE-479D-8D78-3B4DB3D85146}">
      <dgm:prSet/>
      <dgm:spPr/>
      <dgm:t>
        <a:bodyPr/>
        <a:lstStyle/>
        <a:p>
          <a:endParaRPr lang="en-US"/>
        </a:p>
      </dgm:t>
    </dgm:pt>
    <dgm:pt modelId="{6752A3B9-6EFD-4F5A-86AD-E16C8EBB0415}">
      <dgm:prSet/>
      <dgm:spPr/>
      <dgm:t>
        <a:bodyPr/>
        <a:lstStyle/>
        <a:p>
          <a:r>
            <a:rPr lang="es-ES"/>
            <a:t>La diferencia entre ingresos y costos determinará el cambio periódico del patrimonio neto, lo que resulta en el beneficio económico.</a:t>
          </a:r>
          <a:endParaRPr lang="en-US"/>
        </a:p>
      </dgm:t>
    </dgm:pt>
    <dgm:pt modelId="{8BD215BE-4980-48F2-9549-78E2D6D49C46}" type="parTrans" cxnId="{041C5FD8-E0E9-4EBC-AE3A-B021F4A6B50C}">
      <dgm:prSet/>
      <dgm:spPr/>
      <dgm:t>
        <a:bodyPr/>
        <a:lstStyle/>
        <a:p>
          <a:endParaRPr lang="en-US"/>
        </a:p>
      </dgm:t>
    </dgm:pt>
    <dgm:pt modelId="{D35CADFE-5450-44CB-8290-4AE2A66803EA}" type="sibTrans" cxnId="{041C5FD8-E0E9-4EBC-AE3A-B021F4A6B50C}">
      <dgm:prSet/>
      <dgm:spPr/>
      <dgm:t>
        <a:bodyPr/>
        <a:lstStyle/>
        <a:p>
          <a:endParaRPr lang="en-US"/>
        </a:p>
      </dgm:t>
    </dgm:pt>
    <dgm:pt modelId="{4C13AE06-4492-427F-8F26-BC1F8B5A28D4}">
      <dgm:prSet/>
      <dgm:spPr/>
      <dgm:t>
        <a:bodyPr/>
        <a:lstStyle/>
        <a:p>
          <a:r>
            <a:rPr lang="es-ES"/>
            <a:t>Los beneficios económico y contable serían iguales si:</a:t>
          </a:r>
          <a:endParaRPr lang="en-US"/>
        </a:p>
      </dgm:t>
    </dgm:pt>
    <dgm:pt modelId="{F77DDDAF-2ABC-4858-958D-7CCF16C1CC50}" type="parTrans" cxnId="{F8BC94AB-B6BA-4D15-8630-1809BCE03270}">
      <dgm:prSet/>
      <dgm:spPr/>
      <dgm:t>
        <a:bodyPr/>
        <a:lstStyle/>
        <a:p>
          <a:endParaRPr lang="en-US"/>
        </a:p>
      </dgm:t>
    </dgm:pt>
    <dgm:pt modelId="{721EB959-3BE0-4763-91DC-CA211C589194}" type="sibTrans" cxnId="{F8BC94AB-B6BA-4D15-8630-1809BCE03270}">
      <dgm:prSet/>
      <dgm:spPr/>
      <dgm:t>
        <a:bodyPr/>
        <a:lstStyle/>
        <a:p>
          <a:endParaRPr lang="en-US"/>
        </a:p>
      </dgm:t>
    </dgm:pt>
    <dgm:pt modelId="{77E5085B-0655-4C3D-B2AA-AF04C65EB0AA}">
      <dgm:prSet/>
      <dgm:spPr/>
      <dgm:t>
        <a:bodyPr/>
        <a:lstStyle/>
        <a:p>
          <a:r>
            <a:rPr lang="es-ES"/>
            <a:t>Valuación a valores de mercado</a:t>
          </a:r>
          <a:endParaRPr lang="en-US"/>
        </a:p>
      </dgm:t>
    </dgm:pt>
    <dgm:pt modelId="{BC2481F6-A4FE-46BE-8A9D-8E85E474AF8C}" type="parTrans" cxnId="{D22B60C1-71C9-40B9-92BE-3C5BD71CF0BF}">
      <dgm:prSet/>
      <dgm:spPr/>
      <dgm:t>
        <a:bodyPr/>
        <a:lstStyle/>
        <a:p>
          <a:endParaRPr lang="en-US"/>
        </a:p>
      </dgm:t>
    </dgm:pt>
    <dgm:pt modelId="{902F4333-1505-4F95-9E00-3616B154635F}" type="sibTrans" cxnId="{D22B60C1-71C9-40B9-92BE-3C5BD71CF0BF}">
      <dgm:prSet/>
      <dgm:spPr/>
      <dgm:t>
        <a:bodyPr/>
        <a:lstStyle/>
        <a:p>
          <a:endParaRPr lang="en-US"/>
        </a:p>
      </dgm:t>
    </dgm:pt>
    <dgm:pt modelId="{4AAAB63A-EA21-4993-B860-696F74220AD2}">
      <dgm:prSet/>
      <dgm:spPr/>
      <dgm:t>
        <a:bodyPr/>
        <a:lstStyle/>
        <a:p>
          <a:r>
            <a:rPr lang="es-ES"/>
            <a:t>Exposición a la inflación</a:t>
          </a:r>
          <a:endParaRPr lang="en-US"/>
        </a:p>
      </dgm:t>
    </dgm:pt>
    <dgm:pt modelId="{B8C07A36-C2A3-4A5A-98FD-4476772B2F2D}" type="parTrans" cxnId="{625341B6-99CE-4F0C-9F8B-D8E80F81D637}">
      <dgm:prSet/>
      <dgm:spPr/>
      <dgm:t>
        <a:bodyPr/>
        <a:lstStyle/>
        <a:p>
          <a:endParaRPr lang="en-US"/>
        </a:p>
      </dgm:t>
    </dgm:pt>
    <dgm:pt modelId="{765239E2-A11B-4E42-BDC5-44F41F7FC7C5}" type="sibTrans" cxnId="{625341B6-99CE-4F0C-9F8B-D8E80F81D637}">
      <dgm:prSet/>
      <dgm:spPr/>
      <dgm:t>
        <a:bodyPr/>
        <a:lstStyle/>
        <a:p>
          <a:endParaRPr lang="en-US"/>
        </a:p>
      </dgm:t>
    </dgm:pt>
    <dgm:pt modelId="{4F90A719-5778-4465-AE84-1DC3AFA83C78}">
      <dgm:prSet/>
      <dgm:spPr/>
      <dgm:t>
        <a:bodyPr/>
        <a:lstStyle/>
        <a:p>
          <a:r>
            <a:rPr lang="es-ES"/>
            <a:t>Futuros negocios esperados que afectarán las utilidades de la compañía</a:t>
          </a:r>
          <a:endParaRPr lang="en-US"/>
        </a:p>
      </dgm:t>
    </dgm:pt>
    <dgm:pt modelId="{682F6760-84AE-44B3-9E5D-79DE3B43E3DB}" type="parTrans" cxnId="{7EE1081A-2590-4418-B5CE-A7A3B4174C11}">
      <dgm:prSet/>
      <dgm:spPr/>
      <dgm:t>
        <a:bodyPr/>
        <a:lstStyle/>
        <a:p>
          <a:endParaRPr lang="en-US"/>
        </a:p>
      </dgm:t>
    </dgm:pt>
    <dgm:pt modelId="{2AD7DF45-34FA-434A-834F-79AC0874F4BA}" type="sibTrans" cxnId="{7EE1081A-2590-4418-B5CE-A7A3B4174C11}">
      <dgm:prSet/>
      <dgm:spPr/>
      <dgm:t>
        <a:bodyPr/>
        <a:lstStyle/>
        <a:p>
          <a:endParaRPr lang="en-US"/>
        </a:p>
      </dgm:t>
    </dgm:pt>
    <dgm:pt modelId="{0AC83D93-0DE0-4C30-9386-E3D4003EBB34}" type="pres">
      <dgm:prSet presAssocID="{CB5EBE40-C9FA-43C0-93B3-C68C27383716}" presName="matrix" presStyleCnt="0">
        <dgm:presLayoutVars>
          <dgm:chMax val="1"/>
          <dgm:dir/>
          <dgm:resizeHandles val="exact"/>
        </dgm:presLayoutVars>
      </dgm:prSet>
      <dgm:spPr/>
    </dgm:pt>
    <dgm:pt modelId="{C968D9BA-D84B-4D11-88C6-1DC8DD9C68F0}" type="pres">
      <dgm:prSet presAssocID="{CB5EBE40-C9FA-43C0-93B3-C68C27383716}" presName="diamond" presStyleLbl="bgShp" presStyleIdx="0" presStyleCnt="1"/>
      <dgm:spPr/>
    </dgm:pt>
    <dgm:pt modelId="{8AE6CC0B-C418-440F-8230-2BE7B145BFC7}" type="pres">
      <dgm:prSet presAssocID="{CB5EBE40-C9FA-43C0-93B3-C68C2738371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661723E-DDDE-4C5C-8243-D4C85042D650}" type="pres">
      <dgm:prSet presAssocID="{CB5EBE40-C9FA-43C0-93B3-C68C2738371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AC76388-2B88-4C81-A9EE-55F2E319C949}" type="pres">
      <dgm:prSet presAssocID="{CB5EBE40-C9FA-43C0-93B3-C68C2738371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7455313-439D-4F98-ACA8-AD31DBB57561}" type="pres">
      <dgm:prSet presAssocID="{CB5EBE40-C9FA-43C0-93B3-C68C2738371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46BA904-A3DA-4F29-867E-BD337C556EC9}" type="presOf" srcId="{77E5085B-0655-4C3D-B2AA-AF04C65EB0AA}" destId="{17455313-439D-4F98-ACA8-AD31DBB57561}" srcOrd="0" destOrd="1" presId="urn:microsoft.com/office/officeart/2005/8/layout/matrix3"/>
    <dgm:cxn modelId="{89387B13-60EB-4080-BC28-529C47DFA92D}" type="presOf" srcId="{CB5EBE40-C9FA-43C0-93B3-C68C27383716}" destId="{0AC83D93-0DE0-4C30-9386-E3D4003EBB34}" srcOrd="0" destOrd="0" presId="urn:microsoft.com/office/officeart/2005/8/layout/matrix3"/>
    <dgm:cxn modelId="{7EE1081A-2590-4418-B5CE-A7A3B4174C11}" srcId="{4C13AE06-4492-427F-8F26-BC1F8B5A28D4}" destId="{4F90A719-5778-4465-AE84-1DC3AFA83C78}" srcOrd="2" destOrd="0" parTransId="{682F6760-84AE-44B3-9E5D-79DE3B43E3DB}" sibTransId="{2AD7DF45-34FA-434A-834F-79AC0874F4BA}"/>
    <dgm:cxn modelId="{5E5AC334-FACE-479D-8D78-3B4DB3D85146}" srcId="{CB5EBE40-C9FA-43C0-93B3-C68C27383716}" destId="{4F744FD8-73B4-443E-9425-6DD041BE108B}" srcOrd="1" destOrd="0" parTransId="{8EA9F95B-0059-41A3-A7CD-24E4B333F715}" sibTransId="{C0AA73FB-4670-479F-8764-598AE6504F6E}"/>
    <dgm:cxn modelId="{21991360-FD54-4C20-9AE5-998262190CD5}" type="presOf" srcId="{4F90A719-5778-4465-AE84-1DC3AFA83C78}" destId="{17455313-439D-4F98-ACA8-AD31DBB57561}" srcOrd="0" destOrd="3" presId="urn:microsoft.com/office/officeart/2005/8/layout/matrix3"/>
    <dgm:cxn modelId="{D98F8957-EFC6-434F-96B9-B0A2AC153206}" type="presOf" srcId="{6752A3B9-6EFD-4F5A-86AD-E16C8EBB0415}" destId="{4AC76388-2B88-4C81-A9EE-55F2E319C949}" srcOrd="0" destOrd="0" presId="urn:microsoft.com/office/officeart/2005/8/layout/matrix3"/>
    <dgm:cxn modelId="{B9B3A287-B55F-48B2-9642-93C12AFBA449}" type="presOf" srcId="{4F744FD8-73B4-443E-9425-6DD041BE108B}" destId="{D661723E-DDDE-4C5C-8243-D4C85042D650}" srcOrd="0" destOrd="0" presId="urn:microsoft.com/office/officeart/2005/8/layout/matrix3"/>
    <dgm:cxn modelId="{AD1846A4-ECB6-47AC-BDAB-4B3FDC79A870}" type="presOf" srcId="{25CAA844-B1D7-45C3-AB33-8303399CED05}" destId="{8AE6CC0B-C418-440F-8230-2BE7B145BFC7}" srcOrd="0" destOrd="0" presId="urn:microsoft.com/office/officeart/2005/8/layout/matrix3"/>
    <dgm:cxn modelId="{F8BC94AB-B6BA-4D15-8630-1809BCE03270}" srcId="{CB5EBE40-C9FA-43C0-93B3-C68C27383716}" destId="{4C13AE06-4492-427F-8F26-BC1F8B5A28D4}" srcOrd="3" destOrd="0" parTransId="{F77DDDAF-2ABC-4858-958D-7CCF16C1CC50}" sibTransId="{721EB959-3BE0-4763-91DC-CA211C589194}"/>
    <dgm:cxn modelId="{625341B6-99CE-4F0C-9F8B-D8E80F81D637}" srcId="{4C13AE06-4492-427F-8F26-BC1F8B5A28D4}" destId="{4AAAB63A-EA21-4993-B860-696F74220AD2}" srcOrd="1" destOrd="0" parTransId="{B8C07A36-C2A3-4A5A-98FD-4476772B2F2D}" sibTransId="{765239E2-A11B-4E42-BDC5-44F41F7FC7C5}"/>
    <dgm:cxn modelId="{D22B60C1-71C9-40B9-92BE-3C5BD71CF0BF}" srcId="{4C13AE06-4492-427F-8F26-BC1F8B5A28D4}" destId="{77E5085B-0655-4C3D-B2AA-AF04C65EB0AA}" srcOrd="0" destOrd="0" parTransId="{BC2481F6-A4FE-46BE-8A9D-8E85E474AF8C}" sibTransId="{902F4333-1505-4F95-9E00-3616B154635F}"/>
    <dgm:cxn modelId="{657F89C8-2677-409C-A074-53E9A8C83530}" type="presOf" srcId="{4C13AE06-4492-427F-8F26-BC1F8B5A28D4}" destId="{17455313-439D-4F98-ACA8-AD31DBB57561}" srcOrd="0" destOrd="0" presId="urn:microsoft.com/office/officeart/2005/8/layout/matrix3"/>
    <dgm:cxn modelId="{041C5FD8-E0E9-4EBC-AE3A-B021F4A6B50C}" srcId="{CB5EBE40-C9FA-43C0-93B3-C68C27383716}" destId="{6752A3B9-6EFD-4F5A-86AD-E16C8EBB0415}" srcOrd="2" destOrd="0" parTransId="{8BD215BE-4980-48F2-9549-78E2D6D49C46}" sibTransId="{D35CADFE-5450-44CB-8290-4AE2A66803EA}"/>
    <dgm:cxn modelId="{3EA353D9-162A-4CE8-A356-F2A61E19FE0F}" srcId="{CB5EBE40-C9FA-43C0-93B3-C68C27383716}" destId="{25CAA844-B1D7-45C3-AB33-8303399CED05}" srcOrd="0" destOrd="0" parTransId="{9EBA8CBF-5ED2-4E74-8711-A7FCB7BB895E}" sibTransId="{40034FEC-E327-4A34-9BD3-8894CF94D803}"/>
    <dgm:cxn modelId="{9C36C0F4-6601-445B-9FA3-6294CE10A8B8}" type="presOf" srcId="{4AAAB63A-EA21-4993-B860-696F74220AD2}" destId="{17455313-439D-4F98-ACA8-AD31DBB57561}" srcOrd="0" destOrd="2" presId="urn:microsoft.com/office/officeart/2005/8/layout/matrix3"/>
    <dgm:cxn modelId="{4AE4540B-5AE0-48B8-BEB9-DDD0EB8DAA21}" type="presParOf" srcId="{0AC83D93-0DE0-4C30-9386-E3D4003EBB34}" destId="{C968D9BA-D84B-4D11-88C6-1DC8DD9C68F0}" srcOrd="0" destOrd="0" presId="urn:microsoft.com/office/officeart/2005/8/layout/matrix3"/>
    <dgm:cxn modelId="{10908039-13FA-4E40-A036-91EDC727C4E8}" type="presParOf" srcId="{0AC83D93-0DE0-4C30-9386-E3D4003EBB34}" destId="{8AE6CC0B-C418-440F-8230-2BE7B145BFC7}" srcOrd="1" destOrd="0" presId="urn:microsoft.com/office/officeart/2005/8/layout/matrix3"/>
    <dgm:cxn modelId="{0DF41437-1864-44EC-B285-A3892BE68DB3}" type="presParOf" srcId="{0AC83D93-0DE0-4C30-9386-E3D4003EBB34}" destId="{D661723E-DDDE-4C5C-8243-D4C85042D650}" srcOrd="2" destOrd="0" presId="urn:microsoft.com/office/officeart/2005/8/layout/matrix3"/>
    <dgm:cxn modelId="{4E4FA531-70D4-4DBC-9DAE-5C330C778724}" type="presParOf" srcId="{0AC83D93-0DE0-4C30-9386-E3D4003EBB34}" destId="{4AC76388-2B88-4C81-A9EE-55F2E319C949}" srcOrd="3" destOrd="0" presId="urn:microsoft.com/office/officeart/2005/8/layout/matrix3"/>
    <dgm:cxn modelId="{EED076AC-9E63-4AA8-BF1C-5A1D8A6D1E90}" type="presParOf" srcId="{0AC83D93-0DE0-4C30-9386-E3D4003EBB34}" destId="{17455313-439D-4F98-ACA8-AD31DBB5756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28C5B6-DA1C-4694-9B34-1C58B84DC7C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3AD4D5-9ECA-4E21-9E24-93541236E3CB}">
      <dgm:prSet/>
      <dgm:spPr/>
      <dgm:t>
        <a:bodyPr/>
        <a:lstStyle/>
        <a:p>
          <a:r>
            <a:rPr lang="es-AR"/>
            <a:t>ratio</a:t>
          </a:r>
          <a:endParaRPr lang="en-US"/>
        </a:p>
      </dgm:t>
    </dgm:pt>
    <dgm:pt modelId="{EE042D95-49D6-471E-A14F-E8F11DDC3614}" type="parTrans" cxnId="{168BC15E-7089-4230-BAD4-5A8AFB71A54E}">
      <dgm:prSet/>
      <dgm:spPr/>
      <dgm:t>
        <a:bodyPr/>
        <a:lstStyle/>
        <a:p>
          <a:endParaRPr lang="en-US"/>
        </a:p>
      </dgm:t>
    </dgm:pt>
    <dgm:pt modelId="{7610D6D8-0162-4E86-B346-139EE9F59996}" type="sibTrans" cxnId="{168BC15E-7089-4230-BAD4-5A8AFB71A54E}">
      <dgm:prSet/>
      <dgm:spPr/>
      <dgm:t>
        <a:bodyPr/>
        <a:lstStyle/>
        <a:p>
          <a:endParaRPr lang="en-US"/>
        </a:p>
      </dgm:t>
    </dgm:pt>
    <dgm:pt modelId="{0EDB6DB8-9E76-4A1C-BDE1-03EB24C9978F}">
      <dgm:prSet/>
      <dgm:spPr/>
      <dgm:t>
        <a:bodyPr/>
        <a:lstStyle/>
        <a:p>
          <a:r>
            <a:rPr lang="es-AR"/>
            <a:t>Del lat. ratio.</a:t>
          </a:r>
          <a:endParaRPr lang="en-US"/>
        </a:p>
      </dgm:t>
    </dgm:pt>
    <dgm:pt modelId="{F54F890E-8C5A-40CA-B428-E9ED8947634A}" type="parTrans" cxnId="{C5A3DCEF-D3C6-4743-8E01-FDF5F66EB7AD}">
      <dgm:prSet/>
      <dgm:spPr/>
      <dgm:t>
        <a:bodyPr/>
        <a:lstStyle/>
        <a:p>
          <a:endParaRPr lang="en-US"/>
        </a:p>
      </dgm:t>
    </dgm:pt>
    <dgm:pt modelId="{3736FF5A-419B-4C6A-B003-F2B6C85FE760}" type="sibTrans" cxnId="{C5A3DCEF-D3C6-4743-8E01-FDF5F66EB7AD}">
      <dgm:prSet/>
      <dgm:spPr/>
      <dgm:t>
        <a:bodyPr/>
        <a:lstStyle/>
        <a:p>
          <a:endParaRPr lang="en-US"/>
        </a:p>
      </dgm:t>
    </dgm:pt>
    <dgm:pt modelId="{D3ED1E5A-CCE0-42D5-B777-D0E319E2AD25}">
      <dgm:prSet/>
      <dgm:spPr/>
      <dgm:t>
        <a:bodyPr/>
        <a:lstStyle/>
        <a:p>
          <a:r>
            <a:rPr lang="es-AR"/>
            <a:t>1. f. Mat. razón (‖ cociente de dos números)</a:t>
          </a:r>
          <a:endParaRPr lang="en-US"/>
        </a:p>
      </dgm:t>
    </dgm:pt>
    <dgm:pt modelId="{225EF4D3-3E2E-429D-AA9A-74E4EFDA8E98}" type="parTrans" cxnId="{115E77E4-C980-4835-BD2F-ED0D62BA153A}">
      <dgm:prSet/>
      <dgm:spPr/>
      <dgm:t>
        <a:bodyPr/>
        <a:lstStyle/>
        <a:p>
          <a:endParaRPr lang="en-US"/>
        </a:p>
      </dgm:t>
    </dgm:pt>
    <dgm:pt modelId="{6F587386-3B52-40AD-925E-D411BFBEB174}" type="sibTrans" cxnId="{115E77E4-C980-4835-BD2F-ED0D62BA153A}">
      <dgm:prSet/>
      <dgm:spPr/>
      <dgm:t>
        <a:bodyPr/>
        <a:lstStyle/>
        <a:p>
          <a:endParaRPr lang="en-US"/>
        </a:p>
      </dgm:t>
    </dgm:pt>
    <dgm:pt modelId="{ACC8AA72-5BF7-4361-BE7F-A5564EE9C2D3}">
      <dgm:prSet/>
      <dgm:spPr/>
      <dgm:t>
        <a:bodyPr/>
        <a:lstStyle/>
        <a:p>
          <a:r>
            <a:rPr lang="es-AR"/>
            <a:t>razón</a:t>
          </a:r>
          <a:endParaRPr lang="en-US"/>
        </a:p>
      </dgm:t>
    </dgm:pt>
    <dgm:pt modelId="{9C2F99A0-9D40-46CB-8E02-140D82BD5354}" type="parTrans" cxnId="{B8C5C0B5-35D6-4D38-AC36-B740AA394B8D}">
      <dgm:prSet/>
      <dgm:spPr/>
      <dgm:t>
        <a:bodyPr/>
        <a:lstStyle/>
        <a:p>
          <a:endParaRPr lang="en-US"/>
        </a:p>
      </dgm:t>
    </dgm:pt>
    <dgm:pt modelId="{58F0CF0F-FDE1-4BAE-A4E7-533DE4345B34}" type="sibTrans" cxnId="{B8C5C0B5-35D6-4D38-AC36-B740AA394B8D}">
      <dgm:prSet/>
      <dgm:spPr/>
      <dgm:t>
        <a:bodyPr/>
        <a:lstStyle/>
        <a:p>
          <a:endParaRPr lang="en-US"/>
        </a:p>
      </dgm:t>
    </dgm:pt>
    <dgm:pt modelId="{8F546D7A-8C8F-41D3-A209-C801B20BFC7E}">
      <dgm:prSet/>
      <dgm:spPr/>
      <dgm:t>
        <a:bodyPr/>
        <a:lstStyle/>
        <a:p>
          <a:r>
            <a:rPr lang="es-AR"/>
            <a:t>Del lat. ratio, -ōnis.</a:t>
          </a:r>
          <a:endParaRPr lang="en-US"/>
        </a:p>
      </dgm:t>
    </dgm:pt>
    <dgm:pt modelId="{E22EA6FD-8E6D-416D-951B-2BC103E1B45B}" type="parTrans" cxnId="{1A4C0C71-083E-46B2-B677-06988B107588}">
      <dgm:prSet/>
      <dgm:spPr/>
      <dgm:t>
        <a:bodyPr/>
        <a:lstStyle/>
        <a:p>
          <a:endParaRPr lang="en-US"/>
        </a:p>
      </dgm:t>
    </dgm:pt>
    <dgm:pt modelId="{10AFDAB5-66BA-42CC-81F3-0D471A87CFA1}" type="sibTrans" cxnId="{1A4C0C71-083E-46B2-B677-06988B107588}">
      <dgm:prSet/>
      <dgm:spPr/>
      <dgm:t>
        <a:bodyPr/>
        <a:lstStyle/>
        <a:p>
          <a:endParaRPr lang="en-US"/>
        </a:p>
      </dgm:t>
    </dgm:pt>
    <dgm:pt modelId="{BB4EF302-F4DB-41C8-AC77-258E9622494D}">
      <dgm:prSet/>
      <dgm:spPr/>
      <dgm:t>
        <a:bodyPr/>
        <a:lstStyle/>
        <a:p>
          <a:r>
            <a:rPr lang="es-AR"/>
            <a:t>11. f. Mat. Cociente de dos números o, en general, de dos cantidades comparables entre sí.</a:t>
          </a:r>
          <a:endParaRPr lang="en-US"/>
        </a:p>
      </dgm:t>
    </dgm:pt>
    <dgm:pt modelId="{DC63338D-5806-4925-846E-BE94780FDA68}" type="parTrans" cxnId="{9697B3C8-2B91-4694-B251-0A9C72959336}">
      <dgm:prSet/>
      <dgm:spPr/>
      <dgm:t>
        <a:bodyPr/>
        <a:lstStyle/>
        <a:p>
          <a:endParaRPr lang="en-US"/>
        </a:p>
      </dgm:t>
    </dgm:pt>
    <dgm:pt modelId="{1AAA8788-84FE-46FD-8BB2-F62129926522}" type="sibTrans" cxnId="{9697B3C8-2B91-4694-B251-0A9C72959336}">
      <dgm:prSet/>
      <dgm:spPr/>
      <dgm:t>
        <a:bodyPr/>
        <a:lstStyle/>
        <a:p>
          <a:endParaRPr lang="en-US"/>
        </a:p>
      </dgm:t>
    </dgm:pt>
    <dgm:pt modelId="{E9E3D47B-A1E8-44E7-BBD4-1EE9A9B9426F}">
      <dgm:prSet/>
      <dgm:spPr/>
      <dgm:t>
        <a:bodyPr/>
        <a:lstStyle/>
        <a:p>
          <a:r>
            <a:rPr lang="es-AR"/>
            <a:t>Pueden estar expresados en número de veces, porcentaje o días.</a:t>
          </a:r>
          <a:endParaRPr lang="en-US"/>
        </a:p>
      </dgm:t>
    </dgm:pt>
    <dgm:pt modelId="{4D6ADB4D-ADE2-438A-8737-D88FFDF9876E}" type="parTrans" cxnId="{542DBDF9-BC62-4A44-8D5D-D42B15365894}">
      <dgm:prSet/>
      <dgm:spPr/>
      <dgm:t>
        <a:bodyPr/>
        <a:lstStyle/>
        <a:p>
          <a:endParaRPr lang="en-US"/>
        </a:p>
      </dgm:t>
    </dgm:pt>
    <dgm:pt modelId="{C001CC93-2D2B-4CCC-ABF6-11779F375D3E}" type="sibTrans" cxnId="{542DBDF9-BC62-4A44-8D5D-D42B15365894}">
      <dgm:prSet/>
      <dgm:spPr/>
      <dgm:t>
        <a:bodyPr/>
        <a:lstStyle/>
        <a:p>
          <a:endParaRPr lang="en-US"/>
        </a:p>
      </dgm:t>
    </dgm:pt>
    <dgm:pt modelId="{68CFB1B6-069B-447D-A06B-BFD7E1A3CAB5}" type="pres">
      <dgm:prSet presAssocID="{7B28C5B6-DA1C-4694-9B34-1C58B84DC7C6}" presName="linear" presStyleCnt="0">
        <dgm:presLayoutVars>
          <dgm:animLvl val="lvl"/>
          <dgm:resizeHandles val="exact"/>
        </dgm:presLayoutVars>
      </dgm:prSet>
      <dgm:spPr/>
    </dgm:pt>
    <dgm:pt modelId="{5296A373-4672-477C-AE78-0C5F77493457}" type="pres">
      <dgm:prSet presAssocID="{6F3AD4D5-9ECA-4E21-9E24-93541236E3C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7F797EB-1721-4ABC-B245-51E912DE928C}" type="pres">
      <dgm:prSet presAssocID="{6F3AD4D5-9ECA-4E21-9E24-93541236E3CB}" presName="childText" presStyleLbl="revTx" presStyleIdx="0" presStyleCnt="1">
        <dgm:presLayoutVars>
          <dgm:bulletEnabled val="1"/>
        </dgm:presLayoutVars>
      </dgm:prSet>
      <dgm:spPr/>
    </dgm:pt>
    <dgm:pt modelId="{5BB3895B-3F80-4B85-A758-11F518B581A1}" type="pres">
      <dgm:prSet presAssocID="{ACC8AA72-5BF7-4361-BE7F-A5564EE9C2D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7D7B7F5-97DF-4C40-AF94-99EE468794C8}" type="pres">
      <dgm:prSet presAssocID="{58F0CF0F-FDE1-4BAE-A4E7-533DE4345B34}" presName="spacer" presStyleCnt="0"/>
      <dgm:spPr/>
    </dgm:pt>
    <dgm:pt modelId="{AF3FBF83-EDFC-4CD9-90F2-D132B72D9FF1}" type="pres">
      <dgm:prSet presAssocID="{8F546D7A-8C8F-41D3-A209-C801B20BFC7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B8245B5-E777-409D-AB14-24CE4F306DA3}" type="pres">
      <dgm:prSet presAssocID="{10AFDAB5-66BA-42CC-81F3-0D471A87CFA1}" presName="spacer" presStyleCnt="0"/>
      <dgm:spPr/>
    </dgm:pt>
    <dgm:pt modelId="{9B008BDA-CBE9-4B88-84E6-1A47AA6619B4}" type="pres">
      <dgm:prSet presAssocID="{BB4EF302-F4DB-41C8-AC77-258E9622494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74EBFCF-C2C7-4A71-9089-BA82FC10C470}" type="pres">
      <dgm:prSet presAssocID="{1AAA8788-84FE-46FD-8BB2-F62129926522}" presName="spacer" presStyleCnt="0"/>
      <dgm:spPr/>
    </dgm:pt>
    <dgm:pt modelId="{B9320D06-01AC-475E-AFAF-69312A09B207}" type="pres">
      <dgm:prSet presAssocID="{E9E3D47B-A1E8-44E7-BBD4-1EE9A9B9426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AEE7D0B-B299-40D0-82EF-B733EC4F4E9B}" type="presOf" srcId="{D3ED1E5A-CCE0-42D5-B777-D0E319E2AD25}" destId="{F7F797EB-1721-4ABC-B245-51E912DE928C}" srcOrd="0" destOrd="1" presId="urn:microsoft.com/office/officeart/2005/8/layout/vList2"/>
    <dgm:cxn modelId="{ED2C9C10-1101-472D-8125-BB903CD75099}" type="presOf" srcId="{6F3AD4D5-9ECA-4E21-9E24-93541236E3CB}" destId="{5296A373-4672-477C-AE78-0C5F77493457}" srcOrd="0" destOrd="0" presId="urn:microsoft.com/office/officeart/2005/8/layout/vList2"/>
    <dgm:cxn modelId="{1CB7DD27-6BE5-4DF3-8798-746A440C48C8}" type="presOf" srcId="{ACC8AA72-5BF7-4361-BE7F-A5564EE9C2D3}" destId="{5BB3895B-3F80-4B85-A758-11F518B581A1}" srcOrd="0" destOrd="0" presId="urn:microsoft.com/office/officeart/2005/8/layout/vList2"/>
    <dgm:cxn modelId="{168BC15E-7089-4230-BAD4-5A8AFB71A54E}" srcId="{7B28C5B6-DA1C-4694-9B34-1C58B84DC7C6}" destId="{6F3AD4D5-9ECA-4E21-9E24-93541236E3CB}" srcOrd="0" destOrd="0" parTransId="{EE042D95-49D6-471E-A14F-E8F11DDC3614}" sibTransId="{7610D6D8-0162-4E86-B346-139EE9F59996}"/>
    <dgm:cxn modelId="{D5B95370-1C98-4E53-88C5-C690C7BE1783}" type="presOf" srcId="{8F546D7A-8C8F-41D3-A209-C801B20BFC7E}" destId="{AF3FBF83-EDFC-4CD9-90F2-D132B72D9FF1}" srcOrd="0" destOrd="0" presId="urn:microsoft.com/office/officeart/2005/8/layout/vList2"/>
    <dgm:cxn modelId="{1A4C0C71-083E-46B2-B677-06988B107588}" srcId="{7B28C5B6-DA1C-4694-9B34-1C58B84DC7C6}" destId="{8F546D7A-8C8F-41D3-A209-C801B20BFC7E}" srcOrd="2" destOrd="0" parTransId="{E22EA6FD-8E6D-416D-951B-2BC103E1B45B}" sibTransId="{10AFDAB5-66BA-42CC-81F3-0D471A87CFA1}"/>
    <dgm:cxn modelId="{BEF38152-4E64-42DC-9215-847918904CB1}" type="presOf" srcId="{0EDB6DB8-9E76-4A1C-BDE1-03EB24C9978F}" destId="{F7F797EB-1721-4ABC-B245-51E912DE928C}" srcOrd="0" destOrd="0" presId="urn:microsoft.com/office/officeart/2005/8/layout/vList2"/>
    <dgm:cxn modelId="{3CA17677-2716-4710-B8CC-045E5DB584F1}" type="presOf" srcId="{BB4EF302-F4DB-41C8-AC77-258E9622494D}" destId="{9B008BDA-CBE9-4B88-84E6-1A47AA6619B4}" srcOrd="0" destOrd="0" presId="urn:microsoft.com/office/officeart/2005/8/layout/vList2"/>
    <dgm:cxn modelId="{2C63119A-B5EC-4F87-967C-853B225EC06D}" type="presOf" srcId="{7B28C5B6-DA1C-4694-9B34-1C58B84DC7C6}" destId="{68CFB1B6-069B-447D-A06B-BFD7E1A3CAB5}" srcOrd="0" destOrd="0" presId="urn:microsoft.com/office/officeart/2005/8/layout/vList2"/>
    <dgm:cxn modelId="{B8C5C0B5-35D6-4D38-AC36-B740AA394B8D}" srcId="{7B28C5B6-DA1C-4694-9B34-1C58B84DC7C6}" destId="{ACC8AA72-5BF7-4361-BE7F-A5564EE9C2D3}" srcOrd="1" destOrd="0" parTransId="{9C2F99A0-9D40-46CB-8E02-140D82BD5354}" sibTransId="{58F0CF0F-FDE1-4BAE-A4E7-533DE4345B34}"/>
    <dgm:cxn modelId="{9697B3C8-2B91-4694-B251-0A9C72959336}" srcId="{7B28C5B6-DA1C-4694-9B34-1C58B84DC7C6}" destId="{BB4EF302-F4DB-41C8-AC77-258E9622494D}" srcOrd="3" destOrd="0" parTransId="{DC63338D-5806-4925-846E-BE94780FDA68}" sibTransId="{1AAA8788-84FE-46FD-8BB2-F62129926522}"/>
    <dgm:cxn modelId="{115E77E4-C980-4835-BD2F-ED0D62BA153A}" srcId="{6F3AD4D5-9ECA-4E21-9E24-93541236E3CB}" destId="{D3ED1E5A-CCE0-42D5-B777-D0E319E2AD25}" srcOrd="1" destOrd="0" parTransId="{225EF4D3-3E2E-429D-AA9A-74E4EFDA8E98}" sibTransId="{6F587386-3B52-40AD-925E-D411BFBEB174}"/>
    <dgm:cxn modelId="{C5A3DCEF-D3C6-4743-8E01-FDF5F66EB7AD}" srcId="{6F3AD4D5-9ECA-4E21-9E24-93541236E3CB}" destId="{0EDB6DB8-9E76-4A1C-BDE1-03EB24C9978F}" srcOrd="0" destOrd="0" parTransId="{F54F890E-8C5A-40CA-B428-E9ED8947634A}" sibTransId="{3736FF5A-419B-4C6A-B003-F2B6C85FE760}"/>
    <dgm:cxn modelId="{924213F2-E244-4A8D-8F27-400DCCC7C21E}" type="presOf" srcId="{E9E3D47B-A1E8-44E7-BBD4-1EE9A9B9426F}" destId="{B9320D06-01AC-475E-AFAF-69312A09B207}" srcOrd="0" destOrd="0" presId="urn:microsoft.com/office/officeart/2005/8/layout/vList2"/>
    <dgm:cxn modelId="{542DBDF9-BC62-4A44-8D5D-D42B15365894}" srcId="{7B28C5B6-DA1C-4694-9B34-1C58B84DC7C6}" destId="{E9E3D47B-A1E8-44E7-BBD4-1EE9A9B9426F}" srcOrd="4" destOrd="0" parTransId="{4D6ADB4D-ADE2-438A-8737-D88FFDF9876E}" sibTransId="{C001CC93-2D2B-4CCC-ABF6-11779F375D3E}"/>
    <dgm:cxn modelId="{A3AB5920-702E-4C7D-9487-3DB7741CB34B}" type="presParOf" srcId="{68CFB1B6-069B-447D-A06B-BFD7E1A3CAB5}" destId="{5296A373-4672-477C-AE78-0C5F77493457}" srcOrd="0" destOrd="0" presId="urn:microsoft.com/office/officeart/2005/8/layout/vList2"/>
    <dgm:cxn modelId="{F8E6D502-5A81-4875-A44D-C4A9E5F53D53}" type="presParOf" srcId="{68CFB1B6-069B-447D-A06B-BFD7E1A3CAB5}" destId="{F7F797EB-1721-4ABC-B245-51E912DE928C}" srcOrd="1" destOrd="0" presId="urn:microsoft.com/office/officeart/2005/8/layout/vList2"/>
    <dgm:cxn modelId="{312DA3F2-17FF-4447-AB6B-247FAC1E35FD}" type="presParOf" srcId="{68CFB1B6-069B-447D-A06B-BFD7E1A3CAB5}" destId="{5BB3895B-3F80-4B85-A758-11F518B581A1}" srcOrd="2" destOrd="0" presId="urn:microsoft.com/office/officeart/2005/8/layout/vList2"/>
    <dgm:cxn modelId="{B70E1F07-6725-4F8A-AF42-F8997A674EB1}" type="presParOf" srcId="{68CFB1B6-069B-447D-A06B-BFD7E1A3CAB5}" destId="{C7D7B7F5-97DF-4C40-AF94-99EE468794C8}" srcOrd="3" destOrd="0" presId="urn:microsoft.com/office/officeart/2005/8/layout/vList2"/>
    <dgm:cxn modelId="{EA287948-74B0-4FA0-BCBE-9F1458473EDF}" type="presParOf" srcId="{68CFB1B6-069B-447D-A06B-BFD7E1A3CAB5}" destId="{AF3FBF83-EDFC-4CD9-90F2-D132B72D9FF1}" srcOrd="4" destOrd="0" presId="urn:microsoft.com/office/officeart/2005/8/layout/vList2"/>
    <dgm:cxn modelId="{FB884371-23A1-4036-BB83-F85E40F96FCC}" type="presParOf" srcId="{68CFB1B6-069B-447D-A06B-BFD7E1A3CAB5}" destId="{0B8245B5-E777-409D-AB14-24CE4F306DA3}" srcOrd="5" destOrd="0" presId="urn:microsoft.com/office/officeart/2005/8/layout/vList2"/>
    <dgm:cxn modelId="{85803AC8-D764-4343-9D98-B7F62FB3ED31}" type="presParOf" srcId="{68CFB1B6-069B-447D-A06B-BFD7E1A3CAB5}" destId="{9B008BDA-CBE9-4B88-84E6-1A47AA6619B4}" srcOrd="6" destOrd="0" presId="urn:microsoft.com/office/officeart/2005/8/layout/vList2"/>
    <dgm:cxn modelId="{BDE34193-9B82-42CD-A104-28C338E847F6}" type="presParOf" srcId="{68CFB1B6-069B-447D-A06B-BFD7E1A3CAB5}" destId="{A74EBFCF-C2C7-4A71-9089-BA82FC10C470}" srcOrd="7" destOrd="0" presId="urn:microsoft.com/office/officeart/2005/8/layout/vList2"/>
    <dgm:cxn modelId="{31BE4CB8-36C7-435B-9225-619684081656}" type="presParOf" srcId="{68CFB1B6-069B-447D-A06B-BFD7E1A3CAB5}" destId="{B9320D06-01AC-475E-AFAF-69312A09B20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E4F7D1-16AD-42EF-8161-39AE365830D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6C5856D-F74C-4DD3-88AD-70F1F9558313}">
      <dgm:prSet/>
      <dgm:spPr/>
      <dgm:t>
        <a:bodyPr/>
        <a:lstStyle/>
        <a:p>
          <a:r>
            <a:rPr lang="es-ES"/>
            <a:t>Objetivo: Facilitar la interpretación de los Estados Financieros</a:t>
          </a:r>
          <a:endParaRPr lang="en-US"/>
        </a:p>
      </dgm:t>
    </dgm:pt>
    <dgm:pt modelId="{6EAFAB52-FF40-475C-A8CE-F3DC47F319A8}" type="parTrans" cxnId="{5702CB47-9317-47F9-BF5C-5ED2130CDB2C}">
      <dgm:prSet/>
      <dgm:spPr/>
      <dgm:t>
        <a:bodyPr/>
        <a:lstStyle/>
        <a:p>
          <a:endParaRPr lang="en-US"/>
        </a:p>
      </dgm:t>
    </dgm:pt>
    <dgm:pt modelId="{EA2A2E05-6799-4FC6-B781-A7EC89CAB4F6}" type="sibTrans" cxnId="{5702CB47-9317-47F9-BF5C-5ED2130CDB2C}">
      <dgm:prSet/>
      <dgm:spPr/>
      <dgm:t>
        <a:bodyPr/>
        <a:lstStyle/>
        <a:p>
          <a:endParaRPr lang="en-US"/>
        </a:p>
      </dgm:t>
    </dgm:pt>
    <dgm:pt modelId="{3608C36E-A8D0-49FA-AFF1-8825451D2303}">
      <dgm:prSet/>
      <dgm:spPr/>
      <dgm:t>
        <a:bodyPr/>
        <a:lstStyle/>
        <a:p>
          <a:r>
            <a:rPr lang="es-ES"/>
            <a:t>Formación de ratios: </a:t>
          </a:r>
          <a:endParaRPr lang="en-US"/>
        </a:p>
      </dgm:t>
    </dgm:pt>
    <dgm:pt modelId="{291322C8-F9DF-40CE-A563-3428064E2AF9}" type="parTrans" cxnId="{9530F489-4833-40D7-858E-45BDBD0C5314}">
      <dgm:prSet/>
      <dgm:spPr/>
      <dgm:t>
        <a:bodyPr/>
        <a:lstStyle/>
        <a:p>
          <a:endParaRPr lang="en-US"/>
        </a:p>
      </dgm:t>
    </dgm:pt>
    <dgm:pt modelId="{2F2B0E35-7068-4165-A235-9D891A2C80D9}" type="sibTrans" cxnId="{9530F489-4833-40D7-858E-45BDBD0C5314}">
      <dgm:prSet/>
      <dgm:spPr/>
      <dgm:t>
        <a:bodyPr/>
        <a:lstStyle/>
        <a:p>
          <a:endParaRPr lang="en-US"/>
        </a:p>
      </dgm:t>
    </dgm:pt>
    <dgm:pt modelId="{AF17F487-1B84-4B7D-8C3D-537A9D37A3C0}">
      <dgm:prSet/>
      <dgm:spPr/>
      <dgm:t>
        <a:bodyPr/>
        <a:lstStyle/>
        <a:p>
          <a:r>
            <a:rPr lang="es-ES"/>
            <a:t>Conectar componentes adecuados</a:t>
          </a:r>
          <a:endParaRPr lang="en-US"/>
        </a:p>
      </dgm:t>
    </dgm:pt>
    <dgm:pt modelId="{0694BFD5-3E07-4EC1-923A-A531B02CC713}" type="parTrans" cxnId="{91D93EF7-0C82-42B6-8C09-3B5E19007BE3}">
      <dgm:prSet/>
      <dgm:spPr/>
      <dgm:t>
        <a:bodyPr/>
        <a:lstStyle/>
        <a:p>
          <a:endParaRPr lang="en-US"/>
        </a:p>
      </dgm:t>
    </dgm:pt>
    <dgm:pt modelId="{02851136-5D60-4064-BA56-CFD89DDD0AF4}" type="sibTrans" cxnId="{91D93EF7-0C82-42B6-8C09-3B5E19007BE3}">
      <dgm:prSet/>
      <dgm:spPr/>
      <dgm:t>
        <a:bodyPr/>
        <a:lstStyle/>
        <a:p>
          <a:endParaRPr lang="en-US"/>
        </a:p>
      </dgm:t>
    </dgm:pt>
    <dgm:pt modelId="{25B18215-6195-4CC1-A590-A4ED30244748}">
      <dgm:prSet/>
      <dgm:spPr/>
      <dgm:t>
        <a:bodyPr/>
        <a:lstStyle/>
        <a:p>
          <a:r>
            <a:rPr lang="es-ES"/>
            <a:t>Basados en elementos comunes</a:t>
          </a:r>
          <a:endParaRPr lang="en-US"/>
        </a:p>
      </dgm:t>
    </dgm:pt>
    <dgm:pt modelId="{A67E4720-9065-495D-BE93-27CBBA376171}" type="parTrans" cxnId="{76574FAF-0449-4A27-B15B-700DAC37F2AC}">
      <dgm:prSet/>
      <dgm:spPr/>
      <dgm:t>
        <a:bodyPr/>
        <a:lstStyle/>
        <a:p>
          <a:endParaRPr lang="en-US"/>
        </a:p>
      </dgm:t>
    </dgm:pt>
    <dgm:pt modelId="{1F24C8A1-B6CE-41EB-A998-653F053324EB}" type="sibTrans" cxnId="{76574FAF-0449-4A27-B15B-700DAC37F2AC}">
      <dgm:prSet/>
      <dgm:spPr/>
      <dgm:t>
        <a:bodyPr/>
        <a:lstStyle/>
        <a:p>
          <a:endParaRPr lang="en-US"/>
        </a:p>
      </dgm:t>
    </dgm:pt>
    <dgm:pt modelId="{DA6649D6-F81F-4799-B7A1-5D1551690964}">
      <dgm:prSet/>
      <dgm:spPr/>
      <dgm:t>
        <a:bodyPr/>
        <a:lstStyle/>
        <a:p>
          <a:r>
            <a:rPr lang="es-ES"/>
            <a:t>Formados por conceptos relacionados</a:t>
          </a:r>
          <a:endParaRPr lang="en-US"/>
        </a:p>
      </dgm:t>
    </dgm:pt>
    <dgm:pt modelId="{03D40AE2-8AA1-4E95-8EF3-D0BF482C6388}" type="parTrans" cxnId="{11C3A7F1-1F7B-4823-B85B-F36370D8B3D7}">
      <dgm:prSet/>
      <dgm:spPr/>
      <dgm:t>
        <a:bodyPr/>
        <a:lstStyle/>
        <a:p>
          <a:endParaRPr lang="en-US"/>
        </a:p>
      </dgm:t>
    </dgm:pt>
    <dgm:pt modelId="{E8BFFD49-F41D-439B-911D-CA5B0F9722F9}" type="sibTrans" cxnId="{11C3A7F1-1F7B-4823-B85B-F36370D8B3D7}">
      <dgm:prSet/>
      <dgm:spPr/>
      <dgm:t>
        <a:bodyPr/>
        <a:lstStyle/>
        <a:p>
          <a:endParaRPr lang="en-US"/>
        </a:p>
      </dgm:t>
    </dgm:pt>
    <dgm:pt modelId="{4742D452-F06E-46C5-BB2B-C2859F26AB72}">
      <dgm:prSet/>
      <dgm:spPr/>
      <dgm:t>
        <a:bodyPr/>
        <a:lstStyle/>
        <a:p>
          <a:r>
            <a:rPr lang="es-ES"/>
            <a:t>Interpretación de los ratios:</a:t>
          </a:r>
          <a:endParaRPr lang="en-US"/>
        </a:p>
      </dgm:t>
    </dgm:pt>
    <dgm:pt modelId="{4DD2D3E5-EAAD-4D46-903F-34C5C01DCC3A}" type="parTrans" cxnId="{9C97BF03-DE47-4FA1-8E14-B1C8B0750C28}">
      <dgm:prSet/>
      <dgm:spPr/>
      <dgm:t>
        <a:bodyPr/>
        <a:lstStyle/>
        <a:p>
          <a:endParaRPr lang="en-US"/>
        </a:p>
      </dgm:t>
    </dgm:pt>
    <dgm:pt modelId="{DE9FABFB-D320-42EE-A173-1D099F9AC667}" type="sibTrans" cxnId="{9C97BF03-DE47-4FA1-8E14-B1C8B0750C28}">
      <dgm:prSet/>
      <dgm:spPr/>
      <dgm:t>
        <a:bodyPr/>
        <a:lstStyle/>
        <a:p>
          <a:endParaRPr lang="en-US"/>
        </a:p>
      </dgm:t>
    </dgm:pt>
    <dgm:pt modelId="{E8482382-8E3B-4258-AC29-530E613F507C}">
      <dgm:prSet/>
      <dgm:spPr/>
      <dgm:t>
        <a:bodyPr/>
        <a:lstStyle/>
        <a:p>
          <a:r>
            <a:rPr lang="es-ES"/>
            <a:t>Prudencia</a:t>
          </a:r>
          <a:endParaRPr lang="en-US"/>
        </a:p>
      </dgm:t>
    </dgm:pt>
    <dgm:pt modelId="{3B14491D-33A3-447C-91A9-48EF08403F9B}" type="parTrans" cxnId="{24428F5C-6D73-4E73-8C15-CE719226BCD4}">
      <dgm:prSet/>
      <dgm:spPr/>
      <dgm:t>
        <a:bodyPr/>
        <a:lstStyle/>
        <a:p>
          <a:endParaRPr lang="en-US"/>
        </a:p>
      </dgm:t>
    </dgm:pt>
    <dgm:pt modelId="{7C5AF06F-85E5-4568-ADA1-65E37299B896}" type="sibTrans" cxnId="{24428F5C-6D73-4E73-8C15-CE719226BCD4}">
      <dgm:prSet/>
      <dgm:spPr/>
      <dgm:t>
        <a:bodyPr/>
        <a:lstStyle/>
        <a:p>
          <a:endParaRPr lang="en-US"/>
        </a:p>
      </dgm:t>
    </dgm:pt>
    <dgm:pt modelId="{7F9B77BB-E52C-4FFE-A44D-FAB89CF75AF1}">
      <dgm:prSet/>
      <dgm:spPr/>
      <dgm:t>
        <a:bodyPr/>
        <a:lstStyle/>
        <a:p>
          <a:r>
            <a:rPr lang="es-ES"/>
            <a:t>Observar las limitaciones</a:t>
          </a:r>
          <a:endParaRPr lang="en-US"/>
        </a:p>
      </dgm:t>
    </dgm:pt>
    <dgm:pt modelId="{B03C8981-2CE3-4E52-939A-D3D08648894A}" type="parTrans" cxnId="{496519D2-EAA0-4A5A-93F6-FE00288D5DD6}">
      <dgm:prSet/>
      <dgm:spPr/>
      <dgm:t>
        <a:bodyPr/>
        <a:lstStyle/>
        <a:p>
          <a:endParaRPr lang="en-US"/>
        </a:p>
      </dgm:t>
    </dgm:pt>
    <dgm:pt modelId="{7696423D-AC70-4791-9E39-139E8119CA3C}" type="sibTrans" cxnId="{496519D2-EAA0-4A5A-93F6-FE00288D5DD6}">
      <dgm:prSet/>
      <dgm:spPr/>
      <dgm:t>
        <a:bodyPr/>
        <a:lstStyle/>
        <a:p>
          <a:endParaRPr lang="en-US"/>
        </a:p>
      </dgm:t>
    </dgm:pt>
    <dgm:pt modelId="{E1B95164-9D4C-4F56-909F-97155A2FC191}" type="pres">
      <dgm:prSet presAssocID="{01E4F7D1-16AD-42EF-8161-39AE365830D0}" presName="linear" presStyleCnt="0">
        <dgm:presLayoutVars>
          <dgm:animLvl val="lvl"/>
          <dgm:resizeHandles val="exact"/>
        </dgm:presLayoutVars>
      </dgm:prSet>
      <dgm:spPr/>
    </dgm:pt>
    <dgm:pt modelId="{0FBB99BD-0436-4259-A43D-056FD324C464}" type="pres">
      <dgm:prSet presAssocID="{36C5856D-F74C-4DD3-88AD-70F1F95583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BA3B59-C219-4CE3-BCFC-38A8F530B205}" type="pres">
      <dgm:prSet presAssocID="{EA2A2E05-6799-4FC6-B781-A7EC89CAB4F6}" presName="spacer" presStyleCnt="0"/>
      <dgm:spPr/>
    </dgm:pt>
    <dgm:pt modelId="{EF53FEC3-2C03-4993-99B8-0E2D8C30E538}" type="pres">
      <dgm:prSet presAssocID="{3608C36E-A8D0-49FA-AFF1-8825451D230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833572-A6AF-4F9F-9AD2-98ECCACEE41A}" type="pres">
      <dgm:prSet presAssocID="{3608C36E-A8D0-49FA-AFF1-8825451D2303}" presName="childText" presStyleLbl="revTx" presStyleIdx="0" presStyleCnt="2">
        <dgm:presLayoutVars>
          <dgm:bulletEnabled val="1"/>
        </dgm:presLayoutVars>
      </dgm:prSet>
      <dgm:spPr/>
    </dgm:pt>
    <dgm:pt modelId="{9179D4D0-9F2F-4571-9A78-9AF1A5400B5B}" type="pres">
      <dgm:prSet presAssocID="{4742D452-F06E-46C5-BB2B-C2859F26AB7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61DA5A3-0C22-4BB2-A66D-7704B3614322}" type="pres">
      <dgm:prSet presAssocID="{4742D452-F06E-46C5-BB2B-C2859F26AB7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C97BF03-DE47-4FA1-8E14-B1C8B0750C28}" srcId="{01E4F7D1-16AD-42EF-8161-39AE365830D0}" destId="{4742D452-F06E-46C5-BB2B-C2859F26AB72}" srcOrd="2" destOrd="0" parTransId="{4DD2D3E5-EAAD-4D46-903F-34C5C01DCC3A}" sibTransId="{DE9FABFB-D320-42EE-A173-1D099F9AC667}"/>
    <dgm:cxn modelId="{E01DFA07-7CD3-46BE-93D5-19D67FEC03C8}" type="presOf" srcId="{4742D452-F06E-46C5-BB2B-C2859F26AB72}" destId="{9179D4D0-9F2F-4571-9A78-9AF1A5400B5B}" srcOrd="0" destOrd="0" presId="urn:microsoft.com/office/officeart/2005/8/layout/vList2"/>
    <dgm:cxn modelId="{0D050A23-F9AE-40B3-B1E8-778FDC94FB6A}" type="presOf" srcId="{36C5856D-F74C-4DD3-88AD-70F1F9558313}" destId="{0FBB99BD-0436-4259-A43D-056FD324C464}" srcOrd="0" destOrd="0" presId="urn:microsoft.com/office/officeart/2005/8/layout/vList2"/>
    <dgm:cxn modelId="{3FD32426-EEE6-4B96-BDED-B8270A29EEB5}" type="presOf" srcId="{3608C36E-A8D0-49FA-AFF1-8825451D2303}" destId="{EF53FEC3-2C03-4993-99B8-0E2D8C30E538}" srcOrd="0" destOrd="0" presId="urn:microsoft.com/office/officeart/2005/8/layout/vList2"/>
    <dgm:cxn modelId="{B7371E36-D589-4D0C-9CC3-86CFC9C7CEA3}" type="presOf" srcId="{25B18215-6195-4CC1-A590-A4ED30244748}" destId="{56833572-A6AF-4F9F-9AD2-98ECCACEE41A}" srcOrd="0" destOrd="1" presId="urn:microsoft.com/office/officeart/2005/8/layout/vList2"/>
    <dgm:cxn modelId="{24428F5C-6D73-4E73-8C15-CE719226BCD4}" srcId="{4742D452-F06E-46C5-BB2B-C2859F26AB72}" destId="{E8482382-8E3B-4258-AC29-530E613F507C}" srcOrd="0" destOrd="0" parTransId="{3B14491D-33A3-447C-91A9-48EF08403F9B}" sibTransId="{7C5AF06F-85E5-4568-ADA1-65E37299B896}"/>
    <dgm:cxn modelId="{3CCE1F41-26E5-4FEE-9769-28C7B88CB697}" type="presOf" srcId="{AF17F487-1B84-4B7D-8C3D-537A9D37A3C0}" destId="{56833572-A6AF-4F9F-9AD2-98ECCACEE41A}" srcOrd="0" destOrd="0" presId="urn:microsoft.com/office/officeart/2005/8/layout/vList2"/>
    <dgm:cxn modelId="{E6B8E862-7BDA-4B8D-A7D4-8E4A80839C40}" type="presOf" srcId="{DA6649D6-F81F-4799-B7A1-5D1551690964}" destId="{56833572-A6AF-4F9F-9AD2-98ECCACEE41A}" srcOrd="0" destOrd="2" presId="urn:microsoft.com/office/officeart/2005/8/layout/vList2"/>
    <dgm:cxn modelId="{5702CB47-9317-47F9-BF5C-5ED2130CDB2C}" srcId="{01E4F7D1-16AD-42EF-8161-39AE365830D0}" destId="{36C5856D-F74C-4DD3-88AD-70F1F9558313}" srcOrd="0" destOrd="0" parTransId="{6EAFAB52-FF40-475C-A8CE-F3DC47F319A8}" sibTransId="{EA2A2E05-6799-4FC6-B781-A7EC89CAB4F6}"/>
    <dgm:cxn modelId="{9530F489-4833-40D7-858E-45BDBD0C5314}" srcId="{01E4F7D1-16AD-42EF-8161-39AE365830D0}" destId="{3608C36E-A8D0-49FA-AFF1-8825451D2303}" srcOrd="1" destOrd="0" parTransId="{291322C8-F9DF-40CE-A563-3428064E2AF9}" sibTransId="{2F2B0E35-7068-4165-A235-9D891A2C80D9}"/>
    <dgm:cxn modelId="{76574FAF-0449-4A27-B15B-700DAC37F2AC}" srcId="{3608C36E-A8D0-49FA-AFF1-8825451D2303}" destId="{25B18215-6195-4CC1-A590-A4ED30244748}" srcOrd="1" destOrd="0" parTransId="{A67E4720-9065-495D-BE93-27CBBA376171}" sibTransId="{1F24C8A1-B6CE-41EB-A998-653F053324EB}"/>
    <dgm:cxn modelId="{8FF03DB9-07D0-4CB7-8F80-B65743E1AAB8}" type="presOf" srcId="{E8482382-8E3B-4258-AC29-530E613F507C}" destId="{561DA5A3-0C22-4BB2-A66D-7704B3614322}" srcOrd="0" destOrd="0" presId="urn:microsoft.com/office/officeart/2005/8/layout/vList2"/>
    <dgm:cxn modelId="{496519D2-EAA0-4A5A-93F6-FE00288D5DD6}" srcId="{4742D452-F06E-46C5-BB2B-C2859F26AB72}" destId="{7F9B77BB-E52C-4FFE-A44D-FAB89CF75AF1}" srcOrd="1" destOrd="0" parTransId="{B03C8981-2CE3-4E52-939A-D3D08648894A}" sibTransId="{7696423D-AC70-4791-9E39-139E8119CA3C}"/>
    <dgm:cxn modelId="{8DF6EBEA-2337-4E13-93DA-85677DFF2831}" type="presOf" srcId="{01E4F7D1-16AD-42EF-8161-39AE365830D0}" destId="{E1B95164-9D4C-4F56-909F-97155A2FC191}" srcOrd="0" destOrd="0" presId="urn:microsoft.com/office/officeart/2005/8/layout/vList2"/>
    <dgm:cxn modelId="{9AF28BF1-30F1-4741-9790-4F351F84B318}" type="presOf" srcId="{7F9B77BB-E52C-4FFE-A44D-FAB89CF75AF1}" destId="{561DA5A3-0C22-4BB2-A66D-7704B3614322}" srcOrd="0" destOrd="1" presId="urn:microsoft.com/office/officeart/2005/8/layout/vList2"/>
    <dgm:cxn modelId="{11C3A7F1-1F7B-4823-B85B-F36370D8B3D7}" srcId="{3608C36E-A8D0-49FA-AFF1-8825451D2303}" destId="{DA6649D6-F81F-4799-B7A1-5D1551690964}" srcOrd="2" destOrd="0" parTransId="{03D40AE2-8AA1-4E95-8EF3-D0BF482C6388}" sibTransId="{E8BFFD49-F41D-439B-911D-CA5B0F9722F9}"/>
    <dgm:cxn modelId="{91D93EF7-0C82-42B6-8C09-3B5E19007BE3}" srcId="{3608C36E-A8D0-49FA-AFF1-8825451D2303}" destId="{AF17F487-1B84-4B7D-8C3D-537A9D37A3C0}" srcOrd="0" destOrd="0" parTransId="{0694BFD5-3E07-4EC1-923A-A531B02CC713}" sibTransId="{02851136-5D60-4064-BA56-CFD89DDD0AF4}"/>
    <dgm:cxn modelId="{779949B6-8D36-41A7-9C54-86231CB74D6B}" type="presParOf" srcId="{E1B95164-9D4C-4F56-909F-97155A2FC191}" destId="{0FBB99BD-0436-4259-A43D-056FD324C464}" srcOrd="0" destOrd="0" presId="urn:microsoft.com/office/officeart/2005/8/layout/vList2"/>
    <dgm:cxn modelId="{8F3ED99E-5DC9-4E31-B943-507FAD076D40}" type="presParOf" srcId="{E1B95164-9D4C-4F56-909F-97155A2FC191}" destId="{5EBA3B59-C219-4CE3-BCFC-38A8F530B205}" srcOrd="1" destOrd="0" presId="urn:microsoft.com/office/officeart/2005/8/layout/vList2"/>
    <dgm:cxn modelId="{E79A5CA6-F725-4EA9-8CA8-C2BC087FF23E}" type="presParOf" srcId="{E1B95164-9D4C-4F56-909F-97155A2FC191}" destId="{EF53FEC3-2C03-4993-99B8-0E2D8C30E538}" srcOrd="2" destOrd="0" presId="urn:microsoft.com/office/officeart/2005/8/layout/vList2"/>
    <dgm:cxn modelId="{04209207-1308-48C2-8687-3D5F034E32D1}" type="presParOf" srcId="{E1B95164-9D4C-4F56-909F-97155A2FC191}" destId="{56833572-A6AF-4F9F-9AD2-98ECCACEE41A}" srcOrd="3" destOrd="0" presId="urn:microsoft.com/office/officeart/2005/8/layout/vList2"/>
    <dgm:cxn modelId="{42446543-566E-444B-B864-753488F8F3DB}" type="presParOf" srcId="{E1B95164-9D4C-4F56-909F-97155A2FC191}" destId="{9179D4D0-9F2F-4571-9A78-9AF1A5400B5B}" srcOrd="4" destOrd="0" presId="urn:microsoft.com/office/officeart/2005/8/layout/vList2"/>
    <dgm:cxn modelId="{826FC0A5-8787-42CD-BEB1-B92A41418A23}" type="presParOf" srcId="{E1B95164-9D4C-4F56-909F-97155A2FC191}" destId="{561DA5A3-0C22-4BB2-A66D-7704B361432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C61B73-4646-4A6E-8496-251DEDD48B7C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99DAE7-E15F-480C-A493-C04C740EA0AD}">
      <dgm:prSet/>
      <dgm:spPr/>
      <dgm:t>
        <a:bodyPr/>
        <a:lstStyle/>
        <a:p>
          <a:r>
            <a:rPr lang="es-ES"/>
            <a:t>Definiciones</a:t>
          </a:r>
          <a:endParaRPr lang="en-US"/>
        </a:p>
      </dgm:t>
    </dgm:pt>
    <dgm:pt modelId="{C79079AD-1344-4F82-A465-BF37CA33AFAA}" type="parTrans" cxnId="{EB664C36-896A-4987-9B77-DFE026BDEEFF}">
      <dgm:prSet/>
      <dgm:spPr/>
      <dgm:t>
        <a:bodyPr/>
        <a:lstStyle/>
        <a:p>
          <a:endParaRPr lang="en-US"/>
        </a:p>
      </dgm:t>
    </dgm:pt>
    <dgm:pt modelId="{6BF73789-FCE0-4FB8-83C5-CCFD8070C0A2}" type="sibTrans" cxnId="{EB664C36-896A-4987-9B77-DFE026BDEEFF}">
      <dgm:prSet/>
      <dgm:spPr/>
      <dgm:t>
        <a:bodyPr/>
        <a:lstStyle/>
        <a:p>
          <a:endParaRPr lang="en-US"/>
        </a:p>
      </dgm:t>
    </dgm:pt>
    <dgm:pt modelId="{12A5418F-54B7-465C-A1B9-9EC3676F6405}">
      <dgm:prSet/>
      <dgm:spPr/>
      <dgm:t>
        <a:bodyPr/>
        <a:lstStyle/>
        <a:p>
          <a:r>
            <a:rPr lang="es-ES"/>
            <a:t>Comparación de situaciones</a:t>
          </a:r>
          <a:endParaRPr lang="en-US"/>
        </a:p>
      </dgm:t>
    </dgm:pt>
    <dgm:pt modelId="{B3357BF8-BBC2-4DC2-95E8-1234226061E3}" type="parTrans" cxnId="{DE36A525-A8D9-4551-AD83-707CDB8851BB}">
      <dgm:prSet/>
      <dgm:spPr/>
      <dgm:t>
        <a:bodyPr/>
        <a:lstStyle/>
        <a:p>
          <a:endParaRPr lang="en-US"/>
        </a:p>
      </dgm:t>
    </dgm:pt>
    <dgm:pt modelId="{CA83822C-C88C-4054-8CE1-8854CDA4CB6E}" type="sibTrans" cxnId="{DE36A525-A8D9-4551-AD83-707CDB8851BB}">
      <dgm:prSet/>
      <dgm:spPr/>
      <dgm:t>
        <a:bodyPr/>
        <a:lstStyle/>
        <a:p>
          <a:endParaRPr lang="en-US"/>
        </a:p>
      </dgm:t>
    </dgm:pt>
    <dgm:pt modelId="{A8A16289-189F-445A-9AE4-C43B68D71593}">
      <dgm:prSet/>
      <dgm:spPr/>
      <dgm:t>
        <a:bodyPr/>
        <a:lstStyle/>
        <a:p>
          <a:r>
            <a:rPr lang="es-ES"/>
            <a:t>Análisis estático</a:t>
          </a:r>
          <a:endParaRPr lang="en-US"/>
        </a:p>
      </dgm:t>
    </dgm:pt>
    <dgm:pt modelId="{872E4C8E-1F85-4404-BF22-52E7A31900B5}" type="parTrans" cxnId="{C5E1E030-2B0B-4E8E-9881-1AF96E888EB2}">
      <dgm:prSet/>
      <dgm:spPr/>
      <dgm:t>
        <a:bodyPr/>
        <a:lstStyle/>
        <a:p>
          <a:endParaRPr lang="en-US"/>
        </a:p>
      </dgm:t>
    </dgm:pt>
    <dgm:pt modelId="{A2778187-270C-431E-9272-E30DC0F97624}" type="sibTrans" cxnId="{C5E1E030-2B0B-4E8E-9881-1AF96E888EB2}">
      <dgm:prSet/>
      <dgm:spPr/>
      <dgm:t>
        <a:bodyPr/>
        <a:lstStyle/>
        <a:p>
          <a:endParaRPr lang="en-US"/>
        </a:p>
      </dgm:t>
    </dgm:pt>
    <dgm:pt modelId="{4767ECFF-D564-4EAC-BFE1-FB32CA3A84BF}">
      <dgm:prSet/>
      <dgm:spPr/>
      <dgm:t>
        <a:bodyPr/>
        <a:lstStyle/>
        <a:p>
          <a:r>
            <a:rPr lang="es-ES"/>
            <a:t>Análisis de corto plazo</a:t>
          </a:r>
          <a:endParaRPr lang="en-US"/>
        </a:p>
      </dgm:t>
    </dgm:pt>
    <dgm:pt modelId="{71E9E595-3E55-435C-9CA9-7BF0179B0815}" type="parTrans" cxnId="{008DB9D8-D4EE-44B8-89A5-3A057FCF15B6}">
      <dgm:prSet/>
      <dgm:spPr/>
      <dgm:t>
        <a:bodyPr/>
        <a:lstStyle/>
        <a:p>
          <a:endParaRPr lang="en-US"/>
        </a:p>
      </dgm:t>
    </dgm:pt>
    <dgm:pt modelId="{411D9720-BDFF-426C-B0A7-8084D2225C08}" type="sibTrans" cxnId="{008DB9D8-D4EE-44B8-89A5-3A057FCF15B6}">
      <dgm:prSet/>
      <dgm:spPr/>
      <dgm:t>
        <a:bodyPr/>
        <a:lstStyle/>
        <a:p>
          <a:endParaRPr lang="en-US"/>
        </a:p>
      </dgm:t>
    </dgm:pt>
    <dgm:pt modelId="{BD5DC205-DC54-47D2-83F2-9C8D004A169C}">
      <dgm:prSet/>
      <dgm:spPr/>
      <dgm:t>
        <a:bodyPr/>
        <a:lstStyle/>
        <a:p>
          <a:r>
            <a:rPr lang="es-ES"/>
            <a:t>Utilizados incorrectamente como indicadores de buena o mala performance</a:t>
          </a:r>
          <a:endParaRPr lang="en-US"/>
        </a:p>
      </dgm:t>
    </dgm:pt>
    <dgm:pt modelId="{14817929-CC5D-477B-AF98-E25090434430}" type="parTrans" cxnId="{856E52B4-95F6-4D4A-82C0-55F3AA1BFC3F}">
      <dgm:prSet/>
      <dgm:spPr/>
      <dgm:t>
        <a:bodyPr/>
        <a:lstStyle/>
        <a:p>
          <a:endParaRPr lang="en-US"/>
        </a:p>
      </dgm:t>
    </dgm:pt>
    <dgm:pt modelId="{42F7C5FD-CA42-4CD8-9780-0366D39398B7}" type="sibTrans" cxnId="{856E52B4-95F6-4D4A-82C0-55F3AA1BFC3F}">
      <dgm:prSet/>
      <dgm:spPr/>
      <dgm:t>
        <a:bodyPr/>
        <a:lstStyle/>
        <a:p>
          <a:endParaRPr lang="en-US"/>
        </a:p>
      </dgm:t>
    </dgm:pt>
    <dgm:pt modelId="{1415DE88-0C88-4CD1-BD1F-6BD170079088}">
      <dgm:prSet/>
      <dgm:spPr/>
      <dgm:t>
        <a:bodyPr/>
        <a:lstStyle/>
        <a:p>
          <a:r>
            <a:rPr lang="es-ES"/>
            <a:t>Porcentajes</a:t>
          </a:r>
          <a:endParaRPr lang="en-US"/>
        </a:p>
      </dgm:t>
    </dgm:pt>
    <dgm:pt modelId="{06A88D3D-78C8-4146-96DC-B49400EB745E}" type="parTrans" cxnId="{5F41F1E5-7776-4FF6-94E3-97471DE53F37}">
      <dgm:prSet/>
      <dgm:spPr/>
      <dgm:t>
        <a:bodyPr/>
        <a:lstStyle/>
        <a:p>
          <a:endParaRPr lang="en-US"/>
        </a:p>
      </dgm:t>
    </dgm:pt>
    <dgm:pt modelId="{48DB538E-4E0A-439C-95A0-183E84BDE2BB}" type="sibTrans" cxnId="{5F41F1E5-7776-4FF6-94E3-97471DE53F37}">
      <dgm:prSet/>
      <dgm:spPr/>
      <dgm:t>
        <a:bodyPr/>
        <a:lstStyle/>
        <a:p>
          <a:endParaRPr lang="en-US"/>
        </a:p>
      </dgm:t>
    </dgm:pt>
    <dgm:pt modelId="{B2565730-05B4-4FE3-AC29-A8BD4212B6B8}">
      <dgm:prSet/>
      <dgm:spPr/>
      <dgm:t>
        <a:bodyPr/>
        <a:lstStyle/>
        <a:p>
          <a:r>
            <a:rPr lang="es-ES"/>
            <a:t>Análisis univariante</a:t>
          </a:r>
          <a:endParaRPr lang="en-US"/>
        </a:p>
      </dgm:t>
    </dgm:pt>
    <dgm:pt modelId="{BB5B061A-F222-4150-B590-97696D897EE0}" type="parTrans" cxnId="{86EC0361-7595-4349-B367-65D8B66C525B}">
      <dgm:prSet/>
      <dgm:spPr/>
      <dgm:t>
        <a:bodyPr/>
        <a:lstStyle/>
        <a:p>
          <a:endParaRPr lang="en-US"/>
        </a:p>
      </dgm:t>
    </dgm:pt>
    <dgm:pt modelId="{3C1D7BED-4093-4EC9-AFD0-9BB98A16C03D}" type="sibTrans" cxnId="{86EC0361-7595-4349-B367-65D8B66C525B}">
      <dgm:prSet/>
      <dgm:spPr/>
      <dgm:t>
        <a:bodyPr/>
        <a:lstStyle/>
        <a:p>
          <a:endParaRPr lang="en-US"/>
        </a:p>
      </dgm:t>
    </dgm:pt>
    <dgm:pt modelId="{A091571F-1962-431E-80D7-84E74EB98730}">
      <dgm:prSet/>
      <dgm:spPr/>
      <dgm:t>
        <a:bodyPr/>
        <a:lstStyle/>
        <a:p>
          <a:r>
            <a:rPr lang="es-ES"/>
            <a:t>Problemas Contables</a:t>
          </a:r>
          <a:endParaRPr lang="en-US"/>
        </a:p>
      </dgm:t>
    </dgm:pt>
    <dgm:pt modelId="{45F3611C-9F64-4102-B8E4-76E42D6EC170}" type="parTrans" cxnId="{0E0BDAD3-D4D2-497B-9D00-D89597D141C5}">
      <dgm:prSet/>
      <dgm:spPr/>
      <dgm:t>
        <a:bodyPr/>
        <a:lstStyle/>
        <a:p>
          <a:endParaRPr lang="en-US"/>
        </a:p>
      </dgm:t>
    </dgm:pt>
    <dgm:pt modelId="{2B566A02-AF2F-43FE-9919-F45BDC1181D1}" type="sibTrans" cxnId="{0E0BDAD3-D4D2-497B-9D00-D89597D141C5}">
      <dgm:prSet/>
      <dgm:spPr/>
      <dgm:t>
        <a:bodyPr/>
        <a:lstStyle/>
        <a:p>
          <a:endParaRPr lang="en-US"/>
        </a:p>
      </dgm:t>
    </dgm:pt>
    <dgm:pt modelId="{88831AA2-993C-4332-93E7-FB71D0AA9FC3}">
      <dgm:prSet/>
      <dgm:spPr/>
      <dgm:t>
        <a:bodyPr/>
        <a:lstStyle/>
        <a:p>
          <a:r>
            <a:rPr lang="es-ES"/>
            <a:t>Problemas Estadísticos</a:t>
          </a:r>
          <a:endParaRPr lang="en-US"/>
        </a:p>
      </dgm:t>
    </dgm:pt>
    <dgm:pt modelId="{87F4256C-D435-4F0B-AAD8-DA946915E9CF}" type="parTrans" cxnId="{3BF70F86-B403-40BD-A5E8-A8E85003F397}">
      <dgm:prSet/>
      <dgm:spPr/>
      <dgm:t>
        <a:bodyPr/>
        <a:lstStyle/>
        <a:p>
          <a:endParaRPr lang="en-US"/>
        </a:p>
      </dgm:t>
    </dgm:pt>
    <dgm:pt modelId="{C5714CD6-41AF-4495-85BD-ABD7B810640E}" type="sibTrans" cxnId="{3BF70F86-B403-40BD-A5E8-A8E85003F397}">
      <dgm:prSet/>
      <dgm:spPr/>
      <dgm:t>
        <a:bodyPr/>
        <a:lstStyle/>
        <a:p>
          <a:endParaRPr lang="en-US"/>
        </a:p>
      </dgm:t>
    </dgm:pt>
    <dgm:pt modelId="{EA369662-C31B-4D0A-9A15-29813B107191}">
      <dgm:prSet/>
      <dgm:spPr/>
      <dgm:t>
        <a:bodyPr/>
        <a:lstStyle/>
        <a:p>
          <a:r>
            <a:rPr lang="es-ES"/>
            <a:t>Estacionalidad e Inflación</a:t>
          </a:r>
          <a:endParaRPr lang="en-US"/>
        </a:p>
      </dgm:t>
    </dgm:pt>
    <dgm:pt modelId="{B552C0DF-F12A-4C1C-974E-F42A53E27A88}" type="parTrans" cxnId="{B51A8CD3-B413-4FC2-AA00-639B05753892}">
      <dgm:prSet/>
      <dgm:spPr/>
      <dgm:t>
        <a:bodyPr/>
        <a:lstStyle/>
        <a:p>
          <a:endParaRPr lang="en-US"/>
        </a:p>
      </dgm:t>
    </dgm:pt>
    <dgm:pt modelId="{10F45A8B-BC5D-4047-AA66-E8E46D46BD20}" type="sibTrans" cxnId="{B51A8CD3-B413-4FC2-AA00-639B05753892}">
      <dgm:prSet/>
      <dgm:spPr/>
      <dgm:t>
        <a:bodyPr/>
        <a:lstStyle/>
        <a:p>
          <a:endParaRPr lang="en-US"/>
        </a:p>
      </dgm:t>
    </dgm:pt>
    <dgm:pt modelId="{572E5186-895A-4D67-BFF4-159A0BF3A13D}" type="pres">
      <dgm:prSet presAssocID="{BEC61B73-4646-4A6E-8496-251DEDD48B7C}" presName="Name0" presStyleCnt="0">
        <dgm:presLayoutVars>
          <dgm:dir/>
          <dgm:resizeHandles val="exact"/>
        </dgm:presLayoutVars>
      </dgm:prSet>
      <dgm:spPr/>
    </dgm:pt>
    <dgm:pt modelId="{432CE9BD-2A11-4699-BF59-FC588ABCC983}" type="pres">
      <dgm:prSet presAssocID="{BEC61B73-4646-4A6E-8496-251DEDD48B7C}" presName="cycle" presStyleCnt="0"/>
      <dgm:spPr/>
    </dgm:pt>
    <dgm:pt modelId="{40FE7FED-A483-44EA-B4B9-43EF1187D387}" type="pres">
      <dgm:prSet presAssocID="{3899DAE7-E15F-480C-A493-C04C740EA0AD}" presName="nodeFirstNode" presStyleLbl="node1" presStyleIdx="0" presStyleCnt="10">
        <dgm:presLayoutVars>
          <dgm:bulletEnabled val="1"/>
        </dgm:presLayoutVars>
      </dgm:prSet>
      <dgm:spPr/>
    </dgm:pt>
    <dgm:pt modelId="{7709F8D2-9EE1-4C96-8018-FD46C69E00E6}" type="pres">
      <dgm:prSet presAssocID="{6BF73789-FCE0-4FB8-83C5-CCFD8070C0A2}" presName="sibTransFirstNode" presStyleLbl="bgShp" presStyleIdx="0" presStyleCnt="1"/>
      <dgm:spPr/>
    </dgm:pt>
    <dgm:pt modelId="{668CF144-453B-4DC9-A67F-CB8B97CA6E88}" type="pres">
      <dgm:prSet presAssocID="{12A5418F-54B7-465C-A1B9-9EC3676F6405}" presName="nodeFollowingNodes" presStyleLbl="node1" presStyleIdx="1" presStyleCnt="10">
        <dgm:presLayoutVars>
          <dgm:bulletEnabled val="1"/>
        </dgm:presLayoutVars>
      </dgm:prSet>
      <dgm:spPr/>
    </dgm:pt>
    <dgm:pt modelId="{3ED6C978-C9F8-4BF8-A455-1BAD52009A40}" type="pres">
      <dgm:prSet presAssocID="{A8A16289-189F-445A-9AE4-C43B68D71593}" presName="nodeFollowingNodes" presStyleLbl="node1" presStyleIdx="2" presStyleCnt="10">
        <dgm:presLayoutVars>
          <dgm:bulletEnabled val="1"/>
        </dgm:presLayoutVars>
      </dgm:prSet>
      <dgm:spPr/>
    </dgm:pt>
    <dgm:pt modelId="{66FB5249-7623-4EA5-BED5-A8F4B2840D7B}" type="pres">
      <dgm:prSet presAssocID="{4767ECFF-D564-4EAC-BFE1-FB32CA3A84BF}" presName="nodeFollowingNodes" presStyleLbl="node1" presStyleIdx="3" presStyleCnt="10">
        <dgm:presLayoutVars>
          <dgm:bulletEnabled val="1"/>
        </dgm:presLayoutVars>
      </dgm:prSet>
      <dgm:spPr/>
    </dgm:pt>
    <dgm:pt modelId="{26EE6B35-4ABA-4D1F-9D09-44382B908339}" type="pres">
      <dgm:prSet presAssocID="{BD5DC205-DC54-47D2-83F2-9C8D004A169C}" presName="nodeFollowingNodes" presStyleLbl="node1" presStyleIdx="4" presStyleCnt="10">
        <dgm:presLayoutVars>
          <dgm:bulletEnabled val="1"/>
        </dgm:presLayoutVars>
      </dgm:prSet>
      <dgm:spPr/>
    </dgm:pt>
    <dgm:pt modelId="{BFE6CBA5-A142-4BDB-B7A0-E7BF052F911D}" type="pres">
      <dgm:prSet presAssocID="{1415DE88-0C88-4CD1-BD1F-6BD170079088}" presName="nodeFollowingNodes" presStyleLbl="node1" presStyleIdx="5" presStyleCnt="10">
        <dgm:presLayoutVars>
          <dgm:bulletEnabled val="1"/>
        </dgm:presLayoutVars>
      </dgm:prSet>
      <dgm:spPr/>
    </dgm:pt>
    <dgm:pt modelId="{9BEC7131-BB25-4E80-8120-9C52116CF0ED}" type="pres">
      <dgm:prSet presAssocID="{B2565730-05B4-4FE3-AC29-A8BD4212B6B8}" presName="nodeFollowingNodes" presStyleLbl="node1" presStyleIdx="6" presStyleCnt="10">
        <dgm:presLayoutVars>
          <dgm:bulletEnabled val="1"/>
        </dgm:presLayoutVars>
      </dgm:prSet>
      <dgm:spPr/>
    </dgm:pt>
    <dgm:pt modelId="{7ED4459B-1884-4874-B51B-A6EF8316DC78}" type="pres">
      <dgm:prSet presAssocID="{A091571F-1962-431E-80D7-84E74EB98730}" presName="nodeFollowingNodes" presStyleLbl="node1" presStyleIdx="7" presStyleCnt="10">
        <dgm:presLayoutVars>
          <dgm:bulletEnabled val="1"/>
        </dgm:presLayoutVars>
      </dgm:prSet>
      <dgm:spPr/>
    </dgm:pt>
    <dgm:pt modelId="{1E9AD6CD-B0BE-49F0-A23B-E89C703F9303}" type="pres">
      <dgm:prSet presAssocID="{88831AA2-993C-4332-93E7-FB71D0AA9FC3}" presName="nodeFollowingNodes" presStyleLbl="node1" presStyleIdx="8" presStyleCnt="10">
        <dgm:presLayoutVars>
          <dgm:bulletEnabled val="1"/>
        </dgm:presLayoutVars>
      </dgm:prSet>
      <dgm:spPr/>
    </dgm:pt>
    <dgm:pt modelId="{9A0378BD-CCB2-48D0-BF03-3AA612953B61}" type="pres">
      <dgm:prSet presAssocID="{EA369662-C31B-4D0A-9A15-29813B107191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DE36A525-A8D9-4551-AD83-707CDB8851BB}" srcId="{BEC61B73-4646-4A6E-8496-251DEDD48B7C}" destId="{12A5418F-54B7-465C-A1B9-9EC3676F6405}" srcOrd="1" destOrd="0" parTransId="{B3357BF8-BBC2-4DC2-95E8-1234226061E3}" sibTransId="{CA83822C-C88C-4054-8CE1-8854CDA4CB6E}"/>
    <dgm:cxn modelId="{C5E1E030-2B0B-4E8E-9881-1AF96E888EB2}" srcId="{BEC61B73-4646-4A6E-8496-251DEDD48B7C}" destId="{A8A16289-189F-445A-9AE4-C43B68D71593}" srcOrd="2" destOrd="0" parTransId="{872E4C8E-1F85-4404-BF22-52E7A31900B5}" sibTransId="{A2778187-270C-431E-9272-E30DC0F97624}"/>
    <dgm:cxn modelId="{EB664C36-896A-4987-9B77-DFE026BDEEFF}" srcId="{BEC61B73-4646-4A6E-8496-251DEDD48B7C}" destId="{3899DAE7-E15F-480C-A493-C04C740EA0AD}" srcOrd="0" destOrd="0" parTransId="{C79079AD-1344-4F82-A465-BF37CA33AFAA}" sibTransId="{6BF73789-FCE0-4FB8-83C5-CCFD8070C0A2}"/>
    <dgm:cxn modelId="{86EC0361-7595-4349-B367-65D8B66C525B}" srcId="{BEC61B73-4646-4A6E-8496-251DEDD48B7C}" destId="{B2565730-05B4-4FE3-AC29-A8BD4212B6B8}" srcOrd="6" destOrd="0" parTransId="{BB5B061A-F222-4150-B590-97696D897EE0}" sibTransId="{3C1D7BED-4093-4EC9-AFD0-9BB98A16C03D}"/>
    <dgm:cxn modelId="{308ECE64-1CD7-4A9C-8B8A-D59CE7AD854D}" type="presOf" srcId="{4767ECFF-D564-4EAC-BFE1-FB32CA3A84BF}" destId="{66FB5249-7623-4EA5-BED5-A8F4B2840D7B}" srcOrd="0" destOrd="0" presId="urn:microsoft.com/office/officeart/2005/8/layout/cycle3"/>
    <dgm:cxn modelId="{1EFF226D-1271-403C-B300-8F0BD34F169E}" type="presOf" srcId="{A8A16289-189F-445A-9AE4-C43B68D71593}" destId="{3ED6C978-C9F8-4BF8-A455-1BAD52009A40}" srcOrd="0" destOrd="0" presId="urn:microsoft.com/office/officeart/2005/8/layout/cycle3"/>
    <dgm:cxn modelId="{3BF70F86-B403-40BD-A5E8-A8E85003F397}" srcId="{BEC61B73-4646-4A6E-8496-251DEDD48B7C}" destId="{88831AA2-993C-4332-93E7-FB71D0AA9FC3}" srcOrd="8" destOrd="0" parTransId="{87F4256C-D435-4F0B-AAD8-DA946915E9CF}" sibTransId="{C5714CD6-41AF-4495-85BD-ABD7B810640E}"/>
    <dgm:cxn modelId="{83A5098B-439F-4001-9EED-88402B7E1498}" type="presOf" srcId="{6BF73789-FCE0-4FB8-83C5-CCFD8070C0A2}" destId="{7709F8D2-9EE1-4C96-8018-FD46C69E00E6}" srcOrd="0" destOrd="0" presId="urn:microsoft.com/office/officeart/2005/8/layout/cycle3"/>
    <dgm:cxn modelId="{8247378E-08D1-4127-B60D-4D55D1BF9A87}" type="presOf" srcId="{B2565730-05B4-4FE3-AC29-A8BD4212B6B8}" destId="{9BEC7131-BB25-4E80-8120-9C52116CF0ED}" srcOrd="0" destOrd="0" presId="urn:microsoft.com/office/officeart/2005/8/layout/cycle3"/>
    <dgm:cxn modelId="{5AA1BF90-D6F6-40A9-A2F1-D93F4AC35490}" type="presOf" srcId="{A091571F-1962-431E-80D7-84E74EB98730}" destId="{7ED4459B-1884-4874-B51B-A6EF8316DC78}" srcOrd="0" destOrd="0" presId="urn:microsoft.com/office/officeart/2005/8/layout/cycle3"/>
    <dgm:cxn modelId="{ED3CB695-4863-4F3C-BC85-56E8A7042AD1}" type="presOf" srcId="{1415DE88-0C88-4CD1-BD1F-6BD170079088}" destId="{BFE6CBA5-A142-4BDB-B7A0-E7BF052F911D}" srcOrd="0" destOrd="0" presId="urn:microsoft.com/office/officeart/2005/8/layout/cycle3"/>
    <dgm:cxn modelId="{6014139C-ABCB-4EB1-92A6-6666EF693688}" type="presOf" srcId="{12A5418F-54B7-465C-A1B9-9EC3676F6405}" destId="{668CF144-453B-4DC9-A67F-CB8B97CA6E88}" srcOrd="0" destOrd="0" presId="urn:microsoft.com/office/officeart/2005/8/layout/cycle3"/>
    <dgm:cxn modelId="{1D8A08AB-A036-434B-A749-4B1503479208}" type="presOf" srcId="{BEC61B73-4646-4A6E-8496-251DEDD48B7C}" destId="{572E5186-895A-4D67-BFF4-159A0BF3A13D}" srcOrd="0" destOrd="0" presId="urn:microsoft.com/office/officeart/2005/8/layout/cycle3"/>
    <dgm:cxn modelId="{856E52B4-95F6-4D4A-82C0-55F3AA1BFC3F}" srcId="{BEC61B73-4646-4A6E-8496-251DEDD48B7C}" destId="{BD5DC205-DC54-47D2-83F2-9C8D004A169C}" srcOrd="4" destOrd="0" parTransId="{14817929-CC5D-477B-AF98-E25090434430}" sibTransId="{42F7C5FD-CA42-4CD8-9780-0366D39398B7}"/>
    <dgm:cxn modelId="{26910CC0-6EDF-439C-BE52-F3300EBCF361}" type="presOf" srcId="{BD5DC205-DC54-47D2-83F2-9C8D004A169C}" destId="{26EE6B35-4ABA-4D1F-9D09-44382B908339}" srcOrd="0" destOrd="0" presId="urn:microsoft.com/office/officeart/2005/8/layout/cycle3"/>
    <dgm:cxn modelId="{B4B3A4CA-7DE1-440A-97FB-9AD268A476C7}" type="presOf" srcId="{88831AA2-993C-4332-93E7-FB71D0AA9FC3}" destId="{1E9AD6CD-B0BE-49F0-A23B-E89C703F9303}" srcOrd="0" destOrd="0" presId="urn:microsoft.com/office/officeart/2005/8/layout/cycle3"/>
    <dgm:cxn modelId="{B51A8CD3-B413-4FC2-AA00-639B05753892}" srcId="{BEC61B73-4646-4A6E-8496-251DEDD48B7C}" destId="{EA369662-C31B-4D0A-9A15-29813B107191}" srcOrd="9" destOrd="0" parTransId="{B552C0DF-F12A-4C1C-974E-F42A53E27A88}" sibTransId="{10F45A8B-BC5D-4047-AA66-E8E46D46BD20}"/>
    <dgm:cxn modelId="{0E0BDAD3-D4D2-497B-9D00-D89597D141C5}" srcId="{BEC61B73-4646-4A6E-8496-251DEDD48B7C}" destId="{A091571F-1962-431E-80D7-84E74EB98730}" srcOrd="7" destOrd="0" parTransId="{45F3611C-9F64-4102-B8E4-76E42D6EC170}" sibTransId="{2B566A02-AF2F-43FE-9919-F45BDC1181D1}"/>
    <dgm:cxn modelId="{008DB9D8-D4EE-44B8-89A5-3A057FCF15B6}" srcId="{BEC61B73-4646-4A6E-8496-251DEDD48B7C}" destId="{4767ECFF-D564-4EAC-BFE1-FB32CA3A84BF}" srcOrd="3" destOrd="0" parTransId="{71E9E595-3E55-435C-9CA9-7BF0179B0815}" sibTransId="{411D9720-BDFF-426C-B0A7-8084D2225C08}"/>
    <dgm:cxn modelId="{308291D9-A461-4056-B5D3-623EFD98D7D3}" type="presOf" srcId="{3899DAE7-E15F-480C-A493-C04C740EA0AD}" destId="{40FE7FED-A483-44EA-B4B9-43EF1187D387}" srcOrd="0" destOrd="0" presId="urn:microsoft.com/office/officeart/2005/8/layout/cycle3"/>
    <dgm:cxn modelId="{5F41F1E5-7776-4FF6-94E3-97471DE53F37}" srcId="{BEC61B73-4646-4A6E-8496-251DEDD48B7C}" destId="{1415DE88-0C88-4CD1-BD1F-6BD170079088}" srcOrd="5" destOrd="0" parTransId="{06A88D3D-78C8-4146-96DC-B49400EB745E}" sibTransId="{48DB538E-4E0A-439C-95A0-183E84BDE2BB}"/>
    <dgm:cxn modelId="{38D303E8-8552-4BB7-A34E-4CB771DF9E1A}" type="presOf" srcId="{EA369662-C31B-4D0A-9A15-29813B107191}" destId="{9A0378BD-CCB2-48D0-BF03-3AA612953B61}" srcOrd="0" destOrd="0" presId="urn:microsoft.com/office/officeart/2005/8/layout/cycle3"/>
    <dgm:cxn modelId="{32BCB276-D891-49A8-AAD8-029AB301084C}" type="presParOf" srcId="{572E5186-895A-4D67-BFF4-159A0BF3A13D}" destId="{432CE9BD-2A11-4699-BF59-FC588ABCC983}" srcOrd="0" destOrd="0" presId="urn:microsoft.com/office/officeart/2005/8/layout/cycle3"/>
    <dgm:cxn modelId="{A5C56296-BA61-4CAE-B5EE-EACF4BAB588B}" type="presParOf" srcId="{432CE9BD-2A11-4699-BF59-FC588ABCC983}" destId="{40FE7FED-A483-44EA-B4B9-43EF1187D387}" srcOrd="0" destOrd="0" presId="urn:microsoft.com/office/officeart/2005/8/layout/cycle3"/>
    <dgm:cxn modelId="{8FC1F380-94A0-4C24-BD8B-99A0BCE676BE}" type="presParOf" srcId="{432CE9BD-2A11-4699-BF59-FC588ABCC983}" destId="{7709F8D2-9EE1-4C96-8018-FD46C69E00E6}" srcOrd="1" destOrd="0" presId="urn:microsoft.com/office/officeart/2005/8/layout/cycle3"/>
    <dgm:cxn modelId="{783AD38F-3331-4C07-B058-3B1AF492CFD3}" type="presParOf" srcId="{432CE9BD-2A11-4699-BF59-FC588ABCC983}" destId="{668CF144-453B-4DC9-A67F-CB8B97CA6E88}" srcOrd="2" destOrd="0" presId="urn:microsoft.com/office/officeart/2005/8/layout/cycle3"/>
    <dgm:cxn modelId="{7502414B-AA3F-4CAC-BDDB-24112C1BEA50}" type="presParOf" srcId="{432CE9BD-2A11-4699-BF59-FC588ABCC983}" destId="{3ED6C978-C9F8-4BF8-A455-1BAD52009A40}" srcOrd="3" destOrd="0" presId="urn:microsoft.com/office/officeart/2005/8/layout/cycle3"/>
    <dgm:cxn modelId="{3314700A-0DF2-47D5-A684-334934557E84}" type="presParOf" srcId="{432CE9BD-2A11-4699-BF59-FC588ABCC983}" destId="{66FB5249-7623-4EA5-BED5-A8F4B2840D7B}" srcOrd="4" destOrd="0" presId="urn:microsoft.com/office/officeart/2005/8/layout/cycle3"/>
    <dgm:cxn modelId="{F12B425D-7E50-4AF7-9DB2-179A27FDEB40}" type="presParOf" srcId="{432CE9BD-2A11-4699-BF59-FC588ABCC983}" destId="{26EE6B35-4ABA-4D1F-9D09-44382B908339}" srcOrd="5" destOrd="0" presId="urn:microsoft.com/office/officeart/2005/8/layout/cycle3"/>
    <dgm:cxn modelId="{2F1DF74E-E977-4F92-9A1D-4704AE292F68}" type="presParOf" srcId="{432CE9BD-2A11-4699-BF59-FC588ABCC983}" destId="{BFE6CBA5-A142-4BDB-B7A0-E7BF052F911D}" srcOrd="6" destOrd="0" presId="urn:microsoft.com/office/officeart/2005/8/layout/cycle3"/>
    <dgm:cxn modelId="{E3245F32-7935-469B-9679-5D1C63A1F175}" type="presParOf" srcId="{432CE9BD-2A11-4699-BF59-FC588ABCC983}" destId="{9BEC7131-BB25-4E80-8120-9C52116CF0ED}" srcOrd="7" destOrd="0" presId="urn:microsoft.com/office/officeart/2005/8/layout/cycle3"/>
    <dgm:cxn modelId="{AFFCF1BE-BBA3-495A-A0D0-4877FD6376AE}" type="presParOf" srcId="{432CE9BD-2A11-4699-BF59-FC588ABCC983}" destId="{7ED4459B-1884-4874-B51B-A6EF8316DC78}" srcOrd="8" destOrd="0" presId="urn:microsoft.com/office/officeart/2005/8/layout/cycle3"/>
    <dgm:cxn modelId="{259C3102-9F92-4163-91F7-5F2E2B29E565}" type="presParOf" srcId="{432CE9BD-2A11-4699-BF59-FC588ABCC983}" destId="{1E9AD6CD-B0BE-49F0-A23B-E89C703F9303}" srcOrd="9" destOrd="0" presId="urn:microsoft.com/office/officeart/2005/8/layout/cycle3"/>
    <dgm:cxn modelId="{285C10DC-7888-4291-8032-9ED94EA88B71}" type="presParOf" srcId="{432CE9BD-2A11-4699-BF59-FC588ABCC983}" destId="{9A0378BD-CCB2-48D0-BF03-3AA612953B61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CE92222-7562-4CC5-AC0B-D13694EF6CBC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D09405-F3E7-4D86-BCE9-79415DFC6556}">
      <dgm:prSet/>
      <dgm:spPr/>
      <dgm:t>
        <a:bodyPr/>
        <a:lstStyle/>
        <a:p>
          <a:r>
            <a:rPr lang="es-AR"/>
            <a:t>Liquidez</a:t>
          </a:r>
          <a:endParaRPr lang="en-US"/>
        </a:p>
      </dgm:t>
    </dgm:pt>
    <dgm:pt modelId="{2EB6A8A5-E76A-439C-92F8-184DC00D0B87}" type="parTrans" cxnId="{B33137B7-D9C5-4373-B739-EF4035659424}">
      <dgm:prSet/>
      <dgm:spPr/>
      <dgm:t>
        <a:bodyPr/>
        <a:lstStyle/>
        <a:p>
          <a:endParaRPr lang="en-US"/>
        </a:p>
      </dgm:t>
    </dgm:pt>
    <dgm:pt modelId="{172182CD-1A64-4E53-A8BC-FD3156189471}" type="sibTrans" cxnId="{B33137B7-D9C5-4373-B739-EF4035659424}">
      <dgm:prSet/>
      <dgm:spPr/>
      <dgm:t>
        <a:bodyPr/>
        <a:lstStyle/>
        <a:p>
          <a:endParaRPr lang="en-US"/>
        </a:p>
      </dgm:t>
    </dgm:pt>
    <dgm:pt modelId="{FFEF2005-CAB0-4A4E-8C81-6A43ED82C1BA}">
      <dgm:prSet/>
      <dgm:spPr/>
      <dgm:t>
        <a:bodyPr/>
        <a:lstStyle/>
        <a:p>
          <a:r>
            <a:rPr lang="es-AR"/>
            <a:t>Endeudamiento</a:t>
          </a:r>
          <a:endParaRPr lang="en-US"/>
        </a:p>
      </dgm:t>
    </dgm:pt>
    <dgm:pt modelId="{522BA432-EBDD-4AE7-BFF4-C34303B4CAA5}" type="parTrans" cxnId="{5EA5B850-5D33-4AD3-9811-A85AB601BEA3}">
      <dgm:prSet/>
      <dgm:spPr/>
      <dgm:t>
        <a:bodyPr/>
        <a:lstStyle/>
        <a:p>
          <a:endParaRPr lang="en-US"/>
        </a:p>
      </dgm:t>
    </dgm:pt>
    <dgm:pt modelId="{A692F3EC-B210-4106-B58F-E609A2AA3903}" type="sibTrans" cxnId="{5EA5B850-5D33-4AD3-9811-A85AB601BEA3}">
      <dgm:prSet/>
      <dgm:spPr/>
      <dgm:t>
        <a:bodyPr/>
        <a:lstStyle/>
        <a:p>
          <a:endParaRPr lang="en-US"/>
        </a:p>
      </dgm:t>
    </dgm:pt>
    <dgm:pt modelId="{BCDF021B-4425-4FAE-B649-6FFAC0D4F3BC}">
      <dgm:prSet/>
      <dgm:spPr/>
      <dgm:t>
        <a:bodyPr/>
        <a:lstStyle/>
        <a:p>
          <a:r>
            <a:rPr lang="es-AR"/>
            <a:t>Solvencia</a:t>
          </a:r>
          <a:endParaRPr lang="en-US"/>
        </a:p>
      </dgm:t>
    </dgm:pt>
    <dgm:pt modelId="{8ECB8B5E-DF99-4B74-A06B-C8238560988B}" type="parTrans" cxnId="{1EC12D3D-3220-45C2-9205-67C51164EC6E}">
      <dgm:prSet/>
      <dgm:spPr/>
      <dgm:t>
        <a:bodyPr/>
        <a:lstStyle/>
        <a:p>
          <a:endParaRPr lang="en-US"/>
        </a:p>
      </dgm:t>
    </dgm:pt>
    <dgm:pt modelId="{F2E1F9AE-0DA2-478E-A719-089A8C996C6E}" type="sibTrans" cxnId="{1EC12D3D-3220-45C2-9205-67C51164EC6E}">
      <dgm:prSet/>
      <dgm:spPr/>
      <dgm:t>
        <a:bodyPr/>
        <a:lstStyle/>
        <a:p>
          <a:endParaRPr lang="en-US"/>
        </a:p>
      </dgm:t>
    </dgm:pt>
    <dgm:pt modelId="{7DA3A53E-ACA7-4203-9C0A-FE84936D62E6}">
      <dgm:prSet/>
      <dgm:spPr/>
      <dgm:t>
        <a:bodyPr/>
        <a:lstStyle/>
        <a:p>
          <a:r>
            <a:rPr lang="es-AR"/>
            <a:t>Actividad</a:t>
          </a:r>
          <a:endParaRPr lang="en-US"/>
        </a:p>
      </dgm:t>
    </dgm:pt>
    <dgm:pt modelId="{3498A8AD-60AD-441A-A52A-C8A981C8FAAE}" type="parTrans" cxnId="{599C7760-ACA8-4A5A-A441-8CF5ED604C9A}">
      <dgm:prSet/>
      <dgm:spPr/>
      <dgm:t>
        <a:bodyPr/>
        <a:lstStyle/>
        <a:p>
          <a:endParaRPr lang="en-US"/>
        </a:p>
      </dgm:t>
    </dgm:pt>
    <dgm:pt modelId="{BA530BF6-A436-4CDE-A296-899C1F8FA5AC}" type="sibTrans" cxnId="{599C7760-ACA8-4A5A-A441-8CF5ED604C9A}">
      <dgm:prSet/>
      <dgm:spPr/>
      <dgm:t>
        <a:bodyPr/>
        <a:lstStyle/>
        <a:p>
          <a:endParaRPr lang="en-US"/>
        </a:p>
      </dgm:t>
    </dgm:pt>
    <dgm:pt modelId="{F50E72EC-C61B-45FC-996D-659210940BD8}">
      <dgm:prSet/>
      <dgm:spPr/>
      <dgm:t>
        <a:bodyPr/>
        <a:lstStyle/>
        <a:p>
          <a:r>
            <a:rPr lang="es-AR"/>
            <a:t>Rentabilidad</a:t>
          </a:r>
          <a:endParaRPr lang="en-US"/>
        </a:p>
      </dgm:t>
    </dgm:pt>
    <dgm:pt modelId="{FD14A915-7177-4114-A358-BF2BBF8E2508}" type="parTrans" cxnId="{490091FB-8E1E-4E41-BC41-D5552917FCFA}">
      <dgm:prSet/>
      <dgm:spPr/>
      <dgm:t>
        <a:bodyPr/>
        <a:lstStyle/>
        <a:p>
          <a:endParaRPr lang="en-US"/>
        </a:p>
      </dgm:t>
    </dgm:pt>
    <dgm:pt modelId="{396712AF-F70C-4C88-8EFB-6B62FDEE8E47}" type="sibTrans" cxnId="{490091FB-8E1E-4E41-BC41-D5552917FCFA}">
      <dgm:prSet/>
      <dgm:spPr/>
      <dgm:t>
        <a:bodyPr/>
        <a:lstStyle/>
        <a:p>
          <a:endParaRPr lang="en-US"/>
        </a:p>
      </dgm:t>
    </dgm:pt>
    <dgm:pt modelId="{394E1CA4-817F-4898-897F-78938253A338}">
      <dgm:prSet/>
      <dgm:spPr/>
      <dgm:t>
        <a:bodyPr/>
        <a:lstStyle/>
        <a:p>
          <a:r>
            <a:rPr lang="es-AR"/>
            <a:t>Eficiencia</a:t>
          </a:r>
          <a:endParaRPr lang="en-US"/>
        </a:p>
      </dgm:t>
    </dgm:pt>
    <dgm:pt modelId="{0C031573-0CF5-4721-BDBA-1288D795B9B2}" type="parTrans" cxnId="{183CC6F5-6B3A-4172-9D47-931371C5D503}">
      <dgm:prSet/>
      <dgm:spPr/>
      <dgm:t>
        <a:bodyPr/>
        <a:lstStyle/>
        <a:p>
          <a:endParaRPr lang="en-US"/>
        </a:p>
      </dgm:t>
    </dgm:pt>
    <dgm:pt modelId="{AB60D188-5F76-4213-A3E0-9E46E591D3D5}" type="sibTrans" cxnId="{183CC6F5-6B3A-4172-9D47-931371C5D503}">
      <dgm:prSet/>
      <dgm:spPr/>
      <dgm:t>
        <a:bodyPr/>
        <a:lstStyle/>
        <a:p>
          <a:endParaRPr lang="en-US"/>
        </a:p>
      </dgm:t>
    </dgm:pt>
    <dgm:pt modelId="{6F67095A-4B58-471A-BE56-9BF07F1D9FAE}">
      <dgm:prSet/>
      <dgm:spPr/>
      <dgm:t>
        <a:bodyPr/>
        <a:lstStyle/>
        <a:p>
          <a:r>
            <a:rPr lang="es-AR"/>
            <a:t>Mercado</a:t>
          </a:r>
          <a:endParaRPr lang="en-US"/>
        </a:p>
      </dgm:t>
    </dgm:pt>
    <dgm:pt modelId="{D129AE96-7E3D-49AE-9016-1CF9F42C8337}" type="parTrans" cxnId="{40E803F8-EBA6-4A40-99AF-08E2C8B43B87}">
      <dgm:prSet/>
      <dgm:spPr/>
      <dgm:t>
        <a:bodyPr/>
        <a:lstStyle/>
        <a:p>
          <a:endParaRPr lang="en-US"/>
        </a:p>
      </dgm:t>
    </dgm:pt>
    <dgm:pt modelId="{23E1ECC2-9E97-4EB1-BA16-405837CA6A4E}" type="sibTrans" cxnId="{40E803F8-EBA6-4A40-99AF-08E2C8B43B87}">
      <dgm:prSet/>
      <dgm:spPr/>
      <dgm:t>
        <a:bodyPr/>
        <a:lstStyle/>
        <a:p>
          <a:endParaRPr lang="en-US"/>
        </a:p>
      </dgm:t>
    </dgm:pt>
    <dgm:pt modelId="{5C093FE3-5572-4486-8951-BCF56DDD4C11}">
      <dgm:prSet/>
      <dgm:spPr/>
      <dgm:t>
        <a:bodyPr/>
        <a:lstStyle/>
        <a:p>
          <a:r>
            <a:rPr lang="es-AR"/>
            <a:t>Crecimiento</a:t>
          </a:r>
          <a:endParaRPr lang="en-US"/>
        </a:p>
      </dgm:t>
    </dgm:pt>
    <dgm:pt modelId="{55F757CA-DB45-4458-9DB7-B50C15493DF2}" type="parTrans" cxnId="{2AD18054-CC4D-4183-9359-2F494305F24D}">
      <dgm:prSet/>
      <dgm:spPr/>
      <dgm:t>
        <a:bodyPr/>
        <a:lstStyle/>
        <a:p>
          <a:endParaRPr lang="en-US"/>
        </a:p>
      </dgm:t>
    </dgm:pt>
    <dgm:pt modelId="{279045E5-DB49-44F5-96BE-9965C666FF73}" type="sibTrans" cxnId="{2AD18054-CC4D-4183-9359-2F494305F24D}">
      <dgm:prSet/>
      <dgm:spPr/>
      <dgm:t>
        <a:bodyPr/>
        <a:lstStyle/>
        <a:p>
          <a:endParaRPr lang="en-US"/>
        </a:p>
      </dgm:t>
    </dgm:pt>
    <dgm:pt modelId="{3D966BAD-0556-49C6-8CFC-C9A29D8AD780}" type="pres">
      <dgm:prSet presAssocID="{2CE92222-7562-4CC5-AC0B-D13694EF6CBC}" presName="diagram" presStyleCnt="0">
        <dgm:presLayoutVars>
          <dgm:dir/>
          <dgm:resizeHandles val="exact"/>
        </dgm:presLayoutVars>
      </dgm:prSet>
      <dgm:spPr/>
    </dgm:pt>
    <dgm:pt modelId="{6780D5AD-D19D-4796-9D07-D4BCB52C04D9}" type="pres">
      <dgm:prSet presAssocID="{6CD09405-F3E7-4D86-BCE9-79415DFC6556}" presName="node" presStyleLbl="node1" presStyleIdx="0" presStyleCnt="8">
        <dgm:presLayoutVars>
          <dgm:bulletEnabled val="1"/>
        </dgm:presLayoutVars>
      </dgm:prSet>
      <dgm:spPr/>
    </dgm:pt>
    <dgm:pt modelId="{01466BD7-22C6-4B6C-A73B-7ED27AE0E59E}" type="pres">
      <dgm:prSet presAssocID="{172182CD-1A64-4E53-A8BC-FD3156189471}" presName="sibTrans" presStyleCnt="0"/>
      <dgm:spPr/>
    </dgm:pt>
    <dgm:pt modelId="{0FDCED75-C4BD-4DC3-BB4F-7A7D171AC94E}" type="pres">
      <dgm:prSet presAssocID="{FFEF2005-CAB0-4A4E-8C81-6A43ED82C1BA}" presName="node" presStyleLbl="node1" presStyleIdx="1" presStyleCnt="8">
        <dgm:presLayoutVars>
          <dgm:bulletEnabled val="1"/>
        </dgm:presLayoutVars>
      </dgm:prSet>
      <dgm:spPr/>
    </dgm:pt>
    <dgm:pt modelId="{4B437F7C-B921-4D41-AB2D-9E527207D580}" type="pres">
      <dgm:prSet presAssocID="{A692F3EC-B210-4106-B58F-E609A2AA3903}" presName="sibTrans" presStyleCnt="0"/>
      <dgm:spPr/>
    </dgm:pt>
    <dgm:pt modelId="{79755BAB-D844-40CC-8C20-301F3D19DF31}" type="pres">
      <dgm:prSet presAssocID="{BCDF021B-4425-4FAE-B649-6FFAC0D4F3BC}" presName="node" presStyleLbl="node1" presStyleIdx="2" presStyleCnt="8">
        <dgm:presLayoutVars>
          <dgm:bulletEnabled val="1"/>
        </dgm:presLayoutVars>
      </dgm:prSet>
      <dgm:spPr/>
    </dgm:pt>
    <dgm:pt modelId="{69B775CB-F64A-4345-BEF8-8FC3FB94D456}" type="pres">
      <dgm:prSet presAssocID="{F2E1F9AE-0DA2-478E-A719-089A8C996C6E}" presName="sibTrans" presStyleCnt="0"/>
      <dgm:spPr/>
    </dgm:pt>
    <dgm:pt modelId="{C45C1D5F-BE98-482D-AD79-9E9D75681D93}" type="pres">
      <dgm:prSet presAssocID="{7DA3A53E-ACA7-4203-9C0A-FE84936D62E6}" presName="node" presStyleLbl="node1" presStyleIdx="3" presStyleCnt="8">
        <dgm:presLayoutVars>
          <dgm:bulletEnabled val="1"/>
        </dgm:presLayoutVars>
      </dgm:prSet>
      <dgm:spPr/>
    </dgm:pt>
    <dgm:pt modelId="{2AB8B205-649E-4C4F-AFD7-ECDB5E6C4F2B}" type="pres">
      <dgm:prSet presAssocID="{BA530BF6-A436-4CDE-A296-899C1F8FA5AC}" presName="sibTrans" presStyleCnt="0"/>
      <dgm:spPr/>
    </dgm:pt>
    <dgm:pt modelId="{3E8E87FD-844F-4480-AB56-A1B46F7F9D7B}" type="pres">
      <dgm:prSet presAssocID="{F50E72EC-C61B-45FC-996D-659210940BD8}" presName="node" presStyleLbl="node1" presStyleIdx="4" presStyleCnt="8">
        <dgm:presLayoutVars>
          <dgm:bulletEnabled val="1"/>
        </dgm:presLayoutVars>
      </dgm:prSet>
      <dgm:spPr/>
    </dgm:pt>
    <dgm:pt modelId="{461443DA-5EB7-4E2F-95AE-CA248616AD5E}" type="pres">
      <dgm:prSet presAssocID="{396712AF-F70C-4C88-8EFB-6B62FDEE8E47}" presName="sibTrans" presStyleCnt="0"/>
      <dgm:spPr/>
    </dgm:pt>
    <dgm:pt modelId="{0EF9EDE7-288A-4E7E-A168-2CD1244578CB}" type="pres">
      <dgm:prSet presAssocID="{394E1CA4-817F-4898-897F-78938253A338}" presName="node" presStyleLbl="node1" presStyleIdx="5" presStyleCnt="8">
        <dgm:presLayoutVars>
          <dgm:bulletEnabled val="1"/>
        </dgm:presLayoutVars>
      </dgm:prSet>
      <dgm:spPr/>
    </dgm:pt>
    <dgm:pt modelId="{443EDA87-A76E-4A7C-A2C6-93110C1BA5F5}" type="pres">
      <dgm:prSet presAssocID="{AB60D188-5F76-4213-A3E0-9E46E591D3D5}" presName="sibTrans" presStyleCnt="0"/>
      <dgm:spPr/>
    </dgm:pt>
    <dgm:pt modelId="{5EED0D53-2CA5-4FA5-B11D-CE2E583A9A2C}" type="pres">
      <dgm:prSet presAssocID="{6F67095A-4B58-471A-BE56-9BF07F1D9FAE}" presName="node" presStyleLbl="node1" presStyleIdx="6" presStyleCnt="8">
        <dgm:presLayoutVars>
          <dgm:bulletEnabled val="1"/>
        </dgm:presLayoutVars>
      </dgm:prSet>
      <dgm:spPr/>
    </dgm:pt>
    <dgm:pt modelId="{E53857D2-E242-42F6-9652-598C9F379BBC}" type="pres">
      <dgm:prSet presAssocID="{23E1ECC2-9E97-4EB1-BA16-405837CA6A4E}" presName="sibTrans" presStyleCnt="0"/>
      <dgm:spPr/>
    </dgm:pt>
    <dgm:pt modelId="{ADE4AE12-F0A3-47A7-B0FA-DA393115B4C9}" type="pres">
      <dgm:prSet presAssocID="{5C093FE3-5572-4486-8951-BCF56DDD4C11}" presName="node" presStyleLbl="node1" presStyleIdx="7" presStyleCnt="8">
        <dgm:presLayoutVars>
          <dgm:bulletEnabled val="1"/>
        </dgm:presLayoutVars>
      </dgm:prSet>
      <dgm:spPr/>
    </dgm:pt>
  </dgm:ptLst>
  <dgm:cxnLst>
    <dgm:cxn modelId="{1EC12D3D-3220-45C2-9205-67C51164EC6E}" srcId="{2CE92222-7562-4CC5-AC0B-D13694EF6CBC}" destId="{BCDF021B-4425-4FAE-B649-6FFAC0D4F3BC}" srcOrd="2" destOrd="0" parTransId="{8ECB8B5E-DF99-4B74-A06B-C8238560988B}" sibTransId="{F2E1F9AE-0DA2-478E-A719-089A8C996C6E}"/>
    <dgm:cxn modelId="{599C7760-ACA8-4A5A-A441-8CF5ED604C9A}" srcId="{2CE92222-7562-4CC5-AC0B-D13694EF6CBC}" destId="{7DA3A53E-ACA7-4203-9C0A-FE84936D62E6}" srcOrd="3" destOrd="0" parTransId="{3498A8AD-60AD-441A-A52A-C8A981C8FAAE}" sibTransId="{BA530BF6-A436-4CDE-A296-899C1F8FA5AC}"/>
    <dgm:cxn modelId="{5EA5B850-5D33-4AD3-9811-A85AB601BEA3}" srcId="{2CE92222-7562-4CC5-AC0B-D13694EF6CBC}" destId="{FFEF2005-CAB0-4A4E-8C81-6A43ED82C1BA}" srcOrd="1" destOrd="0" parTransId="{522BA432-EBDD-4AE7-BFF4-C34303B4CAA5}" sibTransId="{A692F3EC-B210-4106-B58F-E609A2AA3903}"/>
    <dgm:cxn modelId="{2AD18054-CC4D-4183-9359-2F494305F24D}" srcId="{2CE92222-7562-4CC5-AC0B-D13694EF6CBC}" destId="{5C093FE3-5572-4486-8951-BCF56DDD4C11}" srcOrd="7" destOrd="0" parTransId="{55F757CA-DB45-4458-9DB7-B50C15493DF2}" sibTransId="{279045E5-DB49-44F5-96BE-9965C666FF73}"/>
    <dgm:cxn modelId="{3B48CE7A-7489-4A95-993D-34F36F64904A}" type="presOf" srcId="{394E1CA4-817F-4898-897F-78938253A338}" destId="{0EF9EDE7-288A-4E7E-A168-2CD1244578CB}" srcOrd="0" destOrd="0" presId="urn:microsoft.com/office/officeart/2005/8/layout/default"/>
    <dgm:cxn modelId="{D539057D-A55F-4CBD-B36E-7700E5AB4625}" type="presOf" srcId="{6F67095A-4B58-471A-BE56-9BF07F1D9FAE}" destId="{5EED0D53-2CA5-4FA5-B11D-CE2E583A9A2C}" srcOrd="0" destOrd="0" presId="urn:microsoft.com/office/officeart/2005/8/layout/default"/>
    <dgm:cxn modelId="{C1A263AB-FCFE-4A5D-8726-D07DA0B4C46D}" type="presOf" srcId="{F50E72EC-C61B-45FC-996D-659210940BD8}" destId="{3E8E87FD-844F-4480-AB56-A1B46F7F9D7B}" srcOrd="0" destOrd="0" presId="urn:microsoft.com/office/officeart/2005/8/layout/default"/>
    <dgm:cxn modelId="{B33137B7-D9C5-4373-B739-EF4035659424}" srcId="{2CE92222-7562-4CC5-AC0B-D13694EF6CBC}" destId="{6CD09405-F3E7-4D86-BCE9-79415DFC6556}" srcOrd="0" destOrd="0" parTransId="{2EB6A8A5-E76A-439C-92F8-184DC00D0B87}" sibTransId="{172182CD-1A64-4E53-A8BC-FD3156189471}"/>
    <dgm:cxn modelId="{011448C0-9DED-4054-A4C1-A979B1FCA58B}" type="presOf" srcId="{7DA3A53E-ACA7-4203-9C0A-FE84936D62E6}" destId="{C45C1D5F-BE98-482D-AD79-9E9D75681D93}" srcOrd="0" destOrd="0" presId="urn:microsoft.com/office/officeart/2005/8/layout/default"/>
    <dgm:cxn modelId="{A10A16C1-9955-4436-A978-6A0DBFC6B3B3}" type="presOf" srcId="{5C093FE3-5572-4486-8951-BCF56DDD4C11}" destId="{ADE4AE12-F0A3-47A7-B0FA-DA393115B4C9}" srcOrd="0" destOrd="0" presId="urn:microsoft.com/office/officeart/2005/8/layout/default"/>
    <dgm:cxn modelId="{538531D9-214D-4BFF-B454-9560D8A7B530}" type="presOf" srcId="{FFEF2005-CAB0-4A4E-8C81-6A43ED82C1BA}" destId="{0FDCED75-C4BD-4DC3-BB4F-7A7D171AC94E}" srcOrd="0" destOrd="0" presId="urn:microsoft.com/office/officeart/2005/8/layout/default"/>
    <dgm:cxn modelId="{41AAA5E0-AD5D-452F-B3F3-12D6CA030AB2}" type="presOf" srcId="{6CD09405-F3E7-4D86-BCE9-79415DFC6556}" destId="{6780D5AD-D19D-4796-9D07-D4BCB52C04D9}" srcOrd="0" destOrd="0" presId="urn:microsoft.com/office/officeart/2005/8/layout/default"/>
    <dgm:cxn modelId="{FF65CBE6-74E7-434C-8671-BFE3F50AA570}" type="presOf" srcId="{2CE92222-7562-4CC5-AC0B-D13694EF6CBC}" destId="{3D966BAD-0556-49C6-8CFC-C9A29D8AD780}" srcOrd="0" destOrd="0" presId="urn:microsoft.com/office/officeart/2005/8/layout/default"/>
    <dgm:cxn modelId="{D8264CF1-F7D8-424E-986C-99C0CC3F40DD}" type="presOf" srcId="{BCDF021B-4425-4FAE-B649-6FFAC0D4F3BC}" destId="{79755BAB-D844-40CC-8C20-301F3D19DF31}" srcOrd="0" destOrd="0" presId="urn:microsoft.com/office/officeart/2005/8/layout/default"/>
    <dgm:cxn modelId="{183CC6F5-6B3A-4172-9D47-931371C5D503}" srcId="{2CE92222-7562-4CC5-AC0B-D13694EF6CBC}" destId="{394E1CA4-817F-4898-897F-78938253A338}" srcOrd="5" destOrd="0" parTransId="{0C031573-0CF5-4721-BDBA-1288D795B9B2}" sibTransId="{AB60D188-5F76-4213-A3E0-9E46E591D3D5}"/>
    <dgm:cxn modelId="{40E803F8-EBA6-4A40-99AF-08E2C8B43B87}" srcId="{2CE92222-7562-4CC5-AC0B-D13694EF6CBC}" destId="{6F67095A-4B58-471A-BE56-9BF07F1D9FAE}" srcOrd="6" destOrd="0" parTransId="{D129AE96-7E3D-49AE-9016-1CF9F42C8337}" sibTransId="{23E1ECC2-9E97-4EB1-BA16-405837CA6A4E}"/>
    <dgm:cxn modelId="{490091FB-8E1E-4E41-BC41-D5552917FCFA}" srcId="{2CE92222-7562-4CC5-AC0B-D13694EF6CBC}" destId="{F50E72EC-C61B-45FC-996D-659210940BD8}" srcOrd="4" destOrd="0" parTransId="{FD14A915-7177-4114-A358-BF2BBF8E2508}" sibTransId="{396712AF-F70C-4C88-8EFB-6B62FDEE8E47}"/>
    <dgm:cxn modelId="{928B6702-786C-4D58-8DE7-891892CAEE0F}" type="presParOf" srcId="{3D966BAD-0556-49C6-8CFC-C9A29D8AD780}" destId="{6780D5AD-D19D-4796-9D07-D4BCB52C04D9}" srcOrd="0" destOrd="0" presId="urn:microsoft.com/office/officeart/2005/8/layout/default"/>
    <dgm:cxn modelId="{7BEE4861-4322-48F2-B0CD-4844C15CABA8}" type="presParOf" srcId="{3D966BAD-0556-49C6-8CFC-C9A29D8AD780}" destId="{01466BD7-22C6-4B6C-A73B-7ED27AE0E59E}" srcOrd="1" destOrd="0" presId="urn:microsoft.com/office/officeart/2005/8/layout/default"/>
    <dgm:cxn modelId="{059934FD-5A46-450E-9ED6-49639AFAA745}" type="presParOf" srcId="{3D966BAD-0556-49C6-8CFC-C9A29D8AD780}" destId="{0FDCED75-C4BD-4DC3-BB4F-7A7D171AC94E}" srcOrd="2" destOrd="0" presId="urn:microsoft.com/office/officeart/2005/8/layout/default"/>
    <dgm:cxn modelId="{26F83BEE-6020-45DE-A67E-7A6275F2AE60}" type="presParOf" srcId="{3D966BAD-0556-49C6-8CFC-C9A29D8AD780}" destId="{4B437F7C-B921-4D41-AB2D-9E527207D580}" srcOrd="3" destOrd="0" presId="urn:microsoft.com/office/officeart/2005/8/layout/default"/>
    <dgm:cxn modelId="{B754111A-2640-48C0-8FD9-18AFE419461C}" type="presParOf" srcId="{3D966BAD-0556-49C6-8CFC-C9A29D8AD780}" destId="{79755BAB-D844-40CC-8C20-301F3D19DF31}" srcOrd="4" destOrd="0" presId="urn:microsoft.com/office/officeart/2005/8/layout/default"/>
    <dgm:cxn modelId="{DF231029-120A-42D3-BB4A-7095B28EFBEA}" type="presParOf" srcId="{3D966BAD-0556-49C6-8CFC-C9A29D8AD780}" destId="{69B775CB-F64A-4345-BEF8-8FC3FB94D456}" srcOrd="5" destOrd="0" presId="urn:microsoft.com/office/officeart/2005/8/layout/default"/>
    <dgm:cxn modelId="{6BCB4176-1D10-4EF3-A303-7228D1490DF0}" type="presParOf" srcId="{3D966BAD-0556-49C6-8CFC-C9A29D8AD780}" destId="{C45C1D5F-BE98-482D-AD79-9E9D75681D93}" srcOrd="6" destOrd="0" presId="urn:microsoft.com/office/officeart/2005/8/layout/default"/>
    <dgm:cxn modelId="{EBBB8576-BF19-4CBB-861E-99B7480B6E54}" type="presParOf" srcId="{3D966BAD-0556-49C6-8CFC-C9A29D8AD780}" destId="{2AB8B205-649E-4C4F-AFD7-ECDB5E6C4F2B}" srcOrd="7" destOrd="0" presId="urn:microsoft.com/office/officeart/2005/8/layout/default"/>
    <dgm:cxn modelId="{2AF05D12-6762-4223-AC6E-221B09376226}" type="presParOf" srcId="{3D966BAD-0556-49C6-8CFC-C9A29D8AD780}" destId="{3E8E87FD-844F-4480-AB56-A1B46F7F9D7B}" srcOrd="8" destOrd="0" presId="urn:microsoft.com/office/officeart/2005/8/layout/default"/>
    <dgm:cxn modelId="{E8A3C76F-873F-461A-8570-52236B83C172}" type="presParOf" srcId="{3D966BAD-0556-49C6-8CFC-C9A29D8AD780}" destId="{461443DA-5EB7-4E2F-95AE-CA248616AD5E}" srcOrd="9" destOrd="0" presId="urn:microsoft.com/office/officeart/2005/8/layout/default"/>
    <dgm:cxn modelId="{9641CEC1-FD19-4053-8BCD-5C457D016665}" type="presParOf" srcId="{3D966BAD-0556-49C6-8CFC-C9A29D8AD780}" destId="{0EF9EDE7-288A-4E7E-A168-2CD1244578CB}" srcOrd="10" destOrd="0" presId="urn:microsoft.com/office/officeart/2005/8/layout/default"/>
    <dgm:cxn modelId="{3DE7E559-D387-4BC2-B943-F698FCD4209B}" type="presParOf" srcId="{3D966BAD-0556-49C6-8CFC-C9A29D8AD780}" destId="{443EDA87-A76E-4A7C-A2C6-93110C1BA5F5}" srcOrd="11" destOrd="0" presId="urn:microsoft.com/office/officeart/2005/8/layout/default"/>
    <dgm:cxn modelId="{82E7BC40-27BE-49B7-A2B0-43BE4DA12C6A}" type="presParOf" srcId="{3D966BAD-0556-49C6-8CFC-C9A29D8AD780}" destId="{5EED0D53-2CA5-4FA5-B11D-CE2E583A9A2C}" srcOrd="12" destOrd="0" presId="urn:microsoft.com/office/officeart/2005/8/layout/default"/>
    <dgm:cxn modelId="{A423AFD4-E4FC-4584-A564-BD0A89382757}" type="presParOf" srcId="{3D966BAD-0556-49C6-8CFC-C9A29D8AD780}" destId="{E53857D2-E242-42F6-9652-598C9F379BBC}" srcOrd="13" destOrd="0" presId="urn:microsoft.com/office/officeart/2005/8/layout/default"/>
    <dgm:cxn modelId="{24C47213-0651-44CD-BCB2-0C3CF452F2FA}" type="presParOf" srcId="{3D966BAD-0556-49C6-8CFC-C9A29D8AD780}" destId="{ADE4AE12-F0A3-47A7-B0FA-DA393115B4C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2EFC1-975E-4D15-9881-CC5CE3BFD856}">
      <dsp:nvSpPr>
        <dsp:cNvPr id="0" name=""/>
        <dsp:cNvSpPr/>
      </dsp:nvSpPr>
      <dsp:spPr>
        <a:xfrm>
          <a:off x="0" y="27908"/>
          <a:ext cx="6263640" cy="16953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Proceso de toma de decisiones: dependerá de la calidad, cantidad y oportunidad de la información que brindan los sistemas de información.</a:t>
          </a:r>
          <a:endParaRPr lang="en-US" sz="2400" kern="1200" dirty="0"/>
        </a:p>
      </dsp:txBody>
      <dsp:txXfrm>
        <a:off x="82759" y="110667"/>
        <a:ext cx="6098122" cy="1529812"/>
      </dsp:txXfrm>
    </dsp:sp>
    <dsp:sp modelId="{5CA52E40-D970-4526-AD32-D293C32A39EB}">
      <dsp:nvSpPr>
        <dsp:cNvPr id="0" name=""/>
        <dsp:cNvSpPr/>
      </dsp:nvSpPr>
      <dsp:spPr>
        <a:xfrm>
          <a:off x="0" y="1904678"/>
          <a:ext cx="6263640" cy="169533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La contabilidad constituye un servicio que provee información cuantitativa, económica y financiera, sobre unidades económicas.</a:t>
          </a:r>
          <a:endParaRPr lang="en-US" sz="2400" kern="1200" dirty="0"/>
        </a:p>
      </dsp:txBody>
      <dsp:txXfrm>
        <a:off x="82759" y="1987437"/>
        <a:ext cx="6098122" cy="1529812"/>
      </dsp:txXfrm>
    </dsp:sp>
    <dsp:sp modelId="{9A6FF242-5439-46FF-B450-6E9F8EEA366E}">
      <dsp:nvSpPr>
        <dsp:cNvPr id="0" name=""/>
        <dsp:cNvSpPr/>
      </dsp:nvSpPr>
      <dsp:spPr>
        <a:xfrm>
          <a:off x="0" y="3781448"/>
          <a:ext cx="6263640" cy="169533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Tratando de comunicar dicha información en términos monetarios, los contadores incluirán:</a:t>
          </a:r>
          <a:endParaRPr lang="en-US" sz="2400" kern="1200" dirty="0"/>
        </a:p>
      </dsp:txBody>
      <dsp:txXfrm>
        <a:off x="82759" y="3864207"/>
        <a:ext cx="6098122" cy="1529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44FBC-F7E7-4135-977F-A304CB7BE05E}">
      <dsp:nvSpPr>
        <dsp:cNvPr id="0" name=""/>
        <dsp:cNvSpPr/>
      </dsp:nvSpPr>
      <dsp:spPr>
        <a:xfrm>
          <a:off x="0" y="19224"/>
          <a:ext cx="6263640" cy="973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Medida</a:t>
          </a:r>
          <a:endParaRPr lang="en-US" sz="3200" kern="1200" dirty="0"/>
        </a:p>
      </dsp:txBody>
      <dsp:txXfrm>
        <a:off x="47519" y="66743"/>
        <a:ext cx="6168602" cy="878402"/>
      </dsp:txXfrm>
    </dsp:sp>
    <dsp:sp modelId="{E8B40B54-B939-489B-BBD6-01C5D42B2CBA}">
      <dsp:nvSpPr>
        <dsp:cNvPr id="0" name=""/>
        <dsp:cNvSpPr/>
      </dsp:nvSpPr>
      <dsp:spPr>
        <a:xfrm>
          <a:off x="0" y="1142424"/>
          <a:ext cx="6263640" cy="973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Registración</a:t>
          </a:r>
          <a:endParaRPr lang="en-US" sz="3200" kern="1200" dirty="0"/>
        </a:p>
      </dsp:txBody>
      <dsp:txXfrm>
        <a:off x="47519" y="1189943"/>
        <a:ext cx="6168602" cy="878402"/>
      </dsp:txXfrm>
    </dsp:sp>
    <dsp:sp modelId="{E44C23CF-7608-437D-BB4B-0D6DC687C7F4}">
      <dsp:nvSpPr>
        <dsp:cNvPr id="0" name=""/>
        <dsp:cNvSpPr/>
      </dsp:nvSpPr>
      <dsp:spPr>
        <a:xfrm>
          <a:off x="0" y="2265624"/>
          <a:ext cx="6263640" cy="973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Clasificación</a:t>
          </a:r>
          <a:endParaRPr lang="en-US" sz="3200" kern="1200" dirty="0"/>
        </a:p>
      </dsp:txBody>
      <dsp:txXfrm>
        <a:off x="47519" y="2313143"/>
        <a:ext cx="6168602" cy="878402"/>
      </dsp:txXfrm>
    </dsp:sp>
    <dsp:sp modelId="{20591FC3-9924-47DE-800A-09D397F5C194}">
      <dsp:nvSpPr>
        <dsp:cNvPr id="0" name=""/>
        <dsp:cNvSpPr/>
      </dsp:nvSpPr>
      <dsp:spPr>
        <a:xfrm>
          <a:off x="0" y="3388824"/>
          <a:ext cx="6263640" cy="973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Resumen</a:t>
          </a:r>
          <a:endParaRPr lang="en-US" sz="3200" kern="1200" dirty="0"/>
        </a:p>
      </dsp:txBody>
      <dsp:txXfrm>
        <a:off x="47519" y="3436343"/>
        <a:ext cx="6168602" cy="878402"/>
      </dsp:txXfrm>
    </dsp:sp>
    <dsp:sp modelId="{6CCCAD9E-A23F-43FA-AECD-D08164DD9612}">
      <dsp:nvSpPr>
        <dsp:cNvPr id="0" name=""/>
        <dsp:cNvSpPr/>
      </dsp:nvSpPr>
      <dsp:spPr>
        <a:xfrm>
          <a:off x="0" y="4531247"/>
          <a:ext cx="6263640" cy="973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Interpretación</a:t>
          </a:r>
          <a:endParaRPr lang="en-US" sz="3200" kern="1200" dirty="0"/>
        </a:p>
      </dsp:txBody>
      <dsp:txXfrm>
        <a:off x="47519" y="4578766"/>
        <a:ext cx="6168602" cy="8784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EACA9-C389-41FA-B390-1AED91870DC5}">
      <dsp:nvSpPr>
        <dsp:cNvPr id="0" name=""/>
        <dsp:cNvSpPr/>
      </dsp:nvSpPr>
      <dsp:spPr>
        <a:xfrm>
          <a:off x="3080" y="587635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Requisitos de la información contenida en los Estados Financieros:</a:t>
          </a:r>
          <a:endParaRPr lang="en-US" sz="1800" kern="1200"/>
        </a:p>
      </dsp:txBody>
      <dsp:txXfrm>
        <a:off x="3080" y="587635"/>
        <a:ext cx="2444055" cy="1466433"/>
      </dsp:txXfrm>
    </dsp:sp>
    <dsp:sp modelId="{A4FFF2C9-07A8-4DBA-97C2-91D13EDB954C}">
      <dsp:nvSpPr>
        <dsp:cNvPr id="0" name=""/>
        <dsp:cNvSpPr/>
      </dsp:nvSpPr>
      <dsp:spPr>
        <a:xfrm>
          <a:off x="2691541" y="587635"/>
          <a:ext cx="2444055" cy="1466433"/>
        </a:xfrm>
        <a:prstGeom prst="rect">
          <a:avLst/>
        </a:prstGeom>
        <a:solidFill>
          <a:schemeClr val="accent5">
            <a:hueOff val="-965506"/>
            <a:satOff val="-2488"/>
            <a:lumOff val="-16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Pertinencia					. Confiabilidad</a:t>
          </a:r>
          <a:endParaRPr lang="en-US" sz="1800" kern="1200"/>
        </a:p>
      </dsp:txBody>
      <dsp:txXfrm>
        <a:off x="2691541" y="587635"/>
        <a:ext cx="2444055" cy="1466433"/>
      </dsp:txXfrm>
    </dsp:sp>
    <dsp:sp modelId="{4ECDC65B-0BB8-4E13-BEB2-12781FF40D4C}">
      <dsp:nvSpPr>
        <dsp:cNvPr id="0" name=""/>
        <dsp:cNvSpPr/>
      </dsp:nvSpPr>
      <dsp:spPr>
        <a:xfrm>
          <a:off x="5380002" y="587635"/>
          <a:ext cx="2444055" cy="1466433"/>
        </a:xfrm>
        <a:prstGeom prst="rect">
          <a:avLst/>
        </a:prstGeom>
        <a:solidFill>
          <a:schemeClr val="accent5">
            <a:hueOff val="-1931012"/>
            <a:satOff val="-4977"/>
            <a:lumOff val="-33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Objetividad					. Representatividad</a:t>
          </a:r>
          <a:endParaRPr lang="en-US" sz="1800" kern="1200"/>
        </a:p>
      </dsp:txBody>
      <dsp:txXfrm>
        <a:off x="5380002" y="587635"/>
        <a:ext cx="2444055" cy="1466433"/>
      </dsp:txXfrm>
    </dsp:sp>
    <dsp:sp modelId="{28B3B07C-2ADC-46D8-9DA0-5E14D84ED4DF}">
      <dsp:nvSpPr>
        <dsp:cNvPr id="0" name=""/>
        <dsp:cNvSpPr/>
      </dsp:nvSpPr>
      <dsp:spPr>
        <a:xfrm>
          <a:off x="8068463" y="587635"/>
          <a:ext cx="2444055" cy="1466433"/>
        </a:xfrm>
        <a:prstGeom prst="rect">
          <a:avLst/>
        </a:prstGeom>
        <a:solidFill>
          <a:schemeClr val="accent5">
            <a:hueOff val="-2896518"/>
            <a:satOff val="-7465"/>
            <a:lumOff val="-50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Comparabilidad				. Certeza</a:t>
          </a:r>
          <a:endParaRPr lang="en-US" sz="1800" kern="1200"/>
        </a:p>
      </dsp:txBody>
      <dsp:txXfrm>
        <a:off x="8068463" y="587635"/>
        <a:ext cx="2444055" cy="1466433"/>
      </dsp:txXfrm>
    </dsp:sp>
    <dsp:sp modelId="{1FC9CE2C-0E99-423F-AC2C-3914F26F050F}">
      <dsp:nvSpPr>
        <dsp:cNvPr id="0" name=""/>
        <dsp:cNvSpPr/>
      </dsp:nvSpPr>
      <dsp:spPr>
        <a:xfrm>
          <a:off x="3080" y="2298474"/>
          <a:ext cx="2444055" cy="1466433"/>
        </a:xfrm>
        <a:prstGeom prst="rect">
          <a:avLst/>
        </a:prstGeom>
        <a:solidFill>
          <a:schemeClr val="accent5">
            <a:hueOff val="-3862025"/>
            <a:satOff val="-9954"/>
            <a:lumOff val="-6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Claridad					. Exactitud</a:t>
          </a:r>
          <a:endParaRPr lang="en-US" sz="1800" kern="1200"/>
        </a:p>
      </dsp:txBody>
      <dsp:txXfrm>
        <a:off x="3080" y="2298474"/>
        <a:ext cx="2444055" cy="1466433"/>
      </dsp:txXfrm>
    </dsp:sp>
    <dsp:sp modelId="{545BA527-F512-4BEA-B9A1-5FCEDD155842}">
      <dsp:nvSpPr>
        <dsp:cNvPr id="0" name=""/>
        <dsp:cNvSpPr/>
      </dsp:nvSpPr>
      <dsp:spPr>
        <a:xfrm>
          <a:off x="2691541" y="2298474"/>
          <a:ext cx="2444055" cy="1466433"/>
        </a:xfrm>
        <a:prstGeom prst="rect">
          <a:avLst/>
        </a:prstGeom>
        <a:solidFill>
          <a:schemeClr val="accent5">
            <a:hueOff val="-4827531"/>
            <a:satOff val="-12442"/>
            <a:lumOff val="-84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Oportunidad					. Prudencia</a:t>
          </a:r>
          <a:endParaRPr lang="en-US" sz="1800" kern="1200"/>
        </a:p>
      </dsp:txBody>
      <dsp:txXfrm>
        <a:off x="2691541" y="2298474"/>
        <a:ext cx="2444055" cy="1466433"/>
      </dsp:txXfrm>
    </dsp:sp>
    <dsp:sp modelId="{2F8726AA-3FC7-41D1-A9FD-87B271DB51C2}">
      <dsp:nvSpPr>
        <dsp:cNvPr id="0" name=""/>
        <dsp:cNvSpPr/>
      </dsp:nvSpPr>
      <dsp:spPr>
        <a:xfrm>
          <a:off x="5380002" y="2298474"/>
          <a:ext cx="2444055" cy="1466433"/>
        </a:xfrm>
        <a:prstGeom prst="rect">
          <a:avLst/>
        </a:prstGeom>
        <a:solidFill>
          <a:schemeClr val="accent5">
            <a:hueOff val="-5793037"/>
            <a:satOff val="-14931"/>
            <a:lumOff val="-100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Sustancia versus forma			. Verificabilidad</a:t>
          </a:r>
          <a:endParaRPr lang="en-US" sz="1800" kern="1200"/>
        </a:p>
      </dsp:txBody>
      <dsp:txXfrm>
        <a:off x="5380002" y="2298474"/>
        <a:ext cx="2444055" cy="1466433"/>
      </dsp:txXfrm>
    </dsp:sp>
    <dsp:sp modelId="{3F505B48-CA7C-46D2-8A81-DA222897EE68}">
      <dsp:nvSpPr>
        <dsp:cNvPr id="0" name=""/>
        <dsp:cNvSpPr/>
      </dsp:nvSpPr>
      <dsp:spPr>
        <a:xfrm>
          <a:off x="8068463" y="2298474"/>
          <a:ext cx="2444055" cy="1466433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Utilidad					. Irremplazabilidad	</a:t>
          </a:r>
          <a:endParaRPr lang="en-US" sz="1800" kern="1200"/>
        </a:p>
      </dsp:txBody>
      <dsp:txXfrm>
        <a:off x="8068463" y="2298474"/>
        <a:ext cx="2444055" cy="14664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8D9BA-D84B-4D11-88C6-1DC8DD9C68F0}">
      <dsp:nvSpPr>
        <dsp:cNvPr id="0" name=""/>
        <dsp:cNvSpPr/>
      </dsp:nvSpPr>
      <dsp:spPr>
        <a:xfrm>
          <a:off x="379476" y="0"/>
          <a:ext cx="5504687" cy="550468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6CC0B-C418-440F-8230-2BE7B145BFC7}">
      <dsp:nvSpPr>
        <dsp:cNvPr id="0" name=""/>
        <dsp:cNvSpPr/>
      </dsp:nvSpPr>
      <dsp:spPr>
        <a:xfrm>
          <a:off x="902421" y="522945"/>
          <a:ext cx="2146828" cy="21468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Ingresos: incremento en el valor de los activos y disminución en el valor de los pasivos</a:t>
          </a:r>
          <a:endParaRPr lang="en-US" sz="1400" kern="1200"/>
        </a:p>
      </dsp:txBody>
      <dsp:txXfrm>
        <a:off x="1007221" y="627745"/>
        <a:ext cx="1937228" cy="1937228"/>
      </dsp:txXfrm>
    </dsp:sp>
    <dsp:sp modelId="{D661723E-DDDE-4C5C-8243-D4C85042D650}">
      <dsp:nvSpPr>
        <dsp:cNvPr id="0" name=""/>
        <dsp:cNvSpPr/>
      </dsp:nvSpPr>
      <dsp:spPr>
        <a:xfrm>
          <a:off x="3214390" y="522945"/>
          <a:ext cx="2146828" cy="21468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Costos: disminución en el valor de los activos y aumento en el valor de los pasivos</a:t>
          </a:r>
          <a:endParaRPr lang="en-US" sz="1400" kern="1200"/>
        </a:p>
      </dsp:txBody>
      <dsp:txXfrm>
        <a:off x="3319190" y="627745"/>
        <a:ext cx="1937228" cy="1937228"/>
      </dsp:txXfrm>
    </dsp:sp>
    <dsp:sp modelId="{4AC76388-2B88-4C81-A9EE-55F2E319C949}">
      <dsp:nvSpPr>
        <dsp:cNvPr id="0" name=""/>
        <dsp:cNvSpPr/>
      </dsp:nvSpPr>
      <dsp:spPr>
        <a:xfrm>
          <a:off x="902421" y="2834914"/>
          <a:ext cx="2146828" cy="214682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La diferencia entre ingresos y costos determinará el cambio periódico del patrimonio neto, lo que resulta en el beneficio económico.</a:t>
          </a:r>
          <a:endParaRPr lang="en-US" sz="1400" kern="1200"/>
        </a:p>
      </dsp:txBody>
      <dsp:txXfrm>
        <a:off x="1007221" y="2939714"/>
        <a:ext cx="1937228" cy="1937228"/>
      </dsp:txXfrm>
    </dsp:sp>
    <dsp:sp modelId="{17455313-439D-4F98-ACA8-AD31DBB57561}">
      <dsp:nvSpPr>
        <dsp:cNvPr id="0" name=""/>
        <dsp:cNvSpPr/>
      </dsp:nvSpPr>
      <dsp:spPr>
        <a:xfrm>
          <a:off x="3214390" y="2834914"/>
          <a:ext cx="2146828" cy="21468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Los beneficios económico y contable serían iguales si: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/>
            <a:t>Valuación a valores de mercado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/>
            <a:t>Exposición a la inflación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/>
            <a:t>Futuros negocios esperados que afectarán las utilidades de la compañía</a:t>
          </a:r>
          <a:endParaRPr lang="en-US" sz="1100" kern="1200"/>
        </a:p>
      </dsp:txBody>
      <dsp:txXfrm>
        <a:off x="3319190" y="2939714"/>
        <a:ext cx="1937228" cy="19372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6A373-4672-477C-AE78-0C5F77493457}">
      <dsp:nvSpPr>
        <dsp:cNvPr id="0" name=""/>
        <dsp:cNvSpPr/>
      </dsp:nvSpPr>
      <dsp:spPr>
        <a:xfrm>
          <a:off x="0" y="522757"/>
          <a:ext cx="5257800" cy="7547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ratio</a:t>
          </a:r>
          <a:endParaRPr lang="en-US" sz="1900" kern="1200"/>
        </a:p>
      </dsp:txBody>
      <dsp:txXfrm>
        <a:off x="36845" y="559602"/>
        <a:ext cx="5184110" cy="681087"/>
      </dsp:txXfrm>
    </dsp:sp>
    <dsp:sp modelId="{F7F797EB-1721-4ABC-B245-51E912DE928C}">
      <dsp:nvSpPr>
        <dsp:cNvPr id="0" name=""/>
        <dsp:cNvSpPr/>
      </dsp:nvSpPr>
      <dsp:spPr>
        <a:xfrm>
          <a:off x="0" y="1277535"/>
          <a:ext cx="525780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35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AR" sz="1500" kern="1200"/>
            <a:t>Del lat. ratio.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AR" sz="1500" kern="1200"/>
            <a:t>1. f. Mat. razón (‖ cociente de dos números)</a:t>
          </a:r>
          <a:endParaRPr lang="en-US" sz="1500" kern="1200"/>
        </a:p>
      </dsp:txBody>
      <dsp:txXfrm>
        <a:off x="0" y="1277535"/>
        <a:ext cx="5257800" cy="521122"/>
      </dsp:txXfrm>
    </dsp:sp>
    <dsp:sp modelId="{5BB3895B-3F80-4B85-A758-11F518B581A1}">
      <dsp:nvSpPr>
        <dsp:cNvPr id="0" name=""/>
        <dsp:cNvSpPr/>
      </dsp:nvSpPr>
      <dsp:spPr>
        <a:xfrm>
          <a:off x="0" y="1798658"/>
          <a:ext cx="5257800" cy="754777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razón</a:t>
          </a:r>
          <a:endParaRPr lang="en-US" sz="1900" kern="1200"/>
        </a:p>
      </dsp:txBody>
      <dsp:txXfrm>
        <a:off x="36845" y="1835503"/>
        <a:ext cx="5184110" cy="681087"/>
      </dsp:txXfrm>
    </dsp:sp>
    <dsp:sp modelId="{AF3FBF83-EDFC-4CD9-90F2-D132B72D9FF1}">
      <dsp:nvSpPr>
        <dsp:cNvPr id="0" name=""/>
        <dsp:cNvSpPr/>
      </dsp:nvSpPr>
      <dsp:spPr>
        <a:xfrm>
          <a:off x="0" y="2608156"/>
          <a:ext cx="5257800" cy="754777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Del lat. ratio, -ōnis.</a:t>
          </a:r>
          <a:endParaRPr lang="en-US" sz="1900" kern="1200"/>
        </a:p>
      </dsp:txBody>
      <dsp:txXfrm>
        <a:off x="36845" y="2645001"/>
        <a:ext cx="5184110" cy="681087"/>
      </dsp:txXfrm>
    </dsp:sp>
    <dsp:sp modelId="{9B008BDA-CBE9-4B88-84E6-1A47AA6619B4}">
      <dsp:nvSpPr>
        <dsp:cNvPr id="0" name=""/>
        <dsp:cNvSpPr/>
      </dsp:nvSpPr>
      <dsp:spPr>
        <a:xfrm>
          <a:off x="0" y="3417654"/>
          <a:ext cx="5257800" cy="754777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11. f. Mat. Cociente de dos números o, en general, de dos cantidades comparables entre sí.</a:t>
          </a:r>
          <a:endParaRPr lang="en-US" sz="1900" kern="1200"/>
        </a:p>
      </dsp:txBody>
      <dsp:txXfrm>
        <a:off x="36845" y="3454499"/>
        <a:ext cx="5184110" cy="681087"/>
      </dsp:txXfrm>
    </dsp:sp>
    <dsp:sp modelId="{B9320D06-01AC-475E-AFAF-69312A09B207}">
      <dsp:nvSpPr>
        <dsp:cNvPr id="0" name=""/>
        <dsp:cNvSpPr/>
      </dsp:nvSpPr>
      <dsp:spPr>
        <a:xfrm>
          <a:off x="0" y="4227152"/>
          <a:ext cx="5257800" cy="754777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/>
            <a:t>Pueden estar expresados en número de veces, porcentaje o días.</a:t>
          </a:r>
          <a:endParaRPr lang="en-US" sz="1900" kern="1200"/>
        </a:p>
      </dsp:txBody>
      <dsp:txXfrm>
        <a:off x="36845" y="4263997"/>
        <a:ext cx="5184110" cy="6810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B99BD-0436-4259-A43D-056FD324C464}">
      <dsp:nvSpPr>
        <dsp:cNvPr id="0" name=""/>
        <dsp:cNvSpPr/>
      </dsp:nvSpPr>
      <dsp:spPr>
        <a:xfrm>
          <a:off x="0" y="51781"/>
          <a:ext cx="10515600" cy="7195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Objetivo: Facilitar la interpretación de los Estados Financieros</a:t>
          </a:r>
          <a:endParaRPr lang="en-US" sz="3000" kern="1200"/>
        </a:p>
      </dsp:txBody>
      <dsp:txXfrm>
        <a:off x="35125" y="86906"/>
        <a:ext cx="10445350" cy="649299"/>
      </dsp:txXfrm>
    </dsp:sp>
    <dsp:sp modelId="{EF53FEC3-2C03-4993-99B8-0E2D8C30E538}">
      <dsp:nvSpPr>
        <dsp:cNvPr id="0" name=""/>
        <dsp:cNvSpPr/>
      </dsp:nvSpPr>
      <dsp:spPr>
        <a:xfrm>
          <a:off x="0" y="857731"/>
          <a:ext cx="10515600" cy="719549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Formación de ratios: </a:t>
          </a:r>
          <a:endParaRPr lang="en-US" sz="3000" kern="1200"/>
        </a:p>
      </dsp:txBody>
      <dsp:txXfrm>
        <a:off x="35125" y="892856"/>
        <a:ext cx="10445350" cy="649299"/>
      </dsp:txXfrm>
    </dsp:sp>
    <dsp:sp modelId="{56833572-A6AF-4F9F-9AD2-98ECCACEE41A}">
      <dsp:nvSpPr>
        <dsp:cNvPr id="0" name=""/>
        <dsp:cNvSpPr/>
      </dsp:nvSpPr>
      <dsp:spPr>
        <a:xfrm>
          <a:off x="0" y="1577281"/>
          <a:ext cx="1051560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Conectar componentes adecuados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Basados en elementos comunes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Formados por conceptos relacionados</a:t>
          </a:r>
          <a:endParaRPr lang="en-US" sz="2300" kern="1200"/>
        </a:p>
      </dsp:txBody>
      <dsp:txXfrm>
        <a:off x="0" y="1577281"/>
        <a:ext cx="10515600" cy="1210950"/>
      </dsp:txXfrm>
    </dsp:sp>
    <dsp:sp modelId="{9179D4D0-9F2F-4571-9A78-9AF1A5400B5B}">
      <dsp:nvSpPr>
        <dsp:cNvPr id="0" name=""/>
        <dsp:cNvSpPr/>
      </dsp:nvSpPr>
      <dsp:spPr>
        <a:xfrm>
          <a:off x="0" y="2788231"/>
          <a:ext cx="10515600" cy="719549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Interpretación de los ratios:</a:t>
          </a:r>
          <a:endParaRPr lang="en-US" sz="3000" kern="1200"/>
        </a:p>
      </dsp:txBody>
      <dsp:txXfrm>
        <a:off x="35125" y="2823356"/>
        <a:ext cx="10445350" cy="649299"/>
      </dsp:txXfrm>
    </dsp:sp>
    <dsp:sp modelId="{561DA5A3-0C22-4BB2-A66D-7704B3614322}">
      <dsp:nvSpPr>
        <dsp:cNvPr id="0" name=""/>
        <dsp:cNvSpPr/>
      </dsp:nvSpPr>
      <dsp:spPr>
        <a:xfrm>
          <a:off x="0" y="3507781"/>
          <a:ext cx="1051560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Prudencia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Observar las limitaciones</a:t>
          </a:r>
          <a:endParaRPr lang="en-US" sz="2300" kern="1200"/>
        </a:p>
      </dsp:txBody>
      <dsp:txXfrm>
        <a:off x="0" y="3507781"/>
        <a:ext cx="10515600" cy="7917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9F8D2-9EE1-4C96-8018-FD46C69E00E6}">
      <dsp:nvSpPr>
        <dsp:cNvPr id="0" name=""/>
        <dsp:cNvSpPr/>
      </dsp:nvSpPr>
      <dsp:spPr>
        <a:xfrm>
          <a:off x="895527" y="-77243"/>
          <a:ext cx="5898783" cy="5898783"/>
        </a:xfrm>
        <a:prstGeom prst="circularArrow">
          <a:avLst>
            <a:gd name="adj1" fmla="val 5544"/>
            <a:gd name="adj2" fmla="val 330680"/>
            <a:gd name="adj3" fmla="val 14856954"/>
            <a:gd name="adj4" fmla="val 16757195"/>
            <a:gd name="adj5" fmla="val 575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E7FED-A483-44EA-B4B9-43EF1187D387}">
      <dsp:nvSpPr>
        <dsp:cNvPr id="0" name=""/>
        <dsp:cNvSpPr/>
      </dsp:nvSpPr>
      <dsp:spPr>
        <a:xfrm>
          <a:off x="3152158" y="3067"/>
          <a:ext cx="1385522" cy="6927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Definiciones</a:t>
          </a:r>
          <a:endParaRPr lang="en-US" sz="900" kern="1200"/>
        </a:p>
      </dsp:txBody>
      <dsp:txXfrm>
        <a:off x="3185976" y="36885"/>
        <a:ext cx="1317886" cy="625125"/>
      </dsp:txXfrm>
    </dsp:sp>
    <dsp:sp modelId="{668CF144-453B-4DC9-A67F-CB8B97CA6E88}">
      <dsp:nvSpPr>
        <dsp:cNvPr id="0" name=""/>
        <dsp:cNvSpPr/>
      </dsp:nvSpPr>
      <dsp:spPr>
        <a:xfrm>
          <a:off x="4630715" y="483480"/>
          <a:ext cx="1385522" cy="692761"/>
        </a:xfrm>
        <a:prstGeom prst="roundRect">
          <a:avLst/>
        </a:prstGeom>
        <a:solidFill>
          <a:schemeClr val="accent5">
            <a:hueOff val="-750949"/>
            <a:satOff val="-1935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Comparación de situaciones</a:t>
          </a:r>
          <a:endParaRPr lang="en-US" sz="900" kern="1200"/>
        </a:p>
      </dsp:txBody>
      <dsp:txXfrm>
        <a:off x="4664533" y="517298"/>
        <a:ext cx="1317886" cy="625125"/>
      </dsp:txXfrm>
    </dsp:sp>
    <dsp:sp modelId="{3ED6C978-C9F8-4BF8-A455-1BAD52009A40}">
      <dsp:nvSpPr>
        <dsp:cNvPr id="0" name=""/>
        <dsp:cNvSpPr/>
      </dsp:nvSpPr>
      <dsp:spPr>
        <a:xfrm>
          <a:off x="5544514" y="1741216"/>
          <a:ext cx="1385522" cy="692761"/>
        </a:xfrm>
        <a:prstGeom prst="roundRect">
          <a:avLst/>
        </a:prstGeom>
        <a:solidFill>
          <a:schemeClr val="accent5">
            <a:hueOff val="-1501898"/>
            <a:satOff val="-3871"/>
            <a:lumOff val="-26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Análisis estático</a:t>
          </a:r>
          <a:endParaRPr lang="en-US" sz="900" kern="1200"/>
        </a:p>
      </dsp:txBody>
      <dsp:txXfrm>
        <a:off x="5578332" y="1775034"/>
        <a:ext cx="1317886" cy="625125"/>
      </dsp:txXfrm>
    </dsp:sp>
    <dsp:sp modelId="{66FB5249-7623-4EA5-BED5-A8F4B2840D7B}">
      <dsp:nvSpPr>
        <dsp:cNvPr id="0" name=""/>
        <dsp:cNvSpPr/>
      </dsp:nvSpPr>
      <dsp:spPr>
        <a:xfrm>
          <a:off x="5544514" y="3295864"/>
          <a:ext cx="1385522" cy="692761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Análisis de corto plazo</a:t>
          </a:r>
          <a:endParaRPr lang="en-US" sz="900" kern="1200"/>
        </a:p>
      </dsp:txBody>
      <dsp:txXfrm>
        <a:off x="5578332" y="3329682"/>
        <a:ext cx="1317886" cy="625125"/>
      </dsp:txXfrm>
    </dsp:sp>
    <dsp:sp modelId="{26EE6B35-4ABA-4D1F-9D09-44382B908339}">
      <dsp:nvSpPr>
        <dsp:cNvPr id="0" name=""/>
        <dsp:cNvSpPr/>
      </dsp:nvSpPr>
      <dsp:spPr>
        <a:xfrm>
          <a:off x="4630715" y="4553600"/>
          <a:ext cx="1385522" cy="692761"/>
        </a:xfrm>
        <a:prstGeom prst="roundRect">
          <a:avLst/>
        </a:prstGeom>
        <a:solidFill>
          <a:schemeClr val="accent5">
            <a:hueOff val="-3003797"/>
            <a:satOff val="-7742"/>
            <a:lumOff val="-52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Utilizados incorrectamente como indicadores de buena o mala performance</a:t>
          </a:r>
          <a:endParaRPr lang="en-US" sz="900" kern="1200"/>
        </a:p>
      </dsp:txBody>
      <dsp:txXfrm>
        <a:off x="4664533" y="4587418"/>
        <a:ext cx="1317886" cy="625125"/>
      </dsp:txXfrm>
    </dsp:sp>
    <dsp:sp modelId="{BFE6CBA5-A142-4BDB-B7A0-E7BF052F911D}">
      <dsp:nvSpPr>
        <dsp:cNvPr id="0" name=""/>
        <dsp:cNvSpPr/>
      </dsp:nvSpPr>
      <dsp:spPr>
        <a:xfrm>
          <a:off x="3152158" y="5034013"/>
          <a:ext cx="1385522" cy="692761"/>
        </a:xfrm>
        <a:prstGeom prst="roundRect">
          <a:avLst/>
        </a:prstGeom>
        <a:solidFill>
          <a:schemeClr val="accent5">
            <a:hueOff val="-3754746"/>
            <a:satOff val="-9677"/>
            <a:lumOff val="-65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Porcentajes</a:t>
          </a:r>
          <a:endParaRPr lang="en-US" sz="900" kern="1200"/>
        </a:p>
      </dsp:txBody>
      <dsp:txXfrm>
        <a:off x="3185976" y="5067831"/>
        <a:ext cx="1317886" cy="625125"/>
      </dsp:txXfrm>
    </dsp:sp>
    <dsp:sp modelId="{9BEC7131-BB25-4E80-8120-9C52116CF0ED}">
      <dsp:nvSpPr>
        <dsp:cNvPr id="0" name=""/>
        <dsp:cNvSpPr/>
      </dsp:nvSpPr>
      <dsp:spPr>
        <a:xfrm>
          <a:off x="1673600" y="4553600"/>
          <a:ext cx="1385522" cy="692761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Análisis univariante</a:t>
          </a:r>
          <a:endParaRPr lang="en-US" sz="900" kern="1200"/>
        </a:p>
      </dsp:txBody>
      <dsp:txXfrm>
        <a:off x="1707418" y="4587418"/>
        <a:ext cx="1317886" cy="625125"/>
      </dsp:txXfrm>
    </dsp:sp>
    <dsp:sp modelId="{7ED4459B-1884-4874-B51B-A6EF8316DC78}">
      <dsp:nvSpPr>
        <dsp:cNvPr id="0" name=""/>
        <dsp:cNvSpPr/>
      </dsp:nvSpPr>
      <dsp:spPr>
        <a:xfrm>
          <a:off x="759801" y="3295864"/>
          <a:ext cx="1385522" cy="692761"/>
        </a:xfrm>
        <a:prstGeom prst="roundRect">
          <a:avLst/>
        </a:prstGeom>
        <a:solidFill>
          <a:schemeClr val="accent5">
            <a:hueOff val="-5256644"/>
            <a:satOff val="-13548"/>
            <a:lumOff val="-91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Problemas Contables</a:t>
          </a:r>
          <a:endParaRPr lang="en-US" sz="900" kern="1200"/>
        </a:p>
      </dsp:txBody>
      <dsp:txXfrm>
        <a:off x="793619" y="3329682"/>
        <a:ext cx="1317886" cy="625125"/>
      </dsp:txXfrm>
    </dsp:sp>
    <dsp:sp modelId="{1E9AD6CD-B0BE-49F0-A23B-E89C703F9303}">
      <dsp:nvSpPr>
        <dsp:cNvPr id="0" name=""/>
        <dsp:cNvSpPr/>
      </dsp:nvSpPr>
      <dsp:spPr>
        <a:xfrm>
          <a:off x="759801" y="1741216"/>
          <a:ext cx="1385522" cy="692761"/>
        </a:xfrm>
        <a:prstGeom prst="roundRect">
          <a:avLst/>
        </a:prstGeom>
        <a:solidFill>
          <a:schemeClr val="accent5">
            <a:hueOff val="-6007594"/>
            <a:satOff val="-15484"/>
            <a:lumOff val="-104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Problemas Estadísticos</a:t>
          </a:r>
          <a:endParaRPr lang="en-US" sz="900" kern="1200"/>
        </a:p>
      </dsp:txBody>
      <dsp:txXfrm>
        <a:off x="793619" y="1775034"/>
        <a:ext cx="1317886" cy="625125"/>
      </dsp:txXfrm>
    </dsp:sp>
    <dsp:sp modelId="{9A0378BD-CCB2-48D0-BF03-3AA612953B61}">
      <dsp:nvSpPr>
        <dsp:cNvPr id="0" name=""/>
        <dsp:cNvSpPr/>
      </dsp:nvSpPr>
      <dsp:spPr>
        <a:xfrm>
          <a:off x="1673600" y="483480"/>
          <a:ext cx="1385522" cy="692761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Estacionalidad e Inflación</a:t>
          </a:r>
          <a:endParaRPr lang="en-US" sz="900" kern="1200"/>
        </a:p>
      </dsp:txBody>
      <dsp:txXfrm>
        <a:off x="1707418" y="517298"/>
        <a:ext cx="1317886" cy="6251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0D5AD-D19D-4796-9D07-D4BCB52C04D9}">
      <dsp:nvSpPr>
        <dsp:cNvPr id="0" name=""/>
        <dsp:cNvSpPr/>
      </dsp:nvSpPr>
      <dsp:spPr>
        <a:xfrm>
          <a:off x="968211" y="810"/>
          <a:ext cx="2063149" cy="12378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Liquidez</a:t>
          </a:r>
          <a:endParaRPr lang="en-US" sz="2300" kern="1200"/>
        </a:p>
      </dsp:txBody>
      <dsp:txXfrm>
        <a:off x="968211" y="810"/>
        <a:ext cx="2063149" cy="1237889"/>
      </dsp:txXfrm>
    </dsp:sp>
    <dsp:sp modelId="{0FDCED75-C4BD-4DC3-BB4F-7A7D171AC94E}">
      <dsp:nvSpPr>
        <dsp:cNvPr id="0" name=""/>
        <dsp:cNvSpPr/>
      </dsp:nvSpPr>
      <dsp:spPr>
        <a:xfrm>
          <a:off x="3237675" y="810"/>
          <a:ext cx="2063149" cy="1237889"/>
        </a:xfrm>
        <a:prstGeom prst="rect">
          <a:avLst/>
        </a:prstGeom>
        <a:solidFill>
          <a:schemeClr val="accent5">
            <a:hueOff val="-965506"/>
            <a:satOff val="-2488"/>
            <a:lumOff val="-16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Endeudamiento</a:t>
          </a:r>
          <a:endParaRPr lang="en-US" sz="2300" kern="1200"/>
        </a:p>
      </dsp:txBody>
      <dsp:txXfrm>
        <a:off x="3237675" y="810"/>
        <a:ext cx="2063149" cy="1237889"/>
      </dsp:txXfrm>
    </dsp:sp>
    <dsp:sp modelId="{79755BAB-D844-40CC-8C20-301F3D19DF31}">
      <dsp:nvSpPr>
        <dsp:cNvPr id="0" name=""/>
        <dsp:cNvSpPr/>
      </dsp:nvSpPr>
      <dsp:spPr>
        <a:xfrm>
          <a:off x="968211" y="1445015"/>
          <a:ext cx="2063149" cy="1237889"/>
        </a:xfrm>
        <a:prstGeom prst="rect">
          <a:avLst/>
        </a:prstGeom>
        <a:solidFill>
          <a:schemeClr val="accent5">
            <a:hueOff val="-1931012"/>
            <a:satOff val="-4977"/>
            <a:lumOff val="-33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Solvencia</a:t>
          </a:r>
          <a:endParaRPr lang="en-US" sz="2300" kern="1200"/>
        </a:p>
      </dsp:txBody>
      <dsp:txXfrm>
        <a:off x="968211" y="1445015"/>
        <a:ext cx="2063149" cy="1237889"/>
      </dsp:txXfrm>
    </dsp:sp>
    <dsp:sp modelId="{C45C1D5F-BE98-482D-AD79-9E9D75681D93}">
      <dsp:nvSpPr>
        <dsp:cNvPr id="0" name=""/>
        <dsp:cNvSpPr/>
      </dsp:nvSpPr>
      <dsp:spPr>
        <a:xfrm>
          <a:off x="3237675" y="1445015"/>
          <a:ext cx="2063149" cy="1237889"/>
        </a:xfrm>
        <a:prstGeom prst="rect">
          <a:avLst/>
        </a:prstGeom>
        <a:solidFill>
          <a:schemeClr val="accent5">
            <a:hueOff val="-2896518"/>
            <a:satOff val="-7465"/>
            <a:lumOff val="-50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Actividad</a:t>
          </a:r>
          <a:endParaRPr lang="en-US" sz="2300" kern="1200"/>
        </a:p>
      </dsp:txBody>
      <dsp:txXfrm>
        <a:off x="3237675" y="1445015"/>
        <a:ext cx="2063149" cy="1237889"/>
      </dsp:txXfrm>
    </dsp:sp>
    <dsp:sp modelId="{3E8E87FD-844F-4480-AB56-A1B46F7F9D7B}">
      <dsp:nvSpPr>
        <dsp:cNvPr id="0" name=""/>
        <dsp:cNvSpPr/>
      </dsp:nvSpPr>
      <dsp:spPr>
        <a:xfrm>
          <a:off x="968211" y="2889219"/>
          <a:ext cx="2063149" cy="1237889"/>
        </a:xfrm>
        <a:prstGeom prst="rect">
          <a:avLst/>
        </a:prstGeom>
        <a:solidFill>
          <a:schemeClr val="accent5">
            <a:hueOff val="-3862025"/>
            <a:satOff val="-9954"/>
            <a:lumOff val="-6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Rentabilidad</a:t>
          </a:r>
          <a:endParaRPr lang="en-US" sz="2300" kern="1200"/>
        </a:p>
      </dsp:txBody>
      <dsp:txXfrm>
        <a:off x="968211" y="2889219"/>
        <a:ext cx="2063149" cy="1237889"/>
      </dsp:txXfrm>
    </dsp:sp>
    <dsp:sp modelId="{0EF9EDE7-288A-4E7E-A168-2CD1244578CB}">
      <dsp:nvSpPr>
        <dsp:cNvPr id="0" name=""/>
        <dsp:cNvSpPr/>
      </dsp:nvSpPr>
      <dsp:spPr>
        <a:xfrm>
          <a:off x="3237675" y="2889219"/>
          <a:ext cx="2063149" cy="1237889"/>
        </a:xfrm>
        <a:prstGeom prst="rect">
          <a:avLst/>
        </a:prstGeom>
        <a:solidFill>
          <a:schemeClr val="accent5">
            <a:hueOff val="-4827531"/>
            <a:satOff val="-12442"/>
            <a:lumOff val="-84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Eficiencia</a:t>
          </a:r>
          <a:endParaRPr lang="en-US" sz="2300" kern="1200"/>
        </a:p>
      </dsp:txBody>
      <dsp:txXfrm>
        <a:off x="3237675" y="2889219"/>
        <a:ext cx="2063149" cy="1237889"/>
      </dsp:txXfrm>
    </dsp:sp>
    <dsp:sp modelId="{5EED0D53-2CA5-4FA5-B11D-CE2E583A9A2C}">
      <dsp:nvSpPr>
        <dsp:cNvPr id="0" name=""/>
        <dsp:cNvSpPr/>
      </dsp:nvSpPr>
      <dsp:spPr>
        <a:xfrm>
          <a:off x="968211" y="4333424"/>
          <a:ext cx="2063149" cy="1237889"/>
        </a:xfrm>
        <a:prstGeom prst="rect">
          <a:avLst/>
        </a:prstGeom>
        <a:solidFill>
          <a:schemeClr val="accent5">
            <a:hueOff val="-5793037"/>
            <a:satOff val="-14931"/>
            <a:lumOff val="-100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Mercado</a:t>
          </a:r>
          <a:endParaRPr lang="en-US" sz="2300" kern="1200"/>
        </a:p>
      </dsp:txBody>
      <dsp:txXfrm>
        <a:off x="968211" y="4333424"/>
        <a:ext cx="2063149" cy="1237889"/>
      </dsp:txXfrm>
    </dsp:sp>
    <dsp:sp modelId="{ADE4AE12-F0A3-47A7-B0FA-DA393115B4C9}">
      <dsp:nvSpPr>
        <dsp:cNvPr id="0" name=""/>
        <dsp:cNvSpPr/>
      </dsp:nvSpPr>
      <dsp:spPr>
        <a:xfrm>
          <a:off x="3237675" y="4333424"/>
          <a:ext cx="2063149" cy="1237889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/>
            <a:t>Crecimiento</a:t>
          </a:r>
          <a:endParaRPr lang="en-US" sz="2300" kern="1200"/>
        </a:p>
      </dsp:txBody>
      <dsp:txXfrm>
        <a:off x="3237675" y="4333424"/>
        <a:ext cx="2063149" cy="1237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6A361-3AAB-4593-81A5-D21211FC83E2}" type="datetimeFigureOut">
              <a:rPr lang="es-AR" smtClean="0"/>
              <a:t>10/7/2024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2FB60-54A6-472A-BD3F-F51B70C3C9C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0699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08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5935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435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939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546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152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204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917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372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134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758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127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640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240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142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76A27-8146-4F75-9851-A83577C6FD8A}" type="datetime2">
              <a:rPr lang="en-US" smtClean="0"/>
              <a:t>Wednesday, July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AB3BA-07EE-4B64-A177-47C30D7758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221169-8B91-4C27-BC78-1AE1250372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17840"/>
          <a:stretch/>
        </p:blipFill>
        <p:spPr>
          <a:xfrm>
            <a:off x="3551623" y="-154735"/>
            <a:ext cx="866851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73C8E2B-43D9-4AE9-904A-0C6A14782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ES" sz="4800"/>
              <a:t>ANÁLISIS DE ESTADOS FINANCIEROS</a:t>
            </a:r>
            <a:endParaRPr lang="es-AR" sz="48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CF39FC-7122-49A6-8750-E9CE026B1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ES" sz="2000" dirty="0">
                <a:latin typeface="Vladimir Script" panose="03050402040407070305" pitchFamily="66" charset="0"/>
              </a:rPr>
              <a:t>Miguel Pérez Rodríguez</a:t>
            </a:r>
            <a:endParaRPr lang="es-AR" sz="2000" dirty="0">
              <a:latin typeface="Vladimir Script" panose="030504020404070703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4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EED94-588A-4651-9C53-B49CB1524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s-ES" sz="2900" b="0">
                <a:latin typeface="Cavolini" panose="03000502040302020204" pitchFamily="66" charset="0"/>
                <a:cs typeface="Cavolini" panose="03000502040302020204" pitchFamily="66" charset="0"/>
              </a:rPr>
              <a:t>CONTABILIDAD</a:t>
            </a:r>
            <a:br>
              <a:rPr lang="es-ES" sz="2900" b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s-AR" sz="2900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5E424E7-FCB8-40DD-81C4-A48C95BFD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231997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771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386FE-90BA-4BF2-A695-4E142983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s-ES" sz="3600" b="0">
                <a:latin typeface="Cavolini" panose="03000502040302020204" pitchFamily="66" charset="0"/>
                <a:cs typeface="Cavolini" panose="03000502040302020204" pitchFamily="66" charset="0"/>
              </a:rPr>
              <a:t>Contabilidad</a:t>
            </a:r>
            <a:br>
              <a:rPr lang="es-ES" sz="3600" b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600" b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D44E57C-B8CB-48D2-B434-DBE283687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828878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139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0A91112-A2AF-4909-8367-8CEAAAE2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600" b="0">
                <a:solidFill>
                  <a:schemeClr val="tx2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Contabilidad</a:t>
            </a:r>
            <a:br>
              <a:rPr lang="es-ES" sz="3600" b="0">
                <a:solidFill>
                  <a:schemeClr val="tx2"/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600" b="0">
              <a:solidFill>
                <a:schemeClr val="tx2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2CC9D7-C202-4355-B264-F40FC9900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algn="just"/>
            <a:r>
              <a:rPr lang="es-ES" sz="1800" dirty="0">
                <a:solidFill>
                  <a:schemeClr val="tx2"/>
                </a:solidFill>
              </a:rPr>
              <a:t>Los estados financieros brindan una aproximación a la situación económica y financiera histórica de una empresa y proporcionan una base para realizar proyecciones.</a:t>
            </a:r>
          </a:p>
          <a:p>
            <a:pPr marL="0" indent="0" algn="just">
              <a:buNone/>
            </a:pPr>
            <a:endParaRPr lang="es-ES" sz="1800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endParaRPr lang="es-ES" sz="1800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Existen varios estados financieros, entre los cuales podemos mencionar:</a:t>
            </a:r>
          </a:p>
          <a:p>
            <a:pPr lvl="1"/>
            <a:endParaRPr lang="es-ES" sz="1800" dirty="0">
              <a:solidFill>
                <a:schemeClr val="tx2"/>
              </a:solidFill>
            </a:endParaRPr>
          </a:p>
          <a:p>
            <a:pPr lvl="2"/>
            <a:r>
              <a:rPr lang="es-ES" sz="1800" dirty="0">
                <a:solidFill>
                  <a:schemeClr val="tx2"/>
                </a:solidFill>
              </a:rPr>
              <a:t>Estado de Situación Patrimonial</a:t>
            </a:r>
          </a:p>
          <a:p>
            <a:pPr lvl="2"/>
            <a:r>
              <a:rPr lang="es-ES" sz="1800" dirty="0">
                <a:solidFill>
                  <a:schemeClr val="tx2"/>
                </a:solidFill>
              </a:rPr>
              <a:t>Estado de Resultados</a:t>
            </a:r>
          </a:p>
          <a:p>
            <a:pPr lvl="2"/>
            <a:r>
              <a:rPr lang="es-ES" sz="1800" dirty="0">
                <a:solidFill>
                  <a:schemeClr val="tx2"/>
                </a:solidFill>
              </a:rPr>
              <a:t>Estado de Evolución del Patrimonio Neto</a:t>
            </a:r>
          </a:p>
          <a:p>
            <a:pPr lvl="2"/>
            <a:r>
              <a:rPr lang="es-ES" sz="1800" dirty="0">
                <a:solidFill>
                  <a:schemeClr val="tx2"/>
                </a:solidFill>
              </a:rPr>
              <a:t>Estado de Flujo de Efectivo</a:t>
            </a:r>
          </a:p>
        </p:txBody>
      </p:sp>
    </p:spTree>
    <p:extLst>
      <p:ext uri="{BB962C8B-B14F-4D97-AF65-F5344CB8AC3E}">
        <p14:creationId xmlns:p14="http://schemas.microsoft.com/office/powerpoint/2010/main" val="259556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8963A8-A440-4DD8-A817-17845198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ES" sz="3600" b="0">
                <a:latin typeface="Cavolini" panose="03000502040302020204" pitchFamily="66" charset="0"/>
                <a:cs typeface="Cavolini" panose="03000502040302020204" pitchFamily="66" charset="0"/>
              </a:rPr>
              <a:t>Contabilidad</a:t>
            </a:r>
            <a:br>
              <a:rPr lang="es-ES" sz="3600" b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600" b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23" name="Marcador de contenido 2">
            <a:extLst>
              <a:ext uri="{FF2B5EF4-FFF2-40B4-BE49-F238E27FC236}">
                <a16:creationId xmlns:a16="http://schemas.microsoft.com/office/drawing/2014/main" id="{E179BE09-605B-4482-A1BF-5A11768314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06723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316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64CD4-D4CD-49B0-8902-5D518D177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s-ES" sz="4000" b="0">
                <a:latin typeface="Cavolini" panose="03000502040302020204" pitchFamily="66" charset="0"/>
                <a:cs typeface="Cavolini" panose="03000502040302020204" pitchFamily="66" charset="0"/>
              </a:rPr>
              <a:t>Beneficio económico y beneficio contable</a:t>
            </a:r>
            <a:endParaRPr lang="es-AR" sz="4000" b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EAF0075-AC38-4CF4-8C99-64393D8E2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771666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471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68239EC-A965-47F1-BDE2-EF24280D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sz="4100" b="0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Interesados en la información contable</a:t>
            </a:r>
            <a:endParaRPr lang="es-AR" sz="4100" b="0">
              <a:solidFill>
                <a:srgbClr val="FFFFFF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BE69D2-00BC-41AF-A1E5-E49476784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s-ES" sz="2400">
                <a:solidFill>
                  <a:srgbClr val="000000"/>
                </a:solidFill>
              </a:rPr>
              <a:t>Accionistas</a:t>
            </a:r>
          </a:p>
          <a:p>
            <a:r>
              <a:rPr lang="es-ES" sz="2400">
                <a:solidFill>
                  <a:srgbClr val="000000"/>
                </a:solidFill>
              </a:rPr>
              <a:t>Administradores</a:t>
            </a:r>
          </a:p>
          <a:p>
            <a:r>
              <a:rPr lang="es-ES" sz="2400">
                <a:solidFill>
                  <a:srgbClr val="000000"/>
                </a:solidFill>
              </a:rPr>
              <a:t>Inversores</a:t>
            </a:r>
          </a:p>
          <a:p>
            <a:r>
              <a:rPr lang="es-ES" sz="2400">
                <a:solidFill>
                  <a:srgbClr val="000000"/>
                </a:solidFill>
              </a:rPr>
              <a:t>Prestamistas</a:t>
            </a:r>
          </a:p>
          <a:p>
            <a:r>
              <a:rPr lang="es-ES" sz="2400">
                <a:solidFill>
                  <a:srgbClr val="000000"/>
                </a:solidFill>
              </a:rPr>
              <a:t>Sindicatos</a:t>
            </a:r>
          </a:p>
          <a:p>
            <a:r>
              <a:rPr lang="es-ES" sz="2400">
                <a:solidFill>
                  <a:srgbClr val="000000"/>
                </a:solidFill>
              </a:rPr>
              <a:t>Gobierno</a:t>
            </a:r>
          </a:p>
          <a:p>
            <a:r>
              <a:rPr lang="es-ES" sz="2400">
                <a:solidFill>
                  <a:srgbClr val="000000"/>
                </a:solidFill>
              </a:rPr>
              <a:t>Investigadores</a:t>
            </a:r>
            <a:endParaRPr lang="es-AR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798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7E0F4-AE01-43F1-B398-495FEBE52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pPr algn="ctr"/>
            <a:r>
              <a:rPr lang="es-AR" dirty="0">
                <a:latin typeface="Cavolini" panose="03000502040302020204" pitchFamily="66" charset="0"/>
                <a:cs typeface="Cavolini" panose="03000502040302020204" pitchFamily="66" charset="0"/>
              </a:rPr>
              <a:t>ANÁLISIS DE LA EMPRESA</a:t>
            </a:r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7559D8-5258-4148-946C-F418E6C24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dirty="0"/>
              <a:t>ANÁLISIS CUALITATIVO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dirty="0"/>
              <a:t>ANÁLISIS CUANTITATIVO</a:t>
            </a:r>
          </a:p>
        </p:txBody>
      </p:sp>
    </p:spTree>
    <p:extLst>
      <p:ext uri="{BB962C8B-B14F-4D97-AF65-F5344CB8AC3E}">
        <p14:creationId xmlns:p14="http://schemas.microsoft.com/office/powerpoint/2010/main" val="157084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8EF3B-923A-45F3-A345-058EE8C4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pPr algn="ctr"/>
            <a:r>
              <a:rPr lang="es-AR" sz="4000" dirty="0">
                <a:latin typeface="Cavolini" panose="03000502040302020204" pitchFamily="66" charset="0"/>
                <a:cs typeface="Cavolini" panose="03000502040302020204" pitchFamily="66" charset="0"/>
              </a:rPr>
              <a:t>ANÁLISIS CUALITATIVO</a:t>
            </a:r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055955-F919-4A6B-A931-70D65E84F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es-AR" sz="1500" dirty="0"/>
              <a:t>PROPIETARIOS. CHARACTER. INTEGRIDAD</a:t>
            </a:r>
          </a:p>
          <a:p>
            <a:r>
              <a:rPr lang="es-AR" sz="1500" dirty="0"/>
              <a:t>ADMINISTRADORES. GERENCIA. CAPACIDAD</a:t>
            </a:r>
          </a:p>
          <a:p>
            <a:r>
              <a:rPr lang="es-AR" sz="1500" dirty="0"/>
              <a:t>ANÁLISIS DEL PAQUETE ACCIONARIO</a:t>
            </a:r>
          </a:p>
          <a:p>
            <a:r>
              <a:rPr lang="es-AR" sz="1500" dirty="0"/>
              <a:t>REEMPLAZO DE FUNCIONARIOS CLAVE</a:t>
            </a:r>
          </a:p>
          <a:p>
            <a:r>
              <a:rPr lang="es-AR" sz="1500" dirty="0"/>
              <a:t>ESTUDIO DEL NEGOCIO</a:t>
            </a:r>
          </a:p>
          <a:p>
            <a:r>
              <a:rPr lang="es-AR" sz="1500" dirty="0"/>
              <a:t>CÓMO DESARROLLA LA PRODUCCIÓN</a:t>
            </a:r>
          </a:p>
          <a:p>
            <a:r>
              <a:rPr lang="es-AR" sz="1500" dirty="0"/>
              <a:t>TECNOLOGÍA</a:t>
            </a:r>
          </a:p>
          <a:p>
            <a:r>
              <a:rPr lang="es-AR" sz="1500" dirty="0"/>
              <a:t>MERCADO</a:t>
            </a:r>
          </a:p>
          <a:p>
            <a:r>
              <a:rPr lang="es-AR" sz="1500" dirty="0"/>
              <a:t>CÓMO DESARROLLA LA COMERCIALIZACIÓN</a:t>
            </a:r>
          </a:p>
          <a:p>
            <a:r>
              <a:rPr lang="es-AR" sz="1500" dirty="0"/>
              <a:t>SISTEMAS DE INFORMACIÓN</a:t>
            </a:r>
          </a:p>
          <a:p>
            <a:r>
              <a:rPr lang="es-AR" sz="1500" dirty="0"/>
              <a:t>PERSPECTIVAS</a:t>
            </a:r>
          </a:p>
          <a:p>
            <a:r>
              <a:rPr lang="es-AR" sz="1500" dirty="0"/>
              <a:t>FACTORES DE RIESGO</a:t>
            </a:r>
          </a:p>
        </p:txBody>
      </p:sp>
    </p:spTree>
    <p:extLst>
      <p:ext uri="{BB962C8B-B14F-4D97-AF65-F5344CB8AC3E}">
        <p14:creationId xmlns:p14="http://schemas.microsoft.com/office/powerpoint/2010/main" val="236105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23D6F-A5E9-443A-B2BC-6CAF031D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pPr algn="ctr"/>
            <a:br>
              <a:rPr lang="es-ES" sz="4000" b="0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4000" b="0" dirty="0">
                <a:latin typeface="Cavolini" panose="03000502040302020204" pitchFamily="66" charset="0"/>
                <a:cs typeface="Cavolini" panose="03000502040302020204" pitchFamily="66" charset="0"/>
              </a:rPr>
              <a:t>ANÁLISIS </a:t>
            </a:r>
            <a:r>
              <a:rPr lang="es-ES" sz="4000" dirty="0">
                <a:latin typeface="Cavolini" panose="03000502040302020204" pitchFamily="66" charset="0"/>
                <a:cs typeface="Cavolini" panose="03000502040302020204" pitchFamily="66" charset="0"/>
              </a:rPr>
              <a:t>CUANTITATIVO</a:t>
            </a:r>
            <a:br>
              <a:rPr lang="es-ES" sz="3700" b="0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700" b="0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D1E5A-1CDF-40B1-AE54-C08B116A4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es-AR" sz="2400" dirty="0"/>
              <a:t>ANÁLISIS VERTICAL</a:t>
            </a:r>
          </a:p>
          <a:p>
            <a:r>
              <a:rPr lang="es-AR" sz="2400" dirty="0"/>
              <a:t>ANÁLISIS HORIZONTAL</a:t>
            </a:r>
          </a:p>
          <a:p>
            <a:r>
              <a:rPr lang="es-AR" sz="2400" dirty="0"/>
              <a:t>ANÁLISIS DE RATIOS</a:t>
            </a:r>
          </a:p>
        </p:txBody>
      </p:sp>
    </p:spTree>
    <p:extLst>
      <p:ext uri="{BB962C8B-B14F-4D97-AF65-F5344CB8AC3E}">
        <p14:creationId xmlns:p14="http://schemas.microsoft.com/office/powerpoint/2010/main" val="316805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737D13-3079-4DEF-B092-4EB3FA15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pPr algn="ctr"/>
            <a:r>
              <a:rPr lang="es-AR" sz="3600" dirty="0">
                <a:latin typeface="Cavolini" panose="03000502040302020204" pitchFamily="66" charset="0"/>
                <a:cs typeface="Cavolini" panose="03000502040302020204" pitchFamily="66" charset="0"/>
              </a:rPr>
              <a:t>ANÁLISIS VERTICAL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AE1EEB-71E2-4012-B3E2-6B86B876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pPr algn="just"/>
            <a:r>
              <a:rPr lang="es-AR" sz="2400" dirty="0"/>
              <a:t>Consiste en determinar:</a:t>
            </a:r>
          </a:p>
          <a:p>
            <a:pPr marL="0" indent="0" algn="just">
              <a:buNone/>
            </a:pPr>
            <a:r>
              <a:rPr lang="es-AR" sz="2400" dirty="0"/>
              <a:t>	¿Cuál es el activo o inversión más significativa?</a:t>
            </a:r>
          </a:p>
          <a:p>
            <a:pPr marL="0" indent="0" algn="just">
              <a:buNone/>
            </a:pPr>
            <a:r>
              <a:rPr lang="es-AR" sz="2400" dirty="0"/>
              <a:t>	¿Cuál es la principal fuente de financiamiento?</a:t>
            </a:r>
          </a:p>
          <a:p>
            <a:pPr marL="0" indent="0" algn="just">
              <a:buNone/>
            </a:pPr>
            <a:r>
              <a:rPr lang="es-AR" sz="2400" dirty="0"/>
              <a:t>	¿Cuánto representan cada uno de los gastos respecto a las ventas?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Estas preguntas pueden contestarse, observando la participación relativa de cada rubro del activo respecto al total de activos; cada fuente de financiación, respecto al total de activos y cada componente de la estructura de ingresos y egresos respecto al total de ventas.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43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F54468-84B5-45D6-8F5E-9CD1CE12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69009"/>
            <a:ext cx="10905066" cy="1135737"/>
          </a:xfrm>
        </p:spPr>
        <p:txBody>
          <a:bodyPr>
            <a:normAutofit fontScale="90000"/>
          </a:bodyPr>
          <a:lstStyle/>
          <a:p>
            <a:pPr algn="ctr"/>
            <a:br>
              <a:rPr lang="es-ES" sz="4000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4000" dirty="0">
                <a:latin typeface="Cavolini" panose="03000502040302020204" pitchFamily="66" charset="0"/>
                <a:cs typeface="Cavolini" panose="03000502040302020204" pitchFamily="66" charset="0"/>
              </a:rPr>
              <a:t>ANÁLISIS HORIZONTAL</a:t>
            </a:r>
            <a:br>
              <a:rPr lang="es-ES" sz="3600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600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DB85CA-3F21-4448-986B-80FB97C1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493936"/>
            <a:ext cx="10905066" cy="3595055"/>
          </a:xfrm>
        </p:spPr>
        <p:txBody>
          <a:bodyPr>
            <a:normAutofit/>
          </a:bodyPr>
          <a:lstStyle/>
          <a:p>
            <a:r>
              <a:rPr lang="es-AR" sz="2000" dirty="0"/>
              <a:t>Consiste en analizar el cambio o tendencia de cada uno de los rubros del activo, pasivo, patrimonio neto y resultados respecto a años anteriores.</a:t>
            </a:r>
          </a:p>
          <a:p>
            <a:endParaRPr lang="es-AR" sz="2000" dirty="0"/>
          </a:p>
          <a:p>
            <a:r>
              <a:rPr lang="es-AR" sz="2000" dirty="0"/>
              <a:t>Por ejemplo: Si Disponibilidades tiene un valor 100 en el año 1 y en el año 2 su valor alcanza 120, ello significará un aumento del 20% o podría indicarse como 120.</a:t>
            </a:r>
          </a:p>
          <a:p>
            <a:endParaRPr lang="es-AR" sz="2000" dirty="0"/>
          </a:p>
          <a:p>
            <a:r>
              <a:rPr lang="es-AR" sz="2000" dirty="0"/>
              <a:t>Debemos tener en cuenta que debería trabajarse sobre valores </a:t>
            </a:r>
            <a:r>
              <a:rPr lang="es-AR" sz="2000" dirty="0" err="1"/>
              <a:t>reexpresados</a:t>
            </a:r>
            <a:r>
              <a:rPr lang="es-AR" sz="2000" dirty="0"/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5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C8F996-17D7-40EE-B604-172DE978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s-AR" sz="3200">
                <a:latin typeface="Cavolini" panose="03000502040302020204" pitchFamily="66" charset="0"/>
                <a:cs typeface="Cavolini" panose="03000502040302020204" pitchFamily="66" charset="0"/>
              </a:rPr>
              <a:t>Análisis combinado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30AD1-4A30-4699-AFCA-4104DA13C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s-AR" sz="1800"/>
              <a:t>Consiste en “combinar” los 2 anteriores análisis.</a:t>
            </a:r>
          </a:p>
          <a:p>
            <a:pPr marL="0" indent="0">
              <a:buNone/>
            </a:pPr>
            <a:r>
              <a:rPr lang="es-AR" sz="1800"/>
              <a:t>      </a:t>
            </a:r>
          </a:p>
          <a:p>
            <a:endParaRPr lang="es-AR" sz="1800"/>
          </a:p>
          <a:p>
            <a:endParaRPr lang="es-AR" sz="1800"/>
          </a:p>
          <a:p>
            <a:endParaRPr lang="es-AR" sz="1800"/>
          </a:p>
          <a:p>
            <a:endParaRPr lang="es-AR" sz="1800"/>
          </a:p>
          <a:p>
            <a:endParaRPr lang="es-AR" sz="1800"/>
          </a:p>
          <a:p>
            <a:endParaRPr lang="es-AR" sz="1800"/>
          </a:p>
          <a:p>
            <a:endParaRPr lang="es-AR" sz="18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93B303-8599-4A02-881C-93B1DB1C2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14" y="2734056"/>
            <a:ext cx="9920364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50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93249-F05F-4B95-838F-E5A9F5B4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5" y="621792"/>
            <a:ext cx="5181503" cy="5504688"/>
          </a:xfrm>
        </p:spPr>
        <p:txBody>
          <a:bodyPr>
            <a:normAutofit/>
          </a:bodyPr>
          <a:lstStyle/>
          <a:p>
            <a:r>
              <a:rPr lang="es-ES" sz="4800" b="0">
                <a:latin typeface="Cavolini" panose="03000502040302020204" pitchFamily="66" charset="0"/>
                <a:cs typeface="Cavolini" panose="03000502040302020204" pitchFamily="66" charset="0"/>
              </a:rPr>
              <a:t>Ratios, razones, índices</a:t>
            </a:r>
            <a:br>
              <a:rPr lang="es-ES" sz="4800" b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4800" b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20" name="Marcador de contenido 2">
            <a:extLst>
              <a:ext uri="{FF2B5EF4-FFF2-40B4-BE49-F238E27FC236}">
                <a16:creationId xmlns:a16="http://schemas.microsoft.com/office/drawing/2014/main" id="{7991F02D-4722-4DAA-8577-A6AE83D540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686352"/>
              </p:ext>
            </p:extLst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3113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7FCF92-AFDB-4BA2-9EC0-D8DB26A1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s-ES" sz="3600" b="0">
                <a:latin typeface="Cavolini" panose="03000502040302020204" pitchFamily="66" charset="0"/>
                <a:cs typeface="Cavolini" panose="03000502040302020204" pitchFamily="66" charset="0"/>
              </a:rPr>
              <a:t>Ratios</a:t>
            </a:r>
            <a:br>
              <a:rPr lang="es-ES" sz="3600" b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600" b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8D46961-51DA-46D4-9C39-93DDA6878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41476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2069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8CB20-873C-4CE6-BCA1-6887E36C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1209086"/>
            <a:ext cx="3578087" cy="4064925"/>
          </a:xfrm>
        </p:spPr>
        <p:txBody>
          <a:bodyPr anchor="ctr">
            <a:normAutofit/>
          </a:bodyPr>
          <a:lstStyle/>
          <a:p>
            <a:r>
              <a:rPr lang="es-ES" sz="3900" b="0" dirty="0">
                <a:latin typeface="Cavolini" panose="03000502040302020204" pitchFamily="66" charset="0"/>
                <a:cs typeface="Cavolini" panose="03000502040302020204" pitchFamily="66" charset="0"/>
              </a:rPr>
              <a:t>Ratios limitaciones</a:t>
            </a:r>
            <a:br>
              <a:rPr lang="es-ES" sz="3900" b="0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900" b="0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F46FC69-F55C-49F0-9672-91F4CEDB9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578752"/>
              </p:ext>
            </p:extLst>
          </p:nvPr>
        </p:nvGraphicFramePr>
        <p:xfrm>
          <a:off x="4041913" y="424070"/>
          <a:ext cx="7689839" cy="5729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273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23E3F13-DA34-4411-A1A8-36BCCDE60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b="0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Variables de stock y de flujo</a:t>
            </a:r>
            <a:endParaRPr lang="es-AR" b="0">
              <a:solidFill>
                <a:srgbClr val="FFFFFF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3829E3-69EE-4900-AE07-57B407D2F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s-ES" sz="2400">
                <a:solidFill>
                  <a:srgbClr val="000000"/>
                </a:solidFill>
              </a:rPr>
              <a:t>VARIABLES STOCK: son variables que valen en un momento dado y no en un período. </a:t>
            </a:r>
          </a:p>
          <a:p>
            <a:pPr marL="0" indent="0">
              <a:buNone/>
            </a:pPr>
            <a:r>
              <a:rPr lang="es-ES" sz="2400">
                <a:solidFill>
                  <a:srgbClr val="000000"/>
                </a:solidFill>
              </a:rPr>
              <a:t>    Por ejemplo: cuentas patrimoniales.</a:t>
            </a:r>
          </a:p>
          <a:p>
            <a:endParaRPr lang="es-ES" sz="2400">
              <a:solidFill>
                <a:srgbClr val="000000"/>
              </a:solidFill>
            </a:endParaRPr>
          </a:p>
          <a:p>
            <a:r>
              <a:rPr lang="es-ES" sz="2400">
                <a:solidFill>
                  <a:srgbClr val="000000"/>
                </a:solidFill>
              </a:rPr>
              <a:t>VARIABLES FLUJO: son variables que valen en un período, supongamos, un año.</a:t>
            </a:r>
          </a:p>
          <a:p>
            <a:pPr marL="0" indent="0">
              <a:buNone/>
            </a:pPr>
            <a:r>
              <a:rPr lang="es-ES" sz="2400">
                <a:solidFill>
                  <a:srgbClr val="000000"/>
                </a:solidFill>
              </a:rPr>
              <a:t>    Por ejemplo: cuentas de resultados</a:t>
            </a:r>
            <a:endParaRPr lang="es-AR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0C0393-438A-43A2-B122-C9061B0F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 sz="3100" b="0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Comparación de ratios</a:t>
            </a:r>
            <a:br>
              <a:rPr lang="es-ES" sz="3100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AR" sz="3100">
              <a:solidFill>
                <a:srgbClr val="FFFFFF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F4F9B-10A1-4CF1-8E96-3B3236199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El análisis de los resultados de un índice deberá ser comparado con una referencia:</a:t>
            </a:r>
          </a:p>
          <a:p>
            <a:pPr marL="0" indent="0">
              <a:buNone/>
            </a:pPr>
            <a:endParaRPr lang="es-ES" dirty="0"/>
          </a:p>
          <a:p>
            <a:pPr marL="457200" lvl="1" indent="0">
              <a:buNone/>
            </a:pPr>
            <a:r>
              <a:rPr lang="es-ES" dirty="0"/>
              <a:t>		a) serie histórica</a:t>
            </a:r>
          </a:p>
          <a:p>
            <a:pPr marL="457200" lvl="1" indent="0">
              <a:buNone/>
            </a:pPr>
            <a:r>
              <a:rPr lang="es-ES" dirty="0"/>
              <a:t>		b) promedio de la rama industrial</a:t>
            </a:r>
          </a:p>
          <a:p>
            <a:pPr marL="457200" lvl="1" indent="0">
              <a:buNone/>
            </a:pPr>
            <a:r>
              <a:rPr lang="es-ES" dirty="0"/>
              <a:t>		c) grupo homogéneo</a:t>
            </a:r>
          </a:p>
          <a:p>
            <a:pPr marL="457200" lvl="1" indent="0">
              <a:buNone/>
            </a:pPr>
            <a:r>
              <a:rPr lang="es-ES" dirty="0"/>
              <a:t>		d) presupuesto</a:t>
            </a:r>
            <a:endParaRPr lang="es-AR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914400" lvl="2" indent="0">
              <a:buNone/>
            </a:pPr>
            <a:r>
              <a:rPr lang="es-ES" dirty="0"/>
              <a:t>		</a:t>
            </a:r>
          </a:p>
          <a:p>
            <a:pPr marL="457200" lvl="1" indent="0">
              <a:buNone/>
            </a:pPr>
            <a:r>
              <a:rPr lang="es-ES" dirty="0"/>
              <a:t>	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00035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481200-3BB2-4CA3-9D54-1077F6F7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16E42B-99BB-4A02-84E1-1D8FA77D4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9" y="642938"/>
            <a:ext cx="3670808" cy="5502264"/>
          </a:xfrm>
        </p:spPr>
        <p:txBody>
          <a:bodyPr>
            <a:normAutofit/>
          </a:bodyPr>
          <a:lstStyle/>
          <a:p>
            <a:r>
              <a:rPr lang="es-AR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Áreas de análisis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66D84E1-1B44-40D6-A7A4-B12ECEF48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0689256"/>
              </p:ext>
            </p:extLst>
          </p:nvPr>
        </p:nvGraphicFramePr>
        <p:xfrm>
          <a:off x="642938" y="642938"/>
          <a:ext cx="6269037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0716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14">
            <a:extLst>
              <a:ext uri="{FF2B5EF4-FFF2-40B4-BE49-F238E27FC236}">
                <a16:creationId xmlns:a16="http://schemas.microsoft.com/office/drawing/2014/main" id="{A034DC13-4CA6-4DDF-96D6-2C1F3CD50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6">
            <a:extLst>
              <a:ext uri="{FF2B5EF4-FFF2-40B4-BE49-F238E27FC236}">
                <a16:creationId xmlns:a16="http://schemas.microsoft.com/office/drawing/2014/main" id="{AB83855D-F0F4-42E8-9047-A13022476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8" name="Freeform 44">
              <a:extLst>
                <a:ext uri="{FF2B5EF4-FFF2-40B4-BE49-F238E27FC236}">
                  <a16:creationId xmlns:a16="http://schemas.microsoft.com/office/drawing/2014/main" id="{0414264F-D724-4E21-BE52-4728290DE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45">
              <a:extLst>
                <a:ext uri="{FF2B5EF4-FFF2-40B4-BE49-F238E27FC236}">
                  <a16:creationId xmlns:a16="http://schemas.microsoft.com/office/drawing/2014/main" id="{46C077DA-0626-4B9E-9211-446361F61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6">
              <a:extLst>
                <a:ext uri="{FF2B5EF4-FFF2-40B4-BE49-F238E27FC236}">
                  <a16:creationId xmlns:a16="http://schemas.microsoft.com/office/drawing/2014/main" id="{DD1DA1AE-C234-4948-AA7F-F7EBB9FE7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7">
              <a:extLst>
                <a:ext uri="{FF2B5EF4-FFF2-40B4-BE49-F238E27FC236}">
                  <a16:creationId xmlns:a16="http://schemas.microsoft.com/office/drawing/2014/main" id="{23A78588-E013-48A0-A140-E6C9A4F38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6C9A9D1-F5E1-4455-80F2-5E0DF4256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83AC91D-801D-4A9B-B4CD-03DB0DAF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s-AR" sz="4000">
                <a:solidFill>
                  <a:srgbClr val="FFFFFF"/>
                </a:solidFill>
              </a:rPr>
              <a:t>Liquidez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5B09F8-70F4-49A8-A7D9-BC3D32A2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72" y="5207298"/>
            <a:ext cx="3153053" cy="8053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6933B6-8AAE-4BE1-814F-F44C5C14C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23" y="3287533"/>
            <a:ext cx="3910819" cy="792098"/>
          </a:xfrm>
          <a:prstGeom prst="rect">
            <a:avLst/>
          </a:prstGeom>
        </p:spPr>
      </p:pic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A81A9D8-1407-4143-B1C2-E36652C0A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872" y="3296186"/>
            <a:ext cx="2661014" cy="7920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8015FEE-887D-4B28-9B8C-D73092E6F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848" y="5189992"/>
            <a:ext cx="5879967" cy="8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35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 sz="4000">
                <a:solidFill>
                  <a:srgbClr val="FFFFFF"/>
                </a:solidFill>
              </a:rPr>
              <a:t>Seguimiento del Efectivo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60" name="Google Shape;160;p8"/>
          <p:cNvSpPr txBox="1">
            <a:spLocks noGrp="1"/>
          </p:cNvSpPr>
          <p:nvPr>
            <p:ph type="body" idx="1"/>
          </p:nvPr>
        </p:nvSpPr>
        <p:spPr>
          <a:xfrm>
            <a:off x="1179226" y="2534653"/>
            <a:ext cx="9833548" cy="389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ES" sz="2000" dirty="0">
                <a:solidFill>
                  <a:srgbClr val="000000"/>
                </a:solidFill>
              </a:rPr>
              <a:t>Activo = Pasivo + Patrimonio neto o </a:t>
            </a:r>
            <a:r>
              <a:rPr lang="es-ES" sz="2000" dirty="0" err="1">
                <a:solidFill>
                  <a:srgbClr val="000000"/>
                </a:solidFill>
              </a:rPr>
              <a:t>Equity</a:t>
            </a:r>
            <a:endParaRPr lang="es-ES"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lang="es-ES"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lang="es-ES"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ES" sz="2000" dirty="0">
                <a:solidFill>
                  <a:srgbClr val="000000"/>
                </a:solidFill>
              </a:rPr>
              <a:t>Activo Circulante + Activo Fijo = Pasivo Circulante + Deuda de Largo Plazo + </a:t>
            </a:r>
            <a:r>
              <a:rPr lang="es-ES" sz="2000" dirty="0" err="1">
                <a:solidFill>
                  <a:srgbClr val="000000"/>
                </a:solidFill>
              </a:rPr>
              <a:t>Equity</a:t>
            </a:r>
            <a:endParaRPr lang="es-ES"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lang="es-ES"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lang="es-ES"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ES" sz="2000" dirty="0">
                <a:solidFill>
                  <a:srgbClr val="000000"/>
                </a:solidFill>
              </a:rPr>
              <a:t>Capital de Trabajo + Activo Fijo = Deuda de Largo Plazo + </a:t>
            </a:r>
            <a:r>
              <a:rPr lang="es-ES" sz="2000" dirty="0" err="1">
                <a:solidFill>
                  <a:srgbClr val="000000"/>
                </a:solidFill>
              </a:rPr>
              <a:t>Equity</a:t>
            </a:r>
            <a:endParaRPr sz="2000" dirty="0">
              <a:solidFill>
                <a:srgbClr val="000000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ES" sz="2000" dirty="0">
                <a:solidFill>
                  <a:srgbClr val="000000"/>
                </a:solidFill>
              </a:rPr>
              <a:t>Capital de Trabajo = Efectivo + Cuentas a cobrar + Inventarios + Otros Activos de Corto Plazo - Pasivo Circulante</a:t>
            </a: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ES" sz="2000" dirty="0">
                <a:solidFill>
                  <a:srgbClr val="000000"/>
                </a:solidFill>
              </a:rPr>
              <a:t>Efectivo = Deuda de Largo Plazo + </a:t>
            </a:r>
            <a:r>
              <a:rPr lang="es-ES" sz="2000" dirty="0" err="1">
                <a:solidFill>
                  <a:srgbClr val="000000"/>
                </a:solidFill>
              </a:rPr>
              <a:t>Equity</a:t>
            </a:r>
            <a:r>
              <a:rPr lang="es-ES" sz="2000" dirty="0">
                <a:solidFill>
                  <a:srgbClr val="000000"/>
                </a:solidFill>
              </a:rPr>
              <a:t> + Pasivo Circulante - Activo Circulante distinto al Efectivo - Activo Fijo</a:t>
            </a: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ES" sz="2000" dirty="0">
                <a:solidFill>
                  <a:srgbClr val="000000"/>
                </a:solidFill>
              </a:rPr>
              <a:t>Esto significa que algunas actividades incrementan el efectivo y otras lo disminuyen.</a:t>
            </a:r>
            <a:endParaRPr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801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 sz="4000">
                <a:solidFill>
                  <a:srgbClr val="FFFFFF"/>
                </a:solidFill>
              </a:rPr>
              <a:t>Seguimiento del Efectivo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68" name="Google Shape;168;p9"/>
          <p:cNvSpPr txBox="1">
            <a:spLocks noGrp="1"/>
          </p:cNvSpPr>
          <p:nvPr>
            <p:ph type="body" idx="1"/>
          </p:nvPr>
        </p:nvSpPr>
        <p:spPr>
          <a:xfrm>
            <a:off x="1179076" y="2753936"/>
            <a:ext cx="9833400" cy="3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ES" sz="2400">
                <a:solidFill>
                  <a:srgbClr val="000000"/>
                </a:solidFill>
              </a:rPr>
              <a:t>Actividades que incrementan el efectivo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Aumentar la deuda a largo plazo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Aumentar el capital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Aumentar el pasivo circulante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Reducir el activo circulante distinto del efectivo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Reducir los activos fijos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1320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4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 sz="4000">
                <a:solidFill>
                  <a:srgbClr val="FFFFFF"/>
                </a:solidFill>
              </a:rPr>
              <a:t>Seguimiento del Efectivo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1179226" y="2753936"/>
            <a:ext cx="9833548" cy="327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ES" sz="2400">
                <a:solidFill>
                  <a:srgbClr val="000000"/>
                </a:solidFill>
              </a:rPr>
              <a:t>Actividades que disminuyen el efectivo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ES" sz="2400">
                <a:solidFill>
                  <a:srgbClr val="000000"/>
                </a:solidFill>
              </a:rPr>
              <a:t>Reducir la deuda a largo plazo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ES" sz="2400">
                <a:solidFill>
                  <a:srgbClr val="000000"/>
                </a:solidFill>
              </a:rPr>
              <a:t>Reducir el capital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ES" sz="2400">
                <a:solidFill>
                  <a:srgbClr val="000000"/>
                </a:solidFill>
              </a:rPr>
              <a:t>Disminuir el pasivo circulante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ES" sz="2400">
                <a:solidFill>
                  <a:srgbClr val="000000"/>
                </a:solidFill>
              </a:rPr>
              <a:t>Aumentar el activo circulante distinto del efectivo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ES" sz="2400">
                <a:solidFill>
                  <a:srgbClr val="000000"/>
                </a:solidFill>
              </a:rPr>
              <a:t>Aumentar los activos fijos</a:t>
            </a:r>
            <a:endParaRPr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523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98DBE-ED28-4D15-8CDE-CF3D4993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0430"/>
            <a:ext cx="4245429" cy="9313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</a:t>
            </a:r>
            <a:r>
              <a:rPr lang="en-US" sz="3600" kern="1200" dirty="0" err="1">
                <a:solidFill>
                  <a:schemeClr val="tx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ndeudamiento</a:t>
            </a:r>
            <a:endParaRPr lang="en-US" sz="3600" kern="1200" dirty="0">
              <a:solidFill>
                <a:schemeClr val="tx1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AF1E5E62-9EB9-408E-AE53-A04A4C811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4B79F25-4C9E-4DCB-BD3E-1ECA9F95F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3423" y="894226"/>
            <a:ext cx="5466806" cy="934574"/>
          </a:xfrm>
          <a:prstGeom prst="rect">
            <a:avLst/>
          </a:prstGeom>
        </p:spPr>
      </p:pic>
      <p:sp>
        <p:nvSpPr>
          <p:cNvPr id="44" name="Freeform 7">
            <a:extLst>
              <a:ext uri="{FF2B5EF4-FFF2-40B4-BE49-F238E27FC236}">
                <a16:creationId xmlns:a16="http://schemas.microsoft.com/office/drawing/2014/main" id="{9C5704B2-7C5B-4738-AF0D-4A2756A6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3319"/>
            <a:ext cx="5925190" cy="2174681"/>
          </a:xfrm>
          <a:custGeom>
            <a:avLst/>
            <a:gdLst>
              <a:gd name="connsiteX0" fmla="*/ 1007162 w 5925190"/>
              <a:gd name="connsiteY0" fmla="*/ 0 h 2174681"/>
              <a:gd name="connsiteX1" fmla="*/ 5925190 w 5925190"/>
              <a:gd name="connsiteY1" fmla="*/ 0 h 2174681"/>
              <a:gd name="connsiteX2" fmla="*/ 5925190 w 5925190"/>
              <a:gd name="connsiteY2" fmla="*/ 2174681 h 2174681"/>
              <a:gd name="connsiteX3" fmla="*/ 0 w 5925190"/>
              <a:gd name="connsiteY3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4681">
                <a:moveTo>
                  <a:pt x="1007162" y="0"/>
                </a:moveTo>
                <a:lnTo>
                  <a:pt x="5925190" y="0"/>
                </a:lnTo>
                <a:lnTo>
                  <a:pt x="5925190" y="2174681"/>
                </a:lnTo>
                <a:lnTo>
                  <a:pt x="0" y="21746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DFB36DC4-A410-4DF1-8453-1D85743F5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683319"/>
            <a:ext cx="7092887" cy="2174681"/>
          </a:xfrm>
          <a:custGeom>
            <a:avLst/>
            <a:gdLst>
              <a:gd name="connsiteX0" fmla="*/ 0 w 7092887"/>
              <a:gd name="connsiteY0" fmla="*/ 0 h 2174681"/>
              <a:gd name="connsiteX1" fmla="*/ 7092887 w 7092887"/>
              <a:gd name="connsiteY1" fmla="*/ 0 h 2174681"/>
              <a:gd name="connsiteX2" fmla="*/ 6085725 w 7092887"/>
              <a:gd name="connsiteY2" fmla="*/ 2174681 h 2174681"/>
              <a:gd name="connsiteX3" fmla="*/ 1524000 w 7092887"/>
              <a:gd name="connsiteY3" fmla="*/ 2174681 h 2174681"/>
              <a:gd name="connsiteX4" fmla="*/ 1200418 w 7092887"/>
              <a:gd name="connsiteY4" fmla="*/ 2174681 h 2174681"/>
              <a:gd name="connsiteX5" fmla="*/ 0 w 7092887"/>
              <a:gd name="connsiteY5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92887" h="2174681">
                <a:moveTo>
                  <a:pt x="0" y="0"/>
                </a:moveTo>
                <a:lnTo>
                  <a:pt x="7092887" y="0"/>
                </a:lnTo>
                <a:lnTo>
                  <a:pt x="6085725" y="2174681"/>
                </a:lnTo>
                <a:lnTo>
                  <a:pt x="1524000" y="2174681"/>
                </a:lnTo>
                <a:lnTo>
                  <a:pt x="1200418" y="2174681"/>
                </a:lnTo>
                <a:lnTo>
                  <a:pt x="0" y="2174681"/>
                </a:lnTo>
                <a:close/>
              </a:path>
            </a:pathLst>
          </a:custGeom>
          <a:solidFill>
            <a:srgbClr val="B2B2B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B2B2B2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71A08A-2816-449C-897A-559447D23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975" y="2580199"/>
            <a:ext cx="5401524" cy="7925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4C4F92A-06BB-4507-B3CF-707534E63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423" y="3835889"/>
            <a:ext cx="5535648" cy="68281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0C37C1E-342B-4A46-90DA-B3DF993AA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423" y="5346182"/>
            <a:ext cx="5535648" cy="6889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3201A87-1009-4395-AE39-4E9F4F13A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072" y="3920680"/>
            <a:ext cx="2645893" cy="9313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A6930D0-BCE5-429B-BC09-A73B74AB4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7073" y="5614619"/>
            <a:ext cx="2069444" cy="6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44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4F78FE-80CE-4501-A1C7-D30C59F685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15" b="14315"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B874DD-685F-44CF-834C-A79148B0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266092"/>
            <a:ext cx="4204137" cy="1330887"/>
          </a:xfrm>
        </p:spPr>
        <p:txBody>
          <a:bodyPr>
            <a:normAutofit/>
          </a:bodyPr>
          <a:lstStyle/>
          <a:p>
            <a:pPr algn="ctr"/>
            <a:r>
              <a:rPr lang="es-AR" sz="3600" dirty="0"/>
              <a:t>Solvencia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FAFF8C-C2EE-481C-BFDB-226368E1D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16" y="3417573"/>
            <a:ext cx="4593021" cy="261983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AR" sz="1700"/>
              <a:t>Es la inversa de los indicadores de endeudamiento</a:t>
            </a:r>
          </a:p>
          <a:p>
            <a:pPr marL="0" indent="0">
              <a:buNone/>
            </a:pPr>
            <a:endParaRPr lang="es-AR" sz="1700"/>
          </a:p>
          <a:p>
            <a:pPr marL="0" indent="0">
              <a:buNone/>
            </a:pPr>
            <a:r>
              <a:rPr lang="es-AR" sz="1700"/>
              <a:t>Por ejemplo:</a:t>
            </a:r>
          </a:p>
          <a:p>
            <a:pPr marL="0" indent="0">
              <a:buNone/>
            </a:pPr>
            <a:endParaRPr lang="es-AR" sz="1700"/>
          </a:p>
          <a:p>
            <a:pPr marL="0" indent="0">
              <a:buNone/>
            </a:pPr>
            <a:r>
              <a:rPr lang="es-AR" sz="1700"/>
              <a:t>PN / Pasivo = E / D</a:t>
            </a:r>
          </a:p>
          <a:p>
            <a:pPr marL="0" indent="0">
              <a:buNone/>
            </a:pPr>
            <a:endParaRPr lang="es-AR" sz="1700"/>
          </a:p>
          <a:p>
            <a:pPr marL="0" indent="0">
              <a:buNone/>
            </a:pPr>
            <a:r>
              <a:rPr lang="es-AR" sz="1700"/>
              <a:t>PN / Activo = E / A</a:t>
            </a:r>
          </a:p>
        </p:txBody>
      </p:sp>
    </p:spTree>
    <p:extLst>
      <p:ext uri="{BB962C8B-B14F-4D97-AF65-F5344CB8AC3E}">
        <p14:creationId xmlns:p14="http://schemas.microsoft.com/office/powerpoint/2010/main" val="1659558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549CA6F-5310-434A-9717-D7AF41FCE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740B6F-44E8-4B3D-8D96-0F2D0567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012669"/>
            <a:ext cx="3026390" cy="8608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 err="1">
                <a:latin typeface="Cavolini" panose="03000502040302020204" pitchFamily="66" charset="0"/>
                <a:cs typeface="Cavolini" panose="03000502040302020204" pitchFamily="66" charset="0"/>
              </a:rPr>
              <a:t>Actividad</a:t>
            </a:r>
            <a:endParaRPr lang="en-US" sz="3600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79173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12233" y="191193"/>
            <a:ext cx="3204078" cy="64673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5E82C88-D300-4A36-8379-54657110C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8400" y="1018447"/>
            <a:ext cx="4076699" cy="7090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4CA0D42-8C48-4A8B-9DAF-A43589433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2143655"/>
            <a:ext cx="3924299" cy="86901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CF0D13-432F-451C-AD34-AD79D8E0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0" y="3429000"/>
            <a:ext cx="4076699" cy="8690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710092-6508-487F-8353-5E9236182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0" y="4609240"/>
            <a:ext cx="4178300" cy="86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06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FD50D0-1315-48C4-BB87-7646B049A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83E95F-11F0-4EF3-B911-EC4A265F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7" name="Freeform 44">
              <a:extLst>
                <a:ext uri="{FF2B5EF4-FFF2-40B4-BE49-F238E27FC236}">
                  <a16:creationId xmlns:a16="http://schemas.microsoft.com/office/drawing/2014/main" id="{4A5621C8-F0D7-4928-9BC5-B15B318AF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3F55EE6D-8E4E-47F0-B7BC-D45AECE43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46">
              <a:extLst>
                <a:ext uri="{FF2B5EF4-FFF2-40B4-BE49-F238E27FC236}">
                  <a16:creationId xmlns:a16="http://schemas.microsoft.com/office/drawing/2014/main" id="{C2EC5D6B-2D05-4DDF-9E09-8814EA492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F7890FC4-3706-4665-B92A-D37982414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29EAEC-4EE8-4823-BBB4-9012708C8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0ABBC1-3F7E-4949-8BC1-C09189F82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s-AR" sz="3600" dirty="0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El Ciclo Operativo de la Firma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F59578E-1BB5-4D4F-908F-55DF712E7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87" y="5301001"/>
            <a:ext cx="3733927" cy="921284"/>
          </a:xfrm>
          <a:prstGeom prst="rect">
            <a:avLst/>
          </a:prstGeom>
        </p:spPr>
      </p:pic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4F933EB-FCF2-4FB7-B590-673B9019D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39" y="2904692"/>
            <a:ext cx="5258546" cy="7810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2">
                <a:extLst>
                  <a:ext uri="{FF2B5EF4-FFF2-40B4-BE49-F238E27FC236}">
                    <a16:creationId xmlns:a16="http://schemas.microsoft.com/office/drawing/2014/main" id="{7D7CE0E9-85AE-45EE-941E-C6D8F23AB73F}"/>
                  </a:ext>
                </a:extLst>
              </p:cNvPr>
              <p:cNvSpPr txBox="1"/>
              <p:nvPr/>
            </p:nvSpPr>
            <p:spPr>
              <a:xfrm>
                <a:off x="2760039" y="4192319"/>
                <a:ext cx="6296025" cy="984592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no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s-AR" sz="2000" baseline="0" dirty="0">
                    <a:ea typeface="Cambria Math" panose="02040503050406030204" pitchFamily="18" charset="0"/>
                  </a:rPr>
                  <a:t>Plazo Promedio de Inventario 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2400" b="0" i="1">
                            <a:latin typeface="Cambria Math" panose="02040503050406030204" pitchFamily="18" charset="0"/>
                          </a:rPr>
                          <m:t>𝐼𝑛𝑣𝑒𝑛𝑡𝑎𝑟𝑖𝑜𝑠</m:t>
                        </m:r>
                      </m:num>
                      <m:den>
                        <m:r>
                          <a:rPr lang="es-AR" sz="2400" b="0" i="1">
                            <a:latin typeface="Cambria Math" panose="02040503050406030204" pitchFamily="18" charset="0"/>
                          </a:rPr>
                          <m:t>𝐶𝑜𝑠𝑡𝑜</m:t>
                        </m:r>
                        <m:r>
                          <a:rPr lang="es-AR" sz="24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sz="2400" b="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AR" sz="24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sz="2400" b="0" i="1">
                            <a:latin typeface="Cambria Math" panose="02040503050406030204" pitchFamily="18" charset="0"/>
                          </a:rPr>
                          <m:t>𝑉𝑒𝑛𝑡𝑎𝑠</m:t>
                        </m:r>
                        <m:r>
                          <a:rPr lang="es-AR" sz="2400" b="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s-AR" sz="2400" dirty="0"/>
                  <a:t> 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365</m:t>
                    </m:r>
                  </m:oMath>
                </a14:m>
                <a:endParaRPr lang="es-AR" sz="2400" dirty="0"/>
              </a:p>
            </p:txBody>
          </p:sp>
        </mc:Choice>
        <mc:Fallback xmlns="">
          <p:sp>
            <p:nvSpPr>
              <p:cNvPr id="5" name="CuadroTexto 2">
                <a:extLst>
                  <a:ext uri="{FF2B5EF4-FFF2-40B4-BE49-F238E27FC236}">
                    <a16:creationId xmlns:a16="http://schemas.microsoft.com/office/drawing/2014/main" id="{7D7CE0E9-85AE-45EE-941E-C6D8F23AB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039" y="4192319"/>
                <a:ext cx="6296025" cy="984592"/>
              </a:xfrm>
              <a:prstGeom prst="rect">
                <a:avLst/>
              </a:prstGeom>
              <a:blipFill>
                <a:blip r:embed="rId4"/>
                <a:stretch>
                  <a:fillRect l="-25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534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FD50D0-1315-48C4-BB87-7646B049A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83E95F-11F0-4EF3-B911-EC4A265F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5" name="Freeform 44">
              <a:extLst>
                <a:ext uri="{FF2B5EF4-FFF2-40B4-BE49-F238E27FC236}">
                  <a16:creationId xmlns:a16="http://schemas.microsoft.com/office/drawing/2014/main" id="{4A5621C8-F0D7-4928-9BC5-B15B318AF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5">
              <a:extLst>
                <a:ext uri="{FF2B5EF4-FFF2-40B4-BE49-F238E27FC236}">
                  <a16:creationId xmlns:a16="http://schemas.microsoft.com/office/drawing/2014/main" id="{3F55EE6D-8E4E-47F0-B7BC-D45AECE43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id="{C2EC5D6B-2D05-4DDF-9E09-8814EA492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7">
              <a:extLst>
                <a:ext uri="{FF2B5EF4-FFF2-40B4-BE49-F238E27FC236}">
                  <a16:creationId xmlns:a16="http://schemas.microsoft.com/office/drawing/2014/main" id="{F7890FC4-3706-4665-B92A-D37982414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B29EAEC-4EE8-4823-BBB4-9012708C8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3A542C-DE9D-46C2-9B8C-EDC8DEDA1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s-AR" sz="3600" dirty="0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El Ciclo de Efectivo o de Liquidez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A62AD58-5E9F-45E3-BB71-EEE8B5844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15" y="2938725"/>
            <a:ext cx="4044328" cy="10525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235B65-5BC5-4F71-A1FF-6CFCD9F35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225" y="4515728"/>
            <a:ext cx="4276578" cy="116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48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>
            <a:spLocks noGrp="1"/>
          </p:cNvSpPr>
          <p:nvPr>
            <p:ph type="title"/>
          </p:nvPr>
        </p:nvSpPr>
        <p:spPr>
          <a:xfrm>
            <a:off x="1179576" y="822960"/>
            <a:ext cx="98298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 sz="4000">
                <a:solidFill>
                  <a:srgbClr val="FFFFFF"/>
                </a:solidFill>
              </a:rPr>
              <a:t>Ciclo Operativo y Ciclo del Efectivo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671" y="2985052"/>
            <a:ext cx="4954692" cy="30832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>
            <a:spLocks noGrp="1"/>
          </p:cNvSpPr>
          <p:nvPr>
            <p:ph type="body" idx="1"/>
          </p:nvPr>
        </p:nvSpPr>
        <p:spPr>
          <a:xfrm>
            <a:off x="6354871" y="2024464"/>
            <a:ext cx="5029200" cy="483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170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7"/>
              <a:buNone/>
            </a:pPr>
            <a:endParaRPr sz="1757">
              <a:solidFill>
                <a:srgbClr val="000000"/>
              </a:solidFill>
            </a:endParaRPr>
          </a:p>
          <a:p>
            <a:pPr marL="228600" lvl="0" indent="-11703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7"/>
              <a:buNone/>
            </a:pPr>
            <a:endParaRPr sz="1757">
              <a:solidFill>
                <a:srgbClr val="000000"/>
              </a:solidFill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57"/>
              <a:buChar char="•"/>
            </a:pPr>
            <a:r>
              <a:rPr lang="es-ES" sz="1757">
                <a:solidFill>
                  <a:srgbClr val="000000"/>
                </a:solidFill>
              </a:rPr>
              <a:t>Desde el momento en que se adquiere el inventario hasta que se cobra el efectivo se tarda 105 días. Ese es el ciclo operativo.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57"/>
              <a:buChar char="•"/>
            </a:pPr>
            <a:r>
              <a:rPr lang="es-ES" sz="1757">
                <a:solidFill>
                  <a:srgbClr val="000000"/>
                </a:solidFill>
              </a:rPr>
              <a:t>Este ciclo posee 2 componentes: la primera parte es el tiempo necesario para adquirir y vender el inventario (periodo de inventario). La segunda parte es el tiempo que se require para cobrar la venta (period de cuentas a cobrar).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57"/>
              <a:buChar char="•"/>
            </a:pPr>
            <a:r>
              <a:rPr lang="es-ES" sz="1757">
                <a:solidFill>
                  <a:srgbClr val="000000"/>
                </a:solidFill>
              </a:rPr>
              <a:t>El inventario no se paga hasta 30 días después de haberlo recibido (periodo de cuentas a pagar)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57"/>
              <a:buChar char="•"/>
            </a:pPr>
            <a:r>
              <a:rPr lang="es-ES" sz="1757">
                <a:solidFill>
                  <a:srgbClr val="000000"/>
                </a:solidFill>
              </a:rPr>
              <a:t>Se gasta efectivo el día 30 pero recién se cobra el día 105.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57"/>
              <a:buChar char="•"/>
            </a:pPr>
            <a:r>
              <a:rPr lang="es-ES" sz="1757">
                <a:solidFill>
                  <a:srgbClr val="000000"/>
                </a:solidFill>
              </a:rPr>
              <a:t>Se tiene que conseguir financiamiento durante 75 días (ciclo del efectivo).</a:t>
            </a:r>
            <a:endParaRPr/>
          </a:p>
          <a:p>
            <a:pPr marL="228600" lvl="0" indent="-11703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7"/>
              <a:buNone/>
            </a:pPr>
            <a:endParaRPr sz="1757">
              <a:solidFill>
                <a:srgbClr val="000000"/>
              </a:solidFill>
            </a:endParaRPr>
          </a:p>
          <a:p>
            <a:pPr marL="228600" lvl="0" indent="-1170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7"/>
              <a:buNone/>
            </a:pPr>
            <a:endParaRPr sz="1757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404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8B998AE-33DE-41DB-A2EB-86E879C3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0" y="887085"/>
            <a:ext cx="3228294" cy="50710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0F0356E-9A3E-40BF-A172-664C029D5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208" y="942695"/>
            <a:ext cx="3251032" cy="35488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65F1996-4C7D-4191-BADE-D65B3DCDC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93" y="5660543"/>
            <a:ext cx="3520438" cy="2161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B106A2-A469-4944-ACFD-FCC4218E7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132" y="860553"/>
            <a:ext cx="3228290" cy="3552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8940A0A-45AC-4F08-8732-94489FEDE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14" y="3250856"/>
            <a:ext cx="3225770" cy="354929"/>
          </a:xfrm>
          <a:prstGeom prst="rect">
            <a:avLst/>
          </a:prstGeom>
        </p:spPr>
      </p:pic>
      <p:sp>
        <p:nvSpPr>
          <p:cNvPr id="52" name="Rectangle 25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7495" y="2300641"/>
            <a:ext cx="8124506" cy="45573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38FF71-13E2-46CE-9567-1BE0533F8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256" y="2916520"/>
            <a:ext cx="6465287" cy="23093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Rendimiento y Rentabilidad</a:t>
            </a:r>
          </a:p>
        </p:txBody>
      </p:sp>
      <p:cxnSp>
        <p:nvCxnSpPr>
          <p:cNvPr id="53" name="Straight Connector 27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1218895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9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571548"/>
            <a:ext cx="4064320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31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3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5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46931" y="5336249"/>
            <a:ext cx="5486400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072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9709F6-819A-4A9B-B299-52B516DA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956BBB-7B91-4BF1-8CC5-4F1F5C3E0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331C4F13-3AB4-4BD8-B1A2-76809863E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5">
              <a:extLst>
                <a:ext uri="{FF2B5EF4-FFF2-40B4-BE49-F238E27FC236}">
                  <a16:creationId xmlns:a16="http://schemas.microsoft.com/office/drawing/2014/main" id="{52D8231F-00FF-4EE0-B405-28CC397CF0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6">
              <a:extLst>
                <a:ext uri="{FF2B5EF4-FFF2-40B4-BE49-F238E27FC236}">
                  <a16:creationId xmlns:a16="http://schemas.microsoft.com/office/drawing/2014/main" id="{C80BB271-C270-4FB5-B9F1-D81F239ED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BDA5F0C-5FEC-4DA5-A154-3EC7AA690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42B9BC-62E1-4F01-AE2D-4143126BE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CCE9AC3-BDD7-4FEB-B0B0-DE159C0D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s-AR" sz="4000">
                <a:solidFill>
                  <a:srgbClr val="FFFFFF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MERCADO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71EF7D-5727-4D79-92BE-0C035A46E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82" y="5188552"/>
            <a:ext cx="3705424" cy="7624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9ADF225-5233-4478-AF81-9EF24A576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82" y="2960213"/>
            <a:ext cx="6912858" cy="958157"/>
          </a:xfrm>
          <a:prstGeom prst="rect">
            <a:avLst/>
          </a:prstGeom>
        </p:spPr>
      </p:pic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F75A92D-DB9A-43A8-B292-468044AE0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82" y="4158771"/>
            <a:ext cx="3888304" cy="76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29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B143C0-CE8C-42F9-BF9B-2E8DB08E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009" y="802955"/>
            <a:ext cx="5999391" cy="1454051"/>
          </a:xfrm>
        </p:spPr>
        <p:txBody>
          <a:bodyPr>
            <a:normAutofit/>
          </a:bodyPr>
          <a:lstStyle/>
          <a:p>
            <a:pPr algn="ctr"/>
            <a:r>
              <a:rPr lang="es-AR" sz="3600" dirty="0">
                <a:solidFill>
                  <a:srgbClr val="00000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Crecimiento de Ventas</a:t>
            </a:r>
          </a:p>
        </p:txBody>
      </p:sp>
      <p:sp>
        <p:nvSpPr>
          <p:cNvPr id="16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5F7D3E-6B7A-4EE3-91B4-0C35CF65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305" y="2257006"/>
            <a:ext cx="2783340" cy="16095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4853FE6-54B5-4EB5-89E7-E7D6BC23C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541" y="3711056"/>
            <a:ext cx="3526104" cy="187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857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59D690-957C-4A6A-8BC8-50A71D84A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Análisis multivariante</a:t>
            </a:r>
            <a:endParaRPr lang="es-AR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297027-2B5C-4D66-9355-4FAD03476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548" y="768626"/>
            <a:ext cx="6082110" cy="5263874"/>
          </a:xfrm>
        </p:spPr>
        <p:txBody>
          <a:bodyPr anchor="ctr">
            <a:normAutofit/>
          </a:bodyPr>
          <a:lstStyle/>
          <a:p>
            <a:pPr algn="just"/>
            <a:r>
              <a:rPr lang="es-ES" sz="2200" dirty="0">
                <a:solidFill>
                  <a:srgbClr val="000000"/>
                </a:solidFill>
              </a:rPr>
              <a:t>Tiene relación con los datos que se obtienen de diversas dimensiones de una empresa.</a:t>
            </a:r>
          </a:p>
          <a:p>
            <a:pPr algn="just"/>
            <a:r>
              <a:rPr lang="es-ES" sz="2200" dirty="0">
                <a:solidFill>
                  <a:srgbClr val="000000"/>
                </a:solidFill>
              </a:rPr>
              <a:t>En la aplicación de predecir problemas financieros (</a:t>
            </a:r>
            <a:r>
              <a:rPr lang="es-ES" sz="2200" dirty="0" err="1">
                <a:solidFill>
                  <a:srgbClr val="000000"/>
                </a:solidFill>
              </a:rPr>
              <a:t>financial</a:t>
            </a:r>
            <a:r>
              <a:rPr lang="es-ES" sz="2200" dirty="0">
                <a:solidFill>
                  <a:srgbClr val="000000"/>
                </a:solidFill>
              </a:rPr>
              <a:t> </a:t>
            </a:r>
            <a:r>
              <a:rPr lang="es-ES" sz="2200" dirty="0" err="1">
                <a:solidFill>
                  <a:srgbClr val="000000"/>
                </a:solidFill>
              </a:rPr>
              <a:t>distress</a:t>
            </a:r>
            <a:r>
              <a:rPr lang="es-ES" sz="2200" dirty="0">
                <a:solidFill>
                  <a:srgbClr val="000000"/>
                </a:solidFill>
              </a:rPr>
              <a:t>) el análisis multivariante del tipo discriminante busca determinar ante una nueva observación a que grupo definido a priori debe ser asignada.</a:t>
            </a:r>
          </a:p>
          <a:p>
            <a:pPr algn="just"/>
            <a:r>
              <a:rPr lang="es-ES" sz="2200" dirty="0">
                <a:solidFill>
                  <a:srgbClr val="000000"/>
                </a:solidFill>
              </a:rPr>
              <a:t>Se consideran simultáneamente diversos indicadores, adecuadamente ponderados, a fin de obtener un índice general.</a:t>
            </a:r>
          </a:p>
          <a:p>
            <a:pPr algn="just"/>
            <a:r>
              <a:rPr lang="es-ES" sz="2200" dirty="0">
                <a:solidFill>
                  <a:srgbClr val="000000"/>
                </a:solidFill>
              </a:rPr>
              <a:t>Según el resultado que arroje ese índice, para un caso concreto, permitirá al analista agruparlo convenientemente.</a:t>
            </a:r>
            <a:endParaRPr lang="es-AR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80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252EC5-F180-4D50-934A-027AC54A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Análisis multivariante</a:t>
            </a:r>
            <a:endParaRPr lang="es-A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BDAF6C-61FC-474C-BA0F-E35A7113E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 sz="1800"/>
              <a:t>MODELO DE EDWARD ALTMAN (1968)</a:t>
            </a:r>
          </a:p>
          <a:p>
            <a:r>
              <a:rPr lang="es-ES" sz="1800"/>
              <a:t>Las empresas se distribuyen en 2 grupos: las que quebraron y las que no</a:t>
            </a:r>
          </a:p>
          <a:p>
            <a:endParaRPr lang="es-ES" sz="1800"/>
          </a:p>
          <a:p>
            <a:pPr marL="0" indent="0">
              <a:buNone/>
            </a:pPr>
            <a:r>
              <a:rPr lang="es-ES" sz="1800"/>
              <a:t>                 		Z = 1,2 x</a:t>
            </a:r>
            <a:r>
              <a:rPr lang="es-ES" sz="1800" baseline="-25000"/>
              <a:t>1</a:t>
            </a:r>
            <a:r>
              <a:rPr lang="es-ES" sz="1800"/>
              <a:t> + 1,4 x</a:t>
            </a:r>
            <a:r>
              <a:rPr lang="es-ES" sz="1800" baseline="-25000"/>
              <a:t>2</a:t>
            </a:r>
            <a:r>
              <a:rPr lang="es-ES" sz="1800"/>
              <a:t> + 3,3 x</a:t>
            </a:r>
            <a:r>
              <a:rPr lang="es-ES" sz="1800" baseline="-25000"/>
              <a:t>3</a:t>
            </a:r>
            <a:r>
              <a:rPr lang="es-ES" sz="1800"/>
              <a:t> + 0,6 x</a:t>
            </a:r>
            <a:r>
              <a:rPr lang="es-ES" sz="1800" baseline="-25000"/>
              <a:t>4</a:t>
            </a:r>
            <a:r>
              <a:rPr lang="es-ES" sz="1800"/>
              <a:t> + 10 x</a:t>
            </a:r>
            <a:r>
              <a:rPr lang="es-ES" sz="1800" baseline="-25000"/>
              <a:t>5</a:t>
            </a:r>
          </a:p>
          <a:p>
            <a:pPr marL="0" indent="0">
              <a:buNone/>
            </a:pPr>
            <a:r>
              <a:rPr lang="es-ES" sz="1800"/>
              <a:t>Donde: </a:t>
            </a:r>
          </a:p>
          <a:p>
            <a:pPr marL="0" indent="0">
              <a:buNone/>
            </a:pPr>
            <a:r>
              <a:rPr lang="es-ES" sz="1800"/>
              <a:t>	x</a:t>
            </a:r>
            <a:r>
              <a:rPr lang="es-ES" sz="1800" baseline="-25000"/>
              <a:t>1</a:t>
            </a:r>
            <a:r>
              <a:rPr lang="es-ES" sz="1800"/>
              <a:t>: Capital de trabajo / Activos</a:t>
            </a:r>
          </a:p>
          <a:p>
            <a:pPr marL="0" indent="0">
              <a:buNone/>
            </a:pPr>
            <a:r>
              <a:rPr lang="es-ES" sz="1800"/>
              <a:t>	x</a:t>
            </a:r>
            <a:r>
              <a:rPr lang="es-ES" sz="1800" baseline="-25000"/>
              <a:t>2</a:t>
            </a:r>
            <a:r>
              <a:rPr lang="es-ES" sz="1800"/>
              <a:t>: Utilidades Retenidas / Activos</a:t>
            </a:r>
          </a:p>
          <a:p>
            <a:pPr marL="0" indent="0">
              <a:buNone/>
            </a:pPr>
            <a:r>
              <a:rPr lang="es-AR" sz="1800"/>
              <a:t>	x</a:t>
            </a:r>
            <a:r>
              <a:rPr lang="es-AR" sz="1800" baseline="-25000"/>
              <a:t>3</a:t>
            </a:r>
            <a:r>
              <a:rPr lang="es-AR" sz="1800"/>
              <a:t>: EBIT / Activos</a:t>
            </a:r>
          </a:p>
          <a:p>
            <a:pPr marL="0" indent="0">
              <a:buNone/>
            </a:pPr>
            <a:r>
              <a:rPr lang="es-AR" sz="1800"/>
              <a:t>	x</a:t>
            </a:r>
            <a:r>
              <a:rPr lang="es-AR" sz="1800" baseline="-25000"/>
              <a:t>4</a:t>
            </a:r>
            <a:r>
              <a:rPr lang="es-AR" sz="1800"/>
              <a:t>: Valor mercado Capital / Valor libros Deuda</a:t>
            </a:r>
          </a:p>
          <a:p>
            <a:pPr marL="0" indent="0">
              <a:buNone/>
            </a:pPr>
            <a:r>
              <a:rPr lang="es-AR" sz="1800"/>
              <a:t>	x</a:t>
            </a:r>
            <a:r>
              <a:rPr lang="es-AR" sz="1800" baseline="-25000"/>
              <a:t>5</a:t>
            </a:r>
            <a:r>
              <a:rPr lang="es-AR" sz="1800"/>
              <a:t>: Ventas / Activos</a:t>
            </a:r>
          </a:p>
          <a:p>
            <a:pPr marL="0" indent="0">
              <a:buNone/>
            </a:pPr>
            <a:endParaRPr lang="es-AR" sz="1800"/>
          </a:p>
          <a:p>
            <a:pPr marL="0" indent="0">
              <a:buNone/>
            </a:pPr>
            <a:r>
              <a:rPr lang="es-AR" sz="1800"/>
              <a:t>REGLA:                                  Z   &lt;     2,675    bancarrota</a:t>
            </a:r>
          </a:p>
          <a:p>
            <a:pPr marL="0" indent="0">
              <a:buNone/>
            </a:pPr>
            <a:r>
              <a:rPr lang="es-AR" sz="1800"/>
              <a:t>                                               Z   &gt;=   2,675   no bancarrota</a:t>
            </a:r>
          </a:p>
          <a:p>
            <a:pPr marL="0" indent="0">
              <a:buNone/>
            </a:pPr>
            <a:r>
              <a:rPr lang="es-AR" sz="1800"/>
              <a:t>                                               zona de ignorancia entre 1,81 y 2,89</a:t>
            </a:r>
          </a:p>
        </p:txBody>
      </p:sp>
    </p:spTree>
    <p:extLst>
      <p:ext uri="{BB962C8B-B14F-4D97-AF65-F5344CB8AC3E}">
        <p14:creationId xmlns:p14="http://schemas.microsoft.com/office/powerpoint/2010/main" val="4102676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92E45C-5380-40AD-A54D-0ECBB590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Análisis multivariante</a:t>
            </a:r>
            <a:endParaRPr lang="es-A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2619C-DA42-4CDF-8E32-9F4021B12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r>
              <a:rPr lang="es-ES" sz="2000" dirty="0"/>
              <a:t>MODELO DE ALTMAN Revisado (1971)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 		                 Z = 6,56 x</a:t>
            </a:r>
            <a:r>
              <a:rPr lang="es-ES" sz="2000" baseline="-25000" dirty="0"/>
              <a:t>1</a:t>
            </a:r>
            <a:r>
              <a:rPr lang="es-ES" sz="2000" dirty="0"/>
              <a:t> + 3,26 x</a:t>
            </a:r>
            <a:r>
              <a:rPr lang="es-ES" sz="2000" baseline="-25000" dirty="0"/>
              <a:t>2</a:t>
            </a:r>
            <a:r>
              <a:rPr lang="es-ES" sz="2000" dirty="0"/>
              <a:t> + 6,72 x</a:t>
            </a:r>
            <a:r>
              <a:rPr lang="es-ES" sz="2000" baseline="-25000" dirty="0"/>
              <a:t>3</a:t>
            </a:r>
            <a:r>
              <a:rPr lang="es-ES" sz="2000" dirty="0"/>
              <a:t> + 1,05 x</a:t>
            </a:r>
            <a:r>
              <a:rPr lang="es-ES" sz="2000" baseline="-25000" dirty="0"/>
              <a:t>4</a:t>
            </a:r>
          </a:p>
          <a:p>
            <a:pPr marL="0" indent="0">
              <a:buNone/>
            </a:pPr>
            <a:r>
              <a:rPr lang="es-ES" sz="2000" dirty="0"/>
              <a:t>Donde: </a:t>
            </a:r>
          </a:p>
          <a:p>
            <a:pPr marL="0" indent="0">
              <a:buNone/>
            </a:pPr>
            <a:r>
              <a:rPr lang="es-ES" sz="2000" dirty="0"/>
              <a:t>	x</a:t>
            </a:r>
            <a:r>
              <a:rPr lang="es-ES" sz="2000" baseline="-25000" dirty="0"/>
              <a:t>1</a:t>
            </a:r>
            <a:r>
              <a:rPr lang="es-ES" sz="2000" dirty="0"/>
              <a:t>: Capital de trabajo / Activos</a:t>
            </a:r>
          </a:p>
          <a:p>
            <a:pPr marL="0" indent="0">
              <a:buNone/>
            </a:pPr>
            <a:r>
              <a:rPr lang="es-ES" sz="2000" dirty="0"/>
              <a:t>	x</a:t>
            </a:r>
            <a:r>
              <a:rPr lang="es-ES" sz="2000" baseline="-25000" dirty="0"/>
              <a:t>2</a:t>
            </a:r>
            <a:r>
              <a:rPr lang="es-ES" sz="2000" dirty="0"/>
              <a:t>: Utilidades Retenidas / Activos</a:t>
            </a:r>
          </a:p>
          <a:p>
            <a:pPr marL="0" indent="0">
              <a:buNone/>
            </a:pPr>
            <a:r>
              <a:rPr lang="es-AR" sz="2000" dirty="0"/>
              <a:t>	x</a:t>
            </a:r>
            <a:r>
              <a:rPr lang="es-AR" sz="2000" baseline="-25000" dirty="0"/>
              <a:t>3</a:t>
            </a:r>
            <a:r>
              <a:rPr lang="es-AR" sz="2000" dirty="0"/>
              <a:t>: EBIT / Activos</a:t>
            </a:r>
          </a:p>
          <a:p>
            <a:pPr marL="0" indent="0">
              <a:buNone/>
            </a:pPr>
            <a:r>
              <a:rPr lang="es-AR" sz="2000" dirty="0"/>
              <a:t>	x</a:t>
            </a:r>
            <a:r>
              <a:rPr lang="es-AR" sz="2000" baseline="-25000" dirty="0"/>
              <a:t>4</a:t>
            </a:r>
            <a:r>
              <a:rPr lang="es-AR" sz="2000" dirty="0"/>
              <a:t>: Valor Libro Capital / Valor libros Deuda</a:t>
            </a:r>
          </a:p>
          <a:p>
            <a:pPr marL="0" indent="0">
              <a:buNone/>
            </a:pPr>
            <a:endParaRPr lang="es-AR" sz="2000" dirty="0"/>
          </a:p>
          <a:p>
            <a:pPr marL="0" indent="0">
              <a:buNone/>
            </a:pPr>
            <a:r>
              <a:rPr lang="es-AR" sz="2000" dirty="0"/>
              <a:t>REGLA:                                  Z   &lt;     2,675    bancarrota</a:t>
            </a:r>
          </a:p>
          <a:p>
            <a:pPr marL="0" indent="0">
              <a:buNone/>
            </a:pPr>
            <a:r>
              <a:rPr lang="es-AR" sz="2000" dirty="0"/>
              <a:t>                                               Z   &gt;=   2,675   no bancarrota</a:t>
            </a:r>
          </a:p>
          <a:p>
            <a:pPr marL="0" indent="0">
              <a:buNone/>
            </a:pPr>
            <a:r>
              <a:rPr lang="es-AR" sz="2000" dirty="0"/>
              <a:t>                                               Zona de ignorancia entre 1,10 y 2,605</a:t>
            </a:r>
            <a:endParaRPr lang="es-ES" sz="20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AR" sz="1500" dirty="0"/>
          </a:p>
        </p:txBody>
      </p:sp>
    </p:spTree>
    <p:extLst>
      <p:ext uri="{BB962C8B-B14F-4D97-AF65-F5344CB8AC3E}">
        <p14:creationId xmlns:p14="http://schemas.microsoft.com/office/powerpoint/2010/main" val="189842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nidad xmlns="a8488ad7-b8f4-4ec3-9cfc-e6f0ec25ec07" xsi:nil="true"/>
    <Nro xmlns="a8488ad7-b8f4-4ec3-9cfc-e6f0ec25ec07">0</Nro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5983DF3B95FAF458D1DD2EC26AAFCA8" ma:contentTypeVersion="6" ma:contentTypeDescription="Crear nuevo documento." ma:contentTypeScope="" ma:versionID="da212ae7e50cb37e8927b630058ddaa4">
  <xsd:schema xmlns:xsd="http://www.w3.org/2001/XMLSchema" xmlns:xs="http://www.w3.org/2001/XMLSchema" xmlns:p="http://schemas.microsoft.com/office/2006/metadata/properties" xmlns:ns2="a8488ad7-b8f4-4ec3-9cfc-e6f0ec25ec07" targetNamespace="http://schemas.microsoft.com/office/2006/metadata/properties" ma:root="true" ma:fieldsID="e343c3d82935651d9b28ea24a163adf9" ns2:_="">
    <xsd:import namespace="a8488ad7-b8f4-4ec3-9cfc-e6f0ec25ec07"/>
    <xsd:element name="properties">
      <xsd:complexType>
        <xsd:sequence>
          <xsd:element name="documentManagement">
            <xsd:complexType>
              <xsd:all>
                <xsd:element ref="ns2:Nro"/>
                <xsd:element ref="ns2:Unida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488ad7-b8f4-4ec3-9cfc-e6f0ec25ec07" elementFormDefault="qualified">
    <xsd:import namespace="http://schemas.microsoft.com/office/2006/documentManagement/types"/>
    <xsd:import namespace="http://schemas.microsoft.com/office/infopath/2007/PartnerControls"/>
    <xsd:element name="Nro" ma:index="8" ma:displayName="Nro" ma:default="0" ma:description="Campo utilizado para ordenar" ma:internalName="Nro" ma:percentage="FALSE">
      <xsd:simpleType>
        <xsd:restriction base="dms:Number"/>
      </xsd:simpleType>
    </xsd:element>
    <xsd:element name="Unidad" ma:index="9" nillable="true" ma:displayName="Unidad" ma:internalName="Unidad" ma:percentage="FALSE">
      <xsd:simpleType>
        <xsd:restriction base="dms:Number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B175A8-5A11-4EFA-8662-903FFE74D4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6C1713-F34A-4E08-8612-0BE588DBB21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5394DD4-2736-430F-85DC-AD745C20B32F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1381</Words>
  <Application>Microsoft Office PowerPoint</Application>
  <PresentationFormat>Panorámica</PresentationFormat>
  <Paragraphs>243</Paragraphs>
  <Slides>35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35</vt:i4>
      </vt:variant>
    </vt:vector>
  </HeadingPairs>
  <TitlesOfParts>
    <vt:vector size="44" baseType="lpstr">
      <vt:lpstr>Aptos</vt:lpstr>
      <vt:lpstr>Arial</vt:lpstr>
      <vt:lpstr>Calibri</vt:lpstr>
      <vt:lpstr>Calibri Light</vt:lpstr>
      <vt:lpstr>Cambria Math</vt:lpstr>
      <vt:lpstr>Cavolini</vt:lpstr>
      <vt:lpstr>Vladimir Script</vt:lpstr>
      <vt:lpstr>Office Theme</vt:lpstr>
      <vt:lpstr>Tema de Office</vt:lpstr>
      <vt:lpstr>ANÁLISIS DE ESTADOS FINANCIEROS</vt:lpstr>
      <vt:lpstr>CONTABILIDAD </vt:lpstr>
      <vt:lpstr>Contabilidad </vt:lpstr>
      <vt:lpstr>Contabilidad </vt:lpstr>
      <vt:lpstr>Contabilidad </vt:lpstr>
      <vt:lpstr>Beneficio económico y beneficio contable</vt:lpstr>
      <vt:lpstr>Interesados en la información contable</vt:lpstr>
      <vt:lpstr>ANÁLISIS DE LA EMPRESA</vt:lpstr>
      <vt:lpstr>ANÁLISIS CUALITATIVO</vt:lpstr>
      <vt:lpstr> ANÁLISIS CUANTITATIVO </vt:lpstr>
      <vt:lpstr>ANÁLISIS VERTICAL</vt:lpstr>
      <vt:lpstr> ANÁLISIS HORIZONTAL </vt:lpstr>
      <vt:lpstr>Análisis combinado</vt:lpstr>
      <vt:lpstr>Ratios, razones, índices </vt:lpstr>
      <vt:lpstr>Ratios </vt:lpstr>
      <vt:lpstr>Ratios limitaciones </vt:lpstr>
      <vt:lpstr>Variables de stock y de flujo</vt:lpstr>
      <vt:lpstr>Comparación de ratios </vt:lpstr>
      <vt:lpstr>Áreas de análisis</vt:lpstr>
      <vt:lpstr>Liquidez</vt:lpstr>
      <vt:lpstr>Seguimiento del Efectivo</vt:lpstr>
      <vt:lpstr>Seguimiento del Efectivo</vt:lpstr>
      <vt:lpstr>Seguimiento del Efectivo</vt:lpstr>
      <vt:lpstr>Endeudamiento</vt:lpstr>
      <vt:lpstr>Solvencia</vt:lpstr>
      <vt:lpstr>Actividad</vt:lpstr>
      <vt:lpstr>El Ciclo Operativo de la Firma</vt:lpstr>
      <vt:lpstr>El Ciclo de Efectivo o de Liquidez</vt:lpstr>
      <vt:lpstr>Ciclo Operativo y Ciclo del Efectivo</vt:lpstr>
      <vt:lpstr>Rendimiento y Rentabilidad</vt:lpstr>
      <vt:lpstr>MERCADO</vt:lpstr>
      <vt:lpstr>Crecimiento de Ventas</vt:lpstr>
      <vt:lpstr>Análisis multivariante</vt:lpstr>
      <vt:lpstr>Análisis multivariante</vt:lpstr>
      <vt:lpstr>Análisis multivariante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ESTADOS FINANCIEROS</dc:title>
  <dc:creator>Miguel Perez Rodriguez</dc:creator>
  <cp:lastModifiedBy>PEREZ RODRIGUEZ MIGUEL SECUNDINO</cp:lastModifiedBy>
  <cp:revision>3</cp:revision>
  <dcterms:created xsi:type="dcterms:W3CDTF">2020-10-25T02:06:43Z</dcterms:created>
  <dcterms:modified xsi:type="dcterms:W3CDTF">2024-07-10T23:50:43Z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0x010100F5983DF3B95FAF458D1DD2EC26AAFCA8</vt:lpwstr>
  </property>
</Properties>
</file>