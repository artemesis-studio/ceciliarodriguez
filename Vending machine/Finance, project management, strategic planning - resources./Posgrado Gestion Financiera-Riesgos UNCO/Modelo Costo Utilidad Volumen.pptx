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3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6858000" cy="9144000"/>
  <p:embeddedFontLst>
    <p:embeddedFont>
      <p:font typeface="Open Sans" panose="020B060603050402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gIIqDMpJMzL5sjiat8JwmqFb0F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3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7" Type="http://schemas.openxmlformats.org/officeDocument/2006/relationships/viewProps" Target="viewProps.xml"/><Relationship Id="rId50" Type="http://schemas.openxmlformats.org/officeDocument/2006/relationships/customXml" Target="../customXml/item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52" Type="http://schemas.openxmlformats.org/officeDocument/2006/relationships/customXml" Target="../customXml/item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customXml" Target="../customXml/item2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2.fntdata"/><Relationship Id="rId46" Type="http://schemas.openxmlformats.org/officeDocument/2006/relationships/presProps" Target="presProps.xml"/><Relationship Id="rId20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9" name="Google Shape;46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  <a:defRPr sz="6000" b="1" i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  <p:cxnSp>
        <p:nvCxnSpPr>
          <p:cNvPr id="17" name="Google Shape;17;p35"/>
          <p:cNvCxnSpPr/>
          <p:nvPr/>
        </p:nvCxnSpPr>
        <p:spPr>
          <a:xfrm>
            <a:off x="715890" y="1114050"/>
            <a:ext cx="0" cy="5735637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  <p:cxnSp>
        <p:nvCxnSpPr>
          <p:cNvPr id="24" name="Google Shape;24;p36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Open Sans"/>
              <a:buNone/>
              <a:defRPr sz="6000" b="1" i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  <p:cxnSp>
        <p:nvCxnSpPr>
          <p:cNvPr id="31" name="Google Shape;31;p39"/>
          <p:cNvCxnSpPr/>
          <p:nvPr/>
        </p:nvCxnSpPr>
        <p:spPr>
          <a:xfrm>
            <a:off x="715890" y="1701425"/>
            <a:ext cx="0" cy="5148262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4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  <p:cxnSp>
        <p:nvCxnSpPr>
          <p:cNvPr id="39" name="Google Shape;39;p40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4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  <p:cxnSp>
        <p:nvCxnSpPr>
          <p:cNvPr id="49" name="Google Shape;49;p41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  <p:cxnSp>
        <p:nvCxnSpPr>
          <p:cNvPr id="55" name="Google Shape;55;p42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  <p:cxnSp>
        <p:nvCxnSpPr>
          <p:cNvPr id="60" name="Google Shape;60;p43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4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  <p:cxnSp>
        <p:nvCxnSpPr>
          <p:cNvPr id="68" name="Google Shape;68;p44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4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  <p:cxnSp>
        <p:nvCxnSpPr>
          <p:cNvPr id="76" name="Google Shape;76;p45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  <p:cxnSp>
        <p:nvCxnSpPr>
          <p:cNvPr id="83" name="Google Shape;83;p46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  <p:cxnSp>
        <p:nvCxnSpPr>
          <p:cNvPr id="90" name="Google Shape;90;p47"/>
          <p:cNvCxnSpPr/>
          <p:nvPr/>
        </p:nvCxnSpPr>
        <p:spPr>
          <a:xfrm rot="10800000" flipH="1">
            <a:off x="8313" y="261865"/>
            <a:ext cx="11353802" cy="1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  <a:defRPr sz="4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" name="Google Shape;9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0" name="Google Shape;10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9" name="Google Shape;109;p1" descr="Humo púrpura"/>
          <p:cNvPicPr preferRelativeResize="0"/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295923"/>
            <a:ext cx="1219198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"/>
          <p:cNvSpPr txBox="1">
            <a:spLocks noGrp="1"/>
          </p:cNvSpPr>
          <p:nvPr>
            <p:ph type="subTitle" idx="1"/>
          </p:nvPr>
        </p:nvSpPr>
        <p:spPr>
          <a:xfrm>
            <a:off x="1256275" y="5098254"/>
            <a:ext cx="9679449" cy="75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es-AR" sz="3200" b="1">
                <a:solidFill>
                  <a:srgbClr val="FFFFFF"/>
                </a:solidFill>
              </a:rPr>
              <a:t>MODELO COSTO UTILIDAD VOLUMEN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rPr lang="es-AR" sz="3200" b="1">
                <a:solidFill>
                  <a:srgbClr val="FFFFFF"/>
                </a:solidFill>
              </a:rPr>
              <a:t>Miguel Pérez Rodríguez</a:t>
            </a:r>
            <a:endParaRPr/>
          </a:p>
        </p:txBody>
      </p:sp>
      <p:cxnSp>
        <p:nvCxnSpPr>
          <p:cNvPr id="111" name="Google Shape;111;p1"/>
          <p:cNvCxnSpPr/>
          <p:nvPr/>
        </p:nvCxnSpPr>
        <p:spPr>
          <a:xfrm>
            <a:off x="8878" y="806470"/>
            <a:ext cx="8453437" cy="0"/>
          </a:xfrm>
          <a:prstGeom prst="straightConnector1">
            <a:avLst/>
          </a:prstGeom>
          <a:noFill/>
          <a:ln w="25400" cap="sq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12" name="Google Shape;112;p1"/>
          <p:cNvSpPr/>
          <p:nvPr/>
        </p:nvSpPr>
        <p:spPr>
          <a:xfrm>
            <a:off x="544954" y="2875093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903734" y="3104388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529414" y="3619532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 txBox="1">
            <a:spLocks noGrp="1"/>
          </p:cNvSpPr>
          <p:nvPr>
            <p:ph type="title"/>
          </p:nvPr>
        </p:nvSpPr>
        <p:spPr>
          <a:xfrm>
            <a:off x="803775" y="1106007"/>
            <a:ext cx="10550025" cy="118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</a:pPr>
            <a:r>
              <a:rPr lang="es-AR" sz="3200"/>
              <a:t>MODELO COSTO UTILIDAD VOLUMEN</a:t>
            </a:r>
            <a:br>
              <a:rPr lang="es-AR" sz="3600"/>
            </a:br>
            <a:endParaRPr sz="3600"/>
          </a:p>
        </p:txBody>
      </p:sp>
      <p:sp>
        <p:nvSpPr>
          <p:cNvPr id="120" name="Google Shape;120;p2"/>
          <p:cNvSpPr txBox="1">
            <a:spLocks noGrp="1"/>
          </p:cNvSpPr>
          <p:nvPr>
            <p:ph type="body" idx="1"/>
          </p:nvPr>
        </p:nvSpPr>
        <p:spPr>
          <a:xfrm>
            <a:off x="803775" y="2598947"/>
            <a:ext cx="10550025" cy="367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 dirty="0"/>
              <a:t>Decisiones sobre dimensionamiento (tanto de expansión como de contracción </a:t>
            </a:r>
            <a:r>
              <a:rPr lang="es-AR" sz="1800" dirty="0" err="1"/>
              <a:t>ó</a:t>
            </a:r>
            <a:r>
              <a:rPr lang="es-AR" sz="1800" dirty="0"/>
              <a:t> </a:t>
            </a:r>
            <a:r>
              <a:rPr lang="es-AR" sz="1800" dirty="0" err="1"/>
              <a:t>downsizing</a:t>
            </a:r>
            <a:r>
              <a:rPr lang="es-AR" sz="1800" dirty="0"/>
              <a:t>) en una firma sobre la base de elementos aportados por modelos lineales.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3"/>
          <p:cNvSpPr txBox="1">
            <a:spLocks noGrp="1"/>
          </p:cNvSpPr>
          <p:nvPr>
            <p:ph type="title"/>
          </p:nvPr>
        </p:nvSpPr>
        <p:spPr>
          <a:xfrm>
            <a:off x="803775" y="1106007"/>
            <a:ext cx="10550025" cy="118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</a:pPr>
            <a:r>
              <a:rPr lang="es-AR" sz="3200"/>
              <a:t>MODELO COSTO UTILIDAD VOLUMEN</a:t>
            </a:r>
            <a:br>
              <a:rPr lang="es-AR" sz="3600"/>
            </a:br>
            <a:endParaRPr sz="3600"/>
          </a:p>
        </p:txBody>
      </p:sp>
      <p:cxnSp>
        <p:nvCxnSpPr>
          <p:cNvPr id="127" name="Google Shape;127;p3"/>
          <p:cNvCxnSpPr/>
          <p:nvPr/>
        </p:nvCxnSpPr>
        <p:spPr>
          <a:xfrm>
            <a:off x="8878" y="806470"/>
            <a:ext cx="7903723" cy="0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28" name="Google Shape;128;p3"/>
          <p:cNvSpPr/>
          <p:nvPr/>
        </p:nvSpPr>
        <p:spPr>
          <a:xfrm>
            <a:off x="11403764" y="2325422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11762544" y="2554717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11388224" y="3069861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3"/>
          <p:cNvSpPr txBox="1">
            <a:spLocks noGrp="1"/>
          </p:cNvSpPr>
          <p:nvPr>
            <p:ph type="body" idx="1"/>
          </p:nvPr>
        </p:nvSpPr>
        <p:spPr>
          <a:xfrm>
            <a:off x="803775" y="2598947"/>
            <a:ext cx="10550025" cy="367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 b="1"/>
              <a:t>CARACTERÍSTICAS: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AR" sz="1800"/>
              <a:t>LAS FUNCIONES DE INGRESOS POR VENTAS Y DE COSTOS SON LINEALES.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AR" sz="1800"/>
              <a:t>LA CAPACIDAD INSTALADA NO VARÍA.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AR" sz="1800"/>
              <a:t>EL PRECIO ES UNA CONSTANTE.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AR" sz="1800"/>
              <a:t>NO HAY VARIACIÓN DE STOCK.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AR" sz="1800"/>
              <a:t>LOS COSTOS DEBEN SER CLASIFICADOS DE ACUERDO CON SU GRADO DE VARIABILIDAD: FIJOS Y VARIABLES.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AR" sz="1800"/>
              <a:t>LA EMPRESA ES MONOPRODUCTO Ó SU MIX DE VENTAS PERMANECE INALTERADO.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4"/>
          <p:cNvSpPr txBox="1">
            <a:spLocks noGrp="1"/>
          </p:cNvSpPr>
          <p:nvPr>
            <p:ph type="title"/>
          </p:nvPr>
        </p:nvSpPr>
        <p:spPr>
          <a:xfrm>
            <a:off x="803775" y="1106007"/>
            <a:ext cx="10550025" cy="118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</a:pPr>
            <a:r>
              <a:rPr lang="es-AR" sz="3200"/>
              <a:t>MODELO COSTO UTILIDAD VOLUMEN</a:t>
            </a:r>
            <a:br>
              <a:rPr lang="es-AR" sz="3600"/>
            </a:br>
            <a:endParaRPr sz="3600"/>
          </a:p>
        </p:txBody>
      </p:sp>
      <p:cxnSp>
        <p:nvCxnSpPr>
          <p:cNvPr id="138" name="Google Shape;138;p4"/>
          <p:cNvCxnSpPr/>
          <p:nvPr/>
        </p:nvCxnSpPr>
        <p:spPr>
          <a:xfrm>
            <a:off x="8878" y="806470"/>
            <a:ext cx="7903723" cy="0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39" name="Google Shape;139;p4"/>
          <p:cNvSpPr/>
          <p:nvPr/>
        </p:nvSpPr>
        <p:spPr>
          <a:xfrm>
            <a:off x="11403764" y="2325422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4"/>
          <p:cNvSpPr txBox="1">
            <a:spLocks noGrp="1"/>
          </p:cNvSpPr>
          <p:nvPr>
            <p:ph type="body" idx="1"/>
          </p:nvPr>
        </p:nvSpPr>
        <p:spPr>
          <a:xfrm>
            <a:off x="803775" y="2598947"/>
            <a:ext cx="10550025" cy="367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/>
              <a:t>¿QUÉ PODEMOS DETERMINAR?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AR" sz="1800"/>
              <a:t>PUNTO DE EQUILIBRIO ECONÓMICO</a:t>
            </a:r>
            <a:endParaRPr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AR" sz="1800"/>
              <a:t>ZONA DE PÉRDIDAS Y ZONA DE UTILIDADES</a:t>
            </a:r>
            <a:endParaRPr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AR" sz="1800"/>
              <a:t>MÁXIMA UTILIDAD ESPERADA SI SE PRODUCE AL TOPE DE LA CAPACIDAD INSTALADA</a:t>
            </a:r>
            <a:endParaRPr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AR" sz="1800"/>
              <a:t>PUNTO DE EQUILIBRIO FINANCIERO</a:t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11762544" y="2554717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11388224" y="3069861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</a:pPr>
            <a:r>
              <a:rPr lang="es-AR" sz="3200"/>
              <a:t>PUNTO DE EQUILIBRIO ECONÓMICO</a:t>
            </a:r>
            <a:endParaRPr/>
          </a:p>
        </p:txBody>
      </p:sp>
      <p:sp>
        <p:nvSpPr>
          <p:cNvPr id="148" name="Google Shape;148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AR" sz="2400"/>
              <a:t>El Punto de Equilibrio Económico es la cantidad de unidades producidas y vendidas que requiere una compañía para que los ingresos por ventas cubran la totalidad de costos (fijos y variables).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AR" sz="2400"/>
              <a:t>Puede expresare en unidades o en pesos de ventas.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6"/>
          <p:cNvSpPr txBox="1">
            <a:spLocks noGrp="1"/>
          </p:cNvSpPr>
          <p:nvPr>
            <p:ph type="title"/>
          </p:nvPr>
        </p:nvSpPr>
        <p:spPr>
          <a:xfrm>
            <a:off x="803775" y="1106007"/>
            <a:ext cx="10550025" cy="1182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</a:pPr>
            <a:r>
              <a:rPr lang="es-AR" sz="3200"/>
              <a:t>MODELO COSTO UTILIDAD VOLUMEN</a:t>
            </a:r>
            <a:br>
              <a:rPr lang="es-AR" sz="3600"/>
            </a:br>
            <a:endParaRPr sz="3600"/>
          </a:p>
        </p:txBody>
      </p:sp>
      <p:cxnSp>
        <p:nvCxnSpPr>
          <p:cNvPr id="155" name="Google Shape;155;p6"/>
          <p:cNvCxnSpPr/>
          <p:nvPr/>
        </p:nvCxnSpPr>
        <p:spPr>
          <a:xfrm>
            <a:off x="8878" y="806470"/>
            <a:ext cx="7903723" cy="0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56" name="Google Shape;156;p6"/>
          <p:cNvSpPr/>
          <p:nvPr/>
        </p:nvSpPr>
        <p:spPr>
          <a:xfrm>
            <a:off x="11403764" y="2325422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6"/>
          <p:cNvSpPr txBox="1">
            <a:spLocks noGrp="1"/>
          </p:cNvSpPr>
          <p:nvPr>
            <p:ph type="body" idx="1"/>
          </p:nvPr>
        </p:nvSpPr>
        <p:spPr>
          <a:xfrm>
            <a:off x="803775" y="2598947"/>
            <a:ext cx="10550025" cy="3677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/>
              <a:t>EXPLICACIÓN DEL MODELO DE MANERA GRÁFICA Y MATEMÁTICA</a:t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11762544" y="2554717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1388224" y="3069861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p7"/>
          <p:cNvCxnSpPr/>
          <p:nvPr/>
        </p:nvCxnSpPr>
        <p:spPr>
          <a:xfrm>
            <a:off x="715890" y="1114050"/>
            <a:ext cx="0" cy="5735637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65" name="Google Shape;165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457200" y="1598246"/>
            <a:ext cx="3491945" cy="362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</a:pPr>
            <a:r>
              <a:rPr lang="es-AR" sz="3600" b="1" cap="none">
                <a:solidFill>
                  <a:schemeClr val="lt1"/>
                </a:solidFill>
              </a:rPr>
              <a:t>COSTOS FIJOS</a:t>
            </a:r>
            <a:br>
              <a:rPr lang="es-AR" sz="3600" b="1" cap="none">
                <a:solidFill>
                  <a:schemeClr val="lt1"/>
                </a:solidFill>
              </a:rPr>
            </a:br>
            <a:br>
              <a:rPr lang="es-AR" sz="3600" b="1" cap="none">
                <a:solidFill>
                  <a:schemeClr val="lt1"/>
                </a:solidFill>
              </a:rPr>
            </a:br>
            <a:r>
              <a:rPr lang="es-AR" sz="2200" b="1" cap="none">
                <a:solidFill>
                  <a:schemeClr val="lt1"/>
                </a:solidFill>
              </a:rPr>
              <a:t>SUPONGAMOS QUE LOS COSTOS FIJOS SUMAN $ 20.000</a:t>
            </a:r>
            <a:endParaRPr sz="2200" b="1" i="0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1512034" y="1267063"/>
            <a:ext cx="139037" cy="139039"/>
          </a:xfrm>
          <a:custGeom>
            <a:avLst/>
            <a:gdLst/>
            <a:ahLst/>
            <a:cxnLst/>
            <a:rect l="l" t="t" r="r" b="b"/>
            <a:pathLst>
              <a:path w="139037" h="139039" extrusionOk="0">
                <a:moveTo>
                  <a:pt x="129600" y="60082"/>
                </a:moveTo>
                <a:lnTo>
                  <a:pt x="78955" y="60082"/>
                </a:lnTo>
                <a:lnTo>
                  <a:pt x="78955" y="9437"/>
                </a:lnTo>
                <a:cubicBezTo>
                  <a:pt x="78955" y="4225"/>
                  <a:pt x="74730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7" y="139039"/>
                  <a:pt x="69519" y="139039"/>
                </a:cubicBezTo>
                <a:cubicBezTo>
                  <a:pt x="74730" y="139039"/>
                  <a:pt x="78955" y="134814"/>
                  <a:pt x="78955" y="129602"/>
                </a:cubicBezTo>
                <a:lnTo>
                  <a:pt x="78955" y="78957"/>
                </a:lnTo>
                <a:lnTo>
                  <a:pt x="129600" y="78957"/>
                </a:lnTo>
                <a:cubicBezTo>
                  <a:pt x="134812" y="78957"/>
                  <a:pt x="139037" y="74731"/>
                  <a:pt x="139037" y="69520"/>
                </a:cubicBezTo>
                <a:cubicBezTo>
                  <a:pt x="139037" y="64308"/>
                  <a:pt x="134812" y="60082"/>
                  <a:pt x="129600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8" name="Google Shape;168;p7"/>
          <p:cNvCxnSpPr/>
          <p:nvPr/>
        </p:nvCxnSpPr>
        <p:spPr>
          <a:xfrm>
            <a:off x="5447322" y="1589368"/>
            <a:ext cx="0" cy="5259754"/>
          </a:xfrm>
          <a:prstGeom prst="straightConnector1">
            <a:avLst/>
          </a:prstGeom>
          <a:noFill/>
          <a:ln w="25400" cap="sq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cxnSp>
      <p:pic>
        <p:nvPicPr>
          <p:cNvPr id="169" name="Google Shape;169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608434" y="1589368"/>
            <a:ext cx="5966188" cy="350637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/>
          <p:nvPr/>
        </p:nvSpPr>
        <p:spPr>
          <a:xfrm>
            <a:off x="11752801" y="1659316"/>
            <a:ext cx="127713" cy="127714"/>
          </a:xfrm>
          <a:custGeom>
            <a:avLst/>
            <a:gdLst/>
            <a:ahLst/>
            <a:cxnLst/>
            <a:rect l="l" t="t" r="r" b="b"/>
            <a:pathLst>
              <a:path w="127713" h="127714" extrusionOk="0">
                <a:moveTo>
                  <a:pt x="63857" y="18874"/>
                </a:moveTo>
                <a:cubicBezTo>
                  <a:pt x="88700" y="18874"/>
                  <a:pt x="108839" y="39014"/>
                  <a:pt x="108839" y="63857"/>
                </a:cubicBezTo>
                <a:cubicBezTo>
                  <a:pt x="108839" y="88700"/>
                  <a:pt x="88700" y="108840"/>
                  <a:pt x="63857" y="108840"/>
                </a:cubicBezTo>
                <a:cubicBezTo>
                  <a:pt x="39013" y="108840"/>
                  <a:pt x="18874" y="88700"/>
                  <a:pt x="18874" y="63857"/>
                </a:cubicBezTo>
                <a:cubicBezTo>
                  <a:pt x="18898" y="39024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5" name="Google Shape;175;p8"/>
          <p:cNvCxnSpPr/>
          <p:nvPr/>
        </p:nvCxnSpPr>
        <p:spPr>
          <a:xfrm>
            <a:off x="715890" y="1114050"/>
            <a:ext cx="0" cy="5735637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76" name="Google Shape;176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p8"/>
          <p:cNvSpPr txBox="1">
            <a:spLocks noGrp="1"/>
          </p:cNvSpPr>
          <p:nvPr>
            <p:ph type="title"/>
          </p:nvPr>
        </p:nvSpPr>
        <p:spPr>
          <a:xfrm>
            <a:off x="457201" y="1598246"/>
            <a:ext cx="3955770" cy="362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"/>
              <a:buNone/>
            </a:pPr>
            <a:r>
              <a:rPr lang="es-AR" sz="32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COSTOS</a:t>
            </a:r>
            <a:r>
              <a:rPr lang="es-AR" sz="56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AR" sz="32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VARIABLES</a:t>
            </a:r>
            <a:br>
              <a:rPr lang="es-AR" sz="32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s-AR" sz="24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AR" sz="24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SI EL COSTO VARIABLE UNITARIO ES $ 1,5</a:t>
            </a:r>
            <a:br>
              <a:rPr lang="es-AR" sz="24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AR" sz="24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PARA 80.000 UNIDADES EL COSTO VARIABLE TOTAL SERÁ:</a:t>
            </a:r>
            <a:br>
              <a:rPr lang="es-AR" sz="24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AR" sz="24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80.000 U * $ 1,5 = $ 120.000</a:t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11512034" y="1267063"/>
            <a:ext cx="139037" cy="139039"/>
          </a:xfrm>
          <a:custGeom>
            <a:avLst/>
            <a:gdLst/>
            <a:ahLst/>
            <a:cxnLst/>
            <a:rect l="l" t="t" r="r" b="b"/>
            <a:pathLst>
              <a:path w="139037" h="139039" extrusionOk="0">
                <a:moveTo>
                  <a:pt x="129600" y="60082"/>
                </a:moveTo>
                <a:lnTo>
                  <a:pt x="78955" y="60082"/>
                </a:lnTo>
                <a:lnTo>
                  <a:pt x="78955" y="9437"/>
                </a:lnTo>
                <a:cubicBezTo>
                  <a:pt x="78955" y="4225"/>
                  <a:pt x="74730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7" y="139039"/>
                  <a:pt x="69519" y="139039"/>
                </a:cubicBezTo>
                <a:cubicBezTo>
                  <a:pt x="74730" y="139039"/>
                  <a:pt x="78955" y="134814"/>
                  <a:pt x="78955" y="129602"/>
                </a:cubicBezTo>
                <a:lnTo>
                  <a:pt x="78955" y="78957"/>
                </a:lnTo>
                <a:lnTo>
                  <a:pt x="129600" y="78957"/>
                </a:lnTo>
                <a:cubicBezTo>
                  <a:pt x="134812" y="78957"/>
                  <a:pt x="139037" y="74731"/>
                  <a:pt x="139037" y="69520"/>
                </a:cubicBezTo>
                <a:cubicBezTo>
                  <a:pt x="139037" y="64308"/>
                  <a:pt x="134812" y="60082"/>
                  <a:pt x="129600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9" name="Google Shape;179;p8"/>
          <p:cNvCxnSpPr/>
          <p:nvPr/>
        </p:nvCxnSpPr>
        <p:spPr>
          <a:xfrm>
            <a:off x="5447322" y="1589368"/>
            <a:ext cx="0" cy="5259754"/>
          </a:xfrm>
          <a:prstGeom prst="straightConnector1">
            <a:avLst/>
          </a:prstGeom>
          <a:noFill/>
          <a:ln w="25400" cap="sq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cxnSp>
      <p:pic>
        <p:nvPicPr>
          <p:cNvPr id="180" name="Google Shape;180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565310" y="1562864"/>
            <a:ext cx="5994937" cy="359071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/>
          <p:nvPr/>
        </p:nvSpPr>
        <p:spPr>
          <a:xfrm>
            <a:off x="11752801" y="1659316"/>
            <a:ext cx="127713" cy="127714"/>
          </a:xfrm>
          <a:custGeom>
            <a:avLst/>
            <a:gdLst/>
            <a:ahLst/>
            <a:cxnLst/>
            <a:rect l="l" t="t" r="r" b="b"/>
            <a:pathLst>
              <a:path w="127713" h="127714" extrusionOk="0">
                <a:moveTo>
                  <a:pt x="63857" y="18874"/>
                </a:moveTo>
                <a:cubicBezTo>
                  <a:pt x="88700" y="18874"/>
                  <a:pt x="108839" y="39014"/>
                  <a:pt x="108839" y="63857"/>
                </a:cubicBezTo>
                <a:cubicBezTo>
                  <a:pt x="108839" y="88700"/>
                  <a:pt x="88700" y="108840"/>
                  <a:pt x="63857" y="108840"/>
                </a:cubicBezTo>
                <a:cubicBezTo>
                  <a:pt x="39013" y="108840"/>
                  <a:pt x="18874" y="88700"/>
                  <a:pt x="18874" y="63857"/>
                </a:cubicBezTo>
                <a:cubicBezTo>
                  <a:pt x="18898" y="39024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Google Shape;186;p9"/>
          <p:cNvCxnSpPr/>
          <p:nvPr/>
        </p:nvCxnSpPr>
        <p:spPr>
          <a:xfrm>
            <a:off x="715890" y="1114050"/>
            <a:ext cx="0" cy="5735637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87" name="Google Shape;187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8" name="Google Shape;188;p9"/>
          <p:cNvSpPr txBox="1">
            <a:spLocks noGrp="1"/>
          </p:cNvSpPr>
          <p:nvPr>
            <p:ph type="title"/>
          </p:nvPr>
        </p:nvSpPr>
        <p:spPr>
          <a:xfrm>
            <a:off x="457201" y="1598246"/>
            <a:ext cx="3624470" cy="362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"/>
              <a:buNone/>
            </a:pPr>
            <a:r>
              <a:rPr lang="es-AR" sz="36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COSTOS TOTALES</a:t>
            </a:r>
            <a:br>
              <a:rPr lang="es-AR" sz="32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s-AR" sz="32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AR" sz="27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POR EJEMPLO</a:t>
            </a:r>
            <a:br>
              <a:rPr lang="es-AR" sz="27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AR" sz="27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PARA 80.000 U </a:t>
            </a:r>
            <a:br>
              <a:rPr lang="es-AR" sz="27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AR" sz="27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COSTO FIJO: 20.000</a:t>
            </a:r>
            <a:br>
              <a:rPr lang="es-AR" sz="27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AR" sz="27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COSTO VARIABLE: 80.000*1,5=120.000</a:t>
            </a:r>
            <a:br>
              <a:rPr lang="es-AR" sz="27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AR" sz="27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COSTO TOTAL: 140.000</a:t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11512034" y="1267063"/>
            <a:ext cx="139037" cy="139039"/>
          </a:xfrm>
          <a:custGeom>
            <a:avLst/>
            <a:gdLst/>
            <a:ahLst/>
            <a:cxnLst/>
            <a:rect l="l" t="t" r="r" b="b"/>
            <a:pathLst>
              <a:path w="139037" h="139039" extrusionOk="0">
                <a:moveTo>
                  <a:pt x="129600" y="60082"/>
                </a:moveTo>
                <a:lnTo>
                  <a:pt x="78955" y="60082"/>
                </a:lnTo>
                <a:lnTo>
                  <a:pt x="78955" y="9437"/>
                </a:lnTo>
                <a:cubicBezTo>
                  <a:pt x="78955" y="4225"/>
                  <a:pt x="74730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7" y="139039"/>
                  <a:pt x="69519" y="139039"/>
                </a:cubicBezTo>
                <a:cubicBezTo>
                  <a:pt x="74730" y="139039"/>
                  <a:pt x="78955" y="134814"/>
                  <a:pt x="78955" y="129602"/>
                </a:cubicBezTo>
                <a:lnTo>
                  <a:pt x="78955" y="78957"/>
                </a:lnTo>
                <a:lnTo>
                  <a:pt x="129600" y="78957"/>
                </a:lnTo>
                <a:cubicBezTo>
                  <a:pt x="134812" y="78957"/>
                  <a:pt x="139037" y="74731"/>
                  <a:pt x="139037" y="69520"/>
                </a:cubicBezTo>
                <a:cubicBezTo>
                  <a:pt x="139037" y="64308"/>
                  <a:pt x="134812" y="60082"/>
                  <a:pt x="129600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90" name="Google Shape;190;p9"/>
          <p:cNvCxnSpPr/>
          <p:nvPr/>
        </p:nvCxnSpPr>
        <p:spPr>
          <a:xfrm>
            <a:off x="5447322" y="1589368"/>
            <a:ext cx="0" cy="5259754"/>
          </a:xfrm>
          <a:prstGeom prst="straightConnector1">
            <a:avLst/>
          </a:prstGeom>
          <a:noFill/>
          <a:ln w="25400" cap="sq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cxnSp>
      <p:pic>
        <p:nvPicPr>
          <p:cNvPr id="191" name="Google Shape;191;p9" descr="Gráfico, Gráfico de líneas&#10;&#10;Descripción generada automáticamente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738351" y="1589368"/>
            <a:ext cx="5773683" cy="345819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/>
          <p:nvPr/>
        </p:nvSpPr>
        <p:spPr>
          <a:xfrm>
            <a:off x="11752801" y="1659316"/>
            <a:ext cx="127713" cy="127714"/>
          </a:xfrm>
          <a:custGeom>
            <a:avLst/>
            <a:gdLst/>
            <a:ahLst/>
            <a:cxnLst/>
            <a:rect l="l" t="t" r="r" b="b"/>
            <a:pathLst>
              <a:path w="127713" h="127714" extrusionOk="0">
                <a:moveTo>
                  <a:pt x="63857" y="18874"/>
                </a:moveTo>
                <a:cubicBezTo>
                  <a:pt x="88700" y="18874"/>
                  <a:pt x="108839" y="39014"/>
                  <a:pt x="108839" y="63857"/>
                </a:cubicBezTo>
                <a:cubicBezTo>
                  <a:pt x="108839" y="88700"/>
                  <a:pt x="88700" y="108840"/>
                  <a:pt x="63857" y="108840"/>
                </a:cubicBezTo>
                <a:cubicBezTo>
                  <a:pt x="39013" y="108840"/>
                  <a:pt x="18874" y="88700"/>
                  <a:pt x="18874" y="63857"/>
                </a:cubicBezTo>
                <a:cubicBezTo>
                  <a:pt x="18898" y="39024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10"/>
          <p:cNvCxnSpPr/>
          <p:nvPr/>
        </p:nvCxnSpPr>
        <p:spPr>
          <a:xfrm>
            <a:off x="715890" y="1114050"/>
            <a:ext cx="0" cy="5735637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198" name="Google Shape;198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10"/>
          <p:cNvSpPr txBox="1">
            <a:spLocks noGrp="1"/>
          </p:cNvSpPr>
          <p:nvPr>
            <p:ph type="title"/>
          </p:nvPr>
        </p:nvSpPr>
        <p:spPr>
          <a:xfrm>
            <a:off x="457200" y="1598246"/>
            <a:ext cx="4412419" cy="362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</a:pPr>
            <a:r>
              <a:rPr lang="es-AR" sz="36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VENTAS</a:t>
            </a:r>
            <a:br>
              <a:rPr lang="es-AR" sz="36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s-AR" sz="36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AR" sz="24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SI EL PRECIO ES $ 2</a:t>
            </a:r>
            <a:br>
              <a:rPr lang="es-AR" sz="24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s-AR" sz="24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AR" sz="24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INGRESOS POR VENTAS PARA 80.000 U:  $ 160.000</a:t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11512034" y="1267063"/>
            <a:ext cx="139037" cy="139039"/>
          </a:xfrm>
          <a:custGeom>
            <a:avLst/>
            <a:gdLst/>
            <a:ahLst/>
            <a:cxnLst/>
            <a:rect l="l" t="t" r="r" b="b"/>
            <a:pathLst>
              <a:path w="139037" h="139039" extrusionOk="0">
                <a:moveTo>
                  <a:pt x="129600" y="60082"/>
                </a:moveTo>
                <a:lnTo>
                  <a:pt x="78955" y="60082"/>
                </a:lnTo>
                <a:lnTo>
                  <a:pt x="78955" y="9437"/>
                </a:lnTo>
                <a:cubicBezTo>
                  <a:pt x="78955" y="4225"/>
                  <a:pt x="74730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7" y="139039"/>
                  <a:pt x="69519" y="139039"/>
                </a:cubicBezTo>
                <a:cubicBezTo>
                  <a:pt x="74730" y="139039"/>
                  <a:pt x="78955" y="134814"/>
                  <a:pt x="78955" y="129602"/>
                </a:cubicBezTo>
                <a:lnTo>
                  <a:pt x="78955" y="78957"/>
                </a:lnTo>
                <a:lnTo>
                  <a:pt x="129600" y="78957"/>
                </a:lnTo>
                <a:cubicBezTo>
                  <a:pt x="134812" y="78957"/>
                  <a:pt x="139037" y="74731"/>
                  <a:pt x="139037" y="69520"/>
                </a:cubicBezTo>
                <a:cubicBezTo>
                  <a:pt x="139037" y="64308"/>
                  <a:pt x="134812" y="60082"/>
                  <a:pt x="129600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1" name="Google Shape;201;p10"/>
          <p:cNvCxnSpPr/>
          <p:nvPr/>
        </p:nvCxnSpPr>
        <p:spPr>
          <a:xfrm>
            <a:off x="5447322" y="1589368"/>
            <a:ext cx="0" cy="5259754"/>
          </a:xfrm>
          <a:prstGeom prst="straightConnector1">
            <a:avLst/>
          </a:prstGeom>
          <a:noFill/>
          <a:ln w="25400" cap="sq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cxnSp>
      <p:pic>
        <p:nvPicPr>
          <p:cNvPr id="202" name="Google Shape;202;p10" descr="Gráfico, Gráfico de líneas&#10;&#10;Descripción generada automáticamente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516114" y="1659315"/>
            <a:ext cx="5959996" cy="356514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0"/>
          <p:cNvSpPr/>
          <p:nvPr/>
        </p:nvSpPr>
        <p:spPr>
          <a:xfrm>
            <a:off x="11752801" y="1659316"/>
            <a:ext cx="127713" cy="127714"/>
          </a:xfrm>
          <a:custGeom>
            <a:avLst/>
            <a:gdLst/>
            <a:ahLst/>
            <a:cxnLst/>
            <a:rect l="l" t="t" r="r" b="b"/>
            <a:pathLst>
              <a:path w="127713" h="127714" extrusionOk="0">
                <a:moveTo>
                  <a:pt x="63857" y="18874"/>
                </a:moveTo>
                <a:cubicBezTo>
                  <a:pt x="88700" y="18874"/>
                  <a:pt x="108839" y="39014"/>
                  <a:pt x="108839" y="63857"/>
                </a:cubicBezTo>
                <a:cubicBezTo>
                  <a:pt x="108839" y="88700"/>
                  <a:pt x="88700" y="108840"/>
                  <a:pt x="63857" y="108840"/>
                </a:cubicBezTo>
                <a:cubicBezTo>
                  <a:pt x="39013" y="108840"/>
                  <a:pt x="18874" y="88700"/>
                  <a:pt x="18874" y="63857"/>
                </a:cubicBezTo>
                <a:cubicBezTo>
                  <a:pt x="18898" y="39024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8" name="Google Shape;208;p11"/>
          <p:cNvCxnSpPr/>
          <p:nvPr/>
        </p:nvCxnSpPr>
        <p:spPr>
          <a:xfrm>
            <a:off x="715890" y="1114050"/>
            <a:ext cx="0" cy="5735637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209" name="Google Shape;209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0" name="Google Shape;210;p11"/>
          <p:cNvSpPr txBox="1">
            <a:spLocks noGrp="1"/>
          </p:cNvSpPr>
          <p:nvPr>
            <p:ph type="title"/>
          </p:nvPr>
        </p:nvSpPr>
        <p:spPr>
          <a:xfrm>
            <a:off x="457200" y="1598246"/>
            <a:ext cx="4412419" cy="362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</a:pPr>
            <a:r>
              <a:rPr lang="es-AR" sz="36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PUNTO DE EQUILIBRIO</a:t>
            </a:r>
            <a:br>
              <a:rPr lang="es-AR" sz="36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s-AR" sz="36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AR" sz="3600" b="1" i="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BREAK EVEN POINT</a:t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11512034" y="1267063"/>
            <a:ext cx="139037" cy="139039"/>
          </a:xfrm>
          <a:custGeom>
            <a:avLst/>
            <a:gdLst/>
            <a:ahLst/>
            <a:cxnLst/>
            <a:rect l="l" t="t" r="r" b="b"/>
            <a:pathLst>
              <a:path w="139037" h="139039" extrusionOk="0">
                <a:moveTo>
                  <a:pt x="129600" y="60082"/>
                </a:moveTo>
                <a:lnTo>
                  <a:pt x="78955" y="60082"/>
                </a:lnTo>
                <a:lnTo>
                  <a:pt x="78955" y="9437"/>
                </a:lnTo>
                <a:cubicBezTo>
                  <a:pt x="78955" y="4225"/>
                  <a:pt x="74730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7" y="139039"/>
                  <a:pt x="69519" y="139039"/>
                </a:cubicBezTo>
                <a:cubicBezTo>
                  <a:pt x="74730" y="139039"/>
                  <a:pt x="78955" y="134814"/>
                  <a:pt x="78955" y="129602"/>
                </a:cubicBezTo>
                <a:lnTo>
                  <a:pt x="78955" y="78957"/>
                </a:lnTo>
                <a:lnTo>
                  <a:pt x="129600" y="78957"/>
                </a:lnTo>
                <a:cubicBezTo>
                  <a:pt x="134812" y="78957"/>
                  <a:pt x="139037" y="74731"/>
                  <a:pt x="139037" y="69520"/>
                </a:cubicBezTo>
                <a:cubicBezTo>
                  <a:pt x="139037" y="64308"/>
                  <a:pt x="134812" y="60082"/>
                  <a:pt x="129600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12" name="Google Shape;212;p11"/>
          <p:cNvCxnSpPr/>
          <p:nvPr/>
        </p:nvCxnSpPr>
        <p:spPr>
          <a:xfrm>
            <a:off x="5447322" y="1589368"/>
            <a:ext cx="0" cy="5259754"/>
          </a:xfrm>
          <a:prstGeom prst="straightConnector1">
            <a:avLst/>
          </a:prstGeom>
          <a:noFill/>
          <a:ln w="25400" cap="sq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cxnSp>
      <p:pic>
        <p:nvPicPr>
          <p:cNvPr id="213" name="Google Shape;213;p11" descr="Gráfico, Gráfico de líneas&#10;&#10;Descripción generada automáticamente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986926" y="1598246"/>
            <a:ext cx="5569864" cy="444586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1"/>
          <p:cNvSpPr/>
          <p:nvPr/>
        </p:nvSpPr>
        <p:spPr>
          <a:xfrm>
            <a:off x="11752801" y="1659316"/>
            <a:ext cx="127713" cy="127714"/>
          </a:xfrm>
          <a:custGeom>
            <a:avLst/>
            <a:gdLst/>
            <a:ahLst/>
            <a:cxnLst/>
            <a:rect l="l" t="t" r="r" b="b"/>
            <a:pathLst>
              <a:path w="127713" h="127714" extrusionOk="0">
                <a:moveTo>
                  <a:pt x="63857" y="18874"/>
                </a:moveTo>
                <a:cubicBezTo>
                  <a:pt x="88700" y="18874"/>
                  <a:pt x="108839" y="39014"/>
                  <a:pt x="108839" y="63857"/>
                </a:cubicBezTo>
                <a:cubicBezTo>
                  <a:pt x="108839" y="88700"/>
                  <a:pt x="88700" y="108840"/>
                  <a:pt x="63857" y="108840"/>
                </a:cubicBezTo>
                <a:cubicBezTo>
                  <a:pt x="39013" y="108840"/>
                  <a:pt x="18874" y="88700"/>
                  <a:pt x="18874" y="63857"/>
                </a:cubicBezTo>
                <a:cubicBezTo>
                  <a:pt x="18898" y="39024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0" name="Google Shape;220;p12"/>
          <p:cNvSpPr txBox="1">
            <a:spLocks noGrp="1"/>
          </p:cNvSpPr>
          <p:nvPr>
            <p:ph type="title"/>
          </p:nvPr>
        </p:nvSpPr>
        <p:spPr>
          <a:xfrm>
            <a:off x="1256522" y="591829"/>
            <a:ext cx="3939688" cy="5583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</a:pPr>
            <a:r>
              <a:rPr lang="es-AR" sz="3600">
                <a:solidFill>
                  <a:schemeClr val="lt1"/>
                </a:solidFill>
              </a:rPr>
              <a:t>PUNTO DE EQUILIBRIO</a:t>
            </a:r>
            <a:endParaRPr/>
          </a:p>
        </p:txBody>
      </p:sp>
      <p:cxnSp>
        <p:nvCxnSpPr>
          <p:cNvPr id="221" name="Google Shape;221;p12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w="25400" cap="sq" cmpd="sng">
            <a:solidFill>
              <a:schemeClr val="lt1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222" name="Google Shape;222;p12"/>
          <p:cNvSpPr/>
          <p:nvPr/>
        </p:nvSpPr>
        <p:spPr>
          <a:xfrm>
            <a:off x="11472518" y="591829"/>
            <a:ext cx="139039" cy="139039"/>
          </a:xfrm>
          <a:custGeom>
            <a:avLst/>
            <a:gdLst/>
            <a:ahLst/>
            <a:cxnLst/>
            <a:rect l="l" t="t" r="r" b="b"/>
            <a:pathLst>
              <a:path w="139039" h="139039" extrusionOk="0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11831298" y="821124"/>
            <a:ext cx="91138" cy="91138"/>
          </a:xfrm>
          <a:custGeom>
            <a:avLst/>
            <a:gdLst/>
            <a:ahLst/>
            <a:cxnLst/>
            <a:rect l="l" t="t" r="r" b="b"/>
            <a:pathLst>
              <a:path w="91138" h="91138" extrusionOk="0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11456978" y="1336268"/>
            <a:ext cx="127714" cy="127714"/>
          </a:xfrm>
          <a:custGeom>
            <a:avLst/>
            <a:gdLst/>
            <a:ahLst/>
            <a:cxnLst/>
            <a:rect l="l" t="t" r="r" b="b"/>
            <a:pathLst>
              <a:path w="127714" h="127714" extrusionOk="0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25" name="Google Shape;225;p12"/>
          <p:cNvGrpSpPr/>
          <p:nvPr/>
        </p:nvGrpSpPr>
        <p:grpSpPr>
          <a:xfrm>
            <a:off x="5671680" y="671805"/>
            <a:ext cx="5503150" cy="5503150"/>
            <a:chOff x="178970" y="0"/>
            <a:chExt cx="5503150" cy="5503150"/>
          </a:xfrm>
        </p:grpSpPr>
        <p:sp>
          <p:nvSpPr>
            <p:cNvPr id="226" name="Google Shape;226;p12"/>
            <p:cNvSpPr/>
            <p:nvPr/>
          </p:nvSpPr>
          <p:spPr>
            <a:xfrm>
              <a:off x="178970" y="0"/>
              <a:ext cx="5503150" cy="5503150"/>
            </a:xfrm>
            <a:prstGeom prst="quadArrow">
              <a:avLst>
                <a:gd name="adj1" fmla="val 2000"/>
                <a:gd name="adj2" fmla="val 4000"/>
                <a:gd name="adj3" fmla="val 5000"/>
              </a:avLst>
            </a:prstGeom>
            <a:solidFill>
              <a:srgbClr val="CBCD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2"/>
            <p:cNvSpPr/>
            <p:nvPr/>
          </p:nvSpPr>
          <p:spPr>
            <a:xfrm>
              <a:off x="536674" y="357704"/>
              <a:ext cx="2201260" cy="2201260"/>
            </a:xfrm>
            <a:prstGeom prst="roundRect">
              <a:avLst>
                <a:gd name="adj" fmla="val 16667"/>
              </a:avLst>
            </a:prstGeom>
            <a:solidFill>
              <a:srgbClr val="233DFF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2"/>
            <p:cNvSpPr txBox="1"/>
            <p:nvPr/>
          </p:nvSpPr>
          <p:spPr>
            <a:xfrm>
              <a:off x="644131" y="465161"/>
              <a:ext cx="1986346" cy="1986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Open Sans"/>
                <a:buNone/>
              </a:pPr>
              <a:r>
                <a:rPr lang="es-AR" sz="19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Partimos de la ecuación básica de resultado contable:</a:t>
              </a:r>
              <a:endParaRPr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9" name="Google Shape;229;p12"/>
            <p:cNvSpPr/>
            <p:nvPr/>
          </p:nvSpPr>
          <p:spPr>
            <a:xfrm>
              <a:off x="3123155" y="357704"/>
              <a:ext cx="2201260" cy="220126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2"/>
            <p:cNvSpPr txBox="1"/>
            <p:nvPr/>
          </p:nvSpPr>
          <p:spPr>
            <a:xfrm>
              <a:off x="3230612" y="465161"/>
              <a:ext cx="1986346" cy="1986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Open Sans"/>
                <a:buNone/>
              </a:pPr>
              <a:r>
                <a:rPr lang="es-AR" sz="19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RESULTADO CONTABLE = VENTAS – COSTOS VARIABLES – COSTOS FIJOS</a:t>
              </a:r>
              <a:endParaRPr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1" name="Google Shape;231;p12"/>
            <p:cNvSpPr/>
            <p:nvPr/>
          </p:nvSpPr>
          <p:spPr>
            <a:xfrm>
              <a:off x="536674" y="2944185"/>
              <a:ext cx="2201260" cy="2201260"/>
            </a:xfrm>
            <a:prstGeom prst="roundRect">
              <a:avLst>
                <a:gd name="adj" fmla="val 16667"/>
              </a:avLst>
            </a:prstGeom>
            <a:solidFill>
              <a:srgbClr val="FE8F2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2"/>
            <p:cNvSpPr txBox="1"/>
            <p:nvPr/>
          </p:nvSpPr>
          <p:spPr>
            <a:xfrm>
              <a:off x="644131" y="3051642"/>
              <a:ext cx="1986346" cy="1986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Open Sans"/>
                <a:buNone/>
              </a:pPr>
              <a:r>
                <a:rPr lang="es-AR" sz="19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Ello puede expresarse como:</a:t>
              </a:r>
              <a:endParaRPr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3" name="Google Shape;233;p12"/>
            <p:cNvSpPr/>
            <p:nvPr/>
          </p:nvSpPr>
          <p:spPr>
            <a:xfrm>
              <a:off x="3123155" y="2944185"/>
              <a:ext cx="2201260" cy="220126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2"/>
            <p:cNvSpPr txBox="1"/>
            <p:nvPr/>
          </p:nvSpPr>
          <p:spPr>
            <a:xfrm>
              <a:off x="3230612" y="3051642"/>
              <a:ext cx="1986346" cy="1986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Open Sans"/>
                <a:buNone/>
              </a:pPr>
              <a:r>
                <a:rPr lang="es-AR" sz="1900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R = V – CV – F</a:t>
              </a:r>
              <a:endParaRPr sz="1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0" y="0"/>
            <a:ext cx="5779911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13"/>
          <p:cNvSpPr txBox="1"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</a:pPr>
            <a:r>
              <a:rPr lang="es-AR" sz="3600">
                <a:solidFill>
                  <a:schemeClr val="lt1"/>
                </a:solidFill>
              </a:rPr>
              <a:t>PUNTO DE EQUILIBRIO</a:t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633061" y="554152"/>
            <a:ext cx="171515" cy="171515"/>
          </a:xfrm>
          <a:custGeom>
            <a:avLst/>
            <a:gdLst/>
            <a:ahLst/>
            <a:cxnLst/>
            <a:rect l="l" t="t" r="r" b="b"/>
            <a:pathLst>
              <a:path w="171515" h="171515" extrusionOk="0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1075643" y="837005"/>
            <a:ext cx="112426" cy="112426"/>
          </a:xfrm>
          <a:custGeom>
            <a:avLst/>
            <a:gdLst/>
            <a:ahLst/>
            <a:cxnLst/>
            <a:rect l="l" t="t" r="r" b="b"/>
            <a:pathLst>
              <a:path w="112426" h="112426" extrusionOk="0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613892" y="1472473"/>
            <a:ext cx="157545" cy="157545"/>
          </a:xfrm>
          <a:custGeom>
            <a:avLst/>
            <a:gdLst/>
            <a:ahLst/>
            <a:cxnLst/>
            <a:rect l="l" t="t" r="r" b="b"/>
            <a:pathLst>
              <a:path w="157545" h="157545" extrusionOk="0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p13"/>
          <p:cNvSpPr txBox="1">
            <a:spLocks noGrp="1"/>
          </p:cNvSpPr>
          <p:nvPr>
            <p:ph type="body" idx="1"/>
          </p:nvPr>
        </p:nvSpPr>
        <p:spPr>
          <a:xfrm>
            <a:off x="6096000" y="381935"/>
            <a:ext cx="4986955" cy="5974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AR" sz="3200"/>
              <a:t>Si expresamos: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AR" sz="3200"/>
              <a:t>Ventas = p * q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AR" sz="3200"/>
              <a:t>Costo Variable = v * q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AR" sz="3200"/>
              <a:t>Costo Fijo = F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AR" sz="3200"/>
              <a:t>Entonces,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</p:txBody>
      </p:sp>
      <p:cxnSp>
        <p:nvCxnSpPr>
          <p:cNvPr id="246" name="Google Shape;246;p13"/>
          <p:cNvCxnSpPr/>
          <p:nvPr/>
        </p:nvCxnSpPr>
        <p:spPr>
          <a:xfrm>
            <a:off x="11586162" y="3610394"/>
            <a:ext cx="0" cy="3238728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15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3" name="Google Shape;253;p14" descr="Question mark on green pastel background"/>
          <p:cNvPicPr preferRelativeResize="0"/>
          <p:nvPr/>
        </p:nvPicPr>
        <p:blipFill rotWithShape="1">
          <a:blip r:embed="rId3">
            <a:alphaModFix amt="35000"/>
          </a:blip>
          <a:srcRect t="3581" b="21418"/>
          <a:stretch/>
        </p:blipFill>
        <p:spPr>
          <a:xfrm>
            <a:off x="20" y="-223189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4"/>
          <p:cNvSpPr txBox="1">
            <a:spLocks noGrp="1"/>
          </p:cNvSpPr>
          <p:nvPr>
            <p:ph type="title"/>
          </p:nvPr>
        </p:nvSpPr>
        <p:spPr>
          <a:xfrm>
            <a:off x="5846617" y="381936"/>
            <a:ext cx="5366040" cy="846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pen Sans"/>
              <a:buNone/>
            </a:pPr>
            <a:r>
              <a:rPr lang="es-AR" sz="3200">
                <a:solidFill>
                  <a:srgbClr val="FFFFFF"/>
                </a:solidFill>
              </a:rPr>
              <a:t>PUNTO DE EQUILIBRIO</a:t>
            </a: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1379609" y="554152"/>
            <a:ext cx="171515" cy="171515"/>
          </a:xfrm>
          <a:custGeom>
            <a:avLst/>
            <a:gdLst/>
            <a:ahLst/>
            <a:cxnLst/>
            <a:rect l="l" t="t" r="r" b="b"/>
            <a:pathLst>
              <a:path w="171515" h="171515" extrusionOk="0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996116" y="837005"/>
            <a:ext cx="112426" cy="112426"/>
          </a:xfrm>
          <a:custGeom>
            <a:avLst/>
            <a:gdLst/>
            <a:ahLst/>
            <a:cxnLst/>
            <a:rect l="l" t="t" r="r" b="b"/>
            <a:pathLst>
              <a:path w="112426" h="112426" extrusionOk="0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1412748" y="1472473"/>
            <a:ext cx="157545" cy="157545"/>
          </a:xfrm>
          <a:custGeom>
            <a:avLst/>
            <a:gdLst/>
            <a:ahLst/>
            <a:cxnLst/>
            <a:rect l="l" t="t" r="r" b="b"/>
            <a:pathLst>
              <a:path w="157545" h="157545" extrusionOk="0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58" name="Google Shape;258;p14"/>
          <p:cNvCxnSpPr/>
          <p:nvPr/>
        </p:nvCxnSpPr>
        <p:spPr>
          <a:xfrm>
            <a:off x="623622" y="3610394"/>
            <a:ext cx="0" cy="3238728"/>
          </a:xfrm>
          <a:prstGeom prst="straightConnector1">
            <a:avLst/>
          </a:prstGeom>
          <a:noFill/>
          <a:ln w="25400" cap="sq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</p:spPr>
      </p:cxnSp>
      <p:sp>
        <p:nvSpPr>
          <p:cNvPr id="259" name="Google Shape;259;p14"/>
          <p:cNvSpPr txBox="1">
            <a:spLocks noGrp="1"/>
          </p:cNvSpPr>
          <p:nvPr>
            <p:ph type="body" idx="1"/>
          </p:nvPr>
        </p:nvSpPr>
        <p:spPr>
          <a:xfrm>
            <a:off x="2271719" y="1900238"/>
            <a:ext cx="8940940" cy="408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</a:pPr>
            <a:r>
              <a:rPr lang="es-AR" sz="3600">
                <a:solidFill>
                  <a:srgbClr val="FFFFFF"/>
                </a:solidFill>
              </a:rPr>
              <a:t>              R  =   p * q  -   v * q    -  F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36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</a:pPr>
            <a:r>
              <a:rPr lang="es-AR" sz="3600">
                <a:solidFill>
                  <a:srgbClr val="FFFFFF"/>
                </a:solidFill>
              </a:rPr>
              <a:t>              R  =   q * (p – v) -  F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36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</a:pPr>
            <a:r>
              <a:rPr lang="es-AR" sz="3600">
                <a:solidFill>
                  <a:srgbClr val="FFFFFF"/>
                </a:solidFill>
              </a:rPr>
              <a:t>              q  =    </a:t>
            </a:r>
            <a:r>
              <a:rPr lang="es-AR" sz="3600" u="sng">
                <a:solidFill>
                  <a:srgbClr val="FFFFFF"/>
                </a:solidFill>
              </a:rPr>
              <a:t>R + F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</a:pPr>
            <a:r>
              <a:rPr lang="es-AR" sz="3600">
                <a:solidFill>
                  <a:srgbClr val="FFFFFF"/>
                </a:solidFill>
              </a:rPr>
              <a:t>                         p - v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 u="sng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0" y="0"/>
            <a:ext cx="5779911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15"/>
          <p:cNvSpPr txBox="1"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"/>
              <a:buNone/>
            </a:pPr>
            <a:r>
              <a:rPr lang="es-AR" sz="3200">
                <a:solidFill>
                  <a:schemeClr val="lt1"/>
                </a:solidFill>
              </a:rPr>
              <a:t>PUNTO DE EQUILIBRIO</a:t>
            </a:r>
            <a:endParaRPr/>
          </a:p>
        </p:txBody>
      </p:sp>
      <p:sp>
        <p:nvSpPr>
          <p:cNvPr id="267" name="Google Shape;267;p15"/>
          <p:cNvSpPr/>
          <p:nvPr/>
        </p:nvSpPr>
        <p:spPr>
          <a:xfrm>
            <a:off x="633061" y="554152"/>
            <a:ext cx="171515" cy="171515"/>
          </a:xfrm>
          <a:custGeom>
            <a:avLst/>
            <a:gdLst/>
            <a:ahLst/>
            <a:cxnLst/>
            <a:rect l="l" t="t" r="r" b="b"/>
            <a:pathLst>
              <a:path w="171515" h="171515" extrusionOk="0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1075643" y="837005"/>
            <a:ext cx="112426" cy="112426"/>
          </a:xfrm>
          <a:custGeom>
            <a:avLst/>
            <a:gdLst/>
            <a:ahLst/>
            <a:cxnLst/>
            <a:rect l="l" t="t" r="r" b="b"/>
            <a:pathLst>
              <a:path w="112426" h="112426" extrusionOk="0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613892" y="1472473"/>
            <a:ext cx="157545" cy="157545"/>
          </a:xfrm>
          <a:custGeom>
            <a:avLst/>
            <a:gdLst/>
            <a:ahLst/>
            <a:cxnLst/>
            <a:rect l="l" t="t" r="r" b="b"/>
            <a:pathLst>
              <a:path w="157545" h="157545" extrusionOk="0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0" name="Google Shape;270;p15"/>
          <p:cNvSpPr txBox="1">
            <a:spLocks noGrp="1"/>
          </p:cNvSpPr>
          <p:nvPr>
            <p:ph type="body" idx="1"/>
          </p:nvPr>
        </p:nvSpPr>
        <p:spPr>
          <a:xfrm>
            <a:off x="6196543" y="381934"/>
            <a:ext cx="5389616" cy="5974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AR" sz="2000"/>
              <a:t>El Punto de Equilibrio Económico (en cantidades) lo encontramos para el caso particular en que R = 0.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AR" sz="2000"/>
              <a:t>                             q</a:t>
            </a:r>
            <a:r>
              <a:rPr lang="es-AR" sz="2000" baseline="-25000"/>
              <a:t>e</a:t>
            </a:r>
            <a:r>
              <a:rPr lang="es-AR" sz="2000"/>
              <a:t>   =      </a:t>
            </a:r>
            <a:r>
              <a:rPr lang="es-AR" sz="2000" u="sng"/>
              <a:t>F </a:t>
            </a:r>
            <a:r>
              <a:rPr lang="es-AR" sz="2000"/>
              <a:t>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AR" sz="2000"/>
              <a:t>                                          p – v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AR" sz="2000"/>
              <a:t>Donde: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AR" sz="2000"/>
              <a:t>q</a:t>
            </a:r>
            <a:r>
              <a:rPr lang="es-AR" sz="2000" baseline="-25000"/>
              <a:t>e</a:t>
            </a:r>
            <a:r>
              <a:rPr lang="es-AR" sz="2000"/>
              <a:t> = cantidad producida y vendida de equilibrio económico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AR" sz="2000"/>
              <a:t>F = Costos Fijos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AR" sz="2000"/>
              <a:t>p – v = Contribución Marginal Unitaria</a:t>
            </a:r>
            <a:endParaRPr/>
          </a:p>
        </p:txBody>
      </p:sp>
      <p:cxnSp>
        <p:nvCxnSpPr>
          <p:cNvPr id="271" name="Google Shape;271;p15"/>
          <p:cNvCxnSpPr/>
          <p:nvPr/>
        </p:nvCxnSpPr>
        <p:spPr>
          <a:xfrm>
            <a:off x="11586162" y="3610394"/>
            <a:ext cx="0" cy="3238728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7" name="Google Shape;277;p16"/>
          <p:cNvSpPr/>
          <p:nvPr/>
        </p:nvSpPr>
        <p:spPr>
          <a:xfrm>
            <a:off x="0" y="0"/>
            <a:ext cx="5779911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" name="Google Shape;278;p16"/>
          <p:cNvSpPr txBox="1"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"/>
              <a:buNone/>
            </a:pPr>
            <a:r>
              <a:rPr lang="es-AR" sz="3200">
                <a:solidFill>
                  <a:schemeClr val="lt1"/>
                </a:solidFill>
              </a:rPr>
              <a:t>PUNTO DE EQUILIBRIO</a:t>
            </a:r>
            <a:endParaRPr/>
          </a:p>
        </p:txBody>
      </p:sp>
      <p:sp>
        <p:nvSpPr>
          <p:cNvPr id="279" name="Google Shape;279;p16"/>
          <p:cNvSpPr/>
          <p:nvPr/>
        </p:nvSpPr>
        <p:spPr>
          <a:xfrm>
            <a:off x="633061" y="554152"/>
            <a:ext cx="171515" cy="171515"/>
          </a:xfrm>
          <a:custGeom>
            <a:avLst/>
            <a:gdLst/>
            <a:ahLst/>
            <a:cxnLst/>
            <a:rect l="l" t="t" r="r" b="b"/>
            <a:pathLst>
              <a:path w="171515" h="171515" extrusionOk="0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1075643" y="837005"/>
            <a:ext cx="112426" cy="112426"/>
          </a:xfrm>
          <a:custGeom>
            <a:avLst/>
            <a:gdLst/>
            <a:ahLst/>
            <a:cxnLst/>
            <a:rect l="l" t="t" r="r" b="b"/>
            <a:pathLst>
              <a:path w="112426" h="112426" extrusionOk="0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613892" y="1472473"/>
            <a:ext cx="157545" cy="157545"/>
          </a:xfrm>
          <a:custGeom>
            <a:avLst/>
            <a:gdLst/>
            <a:ahLst/>
            <a:cxnLst/>
            <a:rect l="l" t="t" r="r" b="b"/>
            <a:pathLst>
              <a:path w="157545" h="157545" extrusionOk="0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16"/>
          <p:cNvSpPr txBox="1">
            <a:spLocks noGrp="1"/>
          </p:cNvSpPr>
          <p:nvPr>
            <p:ph type="body" idx="1"/>
          </p:nvPr>
        </p:nvSpPr>
        <p:spPr>
          <a:xfrm>
            <a:off x="6096000" y="837006"/>
            <a:ext cx="4986955" cy="50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/>
              <a:t>Si queremos expresarlo como monto de Ventas que permite cubrir el total de los costos, entonces tomamos la cantidad producida y vendida de equilibrio y lo multiplicamos por el precio: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/>
              <a:t>                        V</a:t>
            </a:r>
            <a:r>
              <a:rPr lang="es-AR" sz="1800" baseline="-25000"/>
              <a:t>e</a:t>
            </a:r>
            <a:r>
              <a:rPr lang="es-AR" sz="1800"/>
              <a:t>  =  q</a:t>
            </a:r>
            <a:r>
              <a:rPr lang="es-AR" sz="1800" baseline="-25000"/>
              <a:t>e</a:t>
            </a:r>
            <a:r>
              <a:rPr lang="es-AR" sz="1800"/>
              <a:t>   *   p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/>
              <a:t>Si desarrollamos matemáticamente a partir de la ecuación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/>
              <a:t>                          q</a:t>
            </a:r>
            <a:r>
              <a:rPr lang="es-AR" sz="1800" baseline="-25000"/>
              <a:t>e </a:t>
            </a:r>
            <a:r>
              <a:rPr lang="es-AR" sz="1800"/>
              <a:t> =     </a:t>
            </a:r>
            <a:r>
              <a:rPr lang="es-AR" sz="1800" u="sng"/>
              <a:t>F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/>
              <a:t>                                    p - v</a:t>
            </a:r>
            <a:endParaRPr/>
          </a:p>
        </p:txBody>
      </p:sp>
      <p:cxnSp>
        <p:nvCxnSpPr>
          <p:cNvPr id="283" name="Google Shape;283;p16"/>
          <p:cNvCxnSpPr/>
          <p:nvPr/>
        </p:nvCxnSpPr>
        <p:spPr>
          <a:xfrm>
            <a:off x="11586162" y="3610394"/>
            <a:ext cx="0" cy="3238728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0" y="0"/>
            <a:ext cx="5779911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17"/>
          <p:cNvSpPr txBox="1"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"/>
              <a:buNone/>
            </a:pPr>
            <a:r>
              <a:rPr lang="es-AR" sz="3200">
                <a:solidFill>
                  <a:schemeClr val="lt1"/>
                </a:solidFill>
              </a:rPr>
              <a:t>PUNTO DE EQUILIBRIO</a:t>
            </a:r>
            <a:endParaRPr/>
          </a:p>
        </p:txBody>
      </p:sp>
      <p:sp>
        <p:nvSpPr>
          <p:cNvPr id="291" name="Google Shape;291;p17"/>
          <p:cNvSpPr/>
          <p:nvPr/>
        </p:nvSpPr>
        <p:spPr>
          <a:xfrm>
            <a:off x="633061" y="554152"/>
            <a:ext cx="171515" cy="171515"/>
          </a:xfrm>
          <a:custGeom>
            <a:avLst/>
            <a:gdLst/>
            <a:ahLst/>
            <a:cxnLst/>
            <a:rect l="l" t="t" r="r" b="b"/>
            <a:pathLst>
              <a:path w="171515" h="171515" extrusionOk="0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1075643" y="837005"/>
            <a:ext cx="112426" cy="112426"/>
          </a:xfrm>
          <a:custGeom>
            <a:avLst/>
            <a:gdLst/>
            <a:ahLst/>
            <a:cxnLst/>
            <a:rect l="l" t="t" r="r" b="b"/>
            <a:pathLst>
              <a:path w="112426" h="112426" extrusionOk="0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613892" y="1472473"/>
            <a:ext cx="157545" cy="157545"/>
          </a:xfrm>
          <a:custGeom>
            <a:avLst/>
            <a:gdLst/>
            <a:ahLst/>
            <a:cxnLst/>
            <a:rect l="l" t="t" r="r" b="b"/>
            <a:pathLst>
              <a:path w="157545" h="157545" extrusionOk="0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4" name="Google Shape;294;p17"/>
          <p:cNvSpPr txBox="1">
            <a:spLocks noGrp="1"/>
          </p:cNvSpPr>
          <p:nvPr>
            <p:ph type="body" idx="1"/>
          </p:nvPr>
        </p:nvSpPr>
        <p:spPr>
          <a:xfrm>
            <a:off x="5779912" y="837005"/>
            <a:ext cx="5806250" cy="5519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AR" sz="1800" dirty="0"/>
              <a:t>Multiplicando ambos miembros por el precio p, tendremos,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AR" sz="1800" dirty="0"/>
              <a:t>                            </a:t>
            </a:r>
            <a:r>
              <a:rPr lang="es-AR" sz="1800" dirty="0" err="1"/>
              <a:t>q</a:t>
            </a:r>
            <a:r>
              <a:rPr lang="es-AR" sz="1800" baseline="-25000" dirty="0" err="1"/>
              <a:t>e</a:t>
            </a:r>
            <a:r>
              <a:rPr lang="es-AR" sz="1800" dirty="0"/>
              <a:t> * p   =      </a:t>
            </a:r>
            <a:r>
              <a:rPr lang="es-AR" sz="1800" u="sng" dirty="0"/>
              <a:t>F</a:t>
            </a:r>
            <a:r>
              <a:rPr lang="es-AR" sz="1800" dirty="0"/>
              <a:t>        *    p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AR" sz="1800" dirty="0"/>
              <a:t>                                               p – v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AR" sz="1800" dirty="0"/>
              <a:t>                                 V</a:t>
            </a:r>
            <a:r>
              <a:rPr lang="es-AR" sz="1800" baseline="-25000" dirty="0"/>
              <a:t>e</a:t>
            </a:r>
            <a:r>
              <a:rPr lang="es-AR" sz="1800" dirty="0"/>
              <a:t>     =      </a:t>
            </a:r>
            <a:r>
              <a:rPr lang="es-AR" sz="1800" u="sng" dirty="0"/>
              <a:t>F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AR" sz="1800" dirty="0"/>
              <a:t>                                               </a:t>
            </a:r>
            <a:r>
              <a:rPr lang="es-AR" sz="1800" u="sng" dirty="0"/>
              <a:t>p  -  v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AR" sz="1800" dirty="0"/>
              <a:t>                                                   p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AR" sz="1800" dirty="0"/>
              <a:t>      V</a:t>
            </a:r>
            <a:r>
              <a:rPr lang="es-AR" sz="1800" baseline="-25000" dirty="0"/>
              <a:t>e</a:t>
            </a:r>
            <a:r>
              <a:rPr lang="es-AR" sz="1800" dirty="0"/>
              <a:t>      =        </a:t>
            </a:r>
            <a:r>
              <a:rPr lang="es-AR" sz="1800" u="sng" dirty="0"/>
              <a:t>F</a:t>
            </a:r>
            <a:r>
              <a:rPr lang="es-AR" sz="1800" dirty="0"/>
              <a:t>                   ==&gt;     V</a:t>
            </a:r>
            <a:r>
              <a:rPr lang="es-AR" sz="1800" baseline="-25000" dirty="0"/>
              <a:t>e</a:t>
            </a:r>
            <a:r>
              <a:rPr lang="es-AR" sz="1800" dirty="0"/>
              <a:t>  =       </a:t>
            </a:r>
            <a:r>
              <a:rPr lang="es-AR" sz="1800" u="sng" dirty="0"/>
              <a:t>F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AR" sz="1800" dirty="0"/>
              <a:t>                       1 -  </a:t>
            </a:r>
            <a:r>
              <a:rPr lang="es-AR" sz="1800" u="sng" dirty="0"/>
              <a:t>v</a:t>
            </a:r>
            <a:r>
              <a:rPr lang="es-AR" sz="1800" dirty="0"/>
              <a:t>                                        % CMG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AR" sz="1800" dirty="0"/>
              <a:t>                             p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AR" sz="1800" dirty="0"/>
              <a:t>DONDE CMG: Contribución Marginal Total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/>
          </a:p>
        </p:txBody>
      </p:sp>
      <p:cxnSp>
        <p:nvCxnSpPr>
          <p:cNvPr id="295" name="Google Shape;295;p17"/>
          <p:cNvCxnSpPr/>
          <p:nvPr/>
        </p:nvCxnSpPr>
        <p:spPr>
          <a:xfrm>
            <a:off x="11586162" y="3610394"/>
            <a:ext cx="0" cy="3238728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1" name="Google Shape;301;p18"/>
          <p:cNvSpPr/>
          <p:nvPr/>
        </p:nvSpPr>
        <p:spPr>
          <a:xfrm>
            <a:off x="0" y="0"/>
            <a:ext cx="5779911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2" name="Google Shape;302;p18"/>
          <p:cNvSpPr txBox="1"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"/>
              <a:buNone/>
            </a:pPr>
            <a:r>
              <a:rPr lang="es-AR" sz="3600">
                <a:solidFill>
                  <a:schemeClr val="lt1"/>
                </a:solidFill>
              </a:rPr>
              <a:t>PUNTO DE EQUILIBRIO</a:t>
            </a:r>
            <a:endParaRPr/>
          </a:p>
        </p:txBody>
      </p:sp>
      <p:sp>
        <p:nvSpPr>
          <p:cNvPr id="303" name="Google Shape;303;p18"/>
          <p:cNvSpPr/>
          <p:nvPr/>
        </p:nvSpPr>
        <p:spPr>
          <a:xfrm>
            <a:off x="633061" y="554152"/>
            <a:ext cx="171515" cy="171515"/>
          </a:xfrm>
          <a:custGeom>
            <a:avLst/>
            <a:gdLst/>
            <a:ahLst/>
            <a:cxnLst/>
            <a:rect l="l" t="t" r="r" b="b"/>
            <a:pathLst>
              <a:path w="171515" h="171515" extrusionOk="0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1075643" y="837005"/>
            <a:ext cx="112426" cy="112426"/>
          </a:xfrm>
          <a:custGeom>
            <a:avLst/>
            <a:gdLst/>
            <a:ahLst/>
            <a:cxnLst/>
            <a:rect l="l" t="t" r="r" b="b"/>
            <a:pathLst>
              <a:path w="112426" h="112426" extrusionOk="0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5" name="Google Shape;305;p18"/>
          <p:cNvSpPr/>
          <p:nvPr/>
        </p:nvSpPr>
        <p:spPr>
          <a:xfrm>
            <a:off x="613892" y="1472473"/>
            <a:ext cx="157545" cy="157545"/>
          </a:xfrm>
          <a:custGeom>
            <a:avLst/>
            <a:gdLst/>
            <a:ahLst/>
            <a:cxnLst/>
            <a:rect l="l" t="t" r="r" b="b"/>
            <a:pathLst>
              <a:path w="157545" h="157545" extrusionOk="0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6" name="Google Shape;306;p18"/>
          <p:cNvSpPr txBox="1">
            <a:spLocks noGrp="1"/>
          </p:cNvSpPr>
          <p:nvPr>
            <p:ph type="body" idx="1"/>
          </p:nvPr>
        </p:nvSpPr>
        <p:spPr>
          <a:xfrm>
            <a:off x="6096000" y="381935"/>
            <a:ext cx="4986955" cy="5974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/>
              <a:t>En un Estado de Resultados de una compañía podremos observar: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/>
              <a:t>VENTAS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-"/>
            </a:pPr>
            <a:r>
              <a:rPr lang="es-AR" sz="1800"/>
              <a:t>COSTOS VARIABLES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/>
              <a:t>= CONTRIBUCIÓN MARGINAL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-"/>
            </a:pPr>
            <a:r>
              <a:rPr lang="es-AR" sz="1800"/>
              <a:t>COSTOS FIJOS</a:t>
            </a:r>
            <a:endParaRPr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/>
              <a:t>= EBIT (RESULTADO OPERATIVO)</a:t>
            </a:r>
            <a:endParaRPr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/>
          </a:p>
        </p:txBody>
      </p:sp>
      <p:cxnSp>
        <p:nvCxnSpPr>
          <p:cNvPr id="307" name="Google Shape;307;p18"/>
          <p:cNvCxnSpPr/>
          <p:nvPr/>
        </p:nvCxnSpPr>
        <p:spPr>
          <a:xfrm>
            <a:off x="11586162" y="3610394"/>
            <a:ext cx="0" cy="3238728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pen Sans"/>
              <a:buNone/>
            </a:pPr>
            <a:r>
              <a:rPr lang="es-AR"/>
              <a:t>PUNTO DE EQUILIBRIO</a:t>
            </a:r>
            <a:endParaRPr/>
          </a:p>
        </p:txBody>
      </p:sp>
      <p:sp>
        <p:nvSpPr>
          <p:cNvPr id="313" name="Google Shape;313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AR" dirty="0"/>
              <a:t>EJEMPLO: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AR" dirty="0"/>
              <a:t>¿Cuál es el punto de equilibrio de una firma que vende su producto a $ 2, el costo variable unitario es de $ 1 y los costos fijos totalizan $ 500?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AR" dirty="0"/>
              <a:t>				</a:t>
            </a:r>
            <a:r>
              <a:rPr lang="es-AR" dirty="0" err="1"/>
              <a:t>q</a:t>
            </a:r>
            <a:r>
              <a:rPr lang="es-AR" baseline="-25000" dirty="0" err="1"/>
              <a:t>e</a:t>
            </a:r>
            <a:r>
              <a:rPr lang="es-AR" dirty="0"/>
              <a:t>   =      </a:t>
            </a:r>
            <a:r>
              <a:rPr lang="es-AR" u="sng" dirty="0"/>
              <a:t>F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AR" dirty="0"/>
              <a:t>                                                              p – v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AR" dirty="0"/>
              <a:t>Reemplazando en la fórmula, tenemos: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AR" dirty="0"/>
              <a:t>                                            </a:t>
            </a:r>
            <a:r>
              <a:rPr lang="es-AR" dirty="0" err="1"/>
              <a:t>q</a:t>
            </a:r>
            <a:r>
              <a:rPr lang="es-AR" baseline="-25000" dirty="0" err="1"/>
              <a:t>e</a:t>
            </a:r>
            <a:r>
              <a:rPr lang="es-AR" dirty="0"/>
              <a:t>   =    </a:t>
            </a:r>
            <a:r>
              <a:rPr lang="es-AR" u="sng" dirty="0"/>
              <a:t>500 </a:t>
            </a:r>
            <a:r>
              <a:rPr lang="es-AR" dirty="0"/>
              <a:t>  = 500 unidades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AR" dirty="0"/>
              <a:t>                                                          2-1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"/>
          <p:cNvSpPr/>
          <p:nvPr/>
        </p:nvSpPr>
        <p:spPr>
          <a:xfrm>
            <a:off x="0" y="12192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0" y="0"/>
            <a:ext cx="5779911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20"/>
          <p:cNvSpPr txBox="1"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"/>
              <a:buNone/>
            </a:pPr>
            <a:r>
              <a:rPr lang="es-AR" sz="3200">
                <a:solidFill>
                  <a:schemeClr val="lt1"/>
                </a:solidFill>
              </a:rPr>
              <a:t>PUNTO DE EQUILIBRIO</a:t>
            </a:r>
            <a:endParaRPr/>
          </a:p>
        </p:txBody>
      </p:sp>
      <p:sp>
        <p:nvSpPr>
          <p:cNvPr id="321" name="Google Shape;321;p20"/>
          <p:cNvSpPr/>
          <p:nvPr/>
        </p:nvSpPr>
        <p:spPr>
          <a:xfrm>
            <a:off x="633061" y="554152"/>
            <a:ext cx="171515" cy="171515"/>
          </a:xfrm>
          <a:custGeom>
            <a:avLst/>
            <a:gdLst/>
            <a:ahLst/>
            <a:cxnLst/>
            <a:rect l="l" t="t" r="r" b="b"/>
            <a:pathLst>
              <a:path w="171515" h="171515" extrusionOk="0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1075643" y="837005"/>
            <a:ext cx="112426" cy="112426"/>
          </a:xfrm>
          <a:custGeom>
            <a:avLst/>
            <a:gdLst/>
            <a:ahLst/>
            <a:cxnLst/>
            <a:rect l="l" t="t" r="r" b="b"/>
            <a:pathLst>
              <a:path w="112426" h="112426" extrusionOk="0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613892" y="1472473"/>
            <a:ext cx="157545" cy="157545"/>
          </a:xfrm>
          <a:custGeom>
            <a:avLst/>
            <a:gdLst/>
            <a:ahLst/>
            <a:cxnLst/>
            <a:rect l="l" t="t" r="r" b="b"/>
            <a:pathLst>
              <a:path w="157545" h="157545" extrusionOk="0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4" name="Google Shape;324;p20"/>
          <p:cNvSpPr txBox="1">
            <a:spLocks noGrp="1"/>
          </p:cNvSpPr>
          <p:nvPr>
            <p:ph type="body" idx="1"/>
          </p:nvPr>
        </p:nvSpPr>
        <p:spPr>
          <a:xfrm>
            <a:off x="5892337" y="326517"/>
            <a:ext cx="5666591" cy="5974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s-AR" sz="1500" dirty="0"/>
              <a:t>Ahora, si queremos encontrar el punto de equilibrio en $ (ventas necesarias para cubrir la totalidad de costos)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15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s-AR" sz="1500" dirty="0"/>
              <a:t>                          </a:t>
            </a:r>
            <a:r>
              <a:rPr lang="es-AR" sz="1500" dirty="0" err="1"/>
              <a:t>q</a:t>
            </a:r>
            <a:r>
              <a:rPr lang="es-AR" sz="1500" baseline="-25000" dirty="0" err="1"/>
              <a:t>e</a:t>
            </a:r>
            <a:r>
              <a:rPr lang="es-AR" sz="1500" baseline="-25000" dirty="0"/>
              <a:t> </a:t>
            </a:r>
            <a:r>
              <a:rPr lang="es-AR" sz="1500" dirty="0"/>
              <a:t> *  p  =  500 * $ 2  = $ 1.000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15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s-AR" sz="1500" dirty="0"/>
              <a:t>Comprobación: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15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s-AR" sz="1500" dirty="0"/>
              <a:t>	        Ventas (500 u * $ 2)		1.000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s-AR" sz="1500" dirty="0"/>
              <a:t>                          Costos Variables (500 u * $ 1)	   500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s-AR" sz="1500" dirty="0"/>
              <a:t>                          Contribución Marginal		   500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s-AR" sz="1500" dirty="0"/>
              <a:t>                          Costos Fijos			   500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s-AR" sz="1500" dirty="0"/>
              <a:t>                          EBIT                                                                  0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15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15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s-AR" sz="1500" dirty="0"/>
              <a:t>El % de CMG es del 50%</a:t>
            </a:r>
            <a:endParaRPr dirty="0"/>
          </a:p>
        </p:txBody>
      </p:sp>
      <p:cxnSp>
        <p:nvCxnSpPr>
          <p:cNvPr id="325" name="Google Shape;325;p20"/>
          <p:cNvCxnSpPr/>
          <p:nvPr/>
        </p:nvCxnSpPr>
        <p:spPr>
          <a:xfrm>
            <a:off x="11586162" y="3610394"/>
            <a:ext cx="0" cy="3238728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0" y="0"/>
            <a:ext cx="5779911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2" name="Google Shape;332;p21"/>
          <p:cNvSpPr txBox="1"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"/>
              <a:buNone/>
            </a:pPr>
            <a:r>
              <a:rPr lang="es-AR" sz="3200">
                <a:solidFill>
                  <a:schemeClr val="lt1"/>
                </a:solidFill>
              </a:rPr>
              <a:t>PUNTO DE EQUILIBRIO</a:t>
            </a:r>
            <a:endParaRPr/>
          </a:p>
        </p:txBody>
      </p:sp>
      <p:sp>
        <p:nvSpPr>
          <p:cNvPr id="333" name="Google Shape;333;p21"/>
          <p:cNvSpPr/>
          <p:nvPr/>
        </p:nvSpPr>
        <p:spPr>
          <a:xfrm>
            <a:off x="633061" y="554152"/>
            <a:ext cx="171515" cy="171515"/>
          </a:xfrm>
          <a:custGeom>
            <a:avLst/>
            <a:gdLst/>
            <a:ahLst/>
            <a:cxnLst/>
            <a:rect l="l" t="t" r="r" b="b"/>
            <a:pathLst>
              <a:path w="171515" h="171515" extrusionOk="0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1075643" y="837005"/>
            <a:ext cx="112426" cy="112426"/>
          </a:xfrm>
          <a:custGeom>
            <a:avLst/>
            <a:gdLst/>
            <a:ahLst/>
            <a:cxnLst/>
            <a:rect l="l" t="t" r="r" b="b"/>
            <a:pathLst>
              <a:path w="112426" h="112426" extrusionOk="0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613892" y="1472473"/>
            <a:ext cx="157545" cy="157545"/>
          </a:xfrm>
          <a:custGeom>
            <a:avLst/>
            <a:gdLst/>
            <a:ahLst/>
            <a:cxnLst/>
            <a:rect l="l" t="t" r="r" b="b"/>
            <a:pathLst>
              <a:path w="157545" h="157545" extrusionOk="0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6" name="Google Shape;336;p21"/>
          <p:cNvSpPr txBox="1">
            <a:spLocks noGrp="1"/>
          </p:cNvSpPr>
          <p:nvPr>
            <p:ph type="body" idx="1"/>
          </p:nvPr>
        </p:nvSpPr>
        <p:spPr>
          <a:xfrm>
            <a:off x="6096000" y="381935"/>
            <a:ext cx="5462938" cy="5974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s-AR" sz="1700"/>
              <a:t>Supongamos ahora, con los mismos datos, que la empresa actualmente produce y vende 1.000 unidades. Con esta información, ya sabemos, que la empresa obtiene utilidades porque esa cantidad está por encima de la cantidad de equilibrio hallada (500).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17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s-AR" sz="1700"/>
              <a:t>Comprobación: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17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s-AR" sz="1700"/>
              <a:t>         Ventas (1.000 u * $ 2)			2.000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s-AR" sz="1700"/>
              <a:t>         Costos Variables (1.000 u * $ 1)	1.000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s-AR" sz="1700"/>
              <a:t>         Contribución Marginal 		1.000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s-AR" sz="1700"/>
              <a:t>         Costos Fijos				   500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s-AR" sz="1700"/>
              <a:t>         EBIT (Resultado Operativo)		   500                </a:t>
            </a:r>
            <a:endParaRPr/>
          </a:p>
        </p:txBody>
      </p:sp>
      <p:cxnSp>
        <p:nvCxnSpPr>
          <p:cNvPr id="337" name="Google Shape;337;p21"/>
          <p:cNvCxnSpPr/>
          <p:nvPr/>
        </p:nvCxnSpPr>
        <p:spPr>
          <a:xfrm>
            <a:off x="11586162" y="3610394"/>
            <a:ext cx="0" cy="3238728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0" y="0"/>
            <a:ext cx="5779911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4" name="Google Shape;344;p22"/>
          <p:cNvSpPr txBox="1"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"/>
              <a:buNone/>
            </a:pPr>
            <a:r>
              <a:rPr lang="es-AR" sz="3200">
                <a:solidFill>
                  <a:schemeClr val="lt1"/>
                </a:solidFill>
              </a:rPr>
              <a:t>ANÁLISIS DE SENSIBILIDAD</a:t>
            </a:r>
            <a:endParaRPr/>
          </a:p>
        </p:txBody>
      </p:sp>
      <p:sp>
        <p:nvSpPr>
          <p:cNvPr id="345" name="Google Shape;345;p22"/>
          <p:cNvSpPr/>
          <p:nvPr/>
        </p:nvSpPr>
        <p:spPr>
          <a:xfrm>
            <a:off x="633061" y="554152"/>
            <a:ext cx="171515" cy="171515"/>
          </a:xfrm>
          <a:custGeom>
            <a:avLst/>
            <a:gdLst/>
            <a:ahLst/>
            <a:cxnLst/>
            <a:rect l="l" t="t" r="r" b="b"/>
            <a:pathLst>
              <a:path w="171515" h="171515" extrusionOk="0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1075643" y="837005"/>
            <a:ext cx="112426" cy="112426"/>
          </a:xfrm>
          <a:custGeom>
            <a:avLst/>
            <a:gdLst/>
            <a:ahLst/>
            <a:cxnLst/>
            <a:rect l="l" t="t" r="r" b="b"/>
            <a:pathLst>
              <a:path w="112426" h="112426" extrusionOk="0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613892" y="1472473"/>
            <a:ext cx="157545" cy="157545"/>
          </a:xfrm>
          <a:custGeom>
            <a:avLst/>
            <a:gdLst/>
            <a:ahLst/>
            <a:cxnLst/>
            <a:rect l="l" t="t" r="r" b="b"/>
            <a:pathLst>
              <a:path w="157545" h="157545" extrusionOk="0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8" name="Google Shape;348;p22"/>
          <p:cNvSpPr txBox="1">
            <a:spLocks noGrp="1"/>
          </p:cNvSpPr>
          <p:nvPr>
            <p:ph type="body" idx="1"/>
          </p:nvPr>
        </p:nvSpPr>
        <p:spPr>
          <a:xfrm>
            <a:off x="6096000" y="381935"/>
            <a:ext cx="4986900" cy="59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/>
              <a:t>Mecanismo por el cual el analista selecciona las variables críticas (p.e. precio; costo variable unitario; costos fijos; cantidades) y estudia el efecto de la variación de cada una sobre el resultado manteniendo las demás constantes (“ceteris paribus”).</a:t>
            </a:r>
            <a:endParaRPr/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/>
              <a:t>Ejemplos:</a:t>
            </a:r>
            <a:endParaRPr/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/>
              <a:t>¿Qué sucedería si el precio aumentara un 10%?</a:t>
            </a:r>
            <a:endParaRPr/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/>
              <a:t>¿Cuál sería el efecto de una reducción de las cantidades vendidas en un 5%?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</p:txBody>
      </p:sp>
      <p:cxnSp>
        <p:nvCxnSpPr>
          <p:cNvPr id="349" name="Google Shape;349;p22"/>
          <p:cNvCxnSpPr/>
          <p:nvPr/>
        </p:nvCxnSpPr>
        <p:spPr>
          <a:xfrm>
            <a:off x="11586162" y="3610394"/>
            <a:ext cx="0" cy="3238728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0" y="0"/>
            <a:ext cx="5779911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6" name="Google Shape;356;p23"/>
          <p:cNvSpPr txBox="1"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Open Sans"/>
              <a:buNone/>
            </a:pPr>
            <a:r>
              <a:rPr lang="es-AR" sz="4500">
                <a:solidFill>
                  <a:schemeClr val="lt1"/>
                </a:solidFill>
              </a:rPr>
              <a:t>PUNTO DE EQUILIBRIO FINANCIERO</a:t>
            </a:r>
            <a:endParaRPr sz="4500">
              <a:solidFill>
                <a:schemeClr val="lt1"/>
              </a:solidFill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633061" y="554152"/>
            <a:ext cx="171515" cy="171515"/>
          </a:xfrm>
          <a:custGeom>
            <a:avLst/>
            <a:gdLst/>
            <a:ahLst/>
            <a:cxnLst/>
            <a:rect l="l" t="t" r="r" b="b"/>
            <a:pathLst>
              <a:path w="171515" h="171515" extrusionOk="0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1075643" y="837005"/>
            <a:ext cx="112426" cy="112426"/>
          </a:xfrm>
          <a:custGeom>
            <a:avLst/>
            <a:gdLst/>
            <a:ahLst/>
            <a:cxnLst/>
            <a:rect l="l" t="t" r="r" b="b"/>
            <a:pathLst>
              <a:path w="112426" h="112426" extrusionOk="0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613892" y="1472473"/>
            <a:ext cx="157545" cy="157545"/>
          </a:xfrm>
          <a:custGeom>
            <a:avLst/>
            <a:gdLst/>
            <a:ahLst/>
            <a:cxnLst/>
            <a:rect l="l" t="t" r="r" b="b"/>
            <a:pathLst>
              <a:path w="157545" h="157545" extrusionOk="0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0" name="Google Shape;360;p23"/>
          <p:cNvSpPr txBox="1">
            <a:spLocks noGrp="1"/>
          </p:cNvSpPr>
          <p:nvPr>
            <p:ph type="body" idx="1"/>
          </p:nvPr>
        </p:nvSpPr>
        <p:spPr>
          <a:xfrm>
            <a:off x="6189550" y="458135"/>
            <a:ext cx="4986900" cy="59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/>
              <a:t>Representa aquella cantidad de unidades producidas y vendidas que le permite a la firma hacer frente a los costos que deben ser erogados (que implican salida de efectivo).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/>
              <a:t>En dicho caso, excluiremos de la función de costos las partidas que no afecten el flujo de fondos (p.e. depreciaciones de bienes de uso; previsiones por incobrabilidad).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/>
              <a:t>No cambiará la contribución marginal pero el punto de equilibrio se anticipa.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AR" sz="1800"/>
              <a:t>Si a esa cantidad se la multiplica por el precio obtendremos el punto de equilibrio financiero en pesos.</a:t>
            </a:r>
            <a:endParaRPr sz="1800"/>
          </a:p>
        </p:txBody>
      </p:sp>
      <p:cxnSp>
        <p:nvCxnSpPr>
          <p:cNvPr id="361" name="Google Shape;361;p23"/>
          <p:cNvCxnSpPr/>
          <p:nvPr/>
        </p:nvCxnSpPr>
        <p:spPr>
          <a:xfrm>
            <a:off x="11586162" y="3610394"/>
            <a:ext cx="0" cy="3238728"/>
          </a:xfrm>
          <a:prstGeom prst="straightConnector1">
            <a:avLst/>
          </a:prstGeom>
          <a:noFill/>
          <a:ln w="25400" cap="sq" cmpd="sng">
            <a:solidFill>
              <a:schemeClr val="accent2"/>
            </a:solidFill>
            <a:prstDash val="solid"/>
            <a:bevel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4"/>
          <p:cNvSpPr/>
          <p:nvPr/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5"/>
              </a:gs>
              <a:gs pos="25000">
                <a:schemeClr val="accent5"/>
              </a:gs>
              <a:gs pos="94000">
                <a:srgbClr val="3A3838"/>
              </a:gs>
              <a:gs pos="100000">
                <a:srgbClr val="3A3838"/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762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4"/>
          <p:cNvSpPr txBox="1"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s-AR" sz="4000">
                <a:solidFill>
                  <a:srgbClr val="FFFFFF"/>
                </a:solidFill>
              </a:rPr>
              <a:t>Definiciones</a:t>
            </a:r>
            <a:endParaRPr sz="4000">
              <a:solidFill>
                <a:srgbClr val="FFFFFF"/>
              </a:solidFill>
            </a:endParaRPr>
          </a:p>
        </p:txBody>
      </p:sp>
      <p:grpSp>
        <p:nvGrpSpPr>
          <p:cNvPr id="369" name="Google Shape;369;p24"/>
          <p:cNvGrpSpPr/>
          <p:nvPr/>
        </p:nvGrpSpPr>
        <p:grpSpPr>
          <a:xfrm>
            <a:off x="1167258" y="2901349"/>
            <a:ext cx="9857482" cy="3128577"/>
            <a:chOff x="130938" y="1393"/>
            <a:chExt cx="9857482" cy="3128577"/>
          </a:xfrm>
        </p:grpSpPr>
        <p:sp>
          <p:nvSpPr>
            <p:cNvPr id="370" name="Google Shape;370;p24"/>
            <p:cNvSpPr/>
            <p:nvPr/>
          </p:nvSpPr>
          <p:spPr>
            <a:xfrm>
              <a:off x="130938" y="1393"/>
              <a:ext cx="4224635" cy="2682643"/>
            </a:xfrm>
            <a:prstGeom prst="roundRect">
              <a:avLst>
                <a:gd name="adj" fmla="val 10000"/>
              </a:avLst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4"/>
            <p:cNvSpPr/>
            <p:nvPr/>
          </p:nvSpPr>
          <p:spPr>
            <a:xfrm>
              <a:off x="600342" y="447327"/>
              <a:ext cx="4224635" cy="2682643"/>
            </a:xfrm>
            <a:prstGeom prst="roundRect">
              <a:avLst>
                <a:gd name="adj" fmla="val 10000"/>
              </a:avLst>
            </a:prstGeom>
            <a:solidFill>
              <a:schemeClr val="lt2">
                <a:alpha val="89803"/>
              </a:schemeClr>
            </a:solidFill>
            <a:ln w="1270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4"/>
            <p:cNvSpPr txBox="1"/>
            <p:nvPr/>
          </p:nvSpPr>
          <p:spPr>
            <a:xfrm>
              <a:off x="678914" y="525899"/>
              <a:ext cx="4067491" cy="2525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es-AR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Apalancamiento o leverage: utilización potencial de costos operativos fijos (activos) o costos financieros (deuda) con el objeto de acrecentar los rendimientos para los propietarios de la organización.</a:t>
              </a:r>
              <a:endParaRPr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24"/>
            <p:cNvSpPr/>
            <p:nvPr/>
          </p:nvSpPr>
          <p:spPr>
            <a:xfrm>
              <a:off x="5294381" y="1393"/>
              <a:ext cx="4224635" cy="2682643"/>
            </a:xfrm>
            <a:prstGeom prst="roundRect">
              <a:avLst>
                <a:gd name="adj" fmla="val 10000"/>
              </a:avLst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4"/>
            <p:cNvSpPr/>
            <p:nvPr/>
          </p:nvSpPr>
          <p:spPr>
            <a:xfrm>
              <a:off x="5763785" y="447327"/>
              <a:ext cx="4224635" cy="2682643"/>
            </a:xfrm>
            <a:prstGeom prst="roundRect">
              <a:avLst>
                <a:gd name="adj" fmla="val 10000"/>
              </a:avLst>
            </a:prstGeom>
            <a:solidFill>
              <a:schemeClr val="lt2">
                <a:alpha val="89803"/>
              </a:schemeClr>
            </a:solidFill>
            <a:ln w="12700" cap="flat" cmpd="sng">
              <a:solidFill>
                <a:schemeClr val="dk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4"/>
            <p:cNvSpPr txBox="1"/>
            <p:nvPr/>
          </p:nvSpPr>
          <p:spPr>
            <a:xfrm>
              <a:off x="5842357" y="525899"/>
              <a:ext cx="4067491" cy="2525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es-AR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Estructura de Capital: Mezcla de deuda a largo plazo (debt) y capital (equity) de la organización.</a:t>
              </a:r>
              <a:endParaRPr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/>
          <p:nvPr/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6"/>
              </a:gs>
              <a:gs pos="25000">
                <a:schemeClr val="accent6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5"/>
          <p:cNvSpPr txBox="1"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s-AR" sz="3600">
                <a:solidFill>
                  <a:srgbClr val="FFFFFF"/>
                </a:solidFill>
              </a:rPr>
              <a:t>APALANCAMIENTO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383" name="Google Shape;383;p25"/>
          <p:cNvSpPr txBox="1">
            <a:spLocks noGrp="1"/>
          </p:cNvSpPr>
          <p:nvPr>
            <p:ph type="body" idx="1"/>
          </p:nvPr>
        </p:nvSpPr>
        <p:spPr>
          <a:xfrm>
            <a:off x="1179076" y="2588697"/>
            <a:ext cx="9833400" cy="3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s-AR" sz="2000">
                <a:solidFill>
                  <a:srgbClr val="000000"/>
                </a:solidFill>
              </a:rPr>
              <a:t>Ingresos por Ventas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s-AR" sz="2000" u="sng">
                <a:solidFill>
                  <a:srgbClr val="000000"/>
                </a:solidFill>
              </a:rPr>
              <a:t>Menos: Costos de Ventas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s-AR" sz="2000">
                <a:solidFill>
                  <a:srgbClr val="000000"/>
                </a:solidFill>
              </a:rPr>
              <a:t>Margen bruto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s-AR" sz="2000" u="sng">
                <a:solidFill>
                  <a:srgbClr val="000000"/>
                </a:solidFill>
              </a:rPr>
              <a:t>Menos: Gastos Operativos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s-AR" sz="2000">
                <a:solidFill>
                  <a:srgbClr val="000000"/>
                </a:solidFill>
              </a:rPr>
              <a:t>Resultado antes de intereses e impuestos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s-AR" sz="2000" u="sng">
                <a:solidFill>
                  <a:srgbClr val="000000"/>
                </a:solidFill>
              </a:rPr>
              <a:t>Menos: Gastos Financieros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s-AR" sz="2000">
                <a:solidFill>
                  <a:srgbClr val="000000"/>
                </a:solidFill>
              </a:rPr>
              <a:t>Resultado imponible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s-AR" sz="2000" u="sng">
                <a:solidFill>
                  <a:srgbClr val="000000"/>
                </a:solidFill>
              </a:rPr>
              <a:t>Impuesto a las Ganancias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s-AR" sz="2000">
                <a:solidFill>
                  <a:srgbClr val="000000"/>
                </a:solidFill>
              </a:rPr>
              <a:t>Resultado neto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100">
              <a:solidFill>
                <a:srgbClr val="000000"/>
              </a:solidFill>
            </a:endParaRPr>
          </a:p>
        </p:txBody>
      </p:sp>
      <p:sp>
        <p:nvSpPr>
          <p:cNvPr id="384" name="Google Shape;384;p25"/>
          <p:cNvSpPr/>
          <p:nvPr/>
        </p:nvSpPr>
        <p:spPr>
          <a:xfrm>
            <a:off x="7387771" y="2588697"/>
            <a:ext cx="45719" cy="1754703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7409542" y="4445041"/>
            <a:ext cx="101600" cy="219574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8144281" y="2823132"/>
            <a:ext cx="2213583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Leverage Operativo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5"/>
          <p:cNvSpPr txBox="1"/>
          <p:nvPr/>
        </p:nvSpPr>
        <p:spPr>
          <a:xfrm>
            <a:off x="8164130" y="4540484"/>
            <a:ext cx="2645445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Leverage Financiero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6"/>
          <p:cNvSpPr/>
          <p:nvPr/>
        </p:nvSpPr>
        <p:spPr>
          <a:xfrm>
            <a:off x="594360" y="316938"/>
            <a:ext cx="3657600" cy="5896743"/>
          </a:xfrm>
          <a:prstGeom prst="rect">
            <a:avLst/>
          </a:prstGeom>
          <a:solidFill>
            <a:srgbClr val="3F3F3F"/>
          </a:solidFill>
          <a:ln w="127000" cap="sq" cmpd="thinThick">
            <a:solidFill>
              <a:srgbClr val="3F3F3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6"/>
          <p:cNvSpPr txBox="1">
            <a:spLocks noGrp="1"/>
          </p:cNvSpPr>
          <p:nvPr>
            <p:ph type="title"/>
          </p:nvPr>
        </p:nvSpPr>
        <p:spPr>
          <a:xfrm>
            <a:off x="594360" y="637125"/>
            <a:ext cx="3404616" cy="5256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s-AR" sz="3600" dirty="0">
                <a:solidFill>
                  <a:schemeClr val="lt1"/>
                </a:solidFill>
              </a:rPr>
              <a:t>Apalancamiento</a:t>
            </a:r>
            <a:r>
              <a:rPr lang="es-AR" sz="3400" dirty="0">
                <a:solidFill>
                  <a:schemeClr val="lt1"/>
                </a:solidFill>
              </a:rPr>
              <a:t> o </a:t>
            </a:r>
            <a:r>
              <a:rPr lang="es-AR" sz="3600" dirty="0" err="1">
                <a:solidFill>
                  <a:schemeClr val="lt1"/>
                </a:solidFill>
              </a:rPr>
              <a:t>Leverage</a:t>
            </a:r>
            <a:r>
              <a:rPr lang="es-AR" sz="3400" dirty="0">
                <a:solidFill>
                  <a:schemeClr val="lt1"/>
                </a:solidFill>
              </a:rPr>
              <a:t> </a:t>
            </a:r>
            <a:r>
              <a:rPr lang="es-AR" sz="3600" dirty="0">
                <a:solidFill>
                  <a:schemeClr val="lt1"/>
                </a:solidFill>
              </a:rPr>
              <a:t>Operativo</a:t>
            </a:r>
            <a:endParaRPr sz="3600" dirty="0">
              <a:solidFill>
                <a:schemeClr val="lt1"/>
              </a:solidFill>
            </a:endParaRPr>
          </a:p>
        </p:txBody>
      </p:sp>
      <p:grpSp>
        <p:nvGrpSpPr>
          <p:cNvPr id="394" name="Google Shape;394;p26"/>
          <p:cNvGrpSpPr/>
          <p:nvPr/>
        </p:nvGrpSpPr>
        <p:grpSpPr>
          <a:xfrm>
            <a:off x="5218088" y="316941"/>
            <a:ext cx="5896743" cy="5896743"/>
            <a:chOff x="672652" y="0"/>
            <a:chExt cx="5896743" cy="5896743"/>
          </a:xfrm>
        </p:grpSpPr>
        <p:sp>
          <p:nvSpPr>
            <p:cNvPr id="395" name="Google Shape;395;p26"/>
            <p:cNvSpPr/>
            <p:nvPr/>
          </p:nvSpPr>
          <p:spPr>
            <a:xfrm>
              <a:off x="672652" y="0"/>
              <a:ext cx="5896743" cy="5896743"/>
            </a:xfrm>
            <a:prstGeom prst="quadArrow">
              <a:avLst>
                <a:gd name="adj1" fmla="val 2000"/>
                <a:gd name="adj2" fmla="val 4000"/>
                <a:gd name="adj3" fmla="val 5000"/>
              </a:avLst>
            </a:prstGeom>
            <a:solidFill>
              <a:srgbClr val="F7D5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6"/>
            <p:cNvSpPr/>
            <p:nvPr/>
          </p:nvSpPr>
          <p:spPr>
            <a:xfrm>
              <a:off x="1055940" y="383288"/>
              <a:ext cx="2358697" cy="2358697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6"/>
            <p:cNvSpPr txBox="1"/>
            <p:nvPr/>
          </p:nvSpPr>
          <p:spPr>
            <a:xfrm>
              <a:off x="1171082" y="498430"/>
              <a:ext cx="2128413" cy="21284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s-AR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Uso potencial de los costos operativos fijos para acrecentar los efectos de los cambios en las ventas sobre el resultado antes de intereses e impuestos (resultado operativo; EBIT) de la empresa.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6"/>
            <p:cNvSpPr/>
            <p:nvPr/>
          </p:nvSpPr>
          <p:spPr>
            <a:xfrm>
              <a:off x="3827410" y="383288"/>
              <a:ext cx="2358697" cy="2358697"/>
            </a:xfrm>
            <a:prstGeom prst="roundRect">
              <a:avLst>
                <a:gd name="adj" fmla="val 16667"/>
              </a:avLst>
            </a:prstGeom>
            <a:solidFill>
              <a:srgbClr val="D07A5B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6"/>
            <p:cNvSpPr txBox="1"/>
            <p:nvPr/>
          </p:nvSpPr>
          <p:spPr>
            <a:xfrm>
              <a:off x="3942552" y="498430"/>
              <a:ext cx="2128413" cy="21284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s-AR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 refiere a la relación entre la variación relativa de los ingresos por ventas de la empresa y el cambio porcentual del resultado antes de intereses e impuestos.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26"/>
            <p:cNvSpPr/>
            <p:nvPr/>
          </p:nvSpPr>
          <p:spPr>
            <a:xfrm>
              <a:off x="1055940" y="3154757"/>
              <a:ext cx="2358697" cy="2358697"/>
            </a:xfrm>
            <a:prstGeom prst="roundRect">
              <a:avLst>
                <a:gd name="adj" fmla="val 16667"/>
              </a:avLst>
            </a:prstGeom>
            <a:solidFill>
              <a:srgbClr val="B8888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6"/>
            <p:cNvSpPr txBox="1"/>
            <p:nvPr/>
          </p:nvSpPr>
          <p:spPr>
            <a:xfrm>
              <a:off x="1171082" y="3269899"/>
              <a:ext cx="2128413" cy="21284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s-AR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Decimos que aquellas empresas cuya estructura de costos está basada en mayores costos fijos, están más apalancadas.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26"/>
            <p:cNvSpPr/>
            <p:nvPr/>
          </p:nvSpPr>
          <p:spPr>
            <a:xfrm>
              <a:off x="3827410" y="3154757"/>
              <a:ext cx="2358697" cy="2358697"/>
            </a:xfrm>
            <a:prstGeom prst="roundRect">
              <a:avLst>
                <a:gd name="adj" fmla="val 16667"/>
              </a:avLst>
            </a:prstGeom>
            <a:solidFill>
              <a:srgbClr val="A4A4A4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6"/>
            <p:cNvSpPr txBox="1"/>
            <p:nvPr/>
          </p:nvSpPr>
          <p:spPr>
            <a:xfrm>
              <a:off x="3942552" y="3269899"/>
              <a:ext cx="2128413" cy="21284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None/>
              </a:pPr>
              <a:r>
                <a:rPr lang="es-AR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Y deberán producir y vender más para encontrar el punto de equilibrio que aquellas con menores costos fijos.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7"/>
          <p:cNvSpPr/>
          <p:nvPr/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6"/>
              </a:gs>
              <a:gs pos="25000">
                <a:schemeClr val="accent6"/>
              </a:gs>
              <a:gs pos="94000">
                <a:schemeClr val="accent1"/>
              </a:gs>
              <a:gs pos="100000">
                <a:schemeClr val="accent1"/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7"/>
          <p:cNvSpPr txBox="1"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s-AR" sz="4000">
                <a:solidFill>
                  <a:srgbClr val="FFFFFF"/>
                </a:solidFill>
              </a:rPr>
              <a:t>Riesgos asociados</a:t>
            </a:r>
            <a:endParaRPr sz="4000">
              <a:solidFill>
                <a:srgbClr val="FFFFFF"/>
              </a:solidFill>
            </a:endParaRPr>
          </a:p>
        </p:txBody>
      </p:sp>
      <p:grpSp>
        <p:nvGrpSpPr>
          <p:cNvPr id="411" name="Google Shape;411;p27"/>
          <p:cNvGrpSpPr/>
          <p:nvPr/>
        </p:nvGrpSpPr>
        <p:grpSpPr>
          <a:xfrm>
            <a:off x="1167258" y="2753924"/>
            <a:ext cx="9857482" cy="3128577"/>
            <a:chOff x="130938" y="1393"/>
            <a:chExt cx="9857482" cy="3128577"/>
          </a:xfrm>
        </p:grpSpPr>
        <p:sp>
          <p:nvSpPr>
            <p:cNvPr id="412" name="Google Shape;412;p27"/>
            <p:cNvSpPr/>
            <p:nvPr/>
          </p:nvSpPr>
          <p:spPr>
            <a:xfrm>
              <a:off x="130938" y="1393"/>
              <a:ext cx="4224635" cy="2682643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7"/>
            <p:cNvSpPr/>
            <p:nvPr/>
          </p:nvSpPr>
          <p:spPr>
            <a:xfrm>
              <a:off x="600342" y="447327"/>
              <a:ext cx="4224635" cy="2682643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7"/>
            <p:cNvSpPr txBox="1"/>
            <p:nvPr/>
          </p:nvSpPr>
          <p:spPr>
            <a:xfrm>
              <a:off x="678914" y="525899"/>
              <a:ext cx="4067491" cy="2525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s-AR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Las empresas más apalancadas (mayores costos fijos), una vez que superan el punto de equilibrio, reportarán utilidades antes de intereses e impuestos que crecen más que proporcionalmente al cambio verificado en las cantidades producidas y vendidas.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27"/>
            <p:cNvSpPr/>
            <p:nvPr/>
          </p:nvSpPr>
          <p:spPr>
            <a:xfrm>
              <a:off x="5294381" y="1393"/>
              <a:ext cx="4224635" cy="2682643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7"/>
            <p:cNvSpPr/>
            <p:nvPr/>
          </p:nvSpPr>
          <p:spPr>
            <a:xfrm>
              <a:off x="5763785" y="447327"/>
              <a:ext cx="4224635" cy="2682643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7"/>
            <p:cNvSpPr txBox="1"/>
            <p:nvPr/>
          </p:nvSpPr>
          <p:spPr>
            <a:xfrm>
              <a:off x="5842357" y="525899"/>
              <a:ext cx="4067491" cy="2525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just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s-AR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Pero también reportarán mayores pérdidas operativas ante caída en el número de unidades producidas y vendidas.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8"/>
          <p:cNvSpPr/>
          <p:nvPr/>
        </p:nvSpPr>
        <p:spPr>
          <a:xfrm>
            <a:off x="0" y="0"/>
            <a:ext cx="12192000" cy="3032449"/>
          </a:xfrm>
          <a:prstGeom prst="rect">
            <a:avLst/>
          </a:prstGeom>
          <a:gradFill>
            <a:gsLst>
              <a:gs pos="0">
                <a:srgbClr val="3865B4"/>
              </a:gs>
              <a:gs pos="25000">
                <a:srgbClr val="3865B4"/>
              </a:gs>
              <a:gs pos="94000">
                <a:srgbClr val="3A3838"/>
              </a:gs>
              <a:gs pos="100000">
                <a:srgbClr val="3A3838"/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3" name="Google Shape;423;p28"/>
          <p:cNvPicPr preferRelativeResize="0"/>
          <p:nvPr/>
        </p:nvPicPr>
        <p:blipFill rotWithShape="1">
          <a:blip r:embed="rId3">
            <a:alphaModFix/>
          </a:blip>
          <a:srcRect t="45715" b="33968"/>
          <a:stretch/>
        </p:blipFill>
        <p:spPr>
          <a:xfrm>
            <a:off x="0" y="1584458"/>
            <a:ext cx="12192000" cy="1393277"/>
          </a:xfrm>
          <a:custGeom>
            <a:avLst/>
            <a:gdLst/>
            <a:ahLst/>
            <a:cxnLst/>
            <a:rect l="l" t="t" r="r" b="b"/>
            <a:pathLst>
              <a:path w="12192000" h="3049325" extrusionOk="0">
                <a:moveTo>
                  <a:pt x="0" y="0"/>
                </a:moveTo>
                <a:lnTo>
                  <a:pt x="12192000" y="0"/>
                </a:lnTo>
                <a:lnTo>
                  <a:pt x="12192000" y="3049325"/>
                </a:lnTo>
                <a:lnTo>
                  <a:pt x="0" y="3049325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24" name="Google Shape;424;p28"/>
          <p:cNvSpPr/>
          <p:nvPr/>
        </p:nvSpPr>
        <p:spPr>
          <a:xfrm rot="10800000" flipH="1">
            <a:off x="0" y="2805364"/>
            <a:ext cx="12188952" cy="40526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5" name="Google Shape;425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9648" y="3032449"/>
            <a:ext cx="3767061" cy="3108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55290" y="3032449"/>
            <a:ext cx="3767061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8"/>
          <p:cNvSpPr txBox="1"/>
          <p:nvPr/>
        </p:nvSpPr>
        <p:spPr>
          <a:xfrm>
            <a:off x="2957322" y="500253"/>
            <a:ext cx="7148703" cy="1393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s-AR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APALANCAMIENTO OPERATIVO</a:t>
            </a:r>
            <a:endParaRPr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8"/>
          <p:cNvSpPr txBox="1"/>
          <p:nvPr/>
        </p:nvSpPr>
        <p:spPr>
          <a:xfrm>
            <a:off x="2884932" y="554967"/>
            <a:ext cx="7148703" cy="1393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endParaRPr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9"/>
          <p:cNvSpPr/>
          <p:nvPr/>
        </p:nvSpPr>
        <p:spPr>
          <a:xfrm>
            <a:off x="466344" y="448056"/>
            <a:ext cx="3282288" cy="3393741"/>
          </a:xfrm>
          <a:prstGeom prst="rect">
            <a:avLst/>
          </a:prstGeom>
          <a:solidFill>
            <a:srgbClr val="5739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9"/>
          <p:cNvSpPr txBox="1">
            <a:spLocks noGrp="1"/>
          </p:cNvSpPr>
          <p:nvPr>
            <p:ph type="title"/>
          </p:nvPr>
        </p:nvSpPr>
        <p:spPr>
          <a:xfrm>
            <a:off x="777240" y="731519"/>
            <a:ext cx="2693748" cy="286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</a:pPr>
            <a:r>
              <a:rPr lang="es-AR" sz="2500">
                <a:solidFill>
                  <a:srgbClr val="FFFFFF"/>
                </a:solidFill>
              </a:rPr>
              <a:t>APALANCAMIENTO OPERATIVO</a:t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435" name="Google Shape;435;p29"/>
          <p:cNvSpPr/>
          <p:nvPr/>
        </p:nvSpPr>
        <p:spPr>
          <a:xfrm>
            <a:off x="3919054" y="453981"/>
            <a:ext cx="7814023" cy="3393742"/>
          </a:xfrm>
          <a:prstGeom prst="rect">
            <a:avLst/>
          </a:prstGeom>
          <a:solidFill>
            <a:srgbClr val="7F7F7F">
              <a:alpha val="2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9"/>
          <p:cNvSpPr/>
          <p:nvPr/>
        </p:nvSpPr>
        <p:spPr>
          <a:xfrm>
            <a:off x="466344" y="4014216"/>
            <a:ext cx="3282696" cy="2386584"/>
          </a:xfrm>
          <a:prstGeom prst="rect">
            <a:avLst/>
          </a:prstGeom>
          <a:solidFill>
            <a:schemeClr val="accent5">
              <a:alpha val="9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7" name="Google Shape;437;p29"/>
          <p:cNvPicPr preferRelativeResize="0"/>
          <p:nvPr/>
        </p:nvPicPr>
        <p:blipFill rotWithShape="1">
          <a:blip r:embed="rId3">
            <a:alphaModFix/>
          </a:blip>
          <a:srcRect l="1422" r="2612" b="-3"/>
          <a:stretch/>
        </p:blipFill>
        <p:spPr>
          <a:xfrm>
            <a:off x="5494020" y="4013333"/>
            <a:ext cx="4472940" cy="2387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9"/>
          <p:cNvPicPr preferRelativeResize="0"/>
          <p:nvPr/>
        </p:nvPicPr>
        <p:blipFill rotWithShape="1">
          <a:blip r:embed="rId4">
            <a:alphaModFix/>
          </a:blip>
          <a:srcRect r="3873" b="2"/>
          <a:stretch/>
        </p:blipFill>
        <p:spPr>
          <a:xfrm>
            <a:off x="5547360" y="1123630"/>
            <a:ext cx="4419600" cy="2387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0"/>
          <p:cNvSpPr/>
          <p:nvPr/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rgbClr val="3865B4"/>
              </a:gs>
              <a:gs pos="25000">
                <a:srgbClr val="3865B4"/>
              </a:gs>
              <a:gs pos="94000">
                <a:srgbClr val="3A3838"/>
              </a:gs>
              <a:gs pos="100000">
                <a:srgbClr val="3A3838"/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4" name="Google Shape;444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0"/>
          <p:cNvSpPr txBox="1">
            <a:spLocks noGrp="1"/>
          </p:cNvSpPr>
          <p:nvPr>
            <p:ph type="title"/>
          </p:nvPr>
        </p:nvSpPr>
        <p:spPr>
          <a:xfrm>
            <a:off x="1179576" y="822960"/>
            <a:ext cx="982980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s-AR" sz="3600">
                <a:solidFill>
                  <a:srgbClr val="FFFFFF"/>
                </a:solidFill>
              </a:rPr>
              <a:t>APALANCAMIENTO</a:t>
            </a:r>
            <a:r>
              <a:rPr lang="es-AR" sz="4000">
                <a:solidFill>
                  <a:srgbClr val="FFFFFF"/>
                </a:solidFill>
              </a:rPr>
              <a:t> </a:t>
            </a:r>
            <a:r>
              <a:rPr lang="es-AR" sz="3600">
                <a:solidFill>
                  <a:srgbClr val="FFFFFF"/>
                </a:solidFill>
              </a:rPr>
              <a:t>OPERATIVO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446" name="Google Shape;446;p30"/>
          <p:cNvSpPr txBox="1">
            <a:spLocks noGrp="1"/>
          </p:cNvSpPr>
          <p:nvPr>
            <p:ph type="body" idx="1"/>
          </p:nvPr>
        </p:nvSpPr>
        <p:spPr>
          <a:xfrm>
            <a:off x="1469948" y="2885269"/>
            <a:ext cx="3653100" cy="9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s-AR" sz="3600">
                <a:solidFill>
                  <a:srgbClr val="000000"/>
                </a:solidFill>
              </a:rPr>
              <a:t>¿Cómo se calcula?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900">
              <a:solidFill>
                <a:srgbClr val="000000"/>
              </a:solidFill>
            </a:endParaRPr>
          </a:p>
        </p:txBody>
      </p:sp>
      <p:pic>
        <p:nvPicPr>
          <p:cNvPr id="447" name="Google Shape;447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4946" y="4115418"/>
            <a:ext cx="3324055" cy="1281564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0"/>
          <p:cNvSpPr txBox="1"/>
          <p:nvPr/>
        </p:nvSpPr>
        <p:spPr>
          <a:xfrm>
            <a:off x="2365428" y="4274088"/>
            <a:ext cx="307017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 = GAO =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0"/>
          <p:cNvSpPr txBox="1"/>
          <p:nvPr/>
        </p:nvSpPr>
        <p:spPr>
          <a:xfrm>
            <a:off x="1003300" y="6088773"/>
            <a:ext cx="76528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Nota: LO también es conocido como GAO : Grado de Apalancamiento Operativo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1"/>
          <p:cNvSpPr/>
          <p:nvPr/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rgbClr val="3865B4"/>
              </a:gs>
              <a:gs pos="25000">
                <a:srgbClr val="3865B4"/>
              </a:gs>
              <a:gs pos="94000">
                <a:srgbClr val="3A3838"/>
              </a:gs>
              <a:gs pos="100000">
                <a:srgbClr val="3A3838"/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1"/>
          <p:cNvSpPr txBox="1">
            <a:spLocks noGrp="1"/>
          </p:cNvSpPr>
          <p:nvPr>
            <p:ph type="title"/>
          </p:nvPr>
        </p:nvSpPr>
        <p:spPr>
          <a:xfrm>
            <a:off x="1179226" y="807630"/>
            <a:ext cx="983354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s-AR" sz="3600">
                <a:solidFill>
                  <a:srgbClr val="FFFFFF"/>
                </a:solidFill>
              </a:rPr>
              <a:t>APALANCAMIENTO</a:t>
            </a:r>
            <a:r>
              <a:rPr lang="es-AR" sz="4000">
                <a:solidFill>
                  <a:srgbClr val="FFFFFF"/>
                </a:solidFill>
              </a:rPr>
              <a:t> </a:t>
            </a:r>
            <a:r>
              <a:rPr lang="es-AR" sz="3600">
                <a:solidFill>
                  <a:srgbClr val="FFFFFF"/>
                </a:solidFill>
              </a:rPr>
              <a:t>OPERATIVO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457" name="Google Shape;457;p31"/>
          <p:cNvSpPr txBox="1">
            <a:spLocks noGrp="1"/>
          </p:cNvSpPr>
          <p:nvPr>
            <p:ph type="body" idx="1"/>
          </p:nvPr>
        </p:nvSpPr>
        <p:spPr>
          <a:xfrm>
            <a:off x="1179226" y="2557463"/>
            <a:ext cx="9833548" cy="3871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s-AR" sz="2000">
                <a:solidFill>
                  <a:srgbClr val="000000"/>
                </a:solidFill>
              </a:rPr>
              <a:t>La firma The Hollies SA, una pequeña tienda de posters, tiene costos operativos fijos de $ 2.500, un precio de venta de $ 10 y su costo operativo variable por unidad es de $ 5.</a:t>
            </a:r>
            <a:endParaRPr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solidFill>
                <a:srgbClr val="00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s-AR" sz="2000">
                <a:solidFill>
                  <a:srgbClr val="000000"/>
                </a:solidFill>
              </a:rPr>
              <a:t>Si aplicamos esos datos, el punto de equilibrio económico de la firma será:</a:t>
            </a:r>
            <a:endParaRPr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s-AR" sz="2000">
                <a:solidFill>
                  <a:srgbClr val="000000"/>
                </a:solidFill>
              </a:rPr>
              <a:t>                      PE unidades = Costo Fijo / CMgu = 2.500 / (10-5) = 500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solidFill>
                <a:srgbClr val="000000"/>
              </a:solidFill>
            </a:endParaRPr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s-AR" sz="2000">
                <a:solidFill>
                  <a:srgbClr val="000000"/>
                </a:solidFill>
              </a:rPr>
              <a:t>Supongamos que actualmente la firma produce y vende 1.000 unidades. Vale decir, que está operando con beneficios. ¿Qué sucedería con el resultado operativo (EBIT) si las ventas aumentaran un 50%? ¿Y si cayesen un 50%?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rgbClr val="3865B4"/>
              </a:gs>
              <a:gs pos="25000">
                <a:srgbClr val="3865B4"/>
              </a:gs>
              <a:gs pos="94000">
                <a:srgbClr val="3A3838"/>
              </a:gs>
              <a:gs pos="100000">
                <a:srgbClr val="3A3838"/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3" name="Google Shape;46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2"/>
          <p:cNvSpPr txBox="1">
            <a:spLocks noGrp="1"/>
          </p:cNvSpPr>
          <p:nvPr>
            <p:ph type="title"/>
          </p:nvPr>
        </p:nvSpPr>
        <p:spPr>
          <a:xfrm>
            <a:off x="1179576" y="822960"/>
            <a:ext cx="982980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s-AR" sz="3600">
                <a:solidFill>
                  <a:srgbClr val="FFFFFF"/>
                </a:solidFill>
              </a:rPr>
              <a:t>APALANCAMIENTO</a:t>
            </a:r>
            <a:r>
              <a:rPr lang="es-AR" sz="4000">
                <a:solidFill>
                  <a:srgbClr val="FFFFFF"/>
                </a:solidFill>
              </a:rPr>
              <a:t> </a:t>
            </a:r>
            <a:r>
              <a:rPr lang="es-AR" sz="3600">
                <a:solidFill>
                  <a:srgbClr val="FFFFFF"/>
                </a:solidFill>
              </a:rPr>
              <a:t>OPERATIVO</a:t>
            </a:r>
            <a:endParaRPr sz="3600">
              <a:solidFill>
                <a:srgbClr val="FFFFFF"/>
              </a:solidFill>
            </a:endParaRPr>
          </a:p>
        </p:txBody>
      </p:sp>
      <p:pic>
        <p:nvPicPr>
          <p:cNvPr id="465" name="Google Shape;465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3" y="2823618"/>
            <a:ext cx="6257922" cy="3165008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32"/>
          <p:cNvSpPr txBox="1"/>
          <p:nvPr/>
        </p:nvSpPr>
        <p:spPr>
          <a:xfrm>
            <a:off x="2857503" y="6238647"/>
            <a:ext cx="43529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LO = CMg / EBIT = 5.000 / 2.500 = 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3"/>
          <p:cNvSpPr/>
          <p:nvPr/>
        </p:nvSpPr>
        <p:spPr>
          <a:xfrm>
            <a:off x="-1" y="0"/>
            <a:ext cx="386463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3"/>
          <p:cNvSpPr txBox="1">
            <a:spLocks noGrp="1"/>
          </p:cNvSpPr>
          <p:nvPr>
            <p:ph type="title"/>
          </p:nvPr>
        </p:nvSpPr>
        <p:spPr>
          <a:xfrm>
            <a:off x="312724" y="3433763"/>
            <a:ext cx="319701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lang="es-AR" sz="3000">
                <a:solidFill>
                  <a:schemeClr val="lt1"/>
                </a:solidFill>
              </a:rPr>
              <a:t>APALANCAMIENTO OPERATIVO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473" name="Google Shape;47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81600" y="3190875"/>
            <a:ext cx="790575" cy="606516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33"/>
          <p:cNvSpPr txBox="1">
            <a:spLocks noGrp="1"/>
          </p:cNvSpPr>
          <p:nvPr>
            <p:ph type="body" idx="1"/>
          </p:nvPr>
        </p:nvSpPr>
        <p:spPr>
          <a:xfrm>
            <a:off x="4330719" y="641615"/>
            <a:ext cx="7289799" cy="553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AR" sz="2000" dirty="0"/>
              <a:t>Otro ejemplo: La empresa STAR SA tiene un </a:t>
            </a:r>
            <a:r>
              <a:rPr lang="es-AR" sz="2000" dirty="0" err="1"/>
              <a:t>leverage</a:t>
            </a:r>
            <a:r>
              <a:rPr lang="es-AR" sz="2000" dirty="0"/>
              <a:t> operativo de 3,25. El nivel de ventas actuales es de $ 150.000 y el resultado operativo antes de intereses e impuestos es de $ 20.000. Ante un cambio de las ventas del 20%, ¿cuál será el efecto en el resultado operativo antes de intereses e impuestos?</a:t>
            </a:r>
            <a:endParaRPr dirty="0"/>
          </a:p>
          <a:p>
            <a:pPr marL="228600" lvl="0" indent="-158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100" dirty="0"/>
          </a:p>
          <a:p>
            <a:pPr marL="228600" lvl="0" indent="-158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100" dirty="0"/>
          </a:p>
          <a:p>
            <a:pPr marL="228600" lvl="0" indent="-158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1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AR" sz="2000" dirty="0"/>
              <a:t>  LO =    	            =  3,25  =&gt; Δ EBIT = 3,25 * 0,20 = 0,65</a:t>
            </a:r>
            <a:endParaRPr dirty="0"/>
          </a:p>
          <a:p>
            <a:pPr marL="182880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100" dirty="0"/>
          </a:p>
          <a:p>
            <a:pPr marL="2057400" lvl="4" indent="-1587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100" dirty="0"/>
          </a:p>
          <a:p>
            <a:pPr marL="228600" lvl="0" indent="-158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100" dirty="0"/>
          </a:p>
          <a:p>
            <a:pPr marL="228600" lvl="0" indent="-158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1100"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AR" sz="2000" dirty="0"/>
              <a:t>Por ende, la variación del EBIT será 0,65*20.000 = 13.000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AR" sz="2000" dirty="0"/>
              <a:t>Luego, el nuevo EBIT será $ 20.000 + $ 13.000 = $ 33.000</a:t>
            </a:r>
            <a:endParaRPr dirty="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AR" sz="2000" dirty="0"/>
              <a:t>Comprobar</a:t>
            </a:r>
            <a:endParaRPr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Espiral">
      <a:dk1>
        <a:srgbClr val="000000"/>
      </a:dk1>
      <a:lt1>
        <a:srgbClr val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5983DF3B95FAF458D1DD2EC26AAFCA8" ma:contentTypeVersion="6" ma:contentTypeDescription="Crear nuevo documento." ma:contentTypeScope="" ma:versionID="da212ae7e50cb37e8927b630058ddaa4">
  <xsd:schema xmlns:xsd="http://www.w3.org/2001/XMLSchema" xmlns:xs="http://www.w3.org/2001/XMLSchema" xmlns:p="http://schemas.microsoft.com/office/2006/metadata/properties" xmlns:ns2="a8488ad7-b8f4-4ec3-9cfc-e6f0ec25ec07" targetNamespace="http://schemas.microsoft.com/office/2006/metadata/properties" ma:root="true" ma:fieldsID="e343c3d82935651d9b28ea24a163adf9" ns2:_="">
    <xsd:import namespace="a8488ad7-b8f4-4ec3-9cfc-e6f0ec25ec07"/>
    <xsd:element name="properties">
      <xsd:complexType>
        <xsd:sequence>
          <xsd:element name="documentManagement">
            <xsd:complexType>
              <xsd:all>
                <xsd:element ref="ns2:Nro"/>
                <xsd:element ref="ns2:Unida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488ad7-b8f4-4ec3-9cfc-e6f0ec25ec07" elementFormDefault="qualified">
    <xsd:import namespace="http://schemas.microsoft.com/office/2006/documentManagement/types"/>
    <xsd:import namespace="http://schemas.microsoft.com/office/infopath/2007/PartnerControls"/>
    <xsd:element name="Nro" ma:index="8" ma:displayName="Nro" ma:default="0" ma:description="Campo utilizado para ordenar" ma:internalName="Nro" ma:percentage="FALSE">
      <xsd:simpleType>
        <xsd:restriction base="dms:Number"/>
      </xsd:simpleType>
    </xsd:element>
    <xsd:element name="Unidad" ma:index="9" nillable="true" ma:displayName="Unidad" ma:internalName="Unidad" ma:percentage="FALSE">
      <xsd:simpleType>
        <xsd:restriction base="dms:Number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Unidad xmlns="a8488ad7-b8f4-4ec3-9cfc-e6f0ec25ec07" xsi:nil="true"/>
    <Nro xmlns="a8488ad7-b8f4-4ec3-9cfc-e6f0ec25ec07">0</Nro>
  </documentManagement>
</p:properties>
</file>

<file path=customXml/itemProps1.xml><?xml version="1.0" encoding="utf-8"?>
<ds:datastoreItem xmlns:ds="http://schemas.openxmlformats.org/officeDocument/2006/customXml" ds:itemID="{18876424-4222-4E6D-A404-ECBB76C8DB2B}"/>
</file>

<file path=customXml/itemProps2.xml><?xml version="1.0" encoding="utf-8"?>
<ds:datastoreItem xmlns:ds="http://schemas.openxmlformats.org/officeDocument/2006/customXml" ds:itemID="{F82B6C83-719B-49E1-9E5C-772F28801778}"/>
</file>

<file path=customXml/itemProps3.xml><?xml version="1.0" encoding="utf-8"?>
<ds:datastoreItem xmlns:ds="http://schemas.openxmlformats.org/officeDocument/2006/customXml" ds:itemID="{95E7952A-4CBD-46D3-AEF3-AF7387260316}"/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1542</Words>
  <Application>Microsoft Office PowerPoint</Application>
  <PresentationFormat>Panorámica</PresentationFormat>
  <Paragraphs>214</Paragraphs>
  <Slides>33</Slides>
  <Notes>33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33</vt:i4>
      </vt:variant>
    </vt:vector>
  </HeadingPairs>
  <TitlesOfParts>
    <vt:vector size="38" baseType="lpstr">
      <vt:lpstr>Calibri</vt:lpstr>
      <vt:lpstr>Open Sans</vt:lpstr>
      <vt:lpstr>Arial</vt:lpstr>
      <vt:lpstr>GradientVTI</vt:lpstr>
      <vt:lpstr>Tema de Office</vt:lpstr>
      <vt:lpstr>Presentación de PowerPoint</vt:lpstr>
      <vt:lpstr>MODELO COSTO UTILIDAD VOLUMEN </vt:lpstr>
      <vt:lpstr>MODELO COSTO UTILIDAD VOLUMEN </vt:lpstr>
      <vt:lpstr>MODELO COSTO UTILIDAD VOLUMEN </vt:lpstr>
      <vt:lpstr>PUNTO DE EQUILIBRIO ECONÓMICO</vt:lpstr>
      <vt:lpstr>MODELO COSTO UTILIDAD VOLUMEN </vt:lpstr>
      <vt:lpstr>COSTOS FIJOS  SUPONGAMOS QUE LOS COSTOS FIJOS SUMAN $ 20.000</vt:lpstr>
      <vt:lpstr>COSTOS VARIABLES  SI EL COSTO VARIABLE UNITARIO ES $ 1,5 PARA 80.000 UNIDADES EL COSTO VARIABLE TOTAL SERÁ: 80.000 U * $ 1,5 = $ 120.000</vt:lpstr>
      <vt:lpstr>COSTOS TOTALES  POR EJEMPLO PARA 80.000 U  COSTO FIJO: 20.000 COSTO VARIABLE: 80.000*1,5=120.000 COSTO TOTAL: 140.000</vt:lpstr>
      <vt:lpstr>VENTAS  SI EL PRECIO ES $ 2  INGRESOS POR VENTAS PARA 80.000 U:  $ 160.000</vt:lpstr>
      <vt:lpstr>PUNTO DE EQUILIBRIO  BREAK EVEN POINT</vt:lpstr>
      <vt:lpstr>PUNTO DE EQUILIBRIO</vt:lpstr>
      <vt:lpstr>PUNTO DE EQUILIBRIO</vt:lpstr>
      <vt:lpstr>PUNTO DE EQUILIBRIO</vt:lpstr>
      <vt:lpstr>PUNTO DE EQUILIBRIO</vt:lpstr>
      <vt:lpstr>PUNTO DE EQUILIBRIO</vt:lpstr>
      <vt:lpstr>PUNTO DE EQUILIBRIO</vt:lpstr>
      <vt:lpstr>PUNTO DE EQUILIBRIO</vt:lpstr>
      <vt:lpstr>PUNTO DE EQUILIBRIO</vt:lpstr>
      <vt:lpstr>PUNTO DE EQUILIBRIO</vt:lpstr>
      <vt:lpstr>PUNTO DE EQUILIBRIO</vt:lpstr>
      <vt:lpstr>ANÁLISIS DE SENSIBILIDAD</vt:lpstr>
      <vt:lpstr>PUNTO DE EQUILIBRIO FINANCIERO</vt:lpstr>
      <vt:lpstr>Definiciones</vt:lpstr>
      <vt:lpstr>APALANCAMIENTO</vt:lpstr>
      <vt:lpstr>Apalancamiento o Leverage Operativo</vt:lpstr>
      <vt:lpstr>Riesgos asociados</vt:lpstr>
      <vt:lpstr>Presentación de PowerPoint</vt:lpstr>
      <vt:lpstr>APALANCAMIENTO OPERATIVO</vt:lpstr>
      <vt:lpstr>APALANCAMIENTO OPERATIVO</vt:lpstr>
      <vt:lpstr>APALANCAMIENTO OPERATIVO</vt:lpstr>
      <vt:lpstr>APALANCAMIENTO OPERATIVO</vt:lpstr>
      <vt:lpstr>APALANCAMIENTO OPERATIVO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Miguel Perez Rodriguez</dc:creator>
  <cp:lastModifiedBy>PEREZ RODRIGUEZ MIGUEL SECUNDINO</cp:lastModifiedBy>
  <cp:revision>6</cp:revision>
  <dcterms:created xsi:type="dcterms:W3CDTF">2021-03-22T03:54:02Z</dcterms:created>
  <dcterms:modified xsi:type="dcterms:W3CDTF">2024-09-01T22:15:46Z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0x010100F5983DF3B95FAF458D1DD2EC26AAFCA8</vt:lpwstr>
  </property>
</Properties>
</file>