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660"/>
  </p:normalViewPr>
  <p:slideViewPr>
    <p:cSldViewPr>
      <p:cViewPr>
        <p:scale>
          <a:sx n="106" d="100"/>
          <a:sy n="106" d="100"/>
        </p:scale>
        <p:origin x="738" y="-1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557"/>
            <a:ext cx="7772400" cy="99603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Arial" pitchFamily="34" charset="0"/>
              </a:defRPr>
            </a:lvl1pPr>
          </a:lstStyle>
          <a:p>
            <a:pPr>
              <a:defRPr/>
            </a:pPr>
            <a:fld id="{83A93B28-785F-419D-953D-43E3818CA52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11163" y="274671"/>
            <a:ext cx="7943850" cy="99603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Arial" pitchFamily="34" charset="0"/>
              </a:defRPr>
            </a:lvl1pPr>
          </a:lstStyle>
          <a:p>
            <a:pPr>
              <a:defRPr/>
            </a:pPr>
            <a:fld id="{05C4D3BE-B907-4B40-A8B5-8812895B5CB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7032"/>
            <a:ext cx="7772400" cy="1303809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Arial" pitchFamily="34" charset="0"/>
              </a:defRPr>
            </a:lvl1pPr>
          </a:lstStyle>
          <a:p>
            <a:pPr>
              <a:defRPr/>
            </a:pPr>
            <a:fld id="{CB12BD6E-101D-4FD1-8045-929C950FB4E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11163" y="274671"/>
            <a:ext cx="7943850" cy="99603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349250" y="1341440"/>
            <a:ext cx="4122738" cy="4613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24454" y="1341440"/>
            <a:ext cx="4122737" cy="4613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Arial" pitchFamily="34" charset="0"/>
              </a:defRPr>
            </a:lvl1pPr>
          </a:lstStyle>
          <a:p>
            <a:pPr>
              <a:defRPr/>
            </a:pPr>
            <a:fld id="{311F0685-57AF-4603-85CB-83CE14E04FB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66" y="274671"/>
            <a:ext cx="8229600" cy="996033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91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91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Arial" pitchFamily="34" charset="0"/>
              </a:defRPr>
            </a:lvl1pPr>
          </a:lstStyle>
          <a:p>
            <a:pPr>
              <a:defRPr/>
            </a:pPr>
            <a:fld id="{103FE761-BB6F-4758-81D5-3DDDB87C5BB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11163" y="274671"/>
            <a:ext cx="7943850" cy="99603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Arial" pitchFamily="34" charset="0"/>
              </a:defRPr>
            </a:lvl1pPr>
          </a:lstStyle>
          <a:p>
            <a:pPr>
              <a:defRPr/>
            </a:pPr>
            <a:fld id="{5A9F7392-7760-4E49-B8AF-EB557532E2C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Arial" pitchFamily="34" charset="0"/>
              </a:defRPr>
            </a:lvl1pPr>
          </a:lstStyle>
          <a:p>
            <a:pPr>
              <a:defRPr/>
            </a:pPr>
            <a:fld id="{65185DD8-CBFE-45D5-B2B7-13FFFEE821F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679082"/>
            <a:ext cx="5486400" cy="6882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Arial" pitchFamily="34" charset="0"/>
              </a:defRPr>
            </a:lvl1pPr>
          </a:lstStyle>
          <a:p>
            <a:pPr>
              <a:defRPr/>
            </a:pPr>
            <a:fld id="{29426E51-43A1-4698-8664-1DFCE063D7C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11163" y="274671"/>
            <a:ext cx="7943850" cy="99603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Arial" pitchFamily="34" charset="0"/>
              </a:defRPr>
            </a:lvl1pPr>
          </a:lstStyle>
          <a:p>
            <a:pPr>
              <a:defRPr/>
            </a:pPr>
            <a:fld id="{B6E808B2-9548-4404-8447-EB2466F2BCF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 userDrawn="1"/>
        </p:nvSpPr>
        <p:spPr bwMode="auto">
          <a:xfrm>
            <a:off x="4384712" y="6497712"/>
            <a:ext cx="433388" cy="168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>
            <a:lvl1pPr>
              <a:defRPr/>
            </a:lvl1pPr>
          </a:lstStyle>
          <a:p>
            <a:pPr algn="ctr" eaLnBrk="0" hangingPunct="0">
              <a:defRPr/>
            </a:pPr>
            <a:fld id="{22AC8CC1-2744-4E4C-B9BB-E41AFDAEC89F}" type="slidenum">
              <a:rPr lang="es-ES" sz="1100" smtClean="0">
                <a:solidFill>
                  <a:srgbClr val="003F52"/>
                </a:solidFill>
                <a:latin typeface="Arial"/>
                <a:ea typeface="ＭＳ Ｐゴシック" pitchFamily="34" charset="-128"/>
                <a:cs typeface="Arial" pitchFamily="34" charset="0"/>
              </a:rPr>
              <a:pPr algn="ctr" eaLnBrk="0" hangingPunct="0">
                <a:defRPr/>
              </a:pPr>
              <a:t>‹Nº›</a:t>
            </a:fld>
            <a:endParaRPr lang="es-ES" sz="1100">
              <a:solidFill>
                <a:srgbClr val="003F52"/>
              </a:solidFill>
              <a:latin typeface="Arial"/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6" name="Line 17"/>
          <p:cNvSpPr>
            <a:spLocks noChangeShapeType="1"/>
          </p:cNvSpPr>
          <p:nvPr userDrawn="1"/>
        </p:nvSpPr>
        <p:spPr bwMode="auto">
          <a:xfrm>
            <a:off x="0" y="6381750"/>
            <a:ext cx="91440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eaLnBrk="0" hangingPunct="0">
              <a:defRPr/>
            </a:pPr>
            <a:endParaRPr lang="es-AR" sz="1200">
              <a:solidFill>
                <a:prstClr val="black"/>
              </a:solidFill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7" name="6 Rectángulo"/>
          <p:cNvSpPr/>
          <p:nvPr userDrawn="1"/>
        </p:nvSpPr>
        <p:spPr>
          <a:xfrm>
            <a:off x="214350" y="6429375"/>
            <a:ext cx="1857375" cy="3571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>
              <a:solidFill>
                <a:srgbClr val="FFFFFF"/>
              </a:solidFill>
            </a:endParaRPr>
          </a:p>
        </p:txBody>
      </p:sp>
      <p:sp>
        <p:nvSpPr>
          <p:cNvPr id="8" name="Rectángulo 9"/>
          <p:cNvSpPr>
            <a:spLocks noChangeArrowheads="1"/>
          </p:cNvSpPr>
          <p:nvPr userDrawn="1"/>
        </p:nvSpPr>
        <p:spPr bwMode="auto">
          <a:xfrm>
            <a:off x="295275" y="6424687"/>
            <a:ext cx="4572000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tIns="72000" rIns="72000" bIns="72000" anchor="b">
            <a:spAutoFit/>
          </a:bodyPr>
          <a:lstStyle/>
          <a:p>
            <a:pPr defTabSz="457200">
              <a:lnSpc>
                <a:spcPct val="90000"/>
              </a:lnSpc>
              <a:defRPr/>
            </a:pPr>
            <a:r>
              <a:rPr lang="es-ES_tradnl" sz="1000" dirty="0">
                <a:solidFill>
                  <a:srgbClr val="003F52"/>
                </a:solidFill>
                <a:ea typeface="ＭＳ Ｐゴシック" pitchFamily="34" charset="-128"/>
                <a:cs typeface="Arial" pitchFamily="34" charset="0"/>
              </a:rPr>
              <a:t>Telefónica</a:t>
            </a:r>
          </a:p>
          <a:p>
            <a:pPr defTabSz="457200">
              <a:lnSpc>
                <a:spcPct val="90000"/>
              </a:lnSpc>
              <a:defRPr/>
            </a:pPr>
            <a:r>
              <a:rPr lang="es-ES_tradnl" sz="1000" dirty="0">
                <a:solidFill>
                  <a:srgbClr val="003F52"/>
                </a:solidFill>
                <a:ea typeface="ＭＳ Ｐゴシック" pitchFamily="34" charset="-128"/>
                <a:cs typeface="Arial" pitchFamily="34" charset="0"/>
              </a:rPr>
              <a:t>Coordinación de Proyectos</a:t>
            </a:r>
          </a:p>
        </p:txBody>
      </p:sp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411181" y="274641"/>
            <a:ext cx="7944057" cy="4420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>
            <a:lvl1pPr algn="l" defTabSz="457200" rtl="0" fontAlgn="base">
              <a:spcBef>
                <a:spcPct val="0"/>
              </a:spcBef>
              <a:spcAft>
                <a:spcPct val="0"/>
              </a:spcAft>
              <a:defRPr lang="es-AR" sz="2400" b="1" i="1" dirty="0">
                <a:solidFill>
                  <a:srgbClr val="002060"/>
                </a:solidFill>
                <a:latin typeface="Telefonica Headline Light" pitchFamily="2" charset="0"/>
                <a:ea typeface="+mj-ea"/>
                <a:cs typeface="+mj-cs"/>
              </a:defRPr>
            </a:lvl1pPr>
          </a:lstStyle>
          <a:p>
            <a:r>
              <a:rPr lang="es-ES" dirty="0" smtClean="0"/>
              <a:t>Haga clic para modificar el estilo de título del patrón</a:t>
            </a:r>
            <a:endParaRPr lang="es-AR" dirty="0"/>
          </a:p>
        </p:txBody>
      </p:sp>
      <p:sp>
        <p:nvSpPr>
          <p:cNvPr id="4" name="2 Marcador de contenido"/>
          <p:cNvSpPr>
            <a:spLocks noGrp="1"/>
          </p:cNvSpPr>
          <p:nvPr>
            <p:ph idx="1"/>
          </p:nvPr>
        </p:nvSpPr>
        <p:spPr>
          <a:xfrm>
            <a:off x="349279" y="1341438"/>
            <a:ext cx="8398005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 marL="0" indent="0" algn="l" defTabSz="895350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None/>
              <a:defRPr lang="es-ES" sz="1600" dirty="0" smtClean="0">
                <a:solidFill>
                  <a:schemeClr val="tx1"/>
                </a:solidFill>
                <a:latin typeface="Telefonica Text"/>
                <a:ea typeface="+mn-ea"/>
                <a:cs typeface="+mn-cs"/>
              </a:defRPr>
            </a:lvl1pPr>
            <a:lvl2pPr marL="236538" indent="-236538" algn="l" defTabSz="895350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lang="es-ES" sz="1600" dirty="0" smtClean="0">
                <a:solidFill>
                  <a:schemeClr val="tx1"/>
                </a:solidFill>
                <a:latin typeface="Telefonica Text"/>
                <a:ea typeface="+mn-ea"/>
                <a:cs typeface="+mn-cs"/>
              </a:defRPr>
            </a:lvl2pPr>
            <a:lvl3pPr marL="487363" indent="-222250" algn="l" defTabSz="895350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Telefonica Text" pitchFamily="2" charset="0"/>
              <a:buChar char="–"/>
              <a:defRPr lang="es-ES" sz="1600" dirty="0" smtClean="0">
                <a:solidFill>
                  <a:schemeClr val="tx1"/>
                </a:solidFill>
                <a:latin typeface="Telefonica Text"/>
                <a:ea typeface="+mn-ea"/>
                <a:cs typeface="+mn-cs"/>
              </a:defRPr>
            </a:lvl3pPr>
            <a:lvl4pPr marL="725488" indent="-177800" algn="l" defTabSz="895350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 lang="es-ES" sz="1600" dirty="0" smtClean="0">
                <a:solidFill>
                  <a:schemeClr val="tx1"/>
                </a:solidFill>
                <a:latin typeface="Telefonica Text"/>
                <a:ea typeface="+mn-ea"/>
                <a:cs typeface="+mn-cs"/>
              </a:defRPr>
            </a:lvl4pPr>
            <a:lvl5pPr marL="906463" indent="-177800" algn="l" defTabSz="895350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lang="es-AR" sz="1600" dirty="0">
                <a:solidFill>
                  <a:schemeClr val="tx1"/>
                </a:solidFill>
                <a:latin typeface="Telefonica Text"/>
                <a:ea typeface="+mn-ea"/>
                <a:cs typeface="+mn-cs"/>
              </a:defRPr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 dirty="0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ctr" eaLnBrk="0" fontAlgn="auto" hangingPunct="0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3F52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16145BF-123A-4FF8-984D-6AF44D2C6D4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"/>
          <p:cNvSpPr>
            <a:spLocks noGrp="1" noChangeArrowheads="1"/>
          </p:cNvSpPr>
          <p:nvPr>
            <p:ph type="title"/>
          </p:nvPr>
        </p:nvSpPr>
        <p:spPr bwMode="auto">
          <a:xfrm>
            <a:off x="411163" y="274666"/>
            <a:ext cx="794385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Haga clic para cambiar el estilo de título	</a:t>
            </a:r>
          </a:p>
        </p:txBody>
      </p:sp>
      <p:sp>
        <p:nvSpPr>
          <p:cNvPr id="6147" name="Body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9287" y="1341440"/>
            <a:ext cx="8397875" cy="4613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</a:p>
        </p:txBody>
      </p:sp>
      <p:sp>
        <p:nvSpPr>
          <p:cNvPr id="844804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84712" y="6497712"/>
            <a:ext cx="433388" cy="168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defRPr sz="1100" b="0">
                <a:solidFill>
                  <a:srgbClr val="003F52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09A19F2-A424-4248-BEE4-3A3F2178135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  <p:sp>
        <p:nvSpPr>
          <p:cNvPr id="844817" name="Line 17"/>
          <p:cNvSpPr>
            <a:spLocks noChangeShapeType="1"/>
          </p:cNvSpPr>
          <p:nvPr/>
        </p:nvSpPr>
        <p:spPr bwMode="auto">
          <a:xfrm>
            <a:off x="0" y="6381750"/>
            <a:ext cx="91440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eaLnBrk="0" hangingPunct="0">
              <a:defRPr/>
            </a:pPr>
            <a:endParaRPr lang="es-AR" sz="1200" b="1">
              <a:solidFill>
                <a:srgbClr val="043F52"/>
              </a:solidFill>
              <a:latin typeface="TheSansCorrespondence" pitchFamily="34" charset="0"/>
              <a:ea typeface="ＭＳ Ｐゴシック" pitchFamily="34" charset="-128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ransition>
    <p:wipe dir="r"/>
  </p:transition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61B8CD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61B8CD"/>
          </a:solidFill>
          <a:latin typeface="Calibri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61B8CD"/>
          </a:solidFill>
          <a:latin typeface="Calibri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61B8CD"/>
          </a:solidFill>
          <a:latin typeface="Calibri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61B8CD"/>
          </a:solidFill>
          <a:latin typeface="Calibri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3000" b="1">
          <a:solidFill>
            <a:srgbClr val="61B8CD"/>
          </a:solidFill>
          <a:latin typeface="Arial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3000" b="1">
          <a:solidFill>
            <a:srgbClr val="61B8CD"/>
          </a:solidFill>
          <a:latin typeface="Arial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3000" b="1">
          <a:solidFill>
            <a:srgbClr val="61B8CD"/>
          </a:solidFill>
          <a:latin typeface="Arial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3000" b="1">
          <a:solidFill>
            <a:srgbClr val="61B8CD"/>
          </a:solidFill>
          <a:latin typeface="Arial" pitchFamily="34" charset="0"/>
        </a:defRPr>
      </a:lvl9pPr>
    </p:titleStyle>
    <p:bodyStyle>
      <a:lvl1pPr marL="171450" indent="-171450" algn="just" defTabSz="457200" rtl="0" eaLnBrk="0" fontAlgn="base" hangingPunct="0">
        <a:spcBef>
          <a:spcPct val="0"/>
        </a:spcBef>
        <a:spcAft>
          <a:spcPts val="600"/>
        </a:spcAft>
        <a:buClr>
          <a:srgbClr val="65C3D4"/>
        </a:buClr>
        <a:buSzPct val="15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185738" algn="just" defTabSz="457200" rtl="0" eaLnBrk="0" fontAlgn="base" hangingPunct="0">
        <a:spcBef>
          <a:spcPct val="0"/>
        </a:spcBef>
        <a:spcAft>
          <a:spcPts val="600"/>
        </a:spcAft>
        <a:buSzPct val="15000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4150" algn="just" defTabSz="457200" rtl="0" eaLnBrk="0" fontAlgn="base" hangingPunct="0">
        <a:spcBef>
          <a:spcPct val="0"/>
        </a:spcBef>
        <a:spcAft>
          <a:spcPts val="600"/>
        </a:spcAft>
        <a:buSzPct val="150000"/>
        <a:buFont typeface="Century Gothic" pitchFamily="34" charset="0"/>
        <a:buChar char="›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257300" indent="-177800" algn="just" defTabSz="457200" rtl="0" eaLnBrk="0" fontAlgn="base" hangingPunct="0">
        <a:spcBef>
          <a:spcPct val="0"/>
        </a:spcBef>
        <a:spcAft>
          <a:spcPts val="600"/>
        </a:spcAft>
        <a:buSzPct val="150000"/>
        <a:buFont typeface="Century Gothic" pitchFamily="34" charset="0"/>
        <a:buChar char="›"/>
        <a:defRPr sz="1200">
          <a:solidFill>
            <a:schemeClr val="tx1"/>
          </a:solidFill>
          <a:latin typeface="+mn-lt"/>
          <a:ea typeface="+mn-ea"/>
          <a:cs typeface="+mn-cs"/>
        </a:defRPr>
      </a:lvl4pPr>
      <a:lvl5pPr marL="1614488" indent="-177800" algn="just" defTabSz="457200" rtl="0" eaLnBrk="0" fontAlgn="base" hangingPunct="0">
        <a:spcBef>
          <a:spcPct val="0"/>
        </a:spcBef>
        <a:spcAft>
          <a:spcPts val="600"/>
        </a:spcAft>
        <a:buSzPct val="150000"/>
        <a:buFont typeface="Century Gothic" pitchFamily="34" charset="0"/>
        <a:buChar char="›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071688" indent="-177800" algn="just" defTabSz="457200" rtl="0" fontAlgn="base">
        <a:spcBef>
          <a:spcPct val="0"/>
        </a:spcBef>
        <a:spcAft>
          <a:spcPts val="600"/>
        </a:spcAft>
        <a:buSzPct val="150000"/>
        <a:buFont typeface="Century Gothic" pitchFamily="34" charset="0"/>
        <a:buChar char="›"/>
        <a:defRPr sz="1200">
          <a:solidFill>
            <a:schemeClr val="tx1"/>
          </a:solidFill>
          <a:latin typeface="+mn-lt"/>
          <a:ea typeface="+mn-ea"/>
          <a:cs typeface="+mn-cs"/>
        </a:defRPr>
      </a:lvl6pPr>
      <a:lvl7pPr marL="2528888" indent="-177800" algn="just" defTabSz="457200" rtl="0" fontAlgn="base">
        <a:spcBef>
          <a:spcPct val="0"/>
        </a:spcBef>
        <a:spcAft>
          <a:spcPts val="600"/>
        </a:spcAft>
        <a:buSzPct val="150000"/>
        <a:buFont typeface="Century Gothic" pitchFamily="34" charset="0"/>
        <a:buChar char="›"/>
        <a:defRPr sz="1200">
          <a:solidFill>
            <a:schemeClr val="tx1"/>
          </a:solidFill>
          <a:latin typeface="+mn-lt"/>
          <a:ea typeface="+mn-ea"/>
          <a:cs typeface="+mn-cs"/>
        </a:defRPr>
      </a:lvl7pPr>
      <a:lvl8pPr marL="2986088" indent="-177800" algn="just" defTabSz="457200" rtl="0" fontAlgn="base">
        <a:spcBef>
          <a:spcPct val="0"/>
        </a:spcBef>
        <a:spcAft>
          <a:spcPts val="600"/>
        </a:spcAft>
        <a:buSzPct val="150000"/>
        <a:buFont typeface="Century Gothic" pitchFamily="34" charset="0"/>
        <a:buChar char="›"/>
        <a:defRPr sz="1200">
          <a:solidFill>
            <a:schemeClr val="tx1"/>
          </a:solidFill>
          <a:latin typeface="+mn-lt"/>
          <a:ea typeface="+mn-ea"/>
          <a:cs typeface="+mn-cs"/>
        </a:defRPr>
      </a:lvl8pPr>
      <a:lvl9pPr marL="3443288" indent="-177800" algn="just" defTabSz="457200" rtl="0" fontAlgn="base">
        <a:spcBef>
          <a:spcPct val="0"/>
        </a:spcBef>
        <a:spcAft>
          <a:spcPts val="600"/>
        </a:spcAft>
        <a:buSzPct val="150000"/>
        <a:buFont typeface="Century Gothic" pitchFamily="34" charset="0"/>
        <a:buChar char="›"/>
        <a:defRPr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/>
          <p:cNvSpPr>
            <a:spLocks noChangeArrowheads="1"/>
          </p:cNvSpPr>
          <p:nvPr/>
        </p:nvSpPr>
        <p:spPr bwMode="auto">
          <a:xfrm>
            <a:off x="142844" y="254204"/>
            <a:ext cx="8878888" cy="492919"/>
          </a:xfrm>
          <a:prstGeom prst="roundRect">
            <a:avLst>
              <a:gd name="adj" fmla="val 11196"/>
            </a:avLst>
          </a:prstGeom>
          <a:solidFill>
            <a:srgbClr val="FFFFFF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s-AR" sz="2400" dirty="0">
              <a:solidFill>
                <a:srgbClr val="043F52"/>
              </a:solidFill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7172294" y="202934"/>
            <a:ext cx="1317625" cy="53860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s-AR" sz="1100" b="1">
              <a:solidFill>
                <a:srgbClr val="000066"/>
              </a:solidFill>
            </a:endParaRPr>
          </a:p>
          <a:p>
            <a:pPr algn="ctr"/>
            <a:endParaRPr lang="es-ES" b="1">
              <a:solidFill>
                <a:srgbClr val="000066"/>
              </a:solidFill>
            </a:endParaRPr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 flipH="1">
            <a:off x="2267744" y="260648"/>
            <a:ext cx="0" cy="464722"/>
          </a:xfrm>
          <a:prstGeom prst="line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>
            <a:spAutoFit/>
          </a:bodyPr>
          <a:lstStyle/>
          <a:p>
            <a:endParaRPr lang="es-AR" sz="2400">
              <a:solidFill>
                <a:srgbClr val="043F52"/>
              </a:solidFill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 flipH="1">
            <a:off x="7956376" y="242360"/>
            <a:ext cx="0" cy="492100"/>
          </a:xfrm>
          <a:prstGeom prst="line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>
            <a:spAutoFit/>
          </a:bodyPr>
          <a:lstStyle/>
          <a:p>
            <a:endParaRPr lang="es-AR" sz="2400">
              <a:solidFill>
                <a:srgbClr val="043F52"/>
              </a:solidFill>
            </a:endParaRPr>
          </a:p>
        </p:txBody>
      </p:sp>
      <p:sp>
        <p:nvSpPr>
          <p:cNvPr id="8" name="AutoShape 319"/>
          <p:cNvSpPr>
            <a:spLocks noChangeArrowheads="1"/>
          </p:cNvSpPr>
          <p:nvPr/>
        </p:nvSpPr>
        <p:spPr bwMode="auto">
          <a:xfrm>
            <a:off x="170546" y="286754"/>
            <a:ext cx="729046" cy="405941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2700" algn="ctr">
            <a:solidFill>
              <a:schemeClr val="accent6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lIns="72000" tIns="36000" rIns="72000" bIns="36000" anchor="ctr"/>
          <a:lstStyle/>
          <a:p>
            <a:pPr algn="ctr"/>
            <a:r>
              <a:rPr lang="es-ES" sz="900" b="1" dirty="0" smtClean="0">
                <a:solidFill>
                  <a:srgbClr val="043F52"/>
                </a:solidFill>
              </a:rPr>
              <a:t>Dimensión Plan Estratégico</a:t>
            </a:r>
          </a:p>
        </p:txBody>
      </p:sp>
      <p:sp>
        <p:nvSpPr>
          <p:cNvPr id="29" name="AutoShape 2"/>
          <p:cNvSpPr>
            <a:spLocks noChangeArrowheads="1"/>
          </p:cNvSpPr>
          <p:nvPr/>
        </p:nvSpPr>
        <p:spPr bwMode="auto">
          <a:xfrm>
            <a:off x="179512" y="1078492"/>
            <a:ext cx="4248472" cy="1198380"/>
          </a:xfrm>
          <a:prstGeom prst="roundRect">
            <a:avLst>
              <a:gd name="adj" fmla="val 5487"/>
            </a:avLst>
          </a:prstGeom>
          <a:solidFill>
            <a:srgbClr val="FFFFFF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>
              <a:buFont typeface="Arial" pitchFamily="34" charset="0"/>
              <a:buChar char="•"/>
            </a:pPr>
            <a:endParaRPr lang="es-AR" sz="1200" dirty="0">
              <a:solidFill>
                <a:srgbClr val="003F52"/>
              </a:solidFill>
            </a:endParaRPr>
          </a:p>
        </p:txBody>
      </p:sp>
      <p:sp>
        <p:nvSpPr>
          <p:cNvPr id="30" name="AutoShape 319"/>
          <p:cNvSpPr>
            <a:spLocks noChangeArrowheads="1"/>
          </p:cNvSpPr>
          <p:nvPr/>
        </p:nvSpPr>
        <p:spPr bwMode="auto">
          <a:xfrm>
            <a:off x="169402" y="828406"/>
            <a:ext cx="2625613" cy="21590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2700" algn="ctr">
            <a:solidFill>
              <a:schemeClr val="accent6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lIns="72000" tIns="36000" rIns="72000" bIns="36000" anchor="ctr"/>
          <a:lstStyle/>
          <a:p>
            <a:r>
              <a:rPr lang="es-ES" sz="1100" dirty="0">
                <a:solidFill>
                  <a:srgbClr val="003F52"/>
                </a:solidFill>
              </a:rPr>
              <a:t>Propósito del Proyecto</a:t>
            </a:r>
          </a:p>
        </p:txBody>
      </p:sp>
      <p:sp>
        <p:nvSpPr>
          <p:cNvPr id="33" name="AutoShape 2"/>
          <p:cNvSpPr>
            <a:spLocks noChangeArrowheads="1"/>
          </p:cNvSpPr>
          <p:nvPr/>
        </p:nvSpPr>
        <p:spPr bwMode="auto">
          <a:xfrm>
            <a:off x="179512" y="5263108"/>
            <a:ext cx="4254798" cy="1080120"/>
          </a:xfrm>
          <a:prstGeom prst="roundRect">
            <a:avLst>
              <a:gd name="adj" fmla="val 5487"/>
            </a:avLst>
          </a:prstGeom>
          <a:solidFill>
            <a:srgbClr val="FFFFFF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endParaRPr lang="es-AR" sz="1200" dirty="0">
              <a:solidFill>
                <a:srgbClr val="003F52"/>
              </a:solidFill>
            </a:endParaRPr>
          </a:p>
        </p:txBody>
      </p:sp>
      <p:sp>
        <p:nvSpPr>
          <p:cNvPr id="34" name="AutoShape 319"/>
          <p:cNvSpPr>
            <a:spLocks noChangeArrowheads="1"/>
          </p:cNvSpPr>
          <p:nvPr/>
        </p:nvSpPr>
        <p:spPr bwMode="auto">
          <a:xfrm>
            <a:off x="185837" y="5024590"/>
            <a:ext cx="2676996" cy="21590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2700" algn="ctr">
            <a:solidFill>
              <a:schemeClr val="accent6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lIns="72000" tIns="36000" rIns="72000" bIns="36000" anchor="ctr"/>
          <a:lstStyle/>
          <a:p>
            <a:r>
              <a:rPr lang="es-ES" sz="1100" dirty="0">
                <a:solidFill>
                  <a:srgbClr val="003F52"/>
                </a:solidFill>
              </a:rPr>
              <a:t>Alcance</a:t>
            </a:r>
          </a:p>
        </p:txBody>
      </p: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214282" y="1097302"/>
            <a:ext cx="4141694" cy="5078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buClr>
                <a:srgbClr val="FFA000"/>
              </a:buClr>
              <a:buSzPct val="135000"/>
            </a:pPr>
            <a:r>
              <a:rPr lang="es-AR" sz="900" dirty="0">
                <a:solidFill>
                  <a:srgbClr val="043F52"/>
                </a:solidFill>
                <a:cs typeface="Calibri" pitchFamily="34" charset="0"/>
              </a:rPr>
              <a:t>Realizar una descripción acerca de que se trata el proyecto y explicar por qué el proyecto debe ser realizado, justificando  brevemente la afirmación.</a:t>
            </a:r>
          </a:p>
          <a:p>
            <a:pPr marL="185738" indent="-185738" eaLnBrk="0" hangingPunct="0">
              <a:buClr>
                <a:srgbClr val="FFA000"/>
              </a:buClr>
              <a:buSzPct val="135000"/>
            </a:pPr>
            <a:r>
              <a:rPr lang="es-AR" sz="900" dirty="0">
                <a:solidFill>
                  <a:srgbClr val="043F52"/>
                </a:solidFill>
                <a:cs typeface="Times New Roman" pitchFamily="18" charset="0"/>
              </a:rPr>
              <a:t>“Declaración que describa el </a:t>
            </a:r>
            <a:r>
              <a:rPr lang="es-AR" sz="900" b="1" dirty="0">
                <a:solidFill>
                  <a:srgbClr val="043F52"/>
                </a:solidFill>
                <a:cs typeface="Times New Roman" pitchFamily="18" charset="0"/>
              </a:rPr>
              <a:t>propósito final del proyecto</a:t>
            </a:r>
            <a:r>
              <a:rPr lang="es-AR" sz="900" dirty="0">
                <a:solidFill>
                  <a:srgbClr val="043F52"/>
                </a:solidFill>
                <a:cs typeface="Times New Roman" pitchFamily="18" charset="0"/>
              </a:rPr>
              <a:t>. </a:t>
            </a:r>
            <a:r>
              <a:rPr lang="es-AR" sz="900" dirty="0">
                <a:solidFill>
                  <a:srgbClr val="043F52"/>
                </a:solidFill>
                <a:cs typeface="Calibri" pitchFamily="34" charset="0"/>
              </a:rPr>
              <a:t>“</a:t>
            </a:r>
          </a:p>
        </p:txBody>
      </p:sp>
      <p:sp>
        <p:nvSpPr>
          <p:cNvPr id="60" name="AutoShape 319"/>
          <p:cNvSpPr>
            <a:spLocks noChangeArrowheads="1"/>
          </p:cNvSpPr>
          <p:nvPr/>
        </p:nvSpPr>
        <p:spPr bwMode="auto">
          <a:xfrm>
            <a:off x="4644008" y="777404"/>
            <a:ext cx="1152128" cy="36004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12700" algn="ctr">
            <a:solidFill>
              <a:schemeClr val="accent6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lIns="72000" tIns="36000" rIns="72000" bIns="36000" anchor="ctr"/>
          <a:lstStyle/>
          <a:p>
            <a:pPr algn="ctr"/>
            <a:r>
              <a:rPr lang="es-ES" sz="900" b="1" dirty="0" smtClean="0">
                <a:solidFill>
                  <a:srgbClr val="003F52"/>
                </a:solidFill>
              </a:rPr>
              <a:t>Requerimiento </a:t>
            </a:r>
            <a:r>
              <a:rPr lang="es-ES" sz="900" b="1" dirty="0">
                <a:solidFill>
                  <a:srgbClr val="003F52"/>
                </a:solidFill>
              </a:rPr>
              <a:t>del Proyecto</a:t>
            </a:r>
          </a:p>
        </p:txBody>
      </p:sp>
      <p:sp>
        <p:nvSpPr>
          <p:cNvPr id="39" name="Rectangle 8"/>
          <p:cNvSpPr>
            <a:spLocks noChangeArrowheads="1"/>
          </p:cNvSpPr>
          <p:nvPr/>
        </p:nvSpPr>
        <p:spPr bwMode="auto">
          <a:xfrm>
            <a:off x="3091182" y="366772"/>
            <a:ext cx="2056882" cy="253916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s-AR" sz="1050" dirty="0">
                <a:solidFill>
                  <a:srgbClr val="043F52"/>
                </a:solidFill>
              </a:rPr>
              <a:t>&lt;Nombre Proyecto&gt;</a:t>
            </a:r>
          </a:p>
        </p:txBody>
      </p:sp>
      <p:sp>
        <p:nvSpPr>
          <p:cNvPr id="46" name="Rectangle 469"/>
          <p:cNvSpPr>
            <a:spLocks noChangeArrowheads="1"/>
          </p:cNvSpPr>
          <p:nvPr/>
        </p:nvSpPr>
        <p:spPr bwMode="auto">
          <a:xfrm>
            <a:off x="7899220" y="212743"/>
            <a:ext cx="1080120" cy="50783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s-AR" sz="900" b="1" dirty="0">
                <a:solidFill>
                  <a:srgbClr val="043F52"/>
                </a:solidFill>
              </a:rPr>
              <a:t>Fecha y Versión: </a:t>
            </a:r>
          </a:p>
          <a:p>
            <a:r>
              <a:rPr lang="es-AR" sz="900" dirty="0" smtClean="0">
                <a:solidFill>
                  <a:srgbClr val="043F52"/>
                </a:solidFill>
              </a:rPr>
              <a:t>  </a:t>
            </a:r>
            <a:r>
              <a:rPr lang="es-AR" sz="900" dirty="0" err="1" smtClean="0">
                <a:solidFill>
                  <a:srgbClr val="043F52"/>
                </a:solidFill>
              </a:rPr>
              <a:t>dd</a:t>
            </a:r>
            <a:r>
              <a:rPr lang="es-AR" sz="900" dirty="0" smtClean="0">
                <a:solidFill>
                  <a:srgbClr val="043F52"/>
                </a:solidFill>
              </a:rPr>
              <a:t>/mm/</a:t>
            </a:r>
            <a:r>
              <a:rPr lang="es-AR" sz="900" dirty="0" err="1" smtClean="0">
                <a:solidFill>
                  <a:srgbClr val="043F52"/>
                </a:solidFill>
              </a:rPr>
              <a:t>aaaa</a:t>
            </a:r>
            <a:endParaRPr lang="es-AR" sz="900" dirty="0">
              <a:solidFill>
                <a:srgbClr val="043F52"/>
              </a:solidFill>
            </a:endParaRPr>
          </a:p>
          <a:p>
            <a:r>
              <a:rPr lang="es-AR" sz="900" dirty="0" smtClean="0">
                <a:solidFill>
                  <a:srgbClr val="043F52"/>
                </a:solidFill>
              </a:rPr>
              <a:t>  VX.X</a:t>
            </a:r>
            <a:endParaRPr lang="es-AR" sz="900" dirty="0">
              <a:solidFill>
                <a:srgbClr val="043F52"/>
              </a:solidFill>
            </a:endParaRPr>
          </a:p>
        </p:txBody>
      </p:sp>
      <p:sp>
        <p:nvSpPr>
          <p:cNvPr id="35" name="Text Box 35"/>
          <p:cNvSpPr txBox="1">
            <a:spLocks noChangeArrowheads="1"/>
          </p:cNvSpPr>
          <p:nvPr/>
        </p:nvSpPr>
        <p:spPr bwMode="auto">
          <a:xfrm>
            <a:off x="220607" y="5325015"/>
            <a:ext cx="4141694" cy="9233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5738" indent="-185738" eaLnBrk="0" hangingPunct="0">
              <a:buClr>
                <a:srgbClr val="FFA000"/>
              </a:buClr>
              <a:buSzPct val="135000"/>
            </a:pPr>
            <a:r>
              <a:rPr lang="es-AR" sz="900" dirty="0">
                <a:solidFill>
                  <a:srgbClr val="043F52"/>
                </a:solidFill>
                <a:cs typeface="Calibri" pitchFamily="34" charset="0"/>
              </a:rPr>
              <a:t>Describir el alcance del proyecto:</a:t>
            </a:r>
          </a:p>
          <a:p>
            <a:pPr marL="114300" indent="-114300" fontAlgn="base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r>
              <a:rPr lang="es-AR" sz="900" dirty="0">
                <a:solidFill>
                  <a:srgbClr val="043F52"/>
                </a:solidFill>
              </a:rPr>
              <a:t>Qué será </a:t>
            </a:r>
            <a:r>
              <a:rPr lang="es-AR" sz="900" b="1" dirty="0">
                <a:solidFill>
                  <a:srgbClr val="043F52"/>
                </a:solidFill>
              </a:rPr>
              <a:t>incluido</a:t>
            </a:r>
            <a:r>
              <a:rPr lang="es-AR" sz="900" dirty="0">
                <a:solidFill>
                  <a:srgbClr val="043F52"/>
                </a:solidFill>
              </a:rPr>
              <a:t>  en el alcance.</a:t>
            </a:r>
          </a:p>
          <a:p>
            <a:pPr marL="114300" indent="-114300" fontAlgn="base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r>
              <a:rPr lang="es-AR" sz="900" dirty="0">
                <a:solidFill>
                  <a:srgbClr val="043F52"/>
                </a:solidFill>
              </a:rPr>
              <a:t>Qué será </a:t>
            </a:r>
            <a:r>
              <a:rPr lang="es-AR" sz="900" b="1" dirty="0">
                <a:solidFill>
                  <a:srgbClr val="043F52"/>
                </a:solidFill>
              </a:rPr>
              <a:t>excluido</a:t>
            </a:r>
            <a:r>
              <a:rPr lang="es-AR" sz="900" dirty="0">
                <a:solidFill>
                  <a:srgbClr val="043F52"/>
                </a:solidFill>
              </a:rPr>
              <a:t> del alcance.</a:t>
            </a:r>
          </a:p>
          <a:p>
            <a:pPr marL="114300" indent="-114300" fontAlgn="base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r>
              <a:rPr lang="es-AR" sz="900" dirty="0">
                <a:solidFill>
                  <a:srgbClr val="043F52"/>
                </a:solidFill>
              </a:rPr>
              <a:t>Cuál es el </a:t>
            </a:r>
            <a:r>
              <a:rPr lang="es-AR" sz="900" b="1" dirty="0">
                <a:solidFill>
                  <a:srgbClr val="043F52"/>
                </a:solidFill>
              </a:rPr>
              <a:t>comienzo y el final del proceso </a:t>
            </a:r>
            <a:r>
              <a:rPr lang="es-AR" sz="900" dirty="0">
                <a:solidFill>
                  <a:srgbClr val="043F52"/>
                </a:solidFill>
              </a:rPr>
              <a:t>bajo alcance.</a:t>
            </a:r>
          </a:p>
          <a:p>
            <a:pPr marL="114300" indent="-114300" fontAlgn="base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r>
              <a:rPr lang="es-AR" sz="900" b="1" dirty="0">
                <a:solidFill>
                  <a:srgbClr val="043F52"/>
                </a:solidFill>
              </a:rPr>
              <a:t>Productos, servicios </a:t>
            </a:r>
            <a:r>
              <a:rPr lang="es-AR" sz="900" dirty="0">
                <a:solidFill>
                  <a:srgbClr val="043F52"/>
                </a:solidFill>
              </a:rPr>
              <a:t>alcanzados.</a:t>
            </a:r>
          </a:p>
          <a:p>
            <a:pPr marL="114300" indent="-114300" fontAlgn="base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r>
              <a:rPr lang="es-AR" sz="900" b="1" dirty="0">
                <a:solidFill>
                  <a:srgbClr val="043F52"/>
                </a:solidFill>
              </a:rPr>
              <a:t>Proceso.</a:t>
            </a:r>
            <a:endParaRPr lang="es-AR" sz="900" dirty="0">
              <a:solidFill>
                <a:srgbClr val="043F52"/>
              </a:solidFill>
            </a:endParaRPr>
          </a:p>
        </p:txBody>
      </p:sp>
      <p:sp>
        <p:nvSpPr>
          <p:cNvPr id="41" name="AutoShape 2"/>
          <p:cNvSpPr>
            <a:spLocks noChangeArrowheads="1"/>
          </p:cNvSpPr>
          <p:nvPr/>
        </p:nvSpPr>
        <p:spPr bwMode="auto">
          <a:xfrm>
            <a:off x="179512" y="2580144"/>
            <a:ext cx="4248472" cy="1008235"/>
          </a:xfrm>
          <a:prstGeom prst="roundRect">
            <a:avLst>
              <a:gd name="adj" fmla="val 5487"/>
            </a:avLst>
          </a:prstGeom>
          <a:solidFill>
            <a:srgbClr val="FFFFFF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endParaRPr lang="es-AR" sz="1200" dirty="0">
              <a:solidFill>
                <a:srgbClr val="003F52"/>
              </a:solidFill>
            </a:endParaRPr>
          </a:p>
        </p:txBody>
      </p:sp>
      <p:sp>
        <p:nvSpPr>
          <p:cNvPr id="47" name="AutoShape 319"/>
          <p:cNvSpPr>
            <a:spLocks noChangeArrowheads="1"/>
          </p:cNvSpPr>
          <p:nvPr/>
        </p:nvSpPr>
        <p:spPr bwMode="auto">
          <a:xfrm>
            <a:off x="173419" y="2339915"/>
            <a:ext cx="2676996" cy="21590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12700" algn="ctr">
            <a:solidFill>
              <a:schemeClr val="accent6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lIns="72000" tIns="36000" rIns="72000" bIns="36000" anchor="ctr"/>
          <a:lstStyle/>
          <a:p>
            <a:r>
              <a:rPr lang="es-ES" sz="1100" dirty="0">
                <a:solidFill>
                  <a:srgbClr val="003F52"/>
                </a:solidFill>
              </a:rPr>
              <a:t>Objetivos</a:t>
            </a:r>
          </a:p>
        </p:txBody>
      </p:sp>
      <p:sp>
        <p:nvSpPr>
          <p:cNvPr id="48" name="Text Box 35"/>
          <p:cNvSpPr txBox="1">
            <a:spLocks noChangeArrowheads="1"/>
          </p:cNvSpPr>
          <p:nvPr/>
        </p:nvSpPr>
        <p:spPr bwMode="auto">
          <a:xfrm>
            <a:off x="185836" y="2555636"/>
            <a:ext cx="4242148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buClr>
                <a:srgbClr val="FFA000"/>
              </a:buClr>
              <a:buSzPct val="135000"/>
            </a:pPr>
            <a:r>
              <a:rPr lang="es-AR" sz="900" dirty="0">
                <a:solidFill>
                  <a:srgbClr val="043F52"/>
                </a:solidFill>
                <a:cs typeface="Calibri" pitchFamily="34" charset="0"/>
              </a:rPr>
              <a:t>Describir cuáles son los objetivos del proyecto tanto </a:t>
            </a:r>
            <a:r>
              <a:rPr lang="es-AR" sz="900" dirty="0" err="1">
                <a:solidFill>
                  <a:srgbClr val="043F52"/>
                </a:solidFill>
                <a:cs typeface="Calibri" pitchFamily="34" charset="0"/>
              </a:rPr>
              <a:t>cuali</a:t>
            </a:r>
            <a:r>
              <a:rPr lang="es-AR" sz="900" dirty="0">
                <a:solidFill>
                  <a:srgbClr val="043F52"/>
                </a:solidFill>
                <a:cs typeface="Calibri" pitchFamily="34" charset="0"/>
              </a:rPr>
              <a:t> como cuantitativos:</a:t>
            </a:r>
          </a:p>
          <a:p>
            <a:pPr marL="92075" indent="-92075" eaLnBrk="0" hangingPunct="0">
              <a:buClr>
                <a:srgbClr val="FFA000"/>
              </a:buClr>
              <a:buSzPct val="100000"/>
              <a:buFont typeface="Wingdings" pitchFamily="2" charset="2"/>
              <a:buChar char="§"/>
            </a:pPr>
            <a:r>
              <a:rPr lang="es-AR" sz="900" dirty="0">
                <a:solidFill>
                  <a:srgbClr val="043F52"/>
                </a:solidFill>
              </a:rPr>
              <a:t>Cuál es la </a:t>
            </a:r>
            <a:r>
              <a:rPr lang="es-AR" sz="900" b="1" dirty="0">
                <a:solidFill>
                  <a:srgbClr val="043F52"/>
                </a:solidFill>
              </a:rPr>
              <a:t>métrica </a:t>
            </a:r>
            <a:r>
              <a:rPr lang="es-AR" sz="900" dirty="0">
                <a:solidFill>
                  <a:srgbClr val="043F52"/>
                </a:solidFill>
              </a:rPr>
              <a:t>(la «Y» primaria y secundaria)</a:t>
            </a:r>
            <a:r>
              <a:rPr lang="es-AR" sz="900" b="1" dirty="0">
                <a:solidFill>
                  <a:srgbClr val="043F52"/>
                </a:solidFill>
              </a:rPr>
              <a:t> </a:t>
            </a:r>
            <a:r>
              <a:rPr lang="es-AR" sz="900" dirty="0">
                <a:solidFill>
                  <a:srgbClr val="043F52"/>
                </a:solidFill>
              </a:rPr>
              <a:t>y el </a:t>
            </a:r>
            <a:r>
              <a:rPr lang="es-AR" sz="900" b="1" dirty="0">
                <a:solidFill>
                  <a:srgbClr val="043F52"/>
                </a:solidFill>
              </a:rPr>
              <a:t>valor actual y el objetivo </a:t>
            </a:r>
            <a:r>
              <a:rPr lang="es-AR" sz="900" dirty="0">
                <a:solidFill>
                  <a:srgbClr val="043F52"/>
                </a:solidFill>
              </a:rPr>
              <a:t>definido.</a:t>
            </a:r>
          </a:p>
          <a:p>
            <a:pPr marL="92075" indent="-92075" eaLnBrk="0" hangingPunct="0">
              <a:buClr>
                <a:srgbClr val="FFA000"/>
              </a:buClr>
              <a:buSzPct val="100000"/>
              <a:buFont typeface="Wingdings" pitchFamily="2" charset="2"/>
              <a:buChar char="§"/>
            </a:pPr>
            <a:endParaRPr lang="es-AR" sz="900" dirty="0">
              <a:solidFill>
                <a:srgbClr val="043F52"/>
              </a:solidFill>
              <a:cs typeface="Calibri" pitchFamily="34" charset="0"/>
            </a:endParaRPr>
          </a:p>
        </p:txBody>
      </p:sp>
      <p:sp>
        <p:nvSpPr>
          <p:cNvPr id="49" name="AutoShape 2"/>
          <p:cNvSpPr>
            <a:spLocks noChangeArrowheads="1"/>
          </p:cNvSpPr>
          <p:nvPr/>
        </p:nvSpPr>
        <p:spPr bwMode="auto">
          <a:xfrm>
            <a:off x="179512" y="3876127"/>
            <a:ext cx="4248472" cy="1065041"/>
          </a:xfrm>
          <a:prstGeom prst="roundRect">
            <a:avLst>
              <a:gd name="adj" fmla="val 5487"/>
            </a:avLst>
          </a:prstGeom>
          <a:solidFill>
            <a:srgbClr val="FFFFFF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endParaRPr lang="es-AR" sz="1200" dirty="0">
              <a:solidFill>
                <a:srgbClr val="003F52"/>
              </a:solidFill>
            </a:endParaRPr>
          </a:p>
        </p:txBody>
      </p:sp>
      <p:sp>
        <p:nvSpPr>
          <p:cNvPr id="50" name="AutoShape 319"/>
          <p:cNvSpPr>
            <a:spLocks noChangeArrowheads="1"/>
          </p:cNvSpPr>
          <p:nvPr/>
        </p:nvSpPr>
        <p:spPr bwMode="auto">
          <a:xfrm>
            <a:off x="199045" y="3636183"/>
            <a:ext cx="2676996" cy="21590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2700" algn="ctr">
            <a:solidFill>
              <a:schemeClr val="accent6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lIns="72000" tIns="36000" rIns="72000" bIns="36000" anchor="ctr"/>
          <a:lstStyle/>
          <a:p>
            <a:r>
              <a:rPr lang="es-ES" sz="1100" dirty="0">
                <a:solidFill>
                  <a:srgbClr val="003F52"/>
                </a:solidFill>
              </a:rPr>
              <a:t>Impacto del Proyecto</a:t>
            </a:r>
          </a:p>
        </p:txBody>
      </p:sp>
      <p:sp>
        <p:nvSpPr>
          <p:cNvPr id="51" name="Text Box 35"/>
          <p:cNvSpPr txBox="1">
            <a:spLocks noChangeArrowheads="1"/>
          </p:cNvSpPr>
          <p:nvPr/>
        </p:nvSpPr>
        <p:spPr bwMode="auto">
          <a:xfrm>
            <a:off x="220607" y="3861048"/>
            <a:ext cx="4141694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5738" indent="-185738" eaLnBrk="0" hangingPunct="0">
              <a:buClr>
                <a:srgbClr val="FFA000"/>
              </a:buClr>
              <a:buSzPct val="135000"/>
            </a:pPr>
            <a:r>
              <a:rPr lang="es-AR" sz="900" dirty="0">
                <a:solidFill>
                  <a:srgbClr val="043F52"/>
                </a:solidFill>
                <a:cs typeface="Calibri" pitchFamily="34" charset="0"/>
              </a:rPr>
              <a:t>Describir el  impacto esperado en los indicadores al finalizar el proyecto:</a:t>
            </a:r>
          </a:p>
          <a:p>
            <a:pPr marL="114300" indent="-114300" fontAlgn="base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r>
              <a:rPr lang="es-AR" sz="900" dirty="0">
                <a:solidFill>
                  <a:srgbClr val="043F52"/>
                </a:solidFill>
              </a:rPr>
              <a:t>Cuál es el </a:t>
            </a:r>
            <a:r>
              <a:rPr lang="es-AR" sz="900" b="1" dirty="0">
                <a:solidFill>
                  <a:srgbClr val="043F52"/>
                </a:solidFill>
              </a:rPr>
              <a:t>TIPO</a:t>
            </a:r>
            <a:r>
              <a:rPr lang="es-AR" sz="900" dirty="0">
                <a:solidFill>
                  <a:srgbClr val="043F52"/>
                </a:solidFill>
              </a:rPr>
              <a:t> y el </a:t>
            </a:r>
            <a:r>
              <a:rPr lang="es-AR" sz="900" b="1" dirty="0">
                <a:solidFill>
                  <a:srgbClr val="043F52"/>
                </a:solidFill>
              </a:rPr>
              <a:t>GRADO</a:t>
            </a:r>
            <a:r>
              <a:rPr lang="es-AR" sz="900" dirty="0">
                <a:solidFill>
                  <a:srgbClr val="043F52"/>
                </a:solidFill>
              </a:rPr>
              <a:t> de impacto en </a:t>
            </a:r>
            <a:r>
              <a:rPr lang="es-AR" sz="900" b="1" dirty="0">
                <a:solidFill>
                  <a:srgbClr val="043F52"/>
                </a:solidFill>
              </a:rPr>
              <a:t>los objetivos organizacionales.</a:t>
            </a:r>
            <a:endParaRPr lang="es-AR" sz="900" dirty="0">
              <a:solidFill>
                <a:srgbClr val="043F52"/>
              </a:solidFill>
            </a:endParaRPr>
          </a:p>
          <a:p>
            <a:pPr marL="114300" indent="-114300" fontAlgn="base">
              <a:spcBef>
                <a:spcPct val="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§"/>
            </a:pPr>
            <a:r>
              <a:rPr lang="es-AR" sz="900" dirty="0">
                <a:solidFill>
                  <a:srgbClr val="043F52"/>
                </a:solidFill>
              </a:rPr>
              <a:t>Cuál es el </a:t>
            </a:r>
            <a:r>
              <a:rPr lang="es-AR" sz="900" b="1" dirty="0">
                <a:solidFill>
                  <a:srgbClr val="043F52"/>
                </a:solidFill>
              </a:rPr>
              <a:t>Impacto económico </a:t>
            </a:r>
            <a:r>
              <a:rPr lang="es-AR" sz="900" dirty="0">
                <a:solidFill>
                  <a:srgbClr val="043F52"/>
                </a:solidFill>
              </a:rPr>
              <a:t>potencial (ahorro / mayores ingresos).</a:t>
            </a:r>
          </a:p>
          <a:p>
            <a:pPr marL="92075" indent="-92075" eaLnBrk="0" hangingPunct="0">
              <a:buClr>
                <a:srgbClr val="FFA000"/>
              </a:buClr>
              <a:buSzPct val="100000"/>
              <a:buFont typeface="Wingdings" pitchFamily="2" charset="2"/>
              <a:buChar char="§"/>
            </a:pPr>
            <a:endParaRPr lang="es-AR" sz="900" dirty="0">
              <a:solidFill>
                <a:srgbClr val="043F52"/>
              </a:solidFill>
              <a:cs typeface="Calibri" pitchFamily="34" charset="0"/>
            </a:endParaRPr>
          </a:p>
        </p:txBody>
      </p:sp>
      <p:sp>
        <p:nvSpPr>
          <p:cNvPr id="53" name="AutoShape 2"/>
          <p:cNvSpPr>
            <a:spLocks noChangeArrowheads="1"/>
          </p:cNvSpPr>
          <p:nvPr/>
        </p:nvSpPr>
        <p:spPr bwMode="auto">
          <a:xfrm>
            <a:off x="4598212" y="1774396"/>
            <a:ext cx="4366276" cy="618604"/>
          </a:xfrm>
          <a:prstGeom prst="roundRect">
            <a:avLst>
              <a:gd name="adj" fmla="val 5487"/>
            </a:avLst>
          </a:prstGeom>
          <a:solidFill>
            <a:srgbClr val="FFFFFF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endParaRPr lang="es-AR" sz="1200" dirty="0">
              <a:solidFill>
                <a:srgbClr val="003F52"/>
              </a:solidFill>
            </a:endParaRPr>
          </a:p>
        </p:txBody>
      </p:sp>
      <p:sp>
        <p:nvSpPr>
          <p:cNvPr id="54" name="AutoShape 319"/>
          <p:cNvSpPr>
            <a:spLocks noChangeArrowheads="1"/>
          </p:cNvSpPr>
          <p:nvPr/>
        </p:nvSpPr>
        <p:spPr bwMode="auto">
          <a:xfrm>
            <a:off x="4610125" y="1532456"/>
            <a:ext cx="2676996" cy="21590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12700" algn="ctr">
            <a:solidFill>
              <a:schemeClr val="accent6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lIns="72000" tIns="36000" rIns="72000" bIns="36000" anchor="ctr"/>
          <a:lstStyle/>
          <a:p>
            <a:r>
              <a:rPr lang="es-ES" sz="1100" dirty="0">
                <a:solidFill>
                  <a:srgbClr val="003F52"/>
                </a:solidFill>
              </a:rPr>
              <a:t>Declaración del Problema u Oportunidad</a:t>
            </a:r>
          </a:p>
        </p:txBody>
      </p:sp>
      <p:sp>
        <p:nvSpPr>
          <p:cNvPr id="55" name="Text Box 35"/>
          <p:cNvSpPr txBox="1">
            <a:spLocks noChangeArrowheads="1"/>
          </p:cNvSpPr>
          <p:nvPr/>
        </p:nvSpPr>
        <p:spPr bwMode="auto">
          <a:xfrm>
            <a:off x="4639307" y="1812657"/>
            <a:ext cx="4141694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14300" indent="-1143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61B8CD"/>
              </a:buClr>
              <a:buFont typeface="Arial" pitchFamily="34" charset="0"/>
              <a:buChar char="•"/>
            </a:pPr>
            <a:r>
              <a:rPr lang="es-AR" sz="900" dirty="0">
                <a:solidFill>
                  <a:srgbClr val="043F52"/>
                </a:solidFill>
              </a:rPr>
              <a:t>Cuál es el </a:t>
            </a:r>
            <a:r>
              <a:rPr lang="es-AR" sz="900" b="1" dirty="0">
                <a:solidFill>
                  <a:srgbClr val="043F52"/>
                </a:solidFill>
              </a:rPr>
              <a:t>problema u oportunidad </a:t>
            </a:r>
            <a:r>
              <a:rPr lang="es-AR" sz="900" dirty="0">
                <a:solidFill>
                  <a:srgbClr val="043F52"/>
                </a:solidFill>
              </a:rPr>
              <a:t>que está ocurriendo.</a:t>
            </a:r>
          </a:p>
          <a:p>
            <a:pPr marL="114300" indent="-1143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61B8CD"/>
              </a:buClr>
              <a:buFontTx/>
              <a:buChar char="•"/>
            </a:pPr>
            <a:r>
              <a:rPr lang="es-AR" sz="900" dirty="0">
                <a:solidFill>
                  <a:srgbClr val="043F52"/>
                </a:solidFill>
              </a:rPr>
              <a:t>Cuál es el “</a:t>
            </a:r>
            <a:r>
              <a:rPr lang="es-AR" sz="900" b="1" dirty="0">
                <a:solidFill>
                  <a:srgbClr val="043F52"/>
                </a:solidFill>
              </a:rPr>
              <a:t>defecto”</a:t>
            </a:r>
            <a:r>
              <a:rPr lang="es-AR" sz="900" dirty="0">
                <a:solidFill>
                  <a:srgbClr val="043F52"/>
                </a:solidFill>
              </a:rPr>
              <a:t> que se quiere eliminar/reducir o cual es la </a:t>
            </a:r>
            <a:r>
              <a:rPr lang="es-AR" sz="900" b="1" dirty="0">
                <a:solidFill>
                  <a:srgbClr val="043F52"/>
                </a:solidFill>
              </a:rPr>
              <a:t>mejora esperada</a:t>
            </a:r>
            <a:r>
              <a:rPr lang="es-AR" sz="900" dirty="0">
                <a:solidFill>
                  <a:srgbClr val="043F52"/>
                </a:solidFill>
              </a:rPr>
              <a:t>.</a:t>
            </a:r>
          </a:p>
          <a:p>
            <a:pPr marL="92075" indent="-92075" eaLnBrk="0" hangingPunct="0">
              <a:buClr>
                <a:srgbClr val="FFA000"/>
              </a:buClr>
              <a:buSzPct val="100000"/>
            </a:pPr>
            <a:endParaRPr lang="es-AR" sz="900" dirty="0">
              <a:solidFill>
                <a:srgbClr val="043F52"/>
              </a:solidFill>
              <a:cs typeface="Calibri" pitchFamily="34" charset="0"/>
            </a:endParaRPr>
          </a:p>
        </p:txBody>
      </p:sp>
      <p:sp>
        <p:nvSpPr>
          <p:cNvPr id="56" name="AutoShape 2"/>
          <p:cNvSpPr>
            <a:spLocks noChangeArrowheads="1"/>
          </p:cNvSpPr>
          <p:nvPr/>
        </p:nvSpPr>
        <p:spPr bwMode="auto">
          <a:xfrm>
            <a:off x="4587013" y="5105632"/>
            <a:ext cx="4377476" cy="555616"/>
          </a:xfrm>
          <a:prstGeom prst="roundRect">
            <a:avLst>
              <a:gd name="adj" fmla="val 5487"/>
            </a:avLst>
          </a:prstGeom>
          <a:solidFill>
            <a:srgbClr val="FFFFFF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endParaRPr lang="es-AR" sz="1200" dirty="0">
              <a:solidFill>
                <a:srgbClr val="003F52"/>
              </a:solidFill>
            </a:endParaRPr>
          </a:p>
        </p:txBody>
      </p:sp>
      <p:sp>
        <p:nvSpPr>
          <p:cNvPr id="58" name="AutoShape 319"/>
          <p:cNvSpPr>
            <a:spLocks noChangeArrowheads="1"/>
          </p:cNvSpPr>
          <p:nvPr/>
        </p:nvSpPr>
        <p:spPr bwMode="auto">
          <a:xfrm>
            <a:off x="4615690" y="4860195"/>
            <a:ext cx="2676996" cy="21590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12700" algn="ctr">
            <a:solidFill>
              <a:schemeClr val="accent6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lIns="72000" tIns="36000" rIns="72000" bIns="36000" anchor="ctr"/>
          <a:lstStyle/>
          <a:p>
            <a:r>
              <a:rPr lang="es-ES" sz="1100" dirty="0">
                <a:solidFill>
                  <a:srgbClr val="003F52"/>
                </a:solidFill>
              </a:rPr>
              <a:t>Grupos de Interés</a:t>
            </a:r>
          </a:p>
        </p:txBody>
      </p:sp>
      <p:sp>
        <p:nvSpPr>
          <p:cNvPr id="61" name="Text Box 35"/>
          <p:cNvSpPr txBox="1">
            <a:spLocks noChangeArrowheads="1"/>
          </p:cNvSpPr>
          <p:nvPr/>
        </p:nvSpPr>
        <p:spPr bwMode="auto">
          <a:xfrm>
            <a:off x="4628108" y="5143893"/>
            <a:ext cx="4141694" cy="5078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92075" indent="-92075" eaLnBrk="0" hangingPunct="0">
              <a:buClr>
                <a:srgbClr val="FFA000"/>
              </a:buClr>
              <a:buSzPct val="100000"/>
              <a:buFont typeface="Wingdings" pitchFamily="2" charset="2"/>
              <a:buChar char="§"/>
            </a:pPr>
            <a:r>
              <a:rPr lang="es-AR" sz="900" dirty="0">
                <a:solidFill>
                  <a:srgbClr val="043F52"/>
                </a:solidFill>
                <a:cs typeface="Calibri" pitchFamily="34" charset="0"/>
              </a:rPr>
              <a:t>Describir cuáles son los grupos de interés asociados al proyecto.</a:t>
            </a:r>
            <a:endParaRPr lang="es-AR" sz="900" b="1" dirty="0">
              <a:solidFill>
                <a:srgbClr val="043F52"/>
              </a:solidFill>
            </a:endParaRPr>
          </a:p>
          <a:p>
            <a:pPr marL="92075" indent="-92075" eaLnBrk="0" hangingPunct="0">
              <a:buClr>
                <a:srgbClr val="FFA000"/>
              </a:buClr>
              <a:buSzPct val="100000"/>
              <a:buFont typeface="Wingdings" pitchFamily="2" charset="2"/>
              <a:buChar char="§"/>
            </a:pPr>
            <a:r>
              <a:rPr lang="es-AR" sz="900" b="1" dirty="0">
                <a:solidFill>
                  <a:srgbClr val="043F52"/>
                </a:solidFill>
              </a:rPr>
              <a:t>Áreas involucradas</a:t>
            </a:r>
            <a:r>
              <a:rPr lang="es-AR" sz="900" dirty="0">
                <a:solidFill>
                  <a:srgbClr val="043F52"/>
                </a:solidFill>
              </a:rPr>
              <a:t>: cuáles, cuántas, dónde, desde cuándo?</a:t>
            </a:r>
          </a:p>
          <a:p>
            <a:pPr marL="92075" indent="-92075" eaLnBrk="0" hangingPunct="0">
              <a:buClr>
                <a:srgbClr val="FFA000"/>
              </a:buClr>
              <a:buSzPct val="100000"/>
            </a:pPr>
            <a:endParaRPr lang="es-AR" sz="900" dirty="0">
              <a:solidFill>
                <a:srgbClr val="043F52"/>
              </a:solidFill>
              <a:cs typeface="Calibri" pitchFamily="34" charset="0"/>
            </a:endParaRPr>
          </a:p>
        </p:txBody>
      </p:sp>
      <p:sp>
        <p:nvSpPr>
          <p:cNvPr id="63" name="AutoShape 319"/>
          <p:cNvSpPr>
            <a:spLocks noChangeArrowheads="1"/>
          </p:cNvSpPr>
          <p:nvPr/>
        </p:nvSpPr>
        <p:spPr bwMode="auto">
          <a:xfrm>
            <a:off x="3231302" y="17930"/>
            <a:ext cx="2625613" cy="18864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2700" algn="ctr">
            <a:solidFill>
              <a:schemeClr val="accent6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lIns="72000" tIns="36000" rIns="72000" bIns="36000" anchor="ctr"/>
          <a:lstStyle/>
          <a:p>
            <a:pPr algn="ctr"/>
            <a:r>
              <a:rPr lang="es-ES" sz="1100" b="1" dirty="0">
                <a:solidFill>
                  <a:srgbClr val="003F52"/>
                </a:solidFill>
              </a:rPr>
              <a:t>Project </a:t>
            </a:r>
            <a:r>
              <a:rPr lang="es-ES" sz="1100" b="1" dirty="0" err="1">
                <a:solidFill>
                  <a:srgbClr val="003F52"/>
                </a:solidFill>
              </a:rPr>
              <a:t>Charter</a:t>
            </a:r>
            <a:endParaRPr lang="es-ES" sz="1100" b="1" dirty="0">
              <a:solidFill>
                <a:srgbClr val="003F52"/>
              </a:solidFill>
            </a:endParaRPr>
          </a:p>
        </p:txBody>
      </p:sp>
      <p:sp>
        <p:nvSpPr>
          <p:cNvPr id="38" name="Line 4"/>
          <p:cNvSpPr>
            <a:spLocks noChangeShapeType="1"/>
          </p:cNvSpPr>
          <p:nvPr/>
        </p:nvSpPr>
        <p:spPr bwMode="auto">
          <a:xfrm flipH="1">
            <a:off x="4552950" y="273348"/>
            <a:ext cx="0" cy="464722"/>
          </a:xfrm>
          <a:prstGeom prst="line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>
            <a:spAutoFit/>
          </a:bodyPr>
          <a:lstStyle/>
          <a:p>
            <a:endParaRPr lang="es-AR" sz="2400">
              <a:solidFill>
                <a:srgbClr val="043F52"/>
              </a:solidFill>
            </a:endParaRPr>
          </a:p>
        </p:txBody>
      </p:sp>
      <p:sp>
        <p:nvSpPr>
          <p:cNvPr id="42" name="AutoShape 2"/>
          <p:cNvSpPr>
            <a:spLocks noChangeArrowheads="1"/>
          </p:cNvSpPr>
          <p:nvPr/>
        </p:nvSpPr>
        <p:spPr bwMode="auto">
          <a:xfrm>
            <a:off x="4596538" y="3861048"/>
            <a:ext cx="4367950" cy="936104"/>
          </a:xfrm>
          <a:prstGeom prst="roundRect">
            <a:avLst>
              <a:gd name="adj" fmla="val 5487"/>
            </a:avLst>
          </a:prstGeom>
          <a:solidFill>
            <a:srgbClr val="FFFFFF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>
              <a:buFont typeface="Arial" pitchFamily="34" charset="0"/>
              <a:buChar char="•"/>
            </a:pPr>
            <a:endParaRPr lang="es-AR" sz="1200" dirty="0">
              <a:solidFill>
                <a:srgbClr val="003F52"/>
              </a:solidFill>
            </a:endParaRPr>
          </a:p>
        </p:txBody>
      </p:sp>
      <p:sp>
        <p:nvSpPr>
          <p:cNvPr id="43" name="42 Rectángulo"/>
          <p:cNvSpPr/>
          <p:nvPr/>
        </p:nvSpPr>
        <p:spPr>
          <a:xfrm>
            <a:off x="4596538" y="3861048"/>
            <a:ext cx="20779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 eaLnBrk="0" hangingPunct="0">
              <a:buClr>
                <a:srgbClr val="FFA000"/>
              </a:buClr>
              <a:buSzPct val="100000"/>
              <a:buFont typeface="Wingdings" pitchFamily="2" charset="2"/>
              <a:buChar char="§"/>
            </a:pPr>
            <a:r>
              <a:rPr lang="es-AR" sz="900" dirty="0">
                <a:solidFill>
                  <a:srgbClr val="043F52"/>
                </a:solidFill>
                <a:cs typeface="Calibri" pitchFamily="34" charset="0"/>
              </a:rPr>
              <a:t>Sponsor (PMI)</a:t>
            </a:r>
          </a:p>
          <a:p>
            <a:pPr marL="92075" indent="-92075" eaLnBrk="0" hangingPunct="0">
              <a:buClr>
                <a:srgbClr val="FFA000"/>
              </a:buClr>
              <a:buSzPct val="100000"/>
              <a:buFont typeface="Wingdings" pitchFamily="2" charset="2"/>
              <a:buChar char="§"/>
            </a:pPr>
            <a:r>
              <a:rPr lang="es-AR" sz="900" dirty="0" err="1">
                <a:solidFill>
                  <a:srgbClr val="043F52"/>
                </a:solidFill>
                <a:cs typeface="Calibri" pitchFamily="34" charset="0"/>
              </a:rPr>
              <a:t>Champion</a:t>
            </a:r>
            <a:r>
              <a:rPr lang="es-AR" sz="900" dirty="0">
                <a:solidFill>
                  <a:srgbClr val="043F52"/>
                </a:solidFill>
                <a:cs typeface="Calibri" pitchFamily="34" charset="0"/>
              </a:rPr>
              <a:t> </a:t>
            </a:r>
          </a:p>
          <a:p>
            <a:pPr marL="92075" indent="-92075" eaLnBrk="0" hangingPunct="0">
              <a:buClr>
                <a:srgbClr val="FFA000"/>
              </a:buClr>
              <a:buSzPct val="100000"/>
              <a:buFont typeface="Wingdings" pitchFamily="2" charset="2"/>
              <a:buChar char="§"/>
            </a:pPr>
            <a:r>
              <a:rPr lang="es-AR" sz="900" dirty="0" err="1">
                <a:solidFill>
                  <a:srgbClr val="043F52"/>
                </a:solidFill>
                <a:cs typeface="Calibri" pitchFamily="34" charset="0"/>
              </a:rPr>
              <a:t>Lider</a:t>
            </a:r>
            <a:r>
              <a:rPr lang="es-AR" sz="900" dirty="0">
                <a:solidFill>
                  <a:srgbClr val="043F52"/>
                </a:solidFill>
                <a:cs typeface="Calibri" pitchFamily="34" charset="0"/>
              </a:rPr>
              <a:t> (PMI)</a:t>
            </a:r>
          </a:p>
          <a:p>
            <a:pPr marL="92075" indent="-92075" eaLnBrk="0" hangingPunct="0">
              <a:buClr>
                <a:srgbClr val="FFA000"/>
              </a:buClr>
              <a:buSzPct val="100000"/>
              <a:buFont typeface="Wingdings" pitchFamily="2" charset="2"/>
              <a:buChar char="§"/>
            </a:pPr>
            <a:r>
              <a:rPr lang="es-AR" sz="900" dirty="0">
                <a:solidFill>
                  <a:srgbClr val="043F52"/>
                </a:solidFill>
                <a:cs typeface="Calibri" pitchFamily="34" charset="0"/>
              </a:rPr>
              <a:t>PM: (PMI)</a:t>
            </a:r>
          </a:p>
          <a:p>
            <a:pPr marL="92075" indent="-92075" eaLnBrk="0" hangingPunct="0">
              <a:buClr>
                <a:srgbClr val="FFA000"/>
              </a:buClr>
              <a:buSzPct val="100000"/>
              <a:buFont typeface="Wingdings" pitchFamily="2" charset="2"/>
              <a:buChar char="§"/>
            </a:pPr>
            <a:r>
              <a:rPr lang="es-AR" sz="900" dirty="0">
                <a:solidFill>
                  <a:srgbClr val="043F52"/>
                </a:solidFill>
                <a:cs typeface="Calibri" pitchFamily="34" charset="0"/>
              </a:rPr>
              <a:t>Green </a:t>
            </a:r>
            <a:r>
              <a:rPr lang="es-AR" sz="900" dirty="0" err="1">
                <a:solidFill>
                  <a:srgbClr val="043F52"/>
                </a:solidFill>
                <a:cs typeface="Calibri" pitchFamily="34" charset="0"/>
              </a:rPr>
              <a:t>Belt</a:t>
            </a:r>
            <a:endParaRPr lang="es-AR" sz="900" dirty="0">
              <a:solidFill>
                <a:srgbClr val="043F52"/>
              </a:solidFill>
              <a:cs typeface="Calibri" pitchFamily="34" charset="0"/>
            </a:endParaRPr>
          </a:p>
          <a:p>
            <a:pPr marL="92075" indent="-92075" eaLnBrk="0" hangingPunct="0">
              <a:buClr>
                <a:srgbClr val="FFA000"/>
              </a:buClr>
              <a:buSzPct val="100000"/>
              <a:buFont typeface="Wingdings" pitchFamily="2" charset="2"/>
              <a:buChar char="§"/>
            </a:pPr>
            <a:r>
              <a:rPr lang="es-AR" sz="900" dirty="0">
                <a:solidFill>
                  <a:srgbClr val="043F52"/>
                </a:solidFill>
                <a:cs typeface="Calibri" pitchFamily="34" charset="0"/>
              </a:rPr>
              <a:t>Miembros de Equipo (PMI)</a:t>
            </a:r>
          </a:p>
        </p:txBody>
      </p:sp>
      <p:sp>
        <p:nvSpPr>
          <p:cNvPr id="44" name="AutoShape 319"/>
          <p:cNvSpPr>
            <a:spLocks noChangeArrowheads="1"/>
          </p:cNvSpPr>
          <p:nvPr/>
        </p:nvSpPr>
        <p:spPr bwMode="auto">
          <a:xfrm>
            <a:off x="4596538" y="3627094"/>
            <a:ext cx="1645896" cy="20688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2700" algn="ctr">
            <a:solidFill>
              <a:schemeClr val="accent6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lIns="72000" tIns="36000" rIns="72000" bIns="36000" anchor="ctr"/>
          <a:lstStyle/>
          <a:p>
            <a:r>
              <a:rPr lang="es-ES" sz="1100" dirty="0">
                <a:solidFill>
                  <a:srgbClr val="003F52"/>
                </a:solidFill>
              </a:rPr>
              <a:t>Roles</a:t>
            </a:r>
          </a:p>
        </p:txBody>
      </p:sp>
      <p:sp>
        <p:nvSpPr>
          <p:cNvPr id="64" name="AutoShape 2"/>
          <p:cNvSpPr>
            <a:spLocks noChangeArrowheads="1"/>
          </p:cNvSpPr>
          <p:nvPr/>
        </p:nvSpPr>
        <p:spPr bwMode="auto">
          <a:xfrm>
            <a:off x="4644008" y="1171249"/>
            <a:ext cx="1152128" cy="259457"/>
          </a:xfrm>
          <a:prstGeom prst="roundRect">
            <a:avLst>
              <a:gd name="adj" fmla="val 5487"/>
            </a:avLst>
          </a:prstGeom>
          <a:solidFill>
            <a:srgbClr val="FFFFFF"/>
          </a:solidFill>
          <a:ln w="19050" algn="ctr">
            <a:solidFill>
              <a:schemeClr val="tx1"/>
            </a:solidFill>
            <a:prstDash val="sysDash"/>
            <a:round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>
              <a:buFont typeface="Arial" pitchFamily="34" charset="0"/>
              <a:buChar char="•"/>
            </a:pPr>
            <a:endParaRPr lang="es-AR" sz="1200" dirty="0">
              <a:solidFill>
                <a:srgbClr val="003F52"/>
              </a:solidFill>
            </a:endParaRPr>
          </a:p>
        </p:txBody>
      </p:sp>
      <p:sp>
        <p:nvSpPr>
          <p:cNvPr id="65" name="AutoShape 319"/>
          <p:cNvSpPr>
            <a:spLocks noChangeArrowheads="1"/>
          </p:cNvSpPr>
          <p:nvPr/>
        </p:nvSpPr>
        <p:spPr bwMode="auto">
          <a:xfrm>
            <a:off x="6228184" y="777404"/>
            <a:ext cx="1152128" cy="36004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2700" algn="ctr">
            <a:solidFill>
              <a:schemeClr val="accent6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lIns="72000" tIns="36000" rIns="72000" bIns="36000" anchor="ctr"/>
          <a:lstStyle/>
          <a:p>
            <a:pPr algn="ctr"/>
            <a:r>
              <a:rPr lang="es-ES" sz="900" b="1" dirty="0" smtClean="0">
                <a:solidFill>
                  <a:srgbClr val="003F52"/>
                </a:solidFill>
              </a:rPr>
              <a:t>Inicio </a:t>
            </a:r>
            <a:r>
              <a:rPr lang="es-ES" sz="900" b="1" dirty="0">
                <a:solidFill>
                  <a:srgbClr val="003F52"/>
                </a:solidFill>
              </a:rPr>
              <a:t>del Proyecto</a:t>
            </a:r>
          </a:p>
        </p:txBody>
      </p:sp>
      <p:sp>
        <p:nvSpPr>
          <p:cNvPr id="67" name="AutoShape 319"/>
          <p:cNvSpPr>
            <a:spLocks noChangeArrowheads="1"/>
          </p:cNvSpPr>
          <p:nvPr/>
        </p:nvSpPr>
        <p:spPr bwMode="auto">
          <a:xfrm>
            <a:off x="7831410" y="783754"/>
            <a:ext cx="1152128" cy="36004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2700" algn="ctr">
            <a:solidFill>
              <a:schemeClr val="accent6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lIns="72000" tIns="36000" rIns="72000" bIns="36000" anchor="ctr"/>
          <a:lstStyle/>
          <a:p>
            <a:pPr algn="ctr"/>
            <a:r>
              <a:rPr lang="es-ES" sz="900" b="1" dirty="0" smtClean="0">
                <a:solidFill>
                  <a:srgbClr val="003F52"/>
                </a:solidFill>
              </a:rPr>
              <a:t>Fin Planificado</a:t>
            </a:r>
            <a:endParaRPr lang="es-ES" sz="900" b="1" dirty="0">
              <a:solidFill>
                <a:srgbClr val="003F52"/>
              </a:solidFill>
            </a:endParaRPr>
          </a:p>
        </p:txBody>
      </p:sp>
      <p:sp>
        <p:nvSpPr>
          <p:cNvPr id="69" name="Text Box 35"/>
          <p:cNvSpPr txBox="1">
            <a:spLocks noChangeArrowheads="1"/>
          </p:cNvSpPr>
          <p:nvPr/>
        </p:nvSpPr>
        <p:spPr bwMode="auto">
          <a:xfrm>
            <a:off x="4672583" y="1195632"/>
            <a:ext cx="1152128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5738" indent="-185738" algn="ctr" eaLnBrk="0" hangingPunct="0">
              <a:buClr>
                <a:srgbClr val="FFA000"/>
              </a:buClr>
              <a:buSzPct val="135000"/>
            </a:pPr>
            <a:r>
              <a:rPr lang="es-AR" sz="900" dirty="0" err="1" smtClean="0">
                <a:solidFill>
                  <a:srgbClr val="043F52"/>
                </a:solidFill>
                <a:cs typeface="Calibri" pitchFamily="34" charset="0"/>
              </a:rPr>
              <a:t>dd</a:t>
            </a:r>
            <a:r>
              <a:rPr lang="es-AR" sz="900" dirty="0" smtClean="0">
                <a:solidFill>
                  <a:srgbClr val="043F52"/>
                </a:solidFill>
                <a:cs typeface="Calibri" pitchFamily="34" charset="0"/>
              </a:rPr>
              <a:t>/mm/</a:t>
            </a:r>
            <a:r>
              <a:rPr lang="es-AR" sz="900" dirty="0" err="1" smtClean="0">
                <a:solidFill>
                  <a:srgbClr val="043F52"/>
                </a:solidFill>
                <a:cs typeface="Calibri" pitchFamily="34" charset="0"/>
              </a:rPr>
              <a:t>aaaa</a:t>
            </a:r>
            <a:endParaRPr lang="es-AR" sz="900" dirty="0">
              <a:solidFill>
                <a:srgbClr val="043F52"/>
              </a:solidFill>
              <a:cs typeface="Calibri" pitchFamily="34" charset="0"/>
            </a:endParaRPr>
          </a:p>
        </p:txBody>
      </p:sp>
      <p:sp>
        <p:nvSpPr>
          <p:cNvPr id="52" name="AutoShape 2"/>
          <p:cNvSpPr>
            <a:spLocks noChangeArrowheads="1"/>
          </p:cNvSpPr>
          <p:nvPr/>
        </p:nvSpPr>
        <p:spPr bwMode="auto">
          <a:xfrm>
            <a:off x="4602912" y="2708920"/>
            <a:ext cx="4361576" cy="867995"/>
          </a:xfrm>
          <a:prstGeom prst="roundRect">
            <a:avLst>
              <a:gd name="adj" fmla="val 5487"/>
            </a:avLst>
          </a:prstGeom>
          <a:solidFill>
            <a:srgbClr val="FFFFFF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endParaRPr lang="es-AR" sz="1200" dirty="0">
              <a:solidFill>
                <a:srgbClr val="003F52"/>
              </a:solidFill>
            </a:endParaRPr>
          </a:p>
        </p:txBody>
      </p:sp>
      <p:sp>
        <p:nvSpPr>
          <p:cNvPr id="57" name="AutoShape 319"/>
          <p:cNvSpPr>
            <a:spLocks noChangeArrowheads="1"/>
          </p:cNvSpPr>
          <p:nvPr/>
        </p:nvSpPr>
        <p:spPr bwMode="auto">
          <a:xfrm>
            <a:off x="4622446" y="2453575"/>
            <a:ext cx="3292835" cy="21590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2700" algn="ctr">
            <a:solidFill>
              <a:schemeClr val="accent6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lIns="72000" tIns="36000" rIns="72000" bIns="36000" anchor="ctr"/>
          <a:lstStyle/>
          <a:p>
            <a:r>
              <a:rPr lang="es-ES" sz="1100" dirty="0">
                <a:solidFill>
                  <a:srgbClr val="003F52"/>
                </a:solidFill>
              </a:rPr>
              <a:t>Riesgos, Supuestos y Restricciones del Proyecto</a:t>
            </a:r>
          </a:p>
        </p:txBody>
      </p:sp>
      <p:sp>
        <p:nvSpPr>
          <p:cNvPr id="59" name="Text Box 35"/>
          <p:cNvSpPr txBox="1">
            <a:spLocks noChangeArrowheads="1"/>
          </p:cNvSpPr>
          <p:nvPr/>
        </p:nvSpPr>
        <p:spPr bwMode="auto">
          <a:xfrm>
            <a:off x="4572000" y="2765688"/>
            <a:ext cx="4141694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14300" indent="-114300" fontAlgn="base">
              <a:spcBef>
                <a:spcPct val="0"/>
              </a:spcBef>
              <a:spcAft>
                <a:spcPct val="0"/>
              </a:spcAft>
              <a:buClr>
                <a:srgbClr val="61B8CD"/>
              </a:buClr>
              <a:buFontTx/>
              <a:buChar char="•"/>
            </a:pPr>
            <a:r>
              <a:rPr lang="es-AR" sz="900" b="1" dirty="0">
                <a:solidFill>
                  <a:srgbClr val="043F52"/>
                </a:solidFill>
              </a:rPr>
              <a:t>Riesgos</a:t>
            </a:r>
            <a:r>
              <a:rPr lang="es-AR" sz="900" dirty="0">
                <a:solidFill>
                  <a:srgbClr val="043F52"/>
                </a:solidFill>
              </a:rPr>
              <a:t> más significativos de los </a:t>
            </a:r>
            <a:r>
              <a:rPr lang="es-AR" sz="900" b="1" dirty="0">
                <a:solidFill>
                  <a:srgbClr val="043F52"/>
                </a:solidFill>
              </a:rPr>
              <a:t>factores externos e internos al proyecto </a:t>
            </a:r>
            <a:r>
              <a:rPr lang="es-AR" sz="900" dirty="0">
                <a:solidFill>
                  <a:srgbClr val="043F52"/>
                </a:solidFill>
              </a:rPr>
              <a:t>(Económicos y no económicos). </a:t>
            </a:r>
          </a:p>
          <a:p>
            <a:pPr marL="114300" indent="-114300" fontAlgn="base">
              <a:spcBef>
                <a:spcPct val="0"/>
              </a:spcBef>
              <a:spcAft>
                <a:spcPct val="0"/>
              </a:spcAft>
              <a:buClr>
                <a:srgbClr val="61B8CD"/>
              </a:buClr>
              <a:buFontTx/>
              <a:buChar char="•"/>
            </a:pPr>
            <a:r>
              <a:rPr lang="es-AR" sz="900" dirty="0">
                <a:solidFill>
                  <a:srgbClr val="043F52"/>
                </a:solidFill>
              </a:rPr>
              <a:t>Cuáles son las </a:t>
            </a:r>
            <a:r>
              <a:rPr lang="es-AR" sz="900" b="1" dirty="0">
                <a:solidFill>
                  <a:srgbClr val="043F52"/>
                </a:solidFill>
              </a:rPr>
              <a:t>barreras/restricciones y supuestos</a:t>
            </a:r>
            <a:r>
              <a:rPr lang="es-AR" sz="900" dirty="0">
                <a:solidFill>
                  <a:srgbClr val="043F52"/>
                </a:solidFill>
              </a:rPr>
              <a:t> que tendrá el proyecto.</a:t>
            </a:r>
          </a:p>
          <a:p>
            <a:pPr marL="92075" indent="-92075" eaLnBrk="0" hangingPunct="0">
              <a:buClr>
                <a:srgbClr val="FFA000"/>
              </a:buClr>
              <a:buSzPct val="100000"/>
            </a:pPr>
            <a:endParaRPr lang="es-AR" sz="900" dirty="0">
              <a:solidFill>
                <a:srgbClr val="043F52"/>
              </a:solidFill>
              <a:cs typeface="Calibri" pitchFamily="34" charset="0"/>
            </a:endParaRPr>
          </a:p>
        </p:txBody>
      </p:sp>
      <p:sp>
        <p:nvSpPr>
          <p:cNvPr id="62" name="AutoShape 319"/>
          <p:cNvSpPr>
            <a:spLocks noChangeArrowheads="1"/>
          </p:cNvSpPr>
          <p:nvPr/>
        </p:nvSpPr>
        <p:spPr bwMode="auto">
          <a:xfrm>
            <a:off x="2305844" y="278578"/>
            <a:ext cx="755576" cy="428408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2700" algn="ctr">
            <a:solidFill>
              <a:schemeClr val="accent6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lIns="72000" tIns="36000" rIns="72000" bIns="36000" anchor="ctr"/>
          <a:lstStyle/>
          <a:p>
            <a:pPr algn="ctr"/>
            <a:r>
              <a:rPr lang="es-ES" sz="1100" b="1" dirty="0">
                <a:solidFill>
                  <a:srgbClr val="043F52"/>
                </a:solidFill>
              </a:rPr>
              <a:t>Proyecto</a:t>
            </a:r>
          </a:p>
        </p:txBody>
      </p:sp>
      <p:sp>
        <p:nvSpPr>
          <p:cNvPr id="72" name="AutoShape 319"/>
          <p:cNvSpPr>
            <a:spLocks noChangeArrowheads="1"/>
          </p:cNvSpPr>
          <p:nvPr/>
        </p:nvSpPr>
        <p:spPr bwMode="auto">
          <a:xfrm>
            <a:off x="4595614" y="278578"/>
            <a:ext cx="711324" cy="414118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2700" algn="ctr">
            <a:solidFill>
              <a:schemeClr val="accent6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lIns="72000" tIns="36000" rIns="72000" bIns="36000" anchor="ctr"/>
          <a:lstStyle/>
          <a:p>
            <a:pPr algn="ctr"/>
            <a:r>
              <a:rPr lang="es-AR" sz="1100" b="1" dirty="0">
                <a:solidFill>
                  <a:srgbClr val="043F52"/>
                </a:solidFill>
              </a:rPr>
              <a:t>Sponsor</a:t>
            </a:r>
          </a:p>
        </p:txBody>
      </p:sp>
      <p:sp>
        <p:nvSpPr>
          <p:cNvPr id="73" name="72 Rectángulo"/>
          <p:cNvSpPr/>
          <p:nvPr/>
        </p:nvSpPr>
        <p:spPr>
          <a:xfrm>
            <a:off x="5397996" y="358056"/>
            <a:ext cx="504056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50" dirty="0" err="1">
                <a:solidFill>
                  <a:srgbClr val="043F52"/>
                </a:solidFill>
                <a:cs typeface="Calibri" pitchFamily="34" charset="0"/>
              </a:rPr>
              <a:t>xxxxx</a:t>
            </a:r>
            <a:endParaRPr lang="es-AR" sz="1050" b="1" dirty="0">
              <a:solidFill>
                <a:srgbClr val="043F52"/>
              </a:solidFill>
            </a:endParaRPr>
          </a:p>
        </p:txBody>
      </p:sp>
      <p:sp>
        <p:nvSpPr>
          <p:cNvPr id="77" name="AutoShape 2"/>
          <p:cNvSpPr>
            <a:spLocks noChangeArrowheads="1"/>
          </p:cNvSpPr>
          <p:nvPr/>
        </p:nvSpPr>
        <p:spPr bwMode="auto">
          <a:xfrm>
            <a:off x="4596538" y="5968712"/>
            <a:ext cx="4367950" cy="360040"/>
          </a:xfrm>
          <a:prstGeom prst="roundRect">
            <a:avLst>
              <a:gd name="adj" fmla="val 5487"/>
            </a:avLst>
          </a:prstGeom>
          <a:solidFill>
            <a:srgbClr val="FFFFFF"/>
          </a:soli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>
              <a:buFont typeface="Arial" pitchFamily="34" charset="0"/>
              <a:buChar char="•"/>
            </a:pPr>
            <a:endParaRPr lang="es-AR" sz="1200" dirty="0">
              <a:solidFill>
                <a:srgbClr val="003F52"/>
              </a:solidFill>
            </a:endParaRPr>
          </a:p>
        </p:txBody>
      </p:sp>
      <p:sp>
        <p:nvSpPr>
          <p:cNvPr id="78" name="AutoShape 319"/>
          <p:cNvSpPr>
            <a:spLocks noChangeArrowheads="1"/>
          </p:cNvSpPr>
          <p:nvPr/>
        </p:nvSpPr>
        <p:spPr bwMode="auto">
          <a:xfrm>
            <a:off x="4590163" y="5724415"/>
            <a:ext cx="2625613" cy="215900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2700" algn="ctr">
            <a:solidFill>
              <a:schemeClr val="accent6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lIns="72000" tIns="36000" rIns="72000" bIns="36000" anchor="ctr"/>
          <a:lstStyle/>
          <a:p>
            <a:r>
              <a:rPr lang="es-AR" sz="1100" dirty="0">
                <a:solidFill>
                  <a:srgbClr val="043F52"/>
                </a:solidFill>
              </a:rPr>
              <a:t>Seguimiento </a:t>
            </a:r>
            <a:r>
              <a:rPr lang="es-AR" sz="1100" dirty="0" smtClean="0">
                <a:solidFill>
                  <a:srgbClr val="043F52"/>
                </a:solidFill>
              </a:rPr>
              <a:t>Gerencia de </a:t>
            </a:r>
            <a:r>
              <a:rPr lang="es-AR" sz="1100" dirty="0">
                <a:solidFill>
                  <a:srgbClr val="043F52"/>
                </a:solidFill>
              </a:rPr>
              <a:t>Proyectos</a:t>
            </a:r>
          </a:p>
        </p:txBody>
      </p:sp>
      <p:sp>
        <p:nvSpPr>
          <p:cNvPr id="79" name="Text Box 35"/>
          <p:cNvSpPr txBox="1">
            <a:spLocks noChangeArrowheads="1"/>
          </p:cNvSpPr>
          <p:nvPr/>
        </p:nvSpPr>
        <p:spPr bwMode="auto">
          <a:xfrm>
            <a:off x="4644008" y="5998860"/>
            <a:ext cx="414169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5738" indent="-185738" eaLnBrk="0" hangingPunct="0">
              <a:buClr>
                <a:srgbClr val="FFA000"/>
              </a:buClr>
              <a:buSzPct val="135000"/>
              <a:buFont typeface="Arial" pitchFamily="34" charset="0"/>
              <a:buChar char="•"/>
            </a:pPr>
            <a:r>
              <a:rPr lang="es-AR" sz="900" dirty="0">
                <a:solidFill>
                  <a:srgbClr val="043F52"/>
                </a:solidFill>
              </a:rPr>
              <a:t>Nombr</a:t>
            </a:r>
            <a:r>
              <a:rPr lang="es-AR" sz="900" dirty="0">
                <a:solidFill>
                  <a:srgbClr val="043F52"/>
                </a:solidFill>
                <a:cs typeface="Calibri" pitchFamily="34" charset="0"/>
              </a:rPr>
              <a:t>e y Apellido del Responsable</a:t>
            </a:r>
            <a:r>
              <a:rPr lang="es-AR" sz="900" dirty="0" smtClean="0">
                <a:solidFill>
                  <a:srgbClr val="043F52"/>
                </a:solidFill>
                <a:cs typeface="Calibri" pitchFamily="34" charset="0"/>
              </a:rPr>
              <a:t>. (Opcional)</a:t>
            </a:r>
            <a:endParaRPr lang="es-AR" sz="900" dirty="0">
              <a:solidFill>
                <a:srgbClr val="043F52"/>
              </a:solidFill>
              <a:cs typeface="Calibri" pitchFamily="34" charset="0"/>
            </a:endParaRPr>
          </a:p>
        </p:txBody>
      </p:sp>
      <p:sp>
        <p:nvSpPr>
          <p:cNvPr id="80" name="AutoShape 319"/>
          <p:cNvSpPr>
            <a:spLocks noChangeArrowheads="1"/>
          </p:cNvSpPr>
          <p:nvPr/>
        </p:nvSpPr>
        <p:spPr bwMode="auto">
          <a:xfrm>
            <a:off x="6390793" y="278578"/>
            <a:ext cx="720080" cy="432048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12700" algn="ctr">
            <a:solidFill>
              <a:schemeClr val="accent6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lIns="72000" tIns="36000" rIns="72000" bIns="36000" anchor="ctr"/>
          <a:lstStyle/>
          <a:p>
            <a:pPr algn="ctr"/>
            <a:r>
              <a:rPr lang="es-AR" sz="900" b="1" dirty="0">
                <a:solidFill>
                  <a:srgbClr val="043F52"/>
                </a:solidFill>
              </a:rPr>
              <a:t>Segmento y producto impactado</a:t>
            </a:r>
          </a:p>
        </p:txBody>
      </p:sp>
      <p:sp>
        <p:nvSpPr>
          <p:cNvPr id="81" name="80 Rectángulo"/>
          <p:cNvSpPr/>
          <p:nvPr/>
        </p:nvSpPr>
        <p:spPr>
          <a:xfrm>
            <a:off x="7274396" y="370756"/>
            <a:ext cx="504056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50" b="1" dirty="0" err="1">
                <a:solidFill>
                  <a:srgbClr val="043F52"/>
                </a:solidFill>
              </a:rPr>
              <a:t>xxxxx</a:t>
            </a:r>
            <a:endParaRPr lang="es-AR" sz="1050" dirty="0">
              <a:solidFill>
                <a:srgbClr val="043F52"/>
              </a:solidFill>
              <a:cs typeface="Calibri" pitchFamily="34" charset="0"/>
            </a:endParaRPr>
          </a:p>
        </p:txBody>
      </p:sp>
      <p:sp>
        <p:nvSpPr>
          <p:cNvPr id="74" name="Line 4"/>
          <p:cNvSpPr>
            <a:spLocks noChangeShapeType="1"/>
          </p:cNvSpPr>
          <p:nvPr/>
        </p:nvSpPr>
        <p:spPr bwMode="auto">
          <a:xfrm flipH="1">
            <a:off x="6359500" y="273348"/>
            <a:ext cx="0" cy="464722"/>
          </a:xfrm>
          <a:prstGeom prst="line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>
            <a:spAutoFit/>
          </a:bodyPr>
          <a:lstStyle/>
          <a:p>
            <a:endParaRPr lang="es-AR" sz="2400">
              <a:solidFill>
                <a:srgbClr val="043F52"/>
              </a:solidFill>
            </a:endParaRPr>
          </a:p>
        </p:txBody>
      </p:sp>
      <p:sp>
        <p:nvSpPr>
          <p:cNvPr id="75" name="AutoShape 2"/>
          <p:cNvSpPr>
            <a:spLocks noChangeArrowheads="1"/>
          </p:cNvSpPr>
          <p:nvPr/>
        </p:nvSpPr>
        <p:spPr bwMode="auto">
          <a:xfrm>
            <a:off x="6217539" y="1178822"/>
            <a:ext cx="1152128" cy="259457"/>
          </a:xfrm>
          <a:prstGeom prst="roundRect">
            <a:avLst>
              <a:gd name="adj" fmla="val 5487"/>
            </a:avLst>
          </a:prstGeom>
          <a:solidFill>
            <a:srgbClr val="FFFFFF"/>
          </a:solidFill>
          <a:ln w="19050" algn="ctr">
            <a:solidFill>
              <a:schemeClr val="tx1"/>
            </a:solidFill>
            <a:prstDash val="sysDash"/>
            <a:round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>
              <a:buFont typeface="Arial" pitchFamily="34" charset="0"/>
              <a:buChar char="•"/>
            </a:pPr>
            <a:endParaRPr lang="es-AR" sz="1200" dirty="0">
              <a:solidFill>
                <a:srgbClr val="003F52"/>
              </a:solidFill>
            </a:endParaRPr>
          </a:p>
        </p:txBody>
      </p:sp>
      <p:sp>
        <p:nvSpPr>
          <p:cNvPr id="76" name="Text Box 35"/>
          <p:cNvSpPr txBox="1">
            <a:spLocks noChangeArrowheads="1"/>
          </p:cNvSpPr>
          <p:nvPr/>
        </p:nvSpPr>
        <p:spPr bwMode="auto">
          <a:xfrm>
            <a:off x="6246114" y="1203205"/>
            <a:ext cx="1152128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5738" indent="-185738" algn="ctr" eaLnBrk="0" hangingPunct="0">
              <a:buClr>
                <a:srgbClr val="FFA000"/>
              </a:buClr>
              <a:buSzPct val="135000"/>
            </a:pPr>
            <a:r>
              <a:rPr lang="es-AR" sz="900" dirty="0" err="1" smtClean="0">
                <a:solidFill>
                  <a:srgbClr val="043F52"/>
                </a:solidFill>
                <a:cs typeface="Calibri" pitchFamily="34" charset="0"/>
              </a:rPr>
              <a:t>dd</a:t>
            </a:r>
            <a:r>
              <a:rPr lang="es-AR" sz="900" dirty="0" smtClean="0">
                <a:solidFill>
                  <a:srgbClr val="043F52"/>
                </a:solidFill>
                <a:cs typeface="Calibri" pitchFamily="34" charset="0"/>
              </a:rPr>
              <a:t>/mm/</a:t>
            </a:r>
            <a:r>
              <a:rPr lang="es-AR" sz="900" dirty="0" err="1" smtClean="0">
                <a:solidFill>
                  <a:srgbClr val="043F52"/>
                </a:solidFill>
                <a:cs typeface="Calibri" pitchFamily="34" charset="0"/>
              </a:rPr>
              <a:t>aaaa</a:t>
            </a:r>
            <a:endParaRPr lang="es-AR" sz="900" dirty="0">
              <a:solidFill>
                <a:srgbClr val="043F52"/>
              </a:solidFill>
              <a:cs typeface="Calibri" pitchFamily="34" charset="0"/>
            </a:endParaRPr>
          </a:p>
        </p:txBody>
      </p:sp>
      <p:sp>
        <p:nvSpPr>
          <p:cNvPr id="82" name="AutoShape 2"/>
          <p:cNvSpPr>
            <a:spLocks noChangeArrowheads="1"/>
          </p:cNvSpPr>
          <p:nvPr/>
        </p:nvSpPr>
        <p:spPr bwMode="auto">
          <a:xfrm>
            <a:off x="7836711" y="1178822"/>
            <a:ext cx="1152128" cy="259457"/>
          </a:xfrm>
          <a:prstGeom prst="roundRect">
            <a:avLst>
              <a:gd name="adj" fmla="val 5487"/>
            </a:avLst>
          </a:prstGeom>
          <a:solidFill>
            <a:srgbClr val="FFFFFF"/>
          </a:solidFill>
          <a:ln w="19050" algn="ctr">
            <a:solidFill>
              <a:schemeClr val="tx1"/>
            </a:solidFill>
            <a:prstDash val="sysDash"/>
            <a:round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>
              <a:buFont typeface="Arial" pitchFamily="34" charset="0"/>
              <a:buChar char="•"/>
            </a:pPr>
            <a:endParaRPr lang="es-AR" sz="1200" dirty="0">
              <a:solidFill>
                <a:srgbClr val="003F52"/>
              </a:solidFill>
            </a:endParaRPr>
          </a:p>
        </p:txBody>
      </p:sp>
      <p:sp>
        <p:nvSpPr>
          <p:cNvPr id="83" name="Text Box 35"/>
          <p:cNvSpPr txBox="1">
            <a:spLocks noChangeArrowheads="1"/>
          </p:cNvSpPr>
          <p:nvPr/>
        </p:nvSpPr>
        <p:spPr bwMode="auto">
          <a:xfrm>
            <a:off x="7865286" y="1203205"/>
            <a:ext cx="1152128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5738" indent="-185738" algn="ctr" eaLnBrk="0" hangingPunct="0">
              <a:buClr>
                <a:srgbClr val="FFA000"/>
              </a:buClr>
              <a:buSzPct val="135000"/>
            </a:pPr>
            <a:r>
              <a:rPr lang="es-AR" sz="900" dirty="0" err="1" smtClean="0">
                <a:solidFill>
                  <a:srgbClr val="043F52"/>
                </a:solidFill>
                <a:cs typeface="Calibri" pitchFamily="34" charset="0"/>
              </a:rPr>
              <a:t>dd</a:t>
            </a:r>
            <a:r>
              <a:rPr lang="es-AR" sz="900" dirty="0" smtClean="0">
                <a:solidFill>
                  <a:srgbClr val="043F52"/>
                </a:solidFill>
                <a:cs typeface="Calibri" pitchFamily="34" charset="0"/>
              </a:rPr>
              <a:t>/mm/</a:t>
            </a:r>
            <a:r>
              <a:rPr lang="es-AR" sz="900" dirty="0" err="1" smtClean="0">
                <a:solidFill>
                  <a:srgbClr val="043F52"/>
                </a:solidFill>
                <a:cs typeface="Calibri" pitchFamily="34" charset="0"/>
              </a:rPr>
              <a:t>aaaa</a:t>
            </a:r>
            <a:endParaRPr lang="es-AR" sz="900" dirty="0">
              <a:solidFill>
                <a:srgbClr val="043F52"/>
              </a:solidFill>
              <a:cs typeface="Calibri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7_TF_plantilla_Eco_Arial">
  <a:themeElements>
    <a:clrScheme name="TF_plantilla_Eco_Arial 10">
      <a:dk1>
        <a:srgbClr val="003F52"/>
      </a:dk1>
      <a:lt1>
        <a:srgbClr val="FFFFFF"/>
      </a:lt1>
      <a:dk2>
        <a:srgbClr val="65C3D5"/>
      </a:dk2>
      <a:lt2>
        <a:srgbClr val="EEECE1"/>
      </a:lt2>
      <a:accent1>
        <a:srgbClr val="003F52"/>
      </a:accent1>
      <a:accent2>
        <a:srgbClr val="65C3D5"/>
      </a:accent2>
      <a:accent3>
        <a:srgbClr val="FFFFFF"/>
      </a:accent3>
      <a:accent4>
        <a:srgbClr val="003445"/>
      </a:accent4>
      <a:accent5>
        <a:srgbClr val="AAAFB3"/>
      </a:accent5>
      <a:accent6>
        <a:srgbClr val="5BB0C1"/>
      </a:accent6>
      <a:hlink>
        <a:srgbClr val="003399"/>
      </a:hlink>
      <a:folHlink>
        <a:srgbClr val="FFA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F_plantilla_Eco_Arial 1">
        <a:dk1>
          <a:srgbClr val="000000"/>
        </a:dk1>
        <a:lt1>
          <a:srgbClr val="FFFFFF"/>
        </a:lt1>
        <a:dk2>
          <a:srgbClr val="FFF2AF"/>
        </a:dk2>
        <a:lt2>
          <a:srgbClr val="A9A49F"/>
        </a:lt2>
        <a:accent1>
          <a:srgbClr val="B2D1B2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D5E5D5"/>
        </a:accent5>
        <a:accent6>
          <a:srgbClr val="E7B95C"/>
        </a:accent6>
        <a:hlink>
          <a:srgbClr val="DBE9DB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F_plantilla_Eco_Arial 2">
        <a:dk1>
          <a:srgbClr val="000000"/>
        </a:dk1>
        <a:lt1>
          <a:srgbClr val="FFFFFF"/>
        </a:lt1>
        <a:dk2>
          <a:srgbClr val="FFF2AF"/>
        </a:dk2>
        <a:lt2>
          <a:srgbClr val="A9A49F"/>
        </a:lt2>
        <a:accent1>
          <a:srgbClr val="B2D1B2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D5E5D5"/>
        </a:accent5>
        <a:accent6>
          <a:srgbClr val="E7B95C"/>
        </a:accent6>
        <a:hlink>
          <a:srgbClr val="D00063"/>
        </a:hlink>
        <a:folHlink>
          <a:srgbClr val="5598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F_plantilla_Eco_Arial 3">
        <a:dk1>
          <a:srgbClr val="000000"/>
        </a:dk1>
        <a:lt1>
          <a:srgbClr val="FFFFFF"/>
        </a:lt1>
        <a:dk2>
          <a:srgbClr val="003399"/>
        </a:dk2>
        <a:lt2>
          <a:srgbClr val="B2B2B2"/>
        </a:lt2>
        <a:accent1>
          <a:srgbClr val="D0F500"/>
        </a:accent1>
        <a:accent2>
          <a:srgbClr val="FFA000"/>
        </a:accent2>
        <a:accent3>
          <a:srgbClr val="FFFFFF"/>
        </a:accent3>
        <a:accent4>
          <a:srgbClr val="000000"/>
        </a:accent4>
        <a:accent5>
          <a:srgbClr val="E4F9AA"/>
        </a:accent5>
        <a:accent6>
          <a:srgbClr val="E79100"/>
        </a:accent6>
        <a:hlink>
          <a:srgbClr val="D00063"/>
        </a:hlink>
        <a:folHlink>
          <a:srgbClr val="5598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F_plantilla_Eco_Arial 4">
        <a:dk1>
          <a:srgbClr val="003399"/>
        </a:dk1>
        <a:lt1>
          <a:srgbClr val="FFFFFF"/>
        </a:lt1>
        <a:dk2>
          <a:srgbClr val="003399"/>
        </a:dk2>
        <a:lt2>
          <a:srgbClr val="B2B2B2"/>
        </a:lt2>
        <a:accent1>
          <a:srgbClr val="D0F500"/>
        </a:accent1>
        <a:accent2>
          <a:srgbClr val="FFA000"/>
        </a:accent2>
        <a:accent3>
          <a:srgbClr val="FFFFFF"/>
        </a:accent3>
        <a:accent4>
          <a:srgbClr val="002A82"/>
        </a:accent4>
        <a:accent5>
          <a:srgbClr val="E4F9AA"/>
        </a:accent5>
        <a:accent6>
          <a:srgbClr val="E79100"/>
        </a:accent6>
        <a:hlink>
          <a:srgbClr val="D00063"/>
        </a:hlink>
        <a:folHlink>
          <a:srgbClr val="5598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F_plantilla_Eco_Arial 5">
        <a:dk1>
          <a:srgbClr val="003399"/>
        </a:dk1>
        <a:lt1>
          <a:srgbClr val="FFFFFF"/>
        </a:lt1>
        <a:dk2>
          <a:srgbClr val="003399"/>
        </a:dk2>
        <a:lt2>
          <a:srgbClr val="B2B2B2"/>
        </a:lt2>
        <a:accent1>
          <a:srgbClr val="D0F500"/>
        </a:accent1>
        <a:accent2>
          <a:srgbClr val="B2B2B2"/>
        </a:accent2>
        <a:accent3>
          <a:srgbClr val="FFFFFF"/>
        </a:accent3>
        <a:accent4>
          <a:srgbClr val="002A82"/>
        </a:accent4>
        <a:accent5>
          <a:srgbClr val="E4F9AA"/>
        </a:accent5>
        <a:accent6>
          <a:srgbClr val="A1A1A1"/>
        </a:accent6>
        <a:hlink>
          <a:srgbClr val="003399"/>
        </a:hlink>
        <a:folHlink>
          <a:srgbClr val="5598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F_plantilla_Eco_Arial 6">
        <a:dk1>
          <a:srgbClr val="003399"/>
        </a:dk1>
        <a:lt1>
          <a:srgbClr val="FFFFFF"/>
        </a:lt1>
        <a:dk2>
          <a:srgbClr val="003399"/>
        </a:dk2>
        <a:lt2>
          <a:srgbClr val="B2B2B2"/>
        </a:lt2>
        <a:accent1>
          <a:srgbClr val="D0F500"/>
        </a:accent1>
        <a:accent2>
          <a:srgbClr val="B2B2B2"/>
        </a:accent2>
        <a:accent3>
          <a:srgbClr val="FFFFFF"/>
        </a:accent3>
        <a:accent4>
          <a:srgbClr val="002A82"/>
        </a:accent4>
        <a:accent5>
          <a:srgbClr val="E4F9AA"/>
        </a:accent5>
        <a:accent6>
          <a:srgbClr val="A1A1A1"/>
        </a:accent6>
        <a:hlink>
          <a:srgbClr val="003399"/>
        </a:hlink>
        <a:folHlink>
          <a:srgbClr val="FFA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F_plantilla_Eco_Arial 7">
        <a:dk1>
          <a:srgbClr val="000000"/>
        </a:dk1>
        <a:lt1>
          <a:srgbClr val="FFFFFF"/>
        </a:lt1>
        <a:dk2>
          <a:srgbClr val="003F52"/>
        </a:dk2>
        <a:lt2>
          <a:srgbClr val="EEECE1"/>
        </a:lt2>
        <a:accent1>
          <a:srgbClr val="003F52"/>
        </a:accent1>
        <a:accent2>
          <a:srgbClr val="65C3D5"/>
        </a:accent2>
        <a:accent3>
          <a:srgbClr val="FFFFFF"/>
        </a:accent3>
        <a:accent4>
          <a:srgbClr val="000000"/>
        </a:accent4>
        <a:accent5>
          <a:srgbClr val="AAAFB3"/>
        </a:accent5>
        <a:accent6>
          <a:srgbClr val="5BB0C1"/>
        </a:accent6>
        <a:hlink>
          <a:srgbClr val="003399"/>
        </a:hlink>
        <a:folHlink>
          <a:srgbClr val="FFA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F_plantilla_Eco_Arial 8">
        <a:dk1>
          <a:srgbClr val="000000"/>
        </a:dk1>
        <a:lt1>
          <a:srgbClr val="FFFFFF"/>
        </a:lt1>
        <a:dk2>
          <a:srgbClr val="003F52"/>
        </a:dk2>
        <a:lt2>
          <a:srgbClr val="EEECE1"/>
        </a:lt2>
        <a:accent1>
          <a:srgbClr val="003F52"/>
        </a:accent1>
        <a:accent2>
          <a:srgbClr val="54B4CC"/>
        </a:accent2>
        <a:accent3>
          <a:srgbClr val="FFFFFF"/>
        </a:accent3>
        <a:accent4>
          <a:srgbClr val="000000"/>
        </a:accent4>
        <a:accent5>
          <a:srgbClr val="AAAFB3"/>
        </a:accent5>
        <a:accent6>
          <a:srgbClr val="4BA3B9"/>
        </a:accent6>
        <a:hlink>
          <a:srgbClr val="800080"/>
        </a:hlink>
        <a:folHlink>
          <a:srgbClr val="65C3D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F_plantilla_Eco_Arial 9">
        <a:dk1>
          <a:srgbClr val="000000"/>
        </a:dk1>
        <a:lt1>
          <a:srgbClr val="FFFFFF"/>
        </a:lt1>
        <a:dk2>
          <a:srgbClr val="003F52"/>
        </a:dk2>
        <a:lt2>
          <a:srgbClr val="EEECE1"/>
        </a:lt2>
        <a:accent1>
          <a:srgbClr val="003F52"/>
        </a:accent1>
        <a:accent2>
          <a:srgbClr val="61B8CD"/>
        </a:accent2>
        <a:accent3>
          <a:srgbClr val="FFFFFF"/>
        </a:accent3>
        <a:accent4>
          <a:srgbClr val="000000"/>
        </a:accent4>
        <a:accent5>
          <a:srgbClr val="AAAFB3"/>
        </a:accent5>
        <a:accent6>
          <a:srgbClr val="57A6BA"/>
        </a:accent6>
        <a:hlink>
          <a:srgbClr val="0000E1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F_plantilla_Eco_Arial 10">
        <a:dk1>
          <a:srgbClr val="003F52"/>
        </a:dk1>
        <a:lt1>
          <a:srgbClr val="FFFFFF"/>
        </a:lt1>
        <a:dk2>
          <a:srgbClr val="65C3D5"/>
        </a:dk2>
        <a:lt2>
          <a:srgbClr val="EEECE1"/>
        </a:lt2>
        <a:accent1>
          <a:srgbClr val="003F52"/>
        </a:accent1>
        <a:accent2>
          <a:srgbClr val="65C3D5"/>
        </a:accent2>
        <a:accent3>
          <a:srgbClr val="FFFFFF"/>
        </a:accent3>
        <a:accent4>
          <a:srgbClr val="003445"/>
        </a:accent4>
        <a:accent5>
          <a:srgbClr val="AAAFB3"/>
        </a:accent5>
        <a:accent6>
          <a:srgbClr val="5BB0C1"/>
        </a:accent6>
        <a:hlink>
          <a:srgbClr val="003399"/>
        </a:hlink>
        <a:folHlink>
          <a:srgbClr val="FFA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F_plantilla_Eco_Arial 11">
        <a:dk1>
          <a:srgbClr val="043F52"/>
        </a:dk1>
        <a:lt1>
          <a:srgbClr val="FFFFFF"/>
        </a:lt1>
        <a:dk2>
          <a:srgbClr val="61B8CD"/>
        </a:dk2>
        <a:lt2>
          <a:srgbClr val="EEECE1"/>
        </a:lt2>
        <a:accent1>
          <a:srgbClr val="043F52"/>
        </a:accent1>
        <a:accent2>
          <a:srgbClr val="DDDDDD"/>
        </a:accent2>
        <a:accent3>
          <a:srgbClr val="FFFFFF"/>
        </a:accent3>
        <a:accent4>
          <a:srgbClr val="033445"/>
        </a:accent4>
        <a:accent5>
          <a:srgbClr val="AAAFB3"/>
        </a:accent5>
        <a:accent6>
          <a:srgbClr val="C8C8C8"/>
        </a:accent6>
        <a:hlink>
          <a:srgbClr val="7AB51D"/>
        </a:hlink>
        <a:folHlink>
          <a:srgbClr val="D2A85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F_plantilla_Eco_Arial 12">
        <a:dk1>
          <a:srgbClr val="043F52"/>
        </a:dk1>
        <a:lt1>
          <a:srgbClr val="FFFFFF"/>
        </a:lt1>
        <a:dk2>
          <a:srgbClr val="61B8CD"/>
        </a:dk2>
        <a:lt2>
          <a:srgbClr val="EEECE1"/>
        </a:lt2>
        <a:accent1>
          <a:srgbClr val="043F52"/>
        </a:accent1>
        <a:accent2>
          <a:srgbClr val="61B8CD"/>
        </a:accent2>
        <a:accent3>
          <a:srgbClr val="FFFFFF"/>
        </a:accent3>
        <a:accent4>
          <a:srgbClr val="033445"/>
        </a:accent4>
        <a:accent5>
          <a:srgbClr val="AAAFB3"/>
        </a:accent5>
        <a:accent6>
          <a:srgbClr val="57A6BA"/>
        </a:accent6>
        <a:hlink>
          <a:srgbClr val="7AB51D"/>
        </a:hlink>
        <a:folHlink>
          <a:srgbClr val="D2A85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F_plantilla_Eco_Arial 13">
        <a:dk1>
          <a:srgbClr val="043F52"/>
        </a:dk1>
        <a:lt1>
          <a:srgbClr val="FFFFFF"/>
        </a:lt1>
        <a:dk2>
          <a:srgbClr val="61B8CD"/>
        </a:dk2>
        <a:lt2>
          <a:srgbClr val="EEECE1"/>
        </a:lt2>
        <a:accent1>
          <a:srgbClr val="043F52"/>
        </a:accent1>
        <a:accent2>
          <a:srgbClr val="61B8CD"/>
        </a:accent2>
        <a:accent3>
          <a:srgbClr val="FFFFFF"/>
        </a:accent3>
        <a:accent4>
          <a:srgbClr val="033445"/>
        </a:accent4>
        <a:accent5>
          <a:srgbClr val="AAAFB3"/>
        </a:accent5>
        <a:accent6>
          <a:srgbClr val="57A6BA"/>
        </a:accent6>
        <a:hlink>
          <a:srgbClr val="FFFFCB"/>
        </a:hlink>
        <a:folHlink>
          <a:srgbClr val="D2A85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F_plantilla_Eco_Arial 14">
        <a:dk1>
          <a:srgbClr val="043F52"/>
        </a:dk1>
        <a:lt1>
          <a:srgbClr val="FFFFFF"/>
        </a:lt1>
        <a:dk2>
          <a:srgbClr val="61B8CD"/>
        </a:dk2>
        <a:lt2>
          <a:srgbClr val="EEECE1"/>
        </a:lt2>
        <a:accent1>
          <a:srgbClr val="043F52"/>
        </a:accent1>
        <a:accent2>
          <a:srgbClr val="61B8CD"/>
        </a:accent2>
        <a:accent3>
          <a:srgbClr val="FFFFFF"/>
        </a:accent3>
        <a:accent4>
          <a:srgbClr val="033445"/>
        </a:accent4>
        <a:accent5>
          <a:srgbClr val="AAAFB3"/>
        </a:accent5>
        <a:accent6>
          <a:srgbClr val="57A6BA"/>
        </a:accent6>
        <a:hlink>
          <a:srgbClr val="FFFF99"/>
        </a:hlink>
        <a:folHlink>
          <a:srgbClr val="D2A85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F_plantilla_Eco_Arial 15">
        <a:dk1>
          <a:srgbClr val="043F52"/>
        </a:dk1>
        <a:lt1>
          <a:srgbClr val="FFFFFF"/>
        </a:lt1>
        <a:dk2>
          <a:srgbClr val="61B8CD"/>
        </a:dk2>
        <a:lt2>
          <a:srgbClr val="EEECE1"/>
        </a:lt2>
        <a:accent1>
          <a:srgbClr val="043F52"/>
        </a:accent1>
        <a:accent2>
          <a:srgbClr val="61B8CD"/>
        </a:accent2>
        <a:accent3>
          <a:srgbClr val="FFFFFF"/>
        </a:accent3>
        <a:accent4>
          <a:srgbClr val="033445"/>
        </a:accent4>
        <a:accent5>
          <a:srgbClr val="AAAFB3"/>
        </a:accent5>
        <a:accent6>
          <a:srgbClr val="57A6BA"/>
        </a:accent6>
        <a:hlink>
          <a:srgbClr val="FFFFCC"/>
        </a:hlink>
        <a:folHlink>
          <a:srgbClr val="D2A85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5CC1B856FCFE47A26F72033CD84FED" ma:contentTypeVersion="0" ma:contentTypeDescription="Crear nuevo documento." ma:contentTypeScope="" ma:versionID="896449b91fdd81fed3b81c07003a64e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bba8a198e9bb40c3eeca6d0bd41257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172FFED-71EB-440A-8B72-D30EE5FEA6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33BC2DF-F1FB-4920-A0F6-820FC41965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9942BB-BABF-489F-A687-ABFA8F523668}">
  <ds:schemaRefs>
    <ds:schemaRef ds:uri="http://www.w3.org/XML/1998/namespace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319</Words>
  <Application>Microsoft Office PowerPoint</Application>
  <PresentationFormat>Presentación en pantalla (4:3)</PresentationFormat>
  <Paragraphs>52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1" baseType="lpstr">
      <vt:lpstr>ＭＳ Ｐゴシック</vt:lpstr>
      <vt:lpstr>Arial</vt:lpstr>
      <vt:lpstr>Calibri</vt:lpstr>
      <vt:lpstr>Century Gothic</vt:lpstr>
      <vt:lpstr>Telefonica Headline Light</vt:lpstr>
      <vt:lpstr>Telefonica Text</vt:lpstr>
      <vt:lpstr>TheSansCorrespondence</vt:lpstr>
      <vt:lpstr>Times New Roman</vt:lpstr>
      <vt:lpstr>Wingdings</vt:lpstr>
      <vt:lpstr>27_TF_plantilla_Eco_Arial</vt:lpstr>
      <vt:lpstr>Presentación de PowerPoint</vt:lpstr>
    </vt:vector>
  </TitlesOfParts>
  <Company>Ejemplo 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/>
  <cp:lastModifiedBy>Nardini, Sergio</cp:lastModifiedBy>
  <cp:revision>5</cp:revision>
  <dcterms:created xsi:type="dcterms:W3CDTF">2013-10-04T15:12:40Z</dcterms:created>
  <dcterms:modified xsi:type="dcterms:W3CDTF">2015-11-05T00:18:45Z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0x010100EC5CC1B856FCFE47A26F72033CD84FED</vt:lpwstr>
  </property>
</Properties>
</file>